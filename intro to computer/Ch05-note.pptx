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7"/>
  </p:notesMasterIdLst>
  <p:handoutMasterIdLst>
    <p:handoutMasterId r:id="rId78"/>
  </p:handoutMasterIdLst>
  <p:sldIdLst>
    <p:sldId id="311"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31" r:id="rId54"/>
    <p:sldId id="332" r:id="rId55"/>
    <p:sldId id="309" r:id="rId56"/>
    <p:sldId id="310"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C3DA"/>
    <a:srgbClr val="34B14B"/>
    <a:srgbClr val="536E75"/>
    <a:srgbClr val="D2D927"/>
    <a:srgbClr val="1F3668"/>
    <a:srgbClr val="D72229"/>
    <a:srgbClr val="5A7B36"/>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573" autoAdjust="0"/>
    <p:restoredTop sz="87149" autoAdjust="0"/>
  </p:normalViewPr>
  <p:slideViewPr>
    <p:cSldViewPr snapToGrid="0">
      <p:cViewPr varScale="1">
        <p:scale>
          <a:sx n="58" d="100"/>
          <a:sy n="58" d="100"/>
        </p:scale>
        <p:origin x="1140" y="56"/>
      </p:cViewPr>
      <p:guideLst>
        <p:guide orient="horz" pos="705"/>
        <p:guide pos="5612"/>
        <p:guide pos="4085"/>
        <p:guide pos="2881"/>
      </p:guideLst>
    </p:cSldViewPr>
  </p:slideViewPr>
  <p:outlineViewPr>
    <p:cViewPr>
      <p:scale>
        <a:sx n="33" d="100"/>
        <a:sy n="33" d="100"/>
      </p:scale>
      <p:origin x="0" y="-932"/>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1" d="100"/>
          <a:sy n="51" d="100"/>
        </p:scale>
        <p:origin x="2692" y="4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t>9/21/2020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t>9/21/2020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a:t>
            </a:fld>
            <a:endParaRPr lang="en-US" dirty="0"/>
          </a:p>
        </p:txBody>
      </p:sp>
    </p:spTree>
    <p:extLst>
      <p:ext uri="{BB962C8B-B14F-4D97-AF65-F5344CB8AC3E}">
        <p14:creationId xmlns:p14="http://schemas.microsoft.com/office/powerpoint/2010/main" val="3051341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描述控制单元的操作并解释其如何实现冯</a:t>
            </a:r>
            <a:r>
              <a:rPr lang="en-US" altLang="zh-CN" dirty="0"/>
              <a:t>·</a:t>
            </a:r>
            <a:r>
              <a:rPr lang="zh-CN" altLang="en-US" dirty="0"/>
              <a:t>诺依曼架构的存储程序特征</a:t>
            </a:r>
          </a:p>
          <a:p>
            <a:r>
              <a:rPr lang="zh-CN" altLang="en-US" dirty="0"/>
              <a:t>列出并解释典型指令集中的指令类型，以及通常如何编码指令</a:t>
            </a:r>
          </a:p>
          <a:p>
            <a:r>
              <a:rPr lang="zh-CN" altLang="en-US" dirty="0"/>
              <a:t>绘制典型的冯</a:t>
            </a:r>
            <a:r>
              <a:rPr lang="en-US" altLang="zh-CN" dirty="0"/>
              <a:t>·</a:t>
            </a:r>
            <a:r>
              <a:rPr lang="zh-CN" altLang="en-US" dirty="0"/>
              <a:t>诺依曼机器的结构图</a:t>
            </a:r>
          </a:p>
          <a:p>
            <a:r>
              <a:rPr lang="zh-CN" altLang="en-US" dirty="0"/>
              <a:t>在获取，解码和执行周期中使用书本注释显示步骤顺序，以执行典型的指令</a:t>
            </a:r>
            <a:endParaRPr lang="en-US" dirty="0"/>
          </a:p>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a:t>
            </a:fld>
            <a:endParaRPr lang="en-US" dirty="0"/>
          </a:p>
        </p:txBody>
      </p:sp>
    </p:spTree>
    <p:extLst>
      <p:ext uri="{BB962C8B-B14F-4D97-AF65-F5344CB8AC3E}">
        <p14:creationId xmlns:p14="http://schemas.microsoft.com/office/powerpoint/2010/main" val="1417036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本章更改了</a:t>
            </a:r>
            <a:r>
              <a:rPr lang="zh-CN" altLang="en-US" dirty="0">
                <a:solidFill>
                  <a:srgbClr val="FF0000"/>
                </a:solidFill>
              </a:rPr>
              <a:t>抽象</a:t>
            </a:r>
            <a:r>
              <a:rPr lang="zh-CN" altLang="en-US" dirty="0"/>
              <a:t>级别，并着重于更高级别的计算机系统构建</a:t>
            </a:r>
          </a:p>
          <a:p>
            <a:r>
              <a:rPr lang="zh-CN" altLang="en-US" dirty="0"/>
              <a:t>专注于功能单元和计算机组织</a:t>
            </a:r>
          </a:p>
          <a:p>
            <a:r>
              <a:rPr lang="zh-CN" altLang="en-US" dirty="0"/>
              <a:t>抽象层次隐藏了不必要的细节</a:t>
            </a:r>
          </a:p>
          <a:p>
            <a:r>
              <a:rPr lang="zh-CN" altLang="en-US" dirty="0"/>
              <a:t>将重点从晶体管转移到栅极和电路作为基本单位</a:t>
            </a:r>
          </a:p>
          <a:p>
            <a:r>
              <a:rPr lang="zh-CN" altLang="en-US" dirty="0"/>
              <a:t>详细讨论冯</a:t>
            </a:r>
            <a:r>
              <a:rPr lang="en-US" altLang="zh-CN" dirty="0"/>
              <a:t>·</a:t>
            </a:r>
            <a:r>
              <a:rPr lang="zh-CN" altLang="en-US" dirty="0"/>
              <a:t>诺依曼架构</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a:t>
            </a:fld>
            <a:endParaRPr lang="en-US" dirty="0"/>
          </a:p>
        </p:txBody>
      </p:sp>
    </p:spTree>
    <p:extLst>
      <p:ext uri="{BB962C8B-B14F-4D97-AF65-F5344CB8AC3E}">
        <p14:creationId xmlns:p14="http://schemas.microsoft.com/office/powerpoint/2010/main" val="4108853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冯</a:t>
            </a:r>
            <a:r>
              <a:rPr lang="en-US" altLang="zh-CN" dirty="0"/>
              <a:t>·</a:t>
            </a:r>
            <a:r>
              <a:rPr lang="zh-CN" altLang="en-US" dirty="0"/>
              <a:t>诺依曼架构是几乎所有现代计算机的基础</a:t>
            </a:r>
          </a:p>
          <a:p>
            <a:r>
              <a:rPr lang="zh-CN" altLang="en-US" dirty="0"/>
              <a:t>冯</a:t>
            </a:r>
            <a:r>
              <a:rPr lang="en-US" altLang="zh-CN" dirty="0"/>
              <a:t>·</a:t>
            </a:r>
            <a:r>
              <a:rPr lang="zh-CN" altLang="en-US" dirty="0"/>
              <a:t>诺依曼体系结构的四个主要子系统</a:t>
            </a:r>
          </a:p>
          <a:p>
            <a:r>
              <a:rPr lang="zh-CN" altLang="en-US" dirty="0"/>
              <a:t>记忆</a:t>
            </a:r>
          </a:p>
          <a:p>
            <a:r>
              <a:rPr lang="zh-CN" altLang="en-US" dirty="0"/>
              <a:t>输入输出</a:t>
            </a:r>
          </a:p>
          <a:p>
            <a:r>
              <a:rPr lang="zh-CN" altLang="en-US" dirty="0"/>
              <a:t>算术</a:t>
            </a:r>
            <a:r>
              <a:rPr lang="en-US" altLang="zh-CN" dirty="0"/>
              <a:t>/</a:t>
            </a:r>
            <a:r>
              <a:rPr lang="zh-CN" altLang="en-US" dirty="0"/>
              <a:t>逻辑单元（</a:t>
            </a:r>
            <a:r>
              <a:rPr lang="en-US" altLang="zh-CN" dirty="0"/>
              <a:t>ALU</a:t>
            </a:r>
            <a:r>
              <a:rPr lang="zh-CN" altLang="en-US" dirty="0"/>
              <a:t>）</a:t>
            </a:r>
          </a:p>
          <a:p>
            <a:r>
              <a:rPr lang="zh-CN" altLang="en-US" dirty="0"/>
              <a:t>控制单元</a:t>
            </a:r>
          </a:p>
          <a:p>
            <a:r>
              <a:rPr lang="en-US" altLang="zh-CN" dirty="0"/>
              <a:t>ALU</a:t>
            </a:r>
            <a:r>
              <a:rPr lang="zh-CN" altLang="en-US" dirty="0"/>
              <a:t>和控制单元通常捆绑在中央处理器（</a:t>
            </a:r>
            <a:r>
              <a:rPr lang="en-US" altLang="zh-CN" dirty="0"/>
              <a:t>CPU</a:t>
            </a:r>
            <a:r>
              <a:rPr lang="zh-CN" altLang="en-US" dirty="0"/>
              <a:t>）内</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6</a:t>
            </a:fld>
            <a:endParaRPr lang="en-US" dirty="0"/>
          </a:p>
        </p:txBody>
      </p:sp>
    </p:spTree>
    <p:extLst>
      <p:ext uri="{BB962C8B-B14F-4D97-AF65-F5344CB8AC3E}">
        <p14:creationId xmlns:p14="http://schemas.microsoft.com/office/powerpoint/2010/main" val="1656668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内存：存储</a:t>
            </a:r>
            <a:r>
              <a:rPr lang="en-US" altLang="zh-CN" dirty="0"/>
              <a:t>/</a:t>
            </a:r>
            <a:r>
              <a:rPr lang="zh-CN" altLang="en-US" dirty="0"/>
              <a:t>检索数据的功能单元</a:t>
            </a:r>
          </a:p>
          <a:p>
            <a:r>
              <a:rPr lang="zh-CN" altLang="en-US" dirty="0"/>
              <a:t>随机存取存储器（</a:t>
            </a:r>
            <a:r>
              <a:rPr lang="en-US" altLang="zh-CN" dirty="0"/>
              <a:t>RAM</a:t>
            </a:r>
            <a:r>
              <a:rPr lang="zh-CN" altLang="en-US" dirty="0"/>
              <a:t>）</a:t>
            </a:r>
          </a:p>
          <a:p>
            <a:r>
              <a:rPr lang="en-US" altLang="zh-CN" dirty="0"/>
              <a:t>--</a:t>
            </a:r>
            <a:r>
              <a:rPr lang="zh-CN" altLang="en-US" dirty="0"/>
              <a:t>组织成单元，每个单元都有一个唯一的地址</a:t>
            </a:r>
          </a:p>
          <a:p>
            <a:r>
              <a:rPr lang="en-US" altLang="zh-CN" dirty="0"/>
              <a:t>--</a:t>
            </a:r>
            <a:r>
              <a:rPr lang="zh-CN" altLang="en-US" dirty="0"/>
              <a:t>平等时间访问任何单元</a:t>
            </a:r>
          </a:p>
          <a:p>
            <a:r>
              <a:rPr lang="en-US" altLang="zh-CN" dirty="0"/>
              <a:t>--</a:t>
            </a:r>
            <a:r>
              <a:rPr lang="zh-CN" altLang="en-US" dirty="0"/>
              <a:t>单元格值可以读取和更改</a:t>
            </a:r>
          </a:p>
          <a:p>
            <a:r>
              <a:rPr lang="zh-CN" altLang="en-US" dirty="0"/>
              <a:t>只读存储器（</a:t>
            </a:r>
            <a:r>
              <a:rPr lang="en-US" altLang="zh-CN" dirty="0"/>
              <a:t>ROM</a:t>
            </a:r>
            <a:r>
              <a:rPr lang="zh-CN" altLang="en-US" dirty="0"/>
              <a:t>）：一种</a:t>
            </a:r>
            <a:r>
              <a:rPr lang="en-US" altLang="zh-CN" dirty="0"/>
              <a:t>RAM</a:t>
            </a:r>
            <a:r>
              <a:rPr lang="zh-CN" altLang="en-US" dirty="0"/>
              <a:t>，具有无法修改或更改的预先记录的信息</a:t>
            </a:r>
          </a:p>
          <a:p>
            <a:r>
              <a:rPr lang="zh-CN" altLang="en-US" dirty="0"/>
              <a:t>单元大小</a:t>
            </a:r>
            <a:r>
              <a:rPr lang="en-US" altLang="zh-CN" dirty="0"/>
              <a:t>/</a:t>
            </a:r>
            <a:r>
              <a:rPr lang="zh-CN" altLang="en-US" dirty="0"/>
              <a:t>内存宽度通常为</a:t>
            </a:r>
            <a:r>
              <a:rPr lang="en-US" altLang="zh-CN" dirty="0"/>
              <a:t>8</a:t>
            </a:r>
            <a:r>
              <a:rPr lang="zh-CN" altLang="en-US" dirty="0"/>
              <a:t>位</a:t>
            </a:r>
          </a:p>
          <a:p>
            <a:r>
              <a:rPr lang="zh-CN" altLang="en-US" dirty="0"/>
              <a:t>最大内存大小</a:t>
            </a:r>
            <a:r>
              <a:rPr lang="en-US" altLang="zh-CN" dirty="0"/>
              <a:t>/</a:t>
            </a:r>
            <a:r>
              <a:rPr lang="zh-CN" altLang="en-US" dirty="0"/>
              <a:t>地址空间为</a:t>
            </a:r>
            <a:r>
              <a:rPr lang="en-US" altLang="zh-CN" dirty="0"/>
              <a:t>2N</a:t>
            </a:r>
            <a:r>
              <a:rPr lang="zh-CN" altLang="en-US" dirty="0"/>
              <a:t>，其中</a:t>
            </a:r>
            <a:r>
              <a:rPr lang="en-US" altLang="zh-CN" dirty="0"/>
              <a:t>N</a:t>
            </a:r>
            <a:r>
              <a:rPr lang="zh-CN" altLang="en-US" dirty="0"/>
              <a:t>为地址长度</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8</a:t>
            </a:fld>
            <a:endParaRPr lang="en-US" dirty="0"/>
          </a:p>
        </p:txBody>
      </p:sp>
    </p:spTree>
    <p:extLst>
      <p:ext uri="{BB962C8B-B14F-4D97-AF65-F5344CB8AC3E}">
        <p14:creationId xmlns:p14="http://schemas.microsoft.com/office/powerpoint/2010/main" val="3918982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提取：从内存中检索（非破坏性提取）</a:t>
            </a:r>
          </a:p>
          <a:p>
            <a:r>
              <a:rPr lang="zh-CN" altLang="en-US" dirty="0"/>
              <a:t>存储：写入内存（破坏性存储）</a:t>
            </a:r>
          </a:p>
          <a:p>
            <a:r>
              <a:rPr lang="zh-CN" altLang="en-US" dirty="0"/>
              <a:t>内存访问时间</a:t>
            </a:r>
          </a:p>
          <a:p>
            <a:r>
              <a:rPr lang="zh-CN" altLang="en-US" dirty="0"/>
              <a:t>提取</a:t>
            </a:r>
            <a:r>
              <a:rPr lang="en-US" altLang="zh-CN" dirty="0"/>
              <a:t>/</a:t>
            </a:r>
            <a:r>
              <a:rPr lang="zh-CN" altLang="en-US" dirty="0"/>
              <a:t>存储所需的时间</a:t>
            </a:r>
          </a:p>
          <a:p>
            <a:r>
              <a:rPr lang="zh-CN" altLang="en-US" dirty="0"/>
              <a:t>现代</a:t>
            </a:r>
            <a:r>
              <a:rPr lang="en-US" altLang="zh-CN" dirty="0"/>
              <a:t>RAM</a:t>
            </a:r>
            <a:r>
              <a:rPr lang="zh-CN" altLang="en-US" dirty="0"/>
              <a:t>需要</a:t>
            </a:r>
            <a:r>
              <a:rPr lang="en-US" altLang="zh-CN" dirty="0"/>
              <a:t>5-10</a:t>
            </a:r>
            <a:r>
              <a:rPr lang="zh-CN" altLang="en-US" dirty="0"/>
              <a:t>纳秒</a:t>
            </a:r>
          </a:p>
          <a:p>
            <a:r>
              <a:rPr lang="zh-CN" altLang="en-US" dirty="0"/>
              <a:t>内存地址寄存器（</a:t>
            </a:r>
            <a:r>
              <a:rPr lang="en-US" altLang="zh-CN" dirty="0"/>
              <a:t>MAR</a:t>
            </a:r>
            <a:r>
              <a:rPr lang="zh-CN" altLang="en-US" dirty="0"/>
              <a:t>）保留要访问的内存地址</a:t>
            </a:r>
          </a:p>
          <a:p>
            <a:r>
              <a:rPr lang="zh-CN" altLang="en-US" dirty="0"/>
              <a:t>内存数据寄存器（</a:t>
            </a:r>
            <a:r>
              <a:rPr lang="en-US" altLang="zh-CN" dirty="0"/>
              <a:t>MDR</a:t>
            </a:r>
            <a:r>
              <a:rPr lang="zh-CN" altLang="en-US" dirty="0"/>
              <a:t>）从读取中接收数据并保存要存储的数据</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11</a:t>
            </a:fld>
            <a:endParaRPr lang="en-US" dirty="0"/>
          </a:p>
        </p:txBody>
      </p:sp>
    </p:spTree>
    <p:extLst>
      <p:ext uri="{BB962C8B-B14F-4D97-AF65-F5344CB8AC3E}">
        <p14:creationId xmlns:p14="http://schemas.microsoft.com/office/powerpoint/2010/main" val="1682642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内存系统电路：解码器和获取</a:t>
            </a:r>
            <a:r>
              <a:rPr lang="en-US" altLang="zh-CN" dirty="0"/>
              <a:t>/</a:t>
            </a:r>
            <a:r>
              <a:rPr lang="zh-CN" altLang="en-US" dirty="0"/>
              <a:t>存储控制器</a:t>
            </a:r>
          </a:p>
          <a:p>
            <a:r>
              <a:rPr lang="zh-CN" altLang="en-US" dirty="0"/>
              <a:t>解码器将</a:t>
            </a:r>
            <a:r>
              <a:rPr lang="en-US" altLang="zh-CN" dirty="0"/>
              <a:t>MAR</a:t>
            </a:r>
            <a:r>
              <a:rPr lang="zh-CN" altLang="en-US" dirty="0"/>
              <a:t>转换为信号到特定的存储单元</a:t>
            </a:r>
          </a:p>
          <a:p>
            <a:r>
              <a:rPr lang="zh-CN" altLang="en-US" dirty="0"/>
              <a:t>一维与二维内存组织</a:t>
            </a:r>
          </a:p>
          <a:p>
            <a:r>
              <a:rPr lang="zh-CN" altLang="en-US" dirty="0"/>
              <a:t>访存控制器►用于</a:t>
            </a:r>
            <a:r>
              <a:rPr lang="en-US" altLang="zh-CN" dirty="0"/>
              <a:t>MDR</a:t>
            </a:r>
            <a:r>
              <a:rPr lang="zh-CN" altLang="en-US" dirty="0"/>
              <a:t>的交通警察</a:t>
            </a:r>
          </a:p>
          <a:p>
            <a:r>
              <a:rPr lang="zh-CN" altLang="en-US" dirty="0"/>
              <a:t>接收指示获取或存储的信号</a:t>
            </a:r>
          </a:p>
          <a:p>
            <a:r>
              <a:rPr lang="zh-CN" altLang="en-US" dirty="0"/>
              <a:t>路由数据流往返存储单元和</a:t>
            </a:r>
            <a:r>
              <a:rPr lang="en-US" altLang="zh-CN" dirty="0"/>
              <a:t>MDR</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12</a:t>
            </a:fld>
            <a:endParaRPr lang="en-US" dirty="0"/>
          </a:p>
        </p:txBody>
      </p:sp>
    </p:spTree>
    <p:extLst>
      <p:ext uri="{BB962C8B-B14F-4D97-AF65-F5344CB8AC3E}">
        <p14:creationId xmlns:p14="http://schemas.microsoft.com/office/powerpoint/2010/main" val="2920139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RAM</a:t>
            </a:r>
            <a:r>
              <a:rPr lang="zh-CN" altLang="en-US" dirty="0"/>
              <a:t>的速度比</a:t>
            </a:r>
            <a:r>
              <a:rPr lang="en-US" altLang="zh-CN" dirty="0"/>
              <a:t>CPU</a:t>
            </a:r>
            <a:r>
              <a:rPr lang="zh-CN" altLang="en-US" dirty="0"/>
              <a:t>速度慢</a:t>
            </a:r>
          </a:p>
          <a:p>
            <a:r>
              <a:rPr lang="zh-CN" altLang="en-US" dirty="0"/>
              <a:t>（</a:t>
            </a:r>
            <a:r>
              <a:rPr lang="en-US" altLang="zh-CN" dirty="0"/>
              <a:t>Cache</a:t>
            </a:r>
            <a:r>
              <a:rPr lang="zh-CN" altLang="en-US" dirty="0"/>
              <a:t>）高速缓存速度快但价格昂贵（速度越快越贵）</a:t>
            </a:r>
          </a:p>
          <a:p>
            <a:r>
              <a:rPr lang="en-US" altLang="zh-CN" dirty="0"/>
              <a:t>cache</a:t>
            </a:r>
            <a:r>
              <a:rPr lang="zh-CN" altLang="en-US" dirty="0"/>
              <a:t>内置于</a:t>
            </a:r>
            <a:r>
              <a:rPr lang="en-US" altLang="zh-CN" dirty="0"/>
              <a:t>CPU</a:t>
            </a:r>
            <a:r>
              <a:rPr lang="zh-CN" altLang="en-US" dirty="0"/>
              <a:t>中以实现快速访问</a:t>
            </a:r>
          </a:p>
          <a:p>
            <a:r>
              <a:rPr lang="zh-CN" altLang="en-US" dirty="0"/>
              <a:t>地方性原则</a:t>
            </a:r>
          </a:p>
          <a:p>
            <a:r>
              <a:rPr lang="zh-CN" altLang="en-US" dirty="0"/>
              <a:t>接近最近访问的内存的值更有可能被访问</a:t>
            </a:r>
          </a:p>
          <a:p>
            <a:r>
              <a:rPr lang="zh-CN" altLang="en-US" dirty="0"/>
              <a:t>将邻居加载到缓存中并在其中保留最新值</a:t>
            </a:r>
          </a:p>
          <a:p>
            <a:r>
              <a:rPr lang="zh-CN" altLang="en-US" dirty="0"/>
              <a:t>高速缓存命中率：在高速缓存中找到值的次数百分比</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16</a:t>
            </a:fld>
            <a:endParaRPr lang="en-US" dirty="0"/>
          </a:p>
        </p:txBody>
      </p:sp>
    </p:spTree>
    <p:extLst>
      <p:ext uri="{BB962C8B-B14F-4D97-AF65-F5344CB8AC3E}">
        <p14:creationId xmlns:p14="http://schemas.microsoft.com/office/powerpoint/2010/main" val="2979254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输入</a:t>
            </a:r>
            <a:r>
              <a:rPr lang="en-US" altLang="zh-CN" dirty="0"/>
              <a:t>/</a:t>
            </a:r>
            <a:r>
              <a:rPr lang="zh-CN" altLang="en-US" dirty="0"/>
              <a:t>输出（</a:t>
            </a:r>
            <a:r>
              <a:rPr lang="en-US" altLang="zh-CN" dirty="0"/>
              <a:t>I / O</a:t>
            </a:r>
            <a:r>
              <a:rPr lang="zh-CN" altLang="en-US" dirty="0"/>
              <a:t>）将处理器连接到外界</a:t>
            </a:r>
          </a:p>
          <a:p>
            <a:r>
              <a:rPr lang="zh-CN" altLang="en-US" dirty="0"/>
              <a:t>人类：键盘，显示器等</a:t>
            </a:r>
          </a:p>
          <a:p>
            <a:r>
              <a:rPr lang="zh-CN" altLang="en-US" dirty="0"/>
              <a:t>数据存储：硬盘，</a:t>
            </a:r>
            <a:r>
              <a:rPr lang="en-US" altLang="zh-CN" dirty="0"/>
              <a:t>DVD</a:t>
            </a:r>
            <a:r>
              <a:rPr lang="zh-CN" altLang="en-US" dirty="0"/>
              <a:t>，闪存驱动器</a:t>
            </a:r>
          </a:p>
          <a:p>
            <a:r>
              <a:rPr lang="zh-CN" altLang="en-US" dirty="0"/>
              <a:t>其他计算机：网络</a:t>
            </a:r>
          </a:p>
          <a:p>
            <a:r>
              <a:rPr lang="en-US" altLang="zh-CN" dirty="0"/>
              <a:t>RAM =</a:t>
            </a:r>
            <a:r>
              <a:rPr lang="zh-CN" altLang="en-US" dirty="0"/>
              <a:t>易失性内存（断电）</a:t>
            </a:r>
          </a:p>
          <a:p>
            <a:r>
              <a:rPr lang="zh-CN" altLang="en-US" dirty="0"/>
              <a:t>大容量存储系统</a:t>
            </a:r>
            <a:r>
              <a:rPr lang="en-US" altLang="zh-CN" dirty="0"/>
              <a:t>=</a:t>
            </a:r>
            <a:r>
              <a:rPr lang="zh-CN" altLang="en-US" dirty="0"/>
              <a:t>非易失性存储器</a:t>
            </a:r>
          </a:p>
          <a:p>
            <a:r>
              <a:rPr lang="zh-CN" altLang="en-US" dirty="0"/>
              <a:t>直接访问存储设备（</a:t>
            </a:r>
            <a:r>
              <a:rPr lang="en-US" altLang="zh-CN" dirty="0"/>
              <a:t>DASD</a:t>
            </a:r>
            <a:r>
              <a:rPr lang="zh-CN" altLang="en-US" dirty="0"/>
              <a:t>）</a:t>
            </a:r>
          </a:p>
          <a:p>
            <a:r>
              <a:rPr lang="zh-CN" altLang="en-US" dirty="0"/>
              <a:t>顺序访问存储设备（</a:t>
            </a:r>
            <a:r>
              <a:rPr lang="en-US" altLang="zh-CN" dirty="0"/>
              <a:t>SASD</a:t>
            </a:r>
            <a:r>
              <a:rPr lang="zh-CN" altLang="en-US" dirty="0"/>
              <a:t>）</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17</a:t>
            </a:fld>
            <a:endParaRPr lang="en-US" dirty="0"/>
          </a:p>
        </p:txBody>
      </p:sp>
    </p:spTree>
    <p:extLst>
      <p:ext uri="{BB962C8B-B14F-4D97-AF65-F5344CB8AC3E}">
        <p14:creationId xmlns:p14="http://schemas.microsoft.com/office/powerpoint/2010/main" val="2274515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录音机</a:t>
            </a:r>
          </a:p>
          <a:p>
            <a:r>
              <a:rPr lang="zh-CN" altLang="en-US" dirty="0"/>
              <a:t>磁盘：硬盘驱动器和光学介质（</a:t>
            </a:r>
            <a:r>
              <a:rPr lang="en-US" altLang="zh-CN" dirty="0"/>
              <a:t>CD / DVD</a:t>
            </a:r>
            <a:r>
              <a:rPr lang="zh-CN" altLang="en-US" dirty="0"/>
              <a:t>）</a:t>
            </a:r>
          </a:p>
          <a:p>
            <a:r>
              <a:rPr lang="zh-CN" altLang="en-US" dirty="0"/>
              <a:t>轨道：围绕磁盘表面的同心环</a:t>
            </a:r>
          </a:p>
          <a:p>
            <a:r>
              <a:rPr lang="zh-CN" altLang="en-US" dirty="0"/>
              <a:t>扇区：固定大小的轨道段，检索单位</a:t>
            </a:r>
          </a:p>
          <a:p>
            <a:r>
              <a:rPr lang="zh-CN" altLang="en-US" dirty="0"/>
              <a:t>根据以下时间检索数据</a:t>
            </a:r>
          </a:p>
          <a:p>
            <a:r>
              <a:rPr lang="zh-CN" altLang="en-US" dirty="0"/>
              <a:t>寻求时间</a:t>
            </a:r>
          </a:p>
          <a:p>
            <a:r>
              <a:rPr lang="zh-CN" altLang="en-US" dirty="0"/>
              <a:t>潜伏</a:t>
            </a:r>
          </a:p>
          <a:p>
            <a:r>
              <a:rPr lang="zh-CN" altLang="en-US" dirty="0"/>
              <a:t>转移时间</a:t>
            </a:r>
          </a:p>
          <a:p>
            <a:r>
              <a:rPr lang="zh-CN" altLang="en-US" dirty="0"/>
              <a:t>其他非磁盘</a:t>
            </a:r>
            <a:r>
              <a:rPr lang="en-US" altLang="zh-CN" dirty="0"/>
              <a:t>DASD</a:t>
            </a:r>
            <a:r>
              <a:rPr lang="zh-CN" altLang="en-US" dirty="0"/>
              <a:t>：闪存和固态驱动器（随机访问大容量存储）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18</a:t>
            </a:fld>
            <a:endParaRPr lang="en-US" dirty="0"/>
          </a:p>
        </p:txBody>
      </p:sp>
    </p:spTree>
    <p:extLst>
      <p:ext uri="{BB962C8B-B14F-4D97-AF65-F5344CB8AC3E}">
        <p14:creationId xmlns:p14="http://schemas.microsoft.com/office/powerpoint/2010/main" val="1652183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DASD</a:t>
            </a:r>
            <a:r>
              <a:rPr lang="zh-CN" altLang="en-US" dirty="0"/>
              <a:t>和</a:t>
            </a:r>
            <a:r>
              <a:rPr lang="en-US" altLang="zh-CN" dirty="0"/>
              <a:t>SASD</a:t>
            </a:r>
            <a:r>
              <a:rPr lang="zh-CN" altLang="en-US" dirty="0"/>
              <a:t>比</a:t>
            </a:r>
            <a:r>
              <a:rPr lang="en-US" altLang="zh-CN" dirty="0"/>
              <a:t>RAM</a:t>
            </a:r>
            <a:r>
              <a:rPr lang="zh-CN" altLang="en-US" dirty="0"/>
              <a:t>慢几个数量级：（微秒或毫秒）。</a:t>
            </a:r>
          </a:p>
          <a:p>
            <a:r>
              <a:rPr lang="en-US" altLang="zh-CN" dirty="0"/>
              <a:t>I / O</a:t>
            </a:r>
            <a:r>
              <a:rPr lang="zh-CN" altLang="en-US" dirty="0"/>
              <a:t>控制器管理速度较慢的</a:t>
            </a:r>
            <a:r>
              <a:rPr lang="en-US" altLang="zh-CN" dirty="0"/>
              <a:t>I / O</a:t>
            </a:r>
            <a:r>
              <a:rPr lang="zh-CN" altLang="en-US" dirty="0"/>
              <a:t>设备的数据传输，从而使处理器有更多的工作要做。</a:t>
            </a:r>
          </a:p>
          <a:p>
            <a:r>
              <a:rPr lang="en-US" altLang="zh-CN" dirty="0"/>
              <a:t>I / O</a:t>
            </a:r>
            <a:r>
              <a:rPr lang="zh-CN" altLang="en-US" dirty="0"/>
              <a:t>任务完成后，控制器会向处理器发送中断信号。</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20</a:t>
            </a:fld>
            <a:endParaRPr lang="en-US" dirty="0"/>
          </a:p>
        </p:txBody>
      </p:sp>
    </p:spTree>
    <p:extLst>
      <p:ext uri="{BB962C8B-B14F-4D97-AF65-F5344CB8AC3E}">
        <p14:creationId xmlns:p14="http://schemas.microsoft.com/office/powerpoint/2010/main" val="2477527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ALU</a:t>
            </a:r>
            <a:r>
              <a:rPr lang="zh-CN" altLang="en-US" dirty="0"/>
              <a:t>是处理器的一部分</a:t>
            </a:r>
          </a:p>
          <a:p>
            <a:r>
              <a:rPr lang="zh-CN" altLang="en-US" dirty="0"/>
              <a:t>包含用于算术的电路</a:t>
            </a:r>
          </a:p>
          <a:p>
            <a:r>
              <a:rPr lang="zh-CN" altLang="en-US" dirty="0"/>
              <a:t>加，减，乘和除</a:t>
            </a:r>
          </a:p>
          <a:p>
            <a:r>
              <a:rPr lang="zh-CN" altLang="en-US" dirty="0"/>
              <a:t>包含用于比较和逻辑的电路</a:t>
            </a:r>
          </a:p>
          <a:p>
            <a:r>
              <a:rPr lang="zh-CN" altLang="en-US" dirty="0"/>
              <a:t>平等与否</a:t>
            </a:r>
          </a:p>
          <a:p>
            <a:r>
              <a:rPr lang="zh-CN" altLang="en-US" dirty="0"/>
              <a:t>包含寄存器：连接到电路的高速专用存储器</a:t>
            </a:r>
          </a:p>
          <a:p>
            <a:r>
              <a:rPr lang="zh-CN" altLang="en-US" dirty="0"/>
              <a:t>数据路径：信息如何在</a:t>
            </a:r>
            <a:r>
              <a:rPr lang="en-US" altLang="zh-CN" dirty="0"/>
              <a:t>ALU</a:t>
            </a:r>
            <a:r>
              <a:rPr lang="zh-CN" altLang="en-US" dirty="0"/>
              <a:t>中流动</a:t>
            </a:r>
          </a:p>
          <a:p>
            <a:r>
              <a:rPr lang="zh-CN" altLang="en-US" dirty="0"/>
              <a:t>从寄存器到电路</a:t>
            </a:r>
          </a:p>
          <a:p>
            <a:r>
              <a:rPr lang="zh-CN" altLang="en-US" dirty="0"/>
              <a:t>从电路回到寄存器</a:t>
            </a:r>
            <a:endParaRPr lang="en-US" altLang="zh-CN" dirty="0"/>
          </a:p>
          <a:p>
            <a:r>
              <a:rPr lang="en-US" dirty="0"/>
              <a:t>Register </a:t>
            </a:r>
            <a:r>
              <a:rPr lang="zh-CN" altLang="en-US" dirty="0"/>
              <a:t>比</a:t>
            </a:r>
            <a:r>
              <a:rPr lang="en-US" altLang="zh-CN" dirty="0"/>
              <a:t>cache</a:t>
            </a:r>
            <a:r>
              <a:rPr lang="zh-CN" altLang="en-US" dirty="0"/>
              <a:t>还要快</a:t>
            </a:r>
            <a:endParaRPr lang="en-US" altLang="zh-CN" dirty="0"/>
          </a:p>
          <a:p>
            <a:r>
              <a:rPr lang="en-US" altLang="zh-CN" dirty="0"/>
              <a:t>Register </a:t>
            </a:r>
            <a:r>
              <a:rPr lang="zh-CN" altLang="en-US" dirty="0"/>
              <a:t>也是</a:t>
            </a:r>
            <a:r>
              <a:rPr lang="en-US" altLang="zh-CN" dirty="0"/>
              <a:t>CPU</a:t>
            </a:r>
            <a:r>
              <a:rPr lang="zh-CN" altLang="en-US" dirty="0"/>
              <a:t>中的一部分</a:t>
            </a:r>
            <a:endParaRPr lang="en-US" altLang="zh-CN" dirty="0"/>
          </a:p>
          <a:p>
            <a:r>
              <a:rPr lang="zh-CN" altLang="en-US" dirty="0"/>
              <a:t>如果我们在进入</a:t>
            </a:r>
            <a:r>
              <a:rPr lang="en-US" altLang="zh-CN" dirty="0"/>
              <a:t>ALU</a:t>
            </a:r>
            <a:r>
              <a:rPr lang="zh-CN" altLang="en-US" dirty="0"/>
              <a:t>之前要获取</a:t>
            </a:r>
            <a:r>
              <a:rPr lang="en-US" altLang="zh-CN" dirty="0"/>
              <a:t>cache</a:t>
            </a:r>
            <a:r>
              <a:rPr lang="zh-CN" altLang="en-US" dirty="0"/>
              <a:t>的值，值要先放在</a:t>
            </a:r>
            <a:r>
              <a:rPr lang="en-US" altLang="zh-CN" dirty="0"/>
              <a:t>register</a:t>
            </a:r>
            <a:r>
              <a:rPr lang="zh-CN" altLang="en-US" dirty="0"/>
              <a:t>中</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22</a:t>
            </a:fld>
            <a:endParaRPr lang="en-US" dirty="0"/>
          </a:p>
        </p:txBody>
      </p:sp>
    </p:spTree>
    <p:extLst>
      <p:ext uri="{BB962C8B-B14F-4D97-AF65-F5344CB8AC3E}">
        <p14:creationId xmlns:p14="http://schemas.microsoft.com/office/powerpoint/2010/main" val="1651662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 all the register are hooked up the ALU.</a:t>
            </a:r>
          </a:p>
          <a:p>
            <a:r>
              <a:rPr lang="zh-CN" altLang="en-US" dirty="0"/>
              <a:t>基本所有的</a:t>
            </a:r>
            <a:r>
              <a:rPr lang="en-US" altLang="zh-CN" dirty="0"/>
              <a:t>register</a:t>
            </a:r>
            <a:r>
              <a:rPr lang="zh-CN" altLang="en-US" dirty="0"/>
              <a:t>都连接到</a:t>
            </a:r>
            <a:r>
              <a:rPr lang="en-US" altLang="zh-CN" dirty="0"/>
              <a:t>ALU</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24</a:t>
            </a:fld>
            <a:endParaRPr lang="en-US" dirty="0"/>
          </a:p>
        </p:txBody>
      </p:sp>
    </p:spTree>
    <p:extLst>
      <p:ext uri="{BB962C8B-B14F-4D97-AF65-F5344CB8AC3E}">
        <p14:creationId xmlns:p14="http://schemas.microsoft.com/office/powerpoint/2010/main" val="770248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如何选择要执行的操作？</a:t>
            </a:r>
          </a:p>
          <a:p>
            <a:r>
              <a:rPr lang="zh-CN" altLang="en-US" dirty="0"/>
              <a:t>选项</a:t>
            </a:r>
            <a:r>
              <a:rPr lang="en-US" altLang="zh-CN" dirty="0"/>
              <a:t>1</a:t>
            </a:r>
            <a:r>
              <a:rPr lang="zh-CN" altLang="en-US" dirty="0"/>
              <a:t>：解码器向一个电路发出信号以运行。</a:t>
            </a:r>
          </a:p>
          <a:p>
            <a:r>
              <a:rPr lang="zh-CN" altLang="en-US" dirty="0"/>
              <a:t>选项</a:t>
            </a:r>
            <a:r>
              <a:rPr lang="en-US" altLang="zh-CN" dirty="0"/>
              <a:t>2</a:t>
            </a:r>
            <a:r>
              <a:rPr lang="zh-CN" altLang="en-US" dirty="0"/>
              <a:t>：运行所有电路，多路复用器从所有电路中选择一个输出。</a:t>
            </a:r>
          </a:p>
          <a:p>
            <a:r>
              <a:rPr lang="zh-CN" altLang="en-US" dirty="0"/>
              <a:t>实际上，通常选择选项</a:t>
            </a:r>
            <a:r>
              <a:rPr lang="en-US" altLang="zh-CN" dirty="0"/>
              <a:t>2</a:t>
            </a:r>
            <a:r>
              <a:rPr lang="zh-CN" altLang="en-US" dirty="0"/>
              <a:t>。</a:t>
            </a:r>
            <a:endParaRPr lang="en-US" altLang="zh-CN" dirty="0"/>
          </a:p>
          <a:p>
            <a:r>
              <a:rPr lang="zh-CN" altLang="en-US" dirty="0"/>
              <a:t>因为这样更快。</a:t>
            </a:r>
            <a:endParaRPr lang="en-US" altLang="zh-CN" dirty="0"/>
          </a:p>
          <a:p>
            <a:r>
              <a:rPr lang="zh-CN" altLang="en-US" dirty="0"/>
              <a:t>这主要是因为速度，所以您不需要立即知道将要执行的操作，而只需要知道将要对其进行操作的两件事就可以使解码器仍在运行 一旦固定了这两个操作，然后等到该操作完成后才确定真正需要哪些操作，这是因为这样做可能会更快。</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25</a:t>
            </a:fld>
            <a:endParaRPr lang="en-US" dirty="0"/>
          </a:p>
        </p:txBody>
      </p:sp>
    </p:spTree>
    <p:extLst>
      <p:ext uri="{BB962C8B-B14F-4D97-AF65-F5344CB8AC3E}">
        <p14:creationId xmlns:p14="http://schemas.microsoft.com/office/powerpoint/2010/main" val="3382786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信息流</a:t>
            </a:r>
          </a:p>
          <a:p>
            <a:r>
              <a:rPr lang="zh-CN" altLang="en-US" dirty="0"/>
              <a:t>数据从外部输入到寄存器</a:t>
            </a:r>
          </a:p>
          <a:p>
            <a:r>
              <a:rPr lang="zh-CN" altLang="en-US" dirty="0"/>
              <a:t>信号来自寄存器到</a:t>
            </a:r>
            <a:r>
              <a:rPr lang="en-US" altLang="zh-CN" dirty="0"/>
              <a:t>ALU</a:t>
            </a:r>
          </a:p>
          <a:p>
            <a:r>
              <a:rPr lang="zh-CN" altLang="en-US" dirty="0"/>
              <a:t>信号从</a:t>
            </a:r>
            <a:r>
              <a:rPr lang="en-US" altLang="zh-CN" dirty="0"/>
              <a:t>ALU</a:t>
            </a:r>
            <a:r>
              <a:rPr lang="zh-CN" altLang="en-US" dirty="0"/>
              <a:t>移至多路复用器</a:t>
            </a:r>
          </a:p>
          <a:p>
            <a:r>
              <a:rPr lang="zh-CN" altLang="en-US" dirty="0"/>
              <a:t>多路复用器选择要保留的值，并丢弃其余的值</a:t>
            </a:r>
          </a:p>
          <a:p>
            <a:r>
              <a:rPr lang="zh-CN" altLang="en-US" dirty="0"/>
              <a:t>多路复用器的结果返回到寄存器，然后返回到外部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26</a:t>
            </a:fld>
            <a:endParaRPr lang="en-US" dirty="0"/>
          </a:p>
        </p:txBody>
      </p:sp>
    </p:spTree>
    <p:extLst>
      <p:ext uri="{BB962C8B-B14F-4D97-AF65-F5344CB8AC3E}">
        <p14:creationId xmlns:p14="http://schemas.microsoft.com/office/powerpoint/2010/main" val="27706228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1" dirty="0"/>
              <a:t>存储程序特征</a:t>
            </a:r>
          </a:p>
          <a:p>
            <a:r>
              <a:rPr lang="zh-CN" altLang="en-US" b="1" dirty="0"/>
              <a:t>程序以二进制编码并存储在计算机的内存中</a:t>
            </a:r>
          </a:p>
          <a:p>
            <a:r>
              <a:rPr lang="zh-CN" altLang="en-US" b="1" dirty="0"/>
              <a:t>控制单元从内存中获取指令，对其进行解码，然后执行</a:t>
            </a:r>
          </a:p>
          <a:p>
            <a:r>
              <a:rPr lang="zh-CN" altLang="en-US" b="1" dirty="0"/>
              <a:t>指令编码</a:t>
            </a:r>
          </a:p>
          <a:p>
            <a:r>
              <a:rPr lang="zh-CN" altLang="en-US" b="1" dirty="0"/>
              <a:t>操作码（操作码）告诉哪个操作</a:t>
            </a:r>
          </a:p>
          <a:p>
            <a:r>
              <a:rPr lang="zh-CN" altLang="en-US" b="1" dirty="0"/>
              <a:t>地址告诉要操作的内存地址</a:t>
            </a:r>
            <a:r>
              <a:rPr lang="en-US" altLang="zh-CN" b="1" dirty="0"/>
              <a:t>/</a:t>
            </a:r>
            <a:r>
              <a:rPr lang="zh-CN" altLang="en-US" b="1" dirty="0"/>
              <a:t>寄存器</a:t>
            </a:r>
            <a:endParaRPr lang="en-US" b="1" dirty="0"/>
          </a:p>
        </p:txBody>
      </p:sp>
      <p:sp>
        <p:nvSpPr>
          <p:cNvPr id="4" name="Slide Number Placeholder 3"/>
          <p:cNvSpPr>
            <a:spLocks noGrp="1"/>
          </p:cNvSpPr>
          <p:nvPr>
            <p:ph type="sldNum" sz="quarter" idx="5"/>
          </p:nvPr>
        </p:nvSpPr>
        <p:spPr/>
        <p:txBody>
          <a:bodyPr/>
          <a:lstStyle/>
          <a:p>
            <a:fld id="{D9483670-0D61-9349-97AC-A9731AA75D95}" type="slidenum">
              <a:rPr lang="en-US" smtClean="0"/>
              <a:t>29</a:t>
            </a:fld>
            <a:endParaRPr lang="en-US" dirty="0"/>
          </a:p>
        </p:txBody>
      </p:sp>
    </p:spTree>
    <p:extLst>
      <p:ext uri="{BB962C8B-B14F-4D97-AF65-F5344CB8AC3E}">
        <p14:creationId xmlns:p14="http://schemas.microsoft.com/office/powerpoint/2010/main" val="33224756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机器语言</a:t>
            </a:r>
          </a:p>
          <a:p>
            <a:r>
              <a:rPr lang="zh-CN" altLang="en-US" dirty="0"/>
              <a:t>二进制字符串编码指令</a:t>
            </a:r>
          </a:p>
          <a:p>
            <a:r>
              <a:rPr lang="zh-CN" altLang="en-US" dirty="0"/>
              <a:t>指令可以由硬件执行</a:t>
            </a:r>
          </a:p>
          <a:p>
            <a:r>
              <a:rPr lang="zh-CN" altLang="en-US" dirty="0"/>
              <a:t>指令序列编码算法</a:t>
            </a:r>
          </a:p>
          <a:p>
            <a:r>
              <a:rPr lang="zh-CN" altLang="en-US" dirty="0"/>
              <a:t>指令系统</a:t>
            </a:r>
          </a:p>
          <a:p>
            <a:r>
              <a:rPr lang="zh-CN" altLang="en-US" dirty="0"/>
              <a:t>由特定芯片实现的指令</a:t>
            </a:r>
          </a:p>
          <a:p>
            <a:r>
              <a:rPr lang="zh-CN" altLang="en-US" dirty="0"/>
              <a:t>每种处理器都有不同的指令集（说不同的语言）</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31</a:t>
            </a:fld>
            <a:endParaRPr lang="en-US" dirty="0"/>
          </a:p>
        </p:txBody>
      </p:sp>
    </p:spTree>
    <p:extLst>
      <p:ext uri="{BB962C8B-B14F-4D97-AF65-F5344CB8AC3E}">
        <p14:creationId xmlns:p14="http://schemas.microsoft.com/office/powerpoint/2010/main" val="3470246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精简指令集计算机（</a:t>
            </a:r>
            <a:r>
              <a:rPr lang="en-US" altLang="zh-CN" dirty="0"/>
              <a:t>RISC</a:t>
            </a:r>
            <a:r>
              <a:rPr lang="zh-CN" altLang="en-US" dirty="0"/>
              <a:t>）</a:t>
            </a:r>
          </a:p>
          <a:p>
            <a:r>
              <a:rPr lang="zh-CN" altLang="en-US" dirty="0"/>
              <a:t>小指令集</a:t>
            </a:r>
          </a:p>
          <a:p>
            <a:r>
              <a:rPr lang="zh-CN" altLang="en-US" dirty="0"/>
              <a:t>每条指令高度优化</a:t>
            </a:r>
          </a:p>
          <a:p>
            <a:r>
              <a:rPr lang="zh-CN" altLang="en-US" dirty="0"/>
              <a:t>易于设计的硬件</a:t>
            </a:r>
          </a:p>
          <a:p>
            <a:r>
              <a:rPr lang="zh-CN" altLang="en-US" dirty="0"/>
              <a:t>复杂指令集计算机（</a:t>
            </a:r>
            <a:r>
              <a:rPr lang="en-US" altLang="zh-CN" dirty="0"/>
              <a:t>CISC</a:t>
            </a:r>
            <a:r>
              <a:rPr lang="zh-CN" altLang="en-US" dirty="0"/>
              <a:t>）</a:t>
            </a:r>
          </a:p>
          <a:p>
            <a:r>
              <a:rPr lang="zh-CN" altLang="en-US" dirty="0"/>
              <a:t>大指令集</a:t>
            </a:r>
          </a:p>
          <a:p>
            <a:r>
              <a:rPr lang="zh-CN" altLang="en-US" dirty="0"/>
              <a:t>单条指令可以完成很多工作</a:t>
            </a:r>
          </a:p>
          <a:p>
            <a:r>
              <a:rPr lang="zh-CN" altLang="en-US" dirty="0"/>
              <a:t>设计硬件复杂</a:t>
            </a:r>
          </a:p>
          <a:p>
            <a:r>
              <a:rPr lang="zh-CN" altLang="en-US" dirty="0"/>
              <a:t>现代硬件是</a:t>
            </a:r>
            <a:r>
              <a:rPr lang="en-US" altLang="zh-CN" dirty="0"/>
              <a:t>RISC</a:t>
            </a:r>
            <a:r>
              <a:rPr lang="zh-CN" altLang="en-US" dirty="0"/>
              <a:t>和</a:t>
            </a:r>
            <a:r>
              <a:rPr lang="en-US" altLang="zh-CN" dirty="0"/>
              <a:t>CISC</a:t>
            </a:r>
            <a:r>
              <a:rPr lang="zh-CN" altLang="en-US" dirty="0"/>
              <a:t>之间的折衷方案</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32</a:t>
            </a:fld>
            <a:endParaRPr lang="en-US" dirty="0"/>
          </a:p>
        </p:txBody>
      </p:sp>
    </p:spTree>
    <p:extLst>
      <p:ext uri="{BB962C8B-B14F-4D97-AF65-F5344CB8AC3E}">
        <p14:creationId xmlns:p14="http://schemas.microsoft.com/office/powerpoint/2010/main" val="43672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指令集示例：</a:t>
            </a:r>
          </a:p>
          <a:p>
            <a:r>
              <a:rPr lang="zh-CN" altLang="en-US" dirty="0"/>
              <a:t>数据传输，例如，将数据从内存移动到寄存器</a:t>
            </a:r>
          </a:p>
          <a:p>
            <a:r>
              <a:rPr lang="zh-CN" altLang="en-US" dirty="0"/>
              <a:t>算术运算（例如，加），也可以是</a:t>
            </a:r>
            <a:r>
              <a:rPr lang="en-US" altLang="zh-CN" dirty="0"/>
              <a:t>AND</a:t>
            </a:r>
          </a:p>
          <a:p>
            <a:r>
              <a:rPr lang="zh-CN" altLang="en-US" dirty="0"/>
              <a:t>比较：比较两个值</a:t>
            </a:r>
          </a:p>
          <a:p>
            <a:r>
              <a:rPr lang="zh-CN" altLang="en-US" dirty="0"/>
              <a:t>转移指令：更改为非顺序指令</a:t>
            </a:r>
          </a:p>
          <a:p>
            <a:r>
              <a:rPr lang="zh-CN" altLang="en-US" dirty="0"/>
              <a:t>分支允许条件和循环形式</a:t>
            </a:r>
          </a:p>
          <a:p>
            <a:r>
              <a:rPr lang="zh-CN" altLang="en-US" dirty="0"/>
              <a:t>例如，</a:t>
            </a:r>
            <a:r>
              <a:rPr lang="en-US" altLang="zh-CN" dirty="0"/>
              <a:t>JUMPLT a =</a:t>
            </a:r>
            <a:r>
              <a:rPr lang="zh-CN" altLang="en-US" dirty="0"/>
              <a:t>如果先前对</a:t>
            </a:r>
            <a:r>
              <a:rPr lang="en-US" altLang="zh-CN" dirty="0"/>
              <a:t>A</a:t>
            </a:r>
            <a:r>
              <a:rPr lang="zh-CN" altLang="en-US" dirty="0"/>
              <a:t>和</a:t>
            </a:r>
            <a:r>
              <a:rPr lang="en-US" altLang="zh-CN" dirty="0"/>
              <a:t>B</a:t>
            </a:r>
            <a:r>
              <a:rPr lang="zh-CN" altLang="en-US" dirty="0"/>
              <a:t>的比较发现</a:t>
            </a:r>
            <a:r>
              <a:rPr lang="en-US" altLang="zh-CN" dirty="0"/>
              <a:t>A &lt;B</a:t>
            </a:r>
            <a:r>
              <a:rPr lang="zh-CN" altLang="en-US" dirty="0"/>
              <a:t>，则跳转到地址</a:t>
            </a:r>
            <a:r>
              <a:rPr lang="en-US" altLang="zh-CN" dirty="0"/>
              <a:t>a</a:t>
            </a:r>
            <a:r>
              <a:rPr lang="zh-CN" altLang="en-US" dirty="0"/>
              <a:t>的指令</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33</a:t>
            </a:fld>
            <a:endParaRPr lang="en-US" dirty="0"/>
          </a:p>
        </p:txBody>
      </p:sp>
    </p:spTree>
    <p:extLst>
      <p:ext uri="{BB962C8B-B14F-4D97-AF65-F5344CB8AC3E}">
        <p14:creationId xmlns:p14="http://schemas.microsoft.com/office/powerpoint/2010/main" val="37240186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控制单元包含：</a:t>
            </a:r>
          </a:p>
          <a:p>
            <a:r>
              <a:rPr lang="zh-CN" altLang="en-US" dirty="0"/>
              <a:t>程序计数器（</a:t>
            </a:r>
            <a:r>
              <a:rPr lang="en-US" altLang="zh-CN" dirty="0"/>
              <a:t>PC</a:t>
            </a:r>
            <a:r>
              <a:rPr lang="zh-CN" altLang="en-US" dirty="0"/>
              <a:t>）寄存器：保存下一条指令的地址</a:t>
            </a:r>
          </a:p>
          <a:p>
            <a:r>
              <a:rPr lang="zh-CN" altLang="en-US" dirty="0"/>
              <a:t>指令寄存器（</a:t>
            </a:r>
            <a:r>
              <a:rPr lang="en-US" altLang="zh-CN" dirty="0"/>
              <a:t>IR</a:t>
            </a:r>
            <a:r>
              <a:rPr lang="zh-CN" altLang="en-US" dirty="0"/>
              <a:t>）：保存当前指令的编码</a:t>
            </a:r>
          </a:p>
          <a:p>
            <a:r>
              <a:rPr lang="zh-CN" altLang="en-US" dirty="0"/>
              <a:t>指令解码器电路</a:t>
            </a:r>
          </a:p>
          <a:p>
            <a:r>
              <a:rPr lang="zh-CN" altLang="en-US" dirty="0"/>
              <a:t>解码指令和信号辅助电路的操作码，每条指令一个</a:t>
            </a:r>
          </a:p>
          <a:p>
            <a:r>
              <a:rPr lang="zh-CN" altLang="en-US" dirty="0"/>
              <a:t>助手将地址发送到适当的电路</a:t>
            </a:r>
          </a:p>
          <a:p>
            <a:r>
              <a:rPr lang="zh-CN" altLang="en-US" dirty="0"/>
              <a:t>辅助信号通知</a:t>
            </a:r>
            <a:r>
              <a:rPr lang="en-US" altLang="zh-CN" dirty="0"/>
              <a:t>ALU</a:t>
            </a:r>
            <a:r>
              <a:rPr lang="zh-CN" altLang="en-US" dirty="0"/>
              <a:t>，</a:t>
            </a:r>
            <a:r>
              <a:rPr lang="en-US" altLang="zh-CN" dirty="0"/>
              <a:t>I / O</a:t>
            </a:r>
            <a:r>
              <a:rPr lang="zh-CN" altLang="en-US" dirty="0"/>
              <a:t>控制器和内存</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35</a:t>
            </a:fld>
            <a:endParaRPr lang="en-US" dirty="0"/>
          </a:p>
        </p:txBody>
      </p:sp>
    </p:spTree>
    <p:extLst>
      <p:ext uri="{BB962C8B-B14F-4D97-AF65-F5344CB8AC3E}">
        <p14:creationId xmlns:p14="http://schemas.microsoft.com/office/powerpoint/2010/main" val="1813925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结合以前的作品：冯</a:t>
            </a:r>
            <a:r>
              <a:rPr lang="en-US" altLang="zh-CN" dirty="0"/>
              <a:t>·</a:t>
            </a:r>
            <a:r>
              <a:rPr lang="zh-CN" altLang="en-US" dirty="0"/>
              <a:t>诺依曼机器</a:t>
            </a:r>
          </a:p>
          <a:p>
            <a:r>
              <a:rPr lang="zh-CN" altLang="en-US" dirty="0"/>
              <a:t>提取</a:t>
            </a:r>
            <a:r>
              <a:rPr lang="en-US" altLang="zh-CN" dirty="0"/>
              <a:t>/</a:t>
            </a:r>
            <a:r>
              <a:rPr lang="zh-CN" altLang="en-US" dirty="0"/>
              <a:t>解码</a:t>
            </a:r>
            <a:r>
              <a:rPr lang="en-US" altLang="zh-CN" dirty="0"/>
              <a:t>/</a:t>
            </a:r>
            <a:r>
              <a:rPr lang="zh-CN" altLang="en-US" dirty="0"/>
              <a:t>执行阶段</a:t>
            </a:r>
          </a:p>
          <a:p>
            <a:r>
              <a:rPr lang="zh-CN" altLang="en-US" dirty="0"/>
              <a:t>机器重复直到</a:t>
            </a:r>
            <a:r>
              <a:rPr lang="en-US" altLang="zh-CN" dirty="0"/>
              <a:t>HALT</a:t>
            </a:r>
            <a:r>
              <a:rPr lang="zh-CN" altLang="en-US" dirty="0"/>
              <a:t>指令或错误</a:t>
            </a:r>
          </a:p>
          <a:p>
            <a:r>
              <a:rPr lang="zh-CN" altLang="en-US" dirty="0"/>
              <a:t>也称为冯诺依曼循环</a:t>
            </a:r>
          </a:p>
          <a:p>
            <a:r>
              <a:rPr lang="zh-CN" altLang="en-US" dirty="0"/>
              <a:t>提取阶段：将下一条指令存入内存</a:t>
            </a:r>
          </a:p>
          <a:p>
            <a:r>
              <a:rPr lang="zh-CN" altLang="en-US" dirty="0"/>
              <a:t>解码阶段：指令解码器获取操作码</a:t>
            </a:r>
          </a:p>
          <a:p>
            <a:r>
              <a:rPr lang="zh-CN" altLang="en-US" dirty="0"/>
              <a:t>执行阶段：每条指令不同</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38</a:t>
            </a:fld>
            <a:endParaRPr lang="en-US" dirty="0"/>
          </a:p>
        </p:txBody>
      </p:sp>
    </p:spTree>
    <p:extLst>
      <p:ext uri="{BB962C8B-B14F-4D97-AF65-F5344CB8AC3E}">
        <p14:creationId xmlns:p14="http://schemas.microsoft.com/office/powerpoint/2010/main" val="10260867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计算机行为的表示法</a:t>
            </a:r>
            <a:endParaRPr lang="en-US" altLang="zh-CN" dirty="0"/>
          </a:p>
          <a:p>
            <a:endParaRPr lang="en-US" dirty="0"/>
          </a:p>
          <a:p>
            <a:r>
              <a:rPr lang="en-US" altLang="zh-CN" dirty="0"/>
              <a:t>CON(A)-------</a:t>
            </a:r>
            <a:r>
              <a:rPr lang="zh-CN" altLang="en-US" dirty="0"/>
              <a:t>存储单元</a:t>
            </a:r>
            <a:r>
              <a:rPr lang="en-US" altLang="zh-CN" dirty="0"/>
              <a:t>A</a:t>
            </a:r>
            <a:r>
              <a:rPr lang="zh-CN" altLang="en-US" dirty="0"/>
              <a:t>的内容</a:t>
            </a:r>
            <a:endParaRPr lang="en-US" altLang="zh-CN" dirty="0"/>
          </a:p>
          <a:p>
            <a:r>
              <a:rPr lang="zh-CN" altLang="en-US" dirty="0"/>
              <a:t>获取</a:t>
            </a:r>
            <a:r>
              <a:rPr lang="en-US" altLang="zh-CN" dirty="0"/>
              <a:t>---------</a:t>
            </a:r>
            <a:r>
              <a:rPr lang="zh-CN" altLang="en-US" dirty="0"/>
              <a:t>将寄存器</a:t>
            </a:r>
            <a:r>
              <a:rPr lang="en-US" altLang="zh-CN" dirty="0"/>
              <a:t>A</a:t>
            </a:r>
            <a:r>
              <a:rPr lang="zh-CN" altLang="en-US" dirty="0"/>
              <a:t>中的值发送到寄存器</a:t>
            </a:r>
            <a:r>
              <a:rPr lang="en-US" altLang="zh-CN" dirty="0"/>
              <a:t>B</a:t>
            </a:r>
            <a:r>
              <a:rPr lang="zh-CN" altLang="en-US" dirty="0"/>
              <a:t>（特殊寄存器：</a:t>
            </a:r>
            <a:r>
              <a:rPr lang="en-US" altLang="zh-CN" dirty="0"/>
              <a:t>PC</a:t>
            </a:r>
            <a:r>
              <a:rPr lang="zh-CN" altLang="en-US" dirty="0"/>
              <a:t>，</a:t>
            </a:r>
            <a:r>
              <a:rPr lang="en-US" altLang="zh-CN" dirty="0"/>
              <a:t>MAR</a:t>
            </a:r>
            <a:r>
              <a:rPr lang="zh-CN" altLang="en-US" dirty="0"/>
              <a:t>，</a:t>
            </a:r>
            <a:r>
              <a:rPr lang="en-US" altLang="zh-CN" dirty="0"/>
              <a:t>MDR</a:t>
            </a:r>
            <a:r>
              <a:rPr lang="zh-CN" altLang="en-US" dirty="0"/>
              <a:t>，</a:t>
            </a:r>
            <a:r>
              <a:rPr lang="en-US" altLang="zh-CN" dirty="0"/>
              <a:t>IR</a:t>
            </a:r>
            <a:r>
              <a:rPr lang="zh-CN" altLang="en-US" dirty="0"/>
              <a:t>，</a:t>
            </a:r>
            <a:r>
              <a:rPr lang="en-US" altLang="zh-CN" dirty="0"/>
              <a:t>ALU</a:t>
            </a:r>
            <a:r>
              <a:rPr lang="zh-CN" altLang="en-US" dirty="0"/>
              <a:t>，</a:t>
            </a:r>
            <a:r>
              <a:rPr lang="en-US" altLang="zh-CN" dirty="0"/>
              <a:t>R</a:t>
            </a:r>
            <a:r>
              <a:rPr lang="zh-CN" altLang="en-US" dirty="0"/>
              <a:t>，</a:t>
            </a:r>
            <a:r>
              <a:rPr lang="en-US" altLang="zh-CN" dirty="0"/>
              <a:t>GT</a:t>
            </a:r>
            <a:r>
              <a:rPr lang="zh-CN" altLang="en-US" dirty="0"/>
              <a:t>，</a:t>
            </a:r>
            <a:r>
              <a:rPr lang="en-US" altLang="zh-CN" dirty="0"/>
              <a:t>EQ</a:t>
            </a:r>
            <a:r>
              <a:rPr lang="zh-CN" altLang="en-US" dirty="0"/>
              <a:t>，</a:t>
            </a:r>
            <a:r>
              <a:rPr lang="en-US" altLang="zh-CN" dirty="0"/>
              <a:t>LT</a:t>
            </a:r>
            <a:r>
              <a:rPr lang="zh-CN" altLang="en-US" dirty="0"/>
              <a:t>，</a:t>
            </a:r>
            <a:r>
              <a:rPr lang="en-US" altLang="zh-CN" dirty="0"/>
              <a:t>+ 1</a:t>
            </a:r>
            <a:r>
              <a:rPr lang="zh-CN" altLang="en-US" dirty="0"/>
              <a:t>）</a:t>
            </a:r>
            <a:endParaRPr lang="en-US" altLang="zh-CN" dirty="0"/>
          </a:p>
          <a:p>
            <a:r>
              <a:rPr lang="zh-CN" altLang="en-US" dirty="0"/>
              <a:t>存取</a:t>
            </a:r>
            <a:r>
              <a:rPr lang="en-US" altLang="zh-CN" dirty="0"/>
              <a:t>-------</a:t>
            </a:r>
            <a:r>
              <a:rPr lang="zh-CN" altLang="en-US" dirty="0"/>
              <a:t>启动内存提取操作</a:t>
            </a:r>
            <a:endParaRPr lang="en-US" altLang="zh-CN" dirty="0"/>
          </a:p>
          <a:p>
            <a:r>
              <a:rPr lang="zh-CN" altLang="en-US" dirty="0"/>
              <a:t>添加</a:t>
            </a:r>
            <a:r>
              <a:rPr lang="en-US" altLang="zh-CN" dirty="0"/>
              <a:t>----</a:t>
            </a:r>
            <a:r>
              <a:rPr lang="zh-CN" altLang="en-US" dirty="0"/>
              <a:t>指示</a:t>
            </a:r>
            <a:r>
              <a:rPr lang="en-US" altLang="zh-CN" dirty="0"/>
              <a:t>ALU</a:t>
            </a:r>
            <a:r>
              <a:rPr lang="zh-CN" altLang="en-US" dirty="0"/>
              <a:t>选择加法器电路的输出</a:t>
            </a:r>
            <a:endParaRPr lang="en-US" altLang="zh-CN" dirty="0"/>
          </a:p>
          <a:p>
            <a:r>
              <a:rPr lang="zh-CN" altLang="en-US" dirty="0"/>
              <a:t>减去</a:t>
            </a:r>
            <a:r>
              <a:rPr lang="en-US" altLang="zh-CN" dirty="0"/>
              <a:t>-------</a:t>
            </a:r>
            <a:r>
              <a:rPr lang="zh-CN" altLang="en-US" dirty="0"/>
              <a:t>指示</a:t>
            </a:r>
            <a:r>
              <a:rPr lang="en-US" altLang="zh-CN" dirty="0"/>
              <a:t>ALU</a:t>
            </a:r>
            <a:r>
              <a:rPr lang="zh-CN" altLang="en-US" dirty="0"/>
              <a:t>选择减法电路的输出</a:t>
            </a:r>
            <a:endParaRPr lang="en-US" altLang="zh-CN" dirty="0"/>
          </a:p>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40</a:t>
            </a:fld>
            <a:endParaRPr lang="en-US" dirty="0"/>
          </a:p>
        </p:txBody>
      </p:sp>
    </p:spTree>
    <p:extLst>
      <p:ext uri="{BB962C8B-B14F-4D97-AF65-F5344CB8AC3E}">
        <p14:creationId xmlns:p14="http://schemas.microsoft.com/office/powerpoint/2010/main" val="230530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提取阶段</a:t>
            </a:r>
          </a:p>
          <a:p>
            <a:r>
              <a:rPr lang="en-US" altLang="zh-CN" dirty="0"/>
              <a:t>PC→MAR</a:t>
            </a:r>
            <a:r>
              <a:rPr lang="zh-CN" altLang="en-US" dirty="0"/>
              <a:t>将</a:t>
            </a:r>
            <a:r>
              <a:rPr lang="en-US" altLang="zh-CN" dirty="0"/>
              <a:t>PC</a:t>
            </a:r>
            <a:r>
              <a:rPr lang="zh-CN" altLang="en-US" dirty="0"/>
              <a:t>中的地址发送到</a:t>
            </a:r>
            <a:r>
              <a:rPr lang="en-US" altLang="zh-CN" dirty="0"/>
              <a:t>MAR</a:t>
            </a:r>
          </a:p>
          <a:p>
            <a:r>
              <a:rPr lang="en-US" altLang="zh-CN" dirty="0"/>
              <a:t>FETCH</a:t>
            </a:r>
            <a:r>
              <a:rPr lang="zh-CN" altLang="en-US" dirty="0"/>
              <a:t>启动提取，将数据传输到</a:t>
            </a:r>
            <a:r>
              <a:rPr lang="en-US" altLang="zh-CN" dirty="0"/>
              <a:t>MDR</a:t>
            </a:r>
          </a:p>
          <a:p>
            <a:r>
              <a:rPr lang="en-US" altLang="zh-CN" dirty="0"/>
              <a:t>MDR→IR</a:t>
            </a:r>
            <a:r>
              <a:rPr lang="zh-CN" altLang="en-US" dirty="0"/>
              <a:t>将</a:t>
            </a:r>
            <a:r>
              <a:rPr lang="en-US" altLang="zh-CN" dirty="0"/>
              <a:t>MDR</a:t>
            </a:r>
            <a:r>
              <a:rPr lang="zh-CN" altLang="en-US" dirty="0"/>
              <a:t>中的指令移动到</a:t>
            </a:r>
            <a:r>
              <a:rPr lang="en-US" altLang="zh-CN" dirty="0"/>
              <a:t>IR</a:t>
            </a:r>
          </a:p>
          <a:p>
            <a:r>
              <a:rPr lang="en-US" altLang="zh-CN" dirty="0"/>
              <a:t>PC + 1→PC</a:t>
            </a:r>
            <a:r>
              <a:rPr lang="zh-CN" altLang="en-US" dirty="0"/>
              <a:t>加一</a:t>
            </a:r>
          </a:p>
          <a:p>
            <a:r>
              <a:rPr lang="zh-CN" altLang="en-US" dirty="0"/>
              <a:t>解码阶段</a:t>
            </a:r>
          </a:p>
          <a:p>
            <a:r>
              <a:rPr lang="en-US" altLang="zh-CN" dirty="0" err="1"/>
              <a:t>IRop</a:t>
            </a:r>
            <a:r>
              <a:rPr lang="en-US" altLang="zh-CN" dirty="0"/>
              <a:t>→</a:t>
            </a:r>
            <a:r>
              <a:rPr lang="zh-CN" altLang="en-US" dirty="0"/>
              <a:t>指令解码器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41</a:t>
            </a:fld>
            <a:endParaRPr lang="en-US" dirty="0"/>
          </a:p>
        </p:txBody>
      </p:sp>
    </p:spTree>
    <p:extLst>
      <p:ext uri="{BB962C8B-B14F-4D97-AF65-F5344CB8AC3E}">
        <p14:creationId xmlns:p14="http://schemas.microsoft.com/office/powerpoint/2010/main" val="42450755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执行阶段</a:t>
            </a:r>
          </a:p>
          <a:p>
            <a:r>
              <a:rPr lang="en-US" altLang="zh-CN" dirty="0"/>
              <a:t>LOAD X</a:t>
            </a:r>
            <a:r>
              <a:rPr lang="zh-CN" altLang="en-US" dirty="0"/>
              <a:t>表示</a:t>
            </a:r>
            <a:r>
              <a:rPr lang="en-US" altLang="zh-CN" dirty="0"/>
              <a:t>CON</a:t>
            </a:r>
            <a:r>
              <a:rPr lang="zh-CN" altLang="en-US" dirty="0"/>
              <a:t>（</a:t>
            </a:r>
            <a:r>
              <a:rPr lang="en-US" altLang="zh-CN" dirty="0"/>
              <a:t>X</a:t>
            </a:r>
            <a:r>
              <a:rPr lang="zh-CN" altLang="en-US" dirty="0"/>
              <a:t>）→</a:t>
            </a:r>
            <a:r>
              <a:rPr lang="en-US" altLang="zh-CN" dirty="0"/>
              <a:t>R</a:t>
            </a:r>
          </a:p>
          <a:p>
            <a:r>
              <a:rPr lang="en-US" altLang="zh-CN" dirty="0" err="1"/>
              <a:t>IRaddr→MAR</a:t>
            </a:r>
            <a:r>
              <a:rPr lang="zh-CN" altLang="en-US" dirty="0"/>
              <a:t>发送地址</a:t>
            </a:r>
            <a:r>
              <a:rPr lang="en-US" altLang="zh-CN" dirty="0"/>
              <a:t>X</a:t>
            </a:r>
            <a:r>
              <a:rPr lang="zh-CN" altLang="en-US" dirty="0"/>
              <a:t>到</a:t>
            </a:r>
            <a:r>
              <a:rPr lang="en-US" altLang="zh-CN" dirty="0"/>
              <a:t>MAR</a:t>
            </a:r>
          </a:p>
          <a:p>
            <a:r>
              <a:rPr lang="en-US" altLang="zh-CN" dirty="0"/>
              <a:t>FETCH</a:t>
            </a:r>
            <a:r>
              <a:rPr lang="zh-CN" altLang="en-US" dirty="0"/>
              <a:t>启动提取，将数据传输到</a:t>
            </a:r>
            <a:r>
              <a:rPr lang="en-US" altLang="zh-CN" dirty="0"/>
              <a:t>MDR</a:t>
            </a:r>
          </a:p>
          <a:p>
            <a:r>
              <a:rPr lang="en-US" altLang="zh-CN" dirty="0"/>
              <a:t>MDR→R</a:t>
            </a:r>
            <a:r>
              <a:rPr lang="zh-CN" altLang="en-US" dirty="0"/>
              <a:t>将</a:t>
            </a:r>
            <a:r>
              <a:rPr lang="en-US" altLang="zh-CN" dirty="0"/>
              <a:t>MDR</a:t>
            </a:r>
            <a:r>
              <a:rPr lang="zh-CN" altLang="en-US" dirty="0"/>
              <a:t>中的数据复制到</a:t>
            </a:r>
            <a:r>
              <a:rPr lang="en-US" altLang="zh-CN" dirty="0"/>
              <a:t>R</a:t>
            </a:r>
            <a:r>
              <a:rPr lang="zh-CN" altLang="en-US" dirty="0"/>
              <a:t>中</a:t>
            </a:r>
          </a:p>
          <a:p>
            <a:r>
              <a:rPr lang="en-US" altLang="zh-CN" dirty="0"/>
              <a:t>STORE X</a:t>
            </a:r>
            <a:r>
              <a:rPr lang="zh-CN" altLang="en-US" dirty="0"/>
              <a:t>表示</a:t>
            </a:r>
            <a:r>
              <a:rPr lang="en-US" altLang="zh-CN" dirty="0"/>
              <a:t>R→CON</a:t>
            </a:r>
            <a:r>
              <a:rPr lang="zh-CN" altLang="en-US" dirty="0"/>
              <a:t>（</a:t>
            </a:r>
            <a:r>
              <a:rPr lang="en-US" altLang="zh-CN" dirty="0"/>
              <a:t>X</a:t>
            </a:r>
            <a:r>
              <a:rPr lang="zh-CN" altLang="en-US" dirty="0"/>
              <a:t>）</a:t>
            </a:r>
          </a:p>
          <a:p>
            <a:r>
              <a:rPr lang="en-US" altLang="zh-CN" dirty="0" err="1"/>
              <a:t>IRaddr→MAR</a:t>
            </a:r>
            <a:r>
              <a:rPr lang="zh-CN" altLang="en-US" dirty="0"/>
              <a:t>发送地址</a:t>
            </a:r>
            <a:r>
              <a:rPr lang="en-US" altLang="zh-CN" dirty="0"/>
              <a:t>X</a:t>
            </a:r>
            <a:r>
              <a:rPr lang="zh-CN" altLang="en-US" dirty="0"/>
              <a:t>到</a:t>
            </a:r>
            <a:r>
              <a:rPr lang="en-US" altLang="zh-CN" dirty="0"/>
              <a:t>MAR</a:t>
            </a:r>
          </a:p>
          <a:p>
            <a:r>
              <a:rPr lang="en-US" altLang="zh-CN" dirty="0"/>
              <a:t>R→MDR</a:t>
            </a:r>
            <a:r>
              <a:rPr lang="zh-CN" altLang="en-US" dirty="0"/>
              <a:t>将</a:t>
            </a:r>
            <a:r>
              <a:rPr lang="en-US" altLang="zh-CN" dirty="0"/>
              <a:t>R</a:t>
            </a:r>
            <a:r>
              <a:rPr lang="zh-CN" altLang="en-US" dirty="0"/>
              <a:t>中的数据发送到</a:t>
            </a:r>
            <a:r>
              <a:rPr lang="en-US" altLang="zh-CN" dirty="0"/>
              <a:t>MDR</a:t>
            </a:r>
          </a:p>
          <a:p>
            <a:r>
              <a:rPr lang="zh-CN" altLang="en-US" dirty="0"/>
              <a:t>将</a:t>
            </a:r>
            <a:r>
              <a:rPr lang="en-US" altLang="zh-CN" dirty="0"/>
              <a:t>MDR</a:t>
            </a:r>
            <a:r>
              <a:rPr lang="zh-CN" altLang="en-US" dirty="0"/>
              <a:t>的存储启动到</a:t>
            </a:r>
            <a:r>
              <a:rPr lang="en-US" altLang="zh-CN" dirty="0"/>
              <a:t>X</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43</a:t>
            </a:fld>
            <a:endParaRPr lang="en-US" dirty="0"/>
          </a:p>
        </p:txBody>
      </p:sp>
    </p:spTree>
    <p:extLst>
      <p:ext uri="{BB962C8B-B14F-4D97-AF65-F5344CB8AC3E}">
        <p14:creationId xmlns:p14="http://schemas.microsoft.com/office/powerpoint/2010/main" val="1663475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加</a:t>
            </a:r>
            <a:r>
              <a:rPr lang="en-US" altLang="zh-CN" dirty="0"/>
              <a:t>X</a:t>
            </a:r>
            <a:r>
              <a:rPr lang="zh-CN" altLang="en-US" dirty="0"/>
              <a:t>表示</a:t>
            </a:r>
            <a:r>
              <a:rPr lang="en-US" altLang="zh-CN" dirty="0"/>
              <a:t>R + CON</a:t>
            </a:r>
            <a:r>
              <a:rPr lang="zh-CN" altLang="en-US" dirty="0"/>
              <a:t>（</a:t>
            </a:r>
            <a:r>
              <a:rPr lang="en-US" altLang="zh-CN" dirty="0"/>
              <a:t>X</a:t>
            </a:r>
            <a:r>
              <a:rPr lang="zh-CN" altLang="en-US" dirty="0"/>
              <a:t>）→</a:t>
            </a:r>
            <a:r>
              <a:rPr lang="en-US" altLang="zh-CN" dirty="0"/>
              <a:t>R</a:t>
            </a:r>
          </a:p>
          <a:p>
            <a:r>
              <a:rPr lang="en-US" altLang="zh-CN" dirty="0" err="1"/>
              <a:t>IRaddr→MAR</a:t>
            </a:r>
            <a:r>
              <a:rPr lang="zh-CN" altLang="en-US" dirty="0"/>
              <a:t>发送地址</a:t>
            </a:r>
            <a:r>
              <a:rPr lang="en-US" altLang="zh-CN" dirty="0"/>
              <a:t>X</a:t>
            </a:r>
            <a:r>
              <a:rPr lang="zh-CN" altLang="en-US" dirty="0"/>
              <a:t>到</a:t>
            </a:r>
            <a:r>
              <a:rPr lang="en-US" altLang="zh-CN" dirty="0"/>
              <a:t>MAR</a:t>
            </a:r>
          </a:p>
          <a:p>
            <a:r>
              <a:rPr lang="en-US" altLang="zh-CN" dirty="0"/>
              <a:t>FETCH</a:t>
            </a:r>
            <a:r>
              <a:rPr lang="zh-CN" altLang="en-US" dirty="0"/>
              <a:t>启动提取，将数据传输到</a:t>
            </a:r>
            <a:r>
              <a:rPr lang="en-US" altLang="zh-CN" dirty="0"/>
              <a:t>MDR</a:t>
            </a:r>
          </a:p>
          <a:p>
            <a:r>
              <a:rPr lang="en-US" altLang="zh-CN" dirty="0"/>
              <a:t>MDR→ALU</a:t>
            </a:r>
            <a:r>
              <a:rPr lang="zh-CN" altLang="en-US" dirty="0"/>
              <a:t>将</a:t>
            </a:r>
            <a:r>
              <a:rPr lang="en-US" altLang="zh-CN" dirty="0"/>
              <a:t>MDR</a:t>
            </a:r>
            <a:r>
              <a:rPr lang="zh-CN" altLang="en-US" dirty="0"/>
              <a:t>中的数据发送到</a:t>
            </a:r>
            <a:r>
              <a:rPr lang="en-US" altLang="zh-CN" dirty="0"/>
              <a:t>ALU</a:t>
            </a:r>
          </a:p>
          <a:p>
            <a:r>
              <a:rPr lang="en-US" altLang="zh-CN" dirty="0"/>
              <a:t>R→ALU</a:t>
            </a:r>
            <a:r>
              <a:rPr lang="zh-CN" altLang="en-US" dirty="0"/>
              <a:t>将</a:t>
            </a:r>
            <a:r>
              <a:rPr lang="en-US" altLang="zh-CN" dirty="0"/>
              <a:t>R</a:t>
            </a:r>
            <a:r>
              <a:rPr lang="zh-CN" altLang="en-US" dirty="0"/>
              <a:t>中的数据发送到</a:t>
            </a:r>
            <a:r>
              <a:rPr lang="en-US" altLang="zh-CN" dirty="0"/>
              <a:t>ALU</a:t>
            </a:r>
          </a:p>
          <a:p>
            <a:r>
              <a:rPr lang="en-US" altLang="zh-CN" dirty="0"/>
              <a:t>ADD</a:t>
            </a:r>
            <a:r>
              <a:rPr lang="zh-CN" altLang="en-US" dirty="0"/>
              <a:t>作为结果选择</a:t>
            </a:r>
            <a:r>
              <a:rPr lang="en-US" altLang="zh-CN" dirty="0"/>
              <a:t>ADD</a:t>
            </a:r>
            <a:r>
              <a:rPr lang="zh-CN" altLang="en-US" dirty="0"/>
              <a:t>电路</a:t>
            </a:r>
          </a:p>
          <a:p>
            <a:r>
              <a:rPr lang="en-US" altLang="zh-CN" dirty="0"/>
              <a:t>ALU→R</a:t>
            </a:r>
            <a:r>
              <a:rPr lang="zh-CN" altLang="en-US" dirty="0"/>
              <a:t>将所选结果复制到</a:t>
            </a:r>
            <a:r>
              <a:rPr lang="en-US" altLang="zh-CN" dirty="0"/>
              <a:t>R</a:t>
            </a:r>
          </a:p>
          <a:p>
            <a:r>
              <a:rPr lang="en-US" altLang="zh-CN" dirty="0"/>
              <a:t>JUMP X</a:t>
            </a:r>
            <a:r>
              <a:rPr lang="zh-CN" altLang="en-US" dirty="0"/>
              <a:t>的意思是从</a:t>
            </a:r>
            <a:r>
              <a:rPr lang="en-US" altLang="zh-CN" dirty="0"/>
              <a:t>X</a:t>
            </a:r>
            <a:r>
              <a:rPr lang="zh-CN" altLang="en-US" dirty="0"/>
              <a:t>获取下一条指令</a:t>
            </a:r>
          </a:p>
          <a:p>
            <a:r>
              <a:rPr lang="en-US" altLang="zh-CN" dirty="0" err="1"/>
              <a:t>IRaddr→PC</a:t>
            </a:r>
            <a:r>
              <a:rPr lang="zh-CN" altLang="en-US" dirty="0"/>
              <a:t>将地址</a:t>
            </a:r>
            <a:r>
              <a:rPr lang="en-US" altLang="zh-CN" dirty="0"/>
              <a:t>X</a:t>
            </a:r>
            <a:r>
              <a:rPr lang="zh-CN" altLang="en-US" dirty="0"/>
              <a:t>发送到</a:t>
            </a:r>
            <a:r>
              <a:rPr lang="en-US" altLang="zh-CN" dirty="0"/>
              <a:t>PC</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44</a:t>
            </a:fld>
            <a:endParaRPr lang="en-US" dirty="0"/>
          </a:p>
        </p:txBody>
      </p:sp>
    </p:spTree>
    <p:extLst>
      <p:ext uri="{BB962C8B-B14F-4D97-AF65-F5344CB8AC3E}">
        <p14:creationId xmlns:p14="http://schemas.microsoft.com/office/powerpoint/2010/main" val="37823264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COMPARE X</a:t>
            </a:r>
            <a:r>
              <a:rPr lang="zh-CN" altLang="en-US" dirty="0"/>
              <a:t>的含义：</a:t>
            </a:r>
          </a:p>
          <a:p>
            <a:r>
              <a:rPr lang="zh-CN" altLang="en-US" dirty="0"/>
              <a:t>如果</a:t>
            </a:r>
            <a:r>
              <a:rPr lang="en-US" altLang="zh-CN" dirty="0"/>
              <a:t>CON</a:t>
            </a:r>
            <a:r>
              <a:rPr lang="zh-CN" altLang="en-US" dirty="0"/>
              <a:t>（</a:t>
            </a:r>
            <a:r>
              <a:rPr lang="en-US" altLang="zh-CN" dirty="0"/>
              <a:t>X</a:t>
            </a:r>
            <a:r>
              <a:rPr lang="zh-CN" altLang="en-US" dirty="0"/>
              <a:t>）</a:t>
            </a:r>
            <a:r>
              <a:rPr lang="en-US" altLang="zh-CN" dirty="0"/>
              <a:t>&gt; R</a:t>
            </a:r>
            <a:r>
              <a:rPr lang="zh-CN" altLang="en-US" dirty="0"/>
              <a:t>，则</a:t>
            </a:r>
            <a:r>
              <a:rPr lang="en-US" altLang="zh-CN" dirty="0"/>
              <a:t>GT = 1</a:t>
            </a:r>
            <a:r>
              <a:rPr lang="zh-CN" altLang="en-US" dirty="0"/>
              <a:t>，否则为</a:t>
            </a:r>
            <a:r>
              <a:rPr lang="en-US" altLang="zh-CN" dirty="0"/>
              <a:t>0</a:t>
            </a:r>
          </a:p>
          <a:p>
            <a:r>
              <a:rPr lang="zh-CN" altLang="en-US" dirty="0"/>
              <a:t>如果</a:t>
            </a:r>
            <a:r>
              <a:rPr lang="en-US" altLang="zh-CN" dirty="0"/>
              <a:t>CON</a:t>
            </a:r>
            <a:r>
              <a:rPr lang="zh-CN" altLang="en-US" dirty="0"/>
              <a:t>（</a:t>
            </a:r>
            <a:r>
              <a:rPr lang="en-US" altLang="zh-CN" dirty="0"/>
              <a:t>X</a:t>
            </a:r>
            <a:r>
              <a:rPr lang="zh-CN" altLang="en-US" dirty="0"/>
              <a:t>）</a:t>
            </a:r>
            <a:r>
              <a:rPr lang="en-US" altLang="zh-CN" dirty="0"/>
              <a:t>= R</a:t>
            </a:r>
            <a:r>
              <a:rPr lang="zh-CN" altLang="en-US" dirty="0"/>
              <a:t>，则</a:t>
            </a:r>
            <a:r>
              <a:rPr lang="en-US" altLang="zh-CN" dirty="0"/>
              <a:t>EQ = 1</a:t>
            </a:r>
            <a:r>
              <a:rPr lang="zh-CN" altLang="en-US" dirty="0"/>
              <a:t>，否则为</a:t>
            </a:r>
            <a:r>
              <a:rPr lang="en-US" altLang="zh-CN" dirty="0"/>
              <a:t>0</a:t>
            </a:r>
          </a:p>
          <a:p>
            <a:r>
              <a:rPr lang="zh-CN" altLang="en-US" dirty="0"/>
              <a:t>如果</a:t>
            </a:r>
            <a:r>
              <a:rPr lang="en-US" altLang="zh-CN" dirty="0"/>
              <a:t>CON</a:t>
            </a:r>
            <a:r>
              <a:rPr lang="zh-CN" altLang="en-US" dirty="0"/>
              <a:t>（</a:t>
            </a:r>
            <a:r>
              <a:rPr lang="en-US" altLang="zh-CN" dirty="0"/>
              <a:t>X</a:t>
            </a:r>
            <a:r>
              <a:rPr lang="zh-CN" altLang="en-US" dirty="0"/>
              <a:t>）</a:t>
            </a:r>
            <a:r>
              <a:rPr lang="en-US" altLang="zh-CN" dirty="0"/>
              <a:t>&lt;R</a:t>
            </a:r>
            <a:r>
              <a:rPr lang="zh-CN" altLang="en-US" dirty="0"/>
              <a:t>，则</a:t>
            </a:r>
            <a:r>
              <a:rPr lang="en-US" altLang="zh-CN" dirty="0"/>
              <a:t>LT = 1</a:t>
            </a:r>
            <a:r>
              <a:rPr lang="zh-CN" altLang="en-US" dirty="0"/>
              <a:t>，否则为</a:t>
            </a:r>
            <a:r>
              <a:rPr lang="en-US" altLang="zh-CN" dirty="0"/>
              <a:t>0</a:t>
            </a:r>
          </a:p>
          <a:p>
            <a:r>
              <a:rPr lang="en-US" altLang="zh-CN" dirty="0" err="1"/>
              <a:t>IRaddr→MAR</a:t>
            </a:r>
            <a:r>
              <a:rPr lang="zh-CN" altLang="en-US" dirty="0"/>
              <a:t>发送地址</a:t>
            </a:r>
            <a:r>
              <a:rPr lang="en-US" altLang="zh-CN" dirty="0"/>
              <a:t>X</a:t>
            </a:r>
            <a:r>
              <a:rPr lang="zh-CN" altLang="en-US" dirty="0"/>
              <a:t>到</a:t>
            </a:r>
            <a:r>
              <a:rPr lang="en-US" altLang="zh-CN" dirty="0"/>
              <a:t>MAR</a:t>
            </a:r>
          </a:p>
          <a:p>
            <a:r>
              <a:rPr lang="en-US" altLang="zh-CN" dirty="0"/>
              <a:t>FETCH</a:t>
            </a:r>
            <a:r>
              <a:rPr lang="zh-CN" altLang="en-US" dirty="0"/>
              <a:t>启动提取，将数据传输到</a:t>
            </a:r>
            <a:r>
              <a:rPr lang="en-US" altLang="zh-CN" dirty="0"/>
              <a:t>MDR</a:t>
            </a:r>
          </a:p>
          <a:p>
            <a:r>
              <a:rPr lang="en-US" altLang="zh-CN" dirty="0"/>
              <a:t>MDR→ALU</a:t>
            </a:r>
            <a:r>
              <a:rPr lang="zh-CN" altLang="en-US" dirty="0"/>
              <a:t>将</a:t>
            </a:r>
            <a:r>
              <a:rPr lang="en-US" altLang="zh-CN" dirty="0"/>
              <a:t>MDR</a:t>
            </a:r>
            <a:r>
              <a:rPr lang="zh-CN" altLang="en-US" dirty="0"/>
              <a:t>中的数据发送到</a:t>
            </a:r>
            <a:r>
              <a:rPr lang="en-US" altLang="zh-CN" dirty="0"/>
              <a:t>ALU</a:t>
            </a:r>
          </a:p>
          <a:p>
            <a:r>
              <a:rPr lang="en-US" altLang="zh-CN" dirty="0"/>
              <a:t>R→ALU</a:t>
            </a:r>
            <a:r>
              <a:rPr lang="zh-CN" altLang="en-US" dirty="0"/>
              <a:t>将</a:t>
            </a:r>
            <a:r>
              <a:rPr lang="en-US" altLang="zh-CN" dirty="0"/>
              <a:t>R</a:t>
            </a:r>
            <a:r>
              <a:rPr lang="zh-CN" altLang="en-US" dirty="0"/>
              <a:t>中的数据发送到</a:t>
            </a:r>
            <a:r>
              <a:rPr lang="en-US" altLang="zh-CN" dirty="0"/>
              <a:t>ALU</a:t>
            </a:r>
          </a:p>
          <a:p>
            <a:r>
              <a:rPr lang="en-US" altLang="zh-CN" dirty="0"/>
              <a:t>SUBTRACT</a:t>
            </a:r>
            <a:r>
              <a:rPr lang="zh-CN" altLang="en-US" dirty="0"/>
              <a:t>评估</a:t>
            </a:r>
            <a:r>
              <a:rPr lang="en-US" altLang="zh-CN" dirty="0"/>
              <a:t>CON</a:t>
            </a:r>
            <a:r>
              <a:rPr lang="zh-CN" altLang="en-US" dirty="0"/>
              <a:t>（</a:t>
            </a:r>
            <a:r>
              <a:rPr lang="en-US" altLang="zh-CN" dirty="0"/>
              <a:t>X</a:t>
            </a:r>
            <a:r>
              <a:rPr lang="zh-CN" altLang="en-US" dirty="0"/>
              <a:t>）</a:t>
            </a:r>
            <a:r>
              <a:rPr lang="en-US" altLang="zh-CN" dirty="0"/>
              <a:t>– R</a:t>
            </a:r>
          </a:p>
          <a:p>
            <a:r>
              <a:rPr lang="zh-CN" altLang="en-US" dirty="0"/>
              <a:t>设置</a:t>
            </a:r>
            <a:r>
              <a:rPr lang="en-US" altLang="zh-CN" dirty="0"/>
              <a:t>EQ</a:t>
            </a:r>
            <a:r>
              <a:rPr lang="zh-CN" altLang="en-US" dirty="0"/>
              <a:t>，</a:t>
            </a:r>
            <a:r>
              <a:rPr lang="en-US" altLang="zh-CN" dirty="0"/>
              <a:t>GT</a:t>
            </a:r>
            <a:r>
              <a:rPr lang="zh-CN" altLang="en-US" dirty="0"/>
              <a:t>和</a:t>
            </a:r>
            <a:r>
              <a:rPr lang="en-US" altLang="zh-CN" dirty="0"/>
              <a:t>LT</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45</a:t>
            </a:fld>
            <a:endParaRPr lang="en-US" dirty="0"/>
          </a:p>
        </p:txBody>
      </p:sp>
    </p:spTree>
    <p:extLst>
      <p:ext uri="{BB962C8B-B14F-4D97-AF65-F5344CB8AC3E}">
        <p14:creationId xmlns:p14="http://schemas.microsoft.com/office/powerpoint/2010/main" val="41665273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JUMPGT X</a:t>
            </a:r>
            <a:r>
              <a:rPr lang="zh-CN" altLang="en-US" dirty="0"/>
              <a:t>的含义：</a:t>
            </a:r>
          </a:p>
          <a:p>
            <a:r>
              <a:rPr lang="zh-CN" altLang="en-US" dirty="0"/>
              <a:t>如果</a:t>
            </a:r>
            <a:r>
              <a:rPr lang="en-US" dirty="0"/>
              <a:t>GT = 1，</a:t>
            </a:r>
            <a:r>
              <a:rPr lang="zh-CN" altLang="en-US" dirty="0"/>
              <a:t>则跳至</a:t>
            </a:r>
            <a:r>
              <a:rPr lang="en-US" dirty="0"/>
              <a:t>X，</a:t>
            </a:r>
          </a:p>
          <a:p>
            <a:r>
              <a:rPr lang="zh-CN" altLang="en-US" dirty="0"/>
              <a:t>否则继续下一条指令</a:t>
            </a:r>
          </a:p>
          <a:p>
            <a:r>
              <a:rPr lang="zh-CN" altLang="en-US" dirty="0"/>
              <a:t>如果</a:t>
            </a:r>
            <a:r>
              <a:rPr lang="en-US" dirty="0"/>
              <a:t>GT = 1 THEN </a:t>
            </a:r>
            <a:r>
              <a:rPr lang="en-US" dirty="0" err="1"/>
              <a:t>IRaddr→PC</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46</a:t>
            </a:fld>
            <a:endParaRPr lang="en-US" dirty="0"/>
          </a:p>
        </p:txBody>
      </p:sp>
    </p:spTree>
    <p:extLst>
      <p:ext uri="{BB962C8B-B14F-4D97-AF65-F5344CB8AC3E}">
        <p14:creationId xmlns:p14="http://schemas.microsoft.com/office/powerpoint/2010/main" val="23513150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要解决的问题总是更大</a:t>
            </a:r>
          </a:p>
          <a:p>
            <a:r>
              <a:rPr lang="zh-CN" altLang="en-US" dirty="0"/>
              <a:t>计算机芯片速度不再成倍增加</a:t>
            </a:r>
          </a:p>
          <a:p>
            <a:r>
              <a:rPr lang="zh-CN" altLang="en-US" dirty="0"/>
              <a:t>减小尺寸可使门更紧密，更快</a:t>
            </a:r>
          </a:p>
          <a:p>
            <a:r>
              <a:rPr lang="zh-CN" altLang="en-US" dirty="0"/>
              <a:t>光速与电线信号有关</a:t>
            </a:r>
          </a:p>
          <a:p>
            <a:r>
              <a:rPr lang="zh-CN" altLang="en-US" dirty="0"/>
              <a:t>无法将门关得更近</a:t>
            </a:r>
          </a:p>
          <a:p>
            <a:r>
              <a:rPr lang="zh-CN" altLang="en-US" dirty="0"/>
              <a:t>热量增加过快</a:t>
            </a:r>
          </a:p>
          <a:p>
            <a:r>
              <a:rPr lang="zh-CN" altLang="en-US" dirty="0"/>
              <a:t>冯</a:t>
            </a:r>
            <a:r>
              <a:rPr lang="en-US" altLang="zh-CN" dirty="0"/>
              <a:t>·</a:t>
            </a:r>
            <a:r>
              <a:rPr lang="zh-CN" altLang="en-US" dirty="0"/>
              <a:t>诺依曼瓶颈：顺序机器无法处理更大的问题</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47</a:t>
            </a:fld>
            <a:endParaRPr lang="en-US" dirty="0"/>
          </a:p>
        </p:txBody>
      </p:sp>
    </p:spTree>
    <p:extLst>
      <p:ext uri="{BB962C8B-B14F-4D97-AF65-F5344CB8AC3E}">
        <p14:creationId xmlns:p14="http://schemas.microsoft.com/office/powerpoint/2010/main" val="6764659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非冯</a:t>
            </a:r>
            <a:r>
              <a:rPr lang="en-US" altLang="zh-CN" dirty="0"/>
              <a:t>·</a:t>
            </a:r>
            <a:r>
              <a:rPr lang="zh-CN" altLang="en-US" dirty="0"/>
              <a:t>诺依曼架构</a:t>
            </a:r>
          </a:p>
          <a:p>
            <a:r>
              <a:rPr lang="zh-CN" altLang="en-US" dirty="0"/>
              <a:t>其他组织计算机的方式</a:t>
            </a:r>
          </a:p>
          <a:p>
            <a:r>
              <a:rPr lang="zh-CN" altLang="en-US" dirty="0"/>
              <a:t>大多数是实验</a:t>
            </a:r>
            <a:r>
              <a:rPr lang="en-US" altLang="zh-CN" dirty="0"/>
              <a:t>/</a:t>
            </a:r>
            <a:r>
              <a:rPr lang="zh-CN" altLang="en-US" dirty="0"/>
              <a:t>理论的，除了并行处理</a:t>
            </a:r>
          </a:p>
          <a:p>
            <a:r>
              <a:rPr lang="zh-CN" altLang="en-US" dirty="0"/>
              <a:t>并行处理</a:t>
            </a:r>
          </a:p>
          <a:p>
            <a:r>
              <a:rPr lang="zh-CN" altLang="en-US" dirty="0"/>
              <a:t>许多处理单元同时运行</a:t>
            </a:r>
          </a:p>
          <a:p>
            <a:r>
              <a:rPr lang="zh-CN" altLang="en-US" dirty="0"/>
              <a:t>超级计算机（过去）</a:t>
            </a:r>
          </a:p>
          <a:p>
            <a:r>
              <a:rPr lang="zh-CN" altLang="en-US" dirty="0"/>
              <a:t>台式机多核计算机和“云”（目前）</a:t>
            </a:r>
          </a:p>
          <a:p>
            <a:r>
              <a:rPr lang="zh-CN" altLang="en-US" dirty="0"/>
              <a:t>量子计算（未来）</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49</a:t>
            </a:fld>
            <a:endParaRPr lang="en-US" dirty="0"/>
          </a:p>
        </p:txBody>
      </p:sp>
    </p:spTree>
    <p:extLst>
      <p:ext uri="{BB962C8B-B14F-4D97-AF65-F5344CB8AC3E}">
        <p14:creationId xmlns:p14="http://schemas.microsoft.com/office/powerpoint/2010/main" val="40292733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MIMD</a:t>
            </a:r>
            <a:r>
              <a:rPr lang="zh-CN" altLang="en-US" dirty="0"/>
              <a:t>并行处理</a:t>
            </a:r>
          </a:p>
          <a:p>
            <a:r>
              <a:rPr lang="zh-CN" altLang="en-US" dirty="0"/>
              <a:t>多个指令流</a:t>
            </a:r>
            <a:r>
              <a:rPr lang="en-US" altLang="zh-CN" dirty="0"/>
              <a:t>/</a:t>
            </a:r>
            <a:r>
              <a:rPr lang="zh-CN" altLang="en-US" dirty="0"/>
              <a:t>多个数据流</a:t>
            </a:r>
          </a:p>
          <a:p>
            <a:r>
              <a:rPr lang="zh-CN" altLang="en-US" dirty="0"/>
              <a:t>集群计算</a:t>
            </a:r>
          </a:p>
          <a:p>
            <a:r>
              <a:rPr lang="zh-CN" altLang="en-US" dirty="0"/>
              <a:t>多个独立处理器</a:t>
            </a:r>
          </a:p>
          <a:p>
            <a:r>
              <a:rPr lang="zh-CN" altLang="en-US" dirty="0"/>
              <a:t>每个</a:t>
            </a:r>
            <a:r>
              <a:rPr lang="en-US" altLang="zh-CN" dirty="0"/>
              <a:t>ALU</a:t>
            </a:r>
            <a:r>
              <a:rPr lang="zh-CN" altLang="en-US" dirty="0"/>
              <a:t>都使用自己的数据</a:t>
            </a:r>
          </a:p>
          <a:p>
            <a:r>
              <a:rPr lang="zh-CN" altLang="en-US" dirty="0"/>
              <a:t>每个处理器可以独立运行</a:t>
            </a:r>
          </a:p>
          <a:p>
            <a:r>
              <a:rPr lang="zh-CN" altLang="en-US" dirty="0"/>
              <a:t>根据自己的数据</a:t>
            </a:r>
          </a:p>
          <a:p>
            <a:r>
              <a:rPr lang="zh-CN" altLang="en-US" dirty="0"/>
              <a:t>根据自己的程序</a:t>
            </a:r>
          </a:p>
          <a:p>
            <a:r>
              <a:rPr lang="zh-CN" altLang="en-US" dirty="0"/>
              <a:t>以自己的速度</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50</a:t>
            </a:fld>
            <a:endParaRPr lang="en-US" dirty="0"/>
          </a:p>
        </p:txBody>
      </p:sp>
    </p:spTree>
    <p:extLst>
      <p:ext uri="{BB962C8B-B14F-4D97-AF65-F5344CB8AC3E}">
        <p14:creationId xmlns:p14="http://schemas.microsoft.com/office/powerpoint/2010/main" val="35755991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各种</a:t>
            </a:r>
            <a:r>
              <a:rPr lang="en-US" altLang="zh-CN" dirty="0"/>
              <a:t>MIMD</a:t>
            </a:r>
            <a:r>
              <a:rPr lang="zh-CN" altLang="en-US" dirty="0"/>
              <a:t>系统</a:t>
            </a:r>
          </a:p>
          <a:p>
            <a:r>
              <a:rPr lang="zh-CN" altLang="en-US" dirty="0"/>
              <a:t>专用系统：新型超级计算机</a:t>
            </a:r>
          </a:p>
          <a:p>
            <a:r>
              <a:rPr lang="zh-CN" altLang="en-US" dirty="0"/>
              <a:t>集群计算：通过</a:t>
            </a:r>
            <a:r>
              <a:rPr lang="en-US" altLang="zh-CN" dirty="0"/>
              <a:t>LAN</a:t>
            </a:r>
            <a:r>
              <a:rPr lang="zh-CN" altLang="en-US" dirty="0"/>
              <a:t>或</a:t>
            </a:r>
            <a:r>
              <a:rPr lang="en-US" altLang="zh-CN" dirty="0"/>
              <a:t>WAN</a:t>
            </a:r>
            <a:r>
              <a:rPr lang="zh-CN" altLang="en-US" dirty="0"/>
              <a:t>进行通信的标准计算机</a:t>
            </a:r>
          </a:p>
          <a:p>
            <a:r>
              <a:rPr lang="zh-CN" altLang="en-US" dirty="0"/>
              <a:t>网格计算：长距离</a:t>
            </a:r>
            <a:r>
              <a:rPr lang="en-US" altLang="zh-CN" dirty="0"/>
              <a:t>/</a:t>
            </a:r>
            <a:r>
              <a:rPr lang="zh-CN" altLang="en-US" dirty="0"/>
              <a:t>互联网上功率变化的机器</a:t>
            </a:r>
          </a:p>
          <a:p>
            <a:r>
              <a:rPr lang="zh-CN" altLang="en-US" dirty="0"/>
              <a:t>例子</a:t>
            </a:r>
          </a:p>
          <a:p>
            <a:r>
              <a:rPr lang="en-US" altLang="zh-CN" dirty="0"/>
              <a:t>SETI</a:t>
            </a:r>
            <a:r>
              <a:rPr lang="zh-CN" altLang="en-US" dirty="0"/>
              <a:t>项目</a:t>
            </a:r>
          </a:p>
          <a:p>
            <a:r>
              <a:rPr lang="zh-CN" altLang="en-US" dirty="0"/>
              <a:t>伯克利的</a:t>
            </a:r>
            <a:r>
              <a:rPr lang="en-US" altLang="zh-CN" dirty="0"/>
              <a:t>BOINC</a:t>
            </a:r>
          </a:p>
          <a:p>
            <a:r>
              <a:rPr lang="zh-CN" altLang="en-US" dirty="0"/>
              <a:t>热门研究领域►并行算法</a:t>
            </a:r>
          </a:p>
          <a:p>
            <a:r>
              <a:rPr lang="zh-CN" altLang="en-US" dirty="0"/>
              <a:t>需要利用所有这些处理能力</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52</a:t>
            </a:fld>
            <a:endParaRPr lang="en-US" dirty="0"/>
          </a:p>
        </p:txBody>
      </p:sp>
    </p:spTree>
    <p:extLst>
      <p:ext uri="{BB962C8B-B14F-4D97-AF65-F5344CB8AC3E}">
        <p14:creationId xmlns:p14="http://schemas.microsoft.com/office/powerpoint/2010/main" val="42745393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为了管理系统复杂性，我们必须抽象化</a:t>
            </a:r>
            <a:r>
              <a:rPr lang="en-US" altLang="zh-CN" dirty="0"/>
              <a:t>-</a:t>
            </a:r>
            <a:r>
              <a:rPr lang="zh-CN" altLang="en-US" dirty="0"/>
              <a:t>不再用机器语言编写指令。</a:t>
            </a:r>
          </a:p>
          <a:p>
            <a:r>
              <a:rPr lang="zh-CN" altLang="en-US" dirty="0"/>
              <a:t>冯</a:t>
            </a:r>
            <a:r>
              <a:rPr lang="en-US" altLang="zh-CN" dirty="0"/>
              <a:t>·</a:t>
            </a:r>
            <a:r>
              <a:rPr lang="zh-CN" altLang="en-US" dirty="0"/>
              <a:t>诺依曼架构是现代计算的标准。</a:t>
            </a:r>
          </a:p>
          <a:p>
            <a:r>
              <a:rPr lang="zh-CN" altLang="en-US" dirty="0"/>
              <a:t>冯</a:t>
            </a:r>
            <a:r>
              <a:rPr lang="en-US" altLang="zh-CN" dirty="0"/>
              <a:t>·</a:t>
            </a:r>
            <a:r>
              <a:rPr lang="zh-CN" altLang="en-US" dirty="0"/>
              <a:t>诺依曼机器具有内存，</a:t>
            </a:r>
            <a:r>
              <a:rPr lang="en-US" altLang="zh-CN" dirty="0"/>
              <a:t>I / O</a:t>
            </a:r>
            <a:r>
              <a:rPr lang="zh-CN" altLang="en-US" dirty="0"/>
              <a:t>，</a:t>
            </a:r>
            <a:r>
              <a:rPr lang="en-US" altLang="zh-CN" dirty="0"/>
              <a:t>ALU</a:t>
            </a:r>
            <a:r>
              <a:rPr lang="zh-CN" altLang="en-US" dirty="0"/>
              <a:t>和控制单元。 程序存储在内存中； 除非程序另有说明，否则执行是顺序执行的。</a:t>
            </a:r>
          </a:p>
          <a:p>
            <a:r>
              <a:rPr lang="zh-CN" altLang="en-US" dirty="0"/>
              <a:t>内存被组织成可寻址的单元。 根据</a:t>
            </a:r>
            <a:r>
              <a:rPr lang="en-US" altLang="zh-CN" dirty="0"/>
              <a:t>MAR</a:t>
            </a:r>
            <a:r>
              <a:rPr lang="zh-CN" altLang="en-US" dirty="0"/>
              <a:t>和</a:t>
            </a:r>
            <a:r>
              <a:rPr lang="en-US" altLang="zh-CN" dirty="0"/>
              <a:t>MDR</a:t>
            </a:r>
            <a:r>
              <a:rPr lang="zh-CN" altLang="en-US" dirty="0"/>
              <a:t>提取并存储数据； 使用解码器和获取</a:t>
            </a:r>
            <a:r>
              <a:rPr lang="en-US" altLang="zh-CN" dirty="0"/>
              <a:t>/</a:t>
            </a:r>
            <a:r>
              <a:rPr lang="zh-CN" altLang="en-US" dirty="0"/>
              <a:t>存储控制器。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55</a:t>
            </a:fld>
            <a:endParaRPr lang="en-US" dirty="0"/>
          </a:p>
        </p:txBody>
      </p:sp>
    </p:spTree>
    <p:extLst>
      <p:ext uri="{BB962C8B-B14F-4D97-AF65-F5344CB8AC3E}">
        <p14:creationId xmlns:p14="http://schemas.microsoft.com/office/powerpoint/2010/main" val="16338476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海量数据存储是非易失性的； 磁盘存储和读取存储在磁道中的数据扇区。</a:t>
            </a:r>
          </a:p>
          <a:p>
            <a:r>
              <a:rPr lang="en-US" altLang="zh-CN" dirty="0"/>
              <a:t>I / O</a:t>
            </a:r>
            <a:r>
              <a:rPr lang="zh-CN" altLang="en-US" dirty="0"/>
              <a:t>缓慢，需要专用控制器来释放</a:t>
            </a:r>
            <a:r>
              <a:rPr lang="en-US" altLang="zh-CN" dirty="0"/>
              <a:t>CPU</a:t>
            </a:r>
            <a:r>
              <a:rPr lang="zh-CN" altLang="en-US" dirty="0"/>
              <a:t>。</a:t>
            </a:r>
          </a:p>
          <a:p>
            <a:r>
              <a:rPr lang="en-US" altLang="zh-CN" dirty="0"/>
              <a:t>ALU</a:t>
            </a:r>
            <a:r>
              <a:rPr lang="zh-CN" altLang="en-US" dirty="0"/>
              <a:t>执行计算，将数据移入</a:t>
            </a:r>
            <a:r>
              <a:rPr lang="en-US" altLang="zh-CN" dirty="0"/>
              <a:t>/</a:t>
            </a:r>
            <a:r>
              <a:rPr lang="zh-CN" altLang="en-US" dirty="0"/>
              <a:t>移出专用寄存器。</a:t>
            </a:r>
          </a:p>
          <a:p>
            <a:r>
              <a:rPr lang="zh-CN" altLang="en-US" dirty="0"/>
              <a:t>控制单元获取，解码和执行指令； 指令以机器语言编写。</a:t>
            </a:r>
          </a:p>
          <a:p>
            <a:r>
              <a:rPr lang="zh-CN" altLang="en-US" dirty="0"/>
              <a:t>并行处理体系结构可以一次执行多个指令。</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56</a:t>
            </a:fld>
            <a:endParaRPr lang="en-US" dirty="0"/>
          </a:p>
        </p:txBody>
      </p:sp>
    </p:spTree>
    <p:extLst>
      <p:ext uri="{BB962C8B-B14F-4D97-AF65-F5344CB8AC3E}">
        <p14:creationId xmlns:p14="http://schemas.microsoft.com/office/powerpoint/2010/main" val="7961925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57</a:t>
            </a:fld>
            <a:endParaRPr lang="en-US" dirty="0"/>
          </a:p>
        </p:txBody>
      </p:sp>
    </p:spTree>
    <p:extLst>
      <p:ext uri="{BB962C8B-B14F-4D97-AF65-F5344CB8AC3E}">
        <p14:creationId xmlns:p14="http://schemas.microsoft.com/office/powerpoint/2010/main" val="369049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v</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58</a:t>
            </a:fld>
            <a:endParaRPr lang="en-US" dirty="0"/>
          </a:p>
        </p:txBody>
      </p:sp>
    </p:spTree>
    <p:extLst>
      <p:ext uri="{BB962C8B-B14F-4D97-AF65-F5344CB8AC3E}">
        <p14:creationId xmlns:p14="http://schemas.microsoft.com/office/powerpoint/2010/main" val="14261408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61</a:t>
            </a:fld>
            <a:endParaRPr lang="en-US" dirty="0"/>
          </a:p>
        </p:txBody>
      </p:sp>
    </p:spTree>
    <p:extLst>
      <p:ext uri="{BB962C8B-B14F-4D97-AF65-F5344CB8AC3E}">
        <p14:creationId xmlns:p14="http://schemas.microsoft.com/office/powerpoint/2010/main" val="23032417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ctr" anchorCtr="0">
            <a:normAutofit/>
          </a:bodyPr>
          <a:lstStyle>
            <a:lvl1pPr algn="ctr">
              <a:lnSpc>
                <a:spcPct val="100000"/>
              </a:lnSpc>
              <a:defRPr sz="3600" b="0"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4894898"/>
          </a:xfrm>
        </p:spPr>
        <p:txBody>
          <a:bodyPr/>
          <a:lstStyle>
            <a:lvl1pPr marL="457200" indent="-457200">
              <a:buClr>
                <a:srgbClr val="34B14B"/>
              </a:buClr>
              <a:defRPr sz="2600" b="0" i="0">
                <a:latin typeface="Arial"/>
                <a:cs typeface="Arial"/>
              </a:defRPr>
            </a:lvl1pPr>
            <a:lvl2pPr marL="914400" indent="-457200">
              <a:buClr>
                <a:srgbClr val="34B14B"/>
              </a:buClr>
              <a:defRPr sz="2400" b="0" i="0">
                <a:latin typeface="Arial"/>
                <a:cs typeface="Arial"/>
              </a:defRPr>
            </a:lvl2pPr>
            <a:lvl3pPr marL="1371600" indent="-457200">
              <a:buClr>
                <a:srgbClr val="34B14B"/>
              </a:buClr>
              <a:buFont typeface="Wingdings" panose="05000000000000000000" pitchFamily="2" charset="2"/>
              <a:buChar char="§"/>
              <a:defRPr sz="2200" b="0" i="0">
                <a:latin typeface="Arial"/>
                <a:cs typeface="Arial"/>
              </a:defRPr>
            </a:lvl3pPr>
            <a:lvl4pPr marL="1828800" indent="-457200">
              <a:buClr>
                <a:srgbClr val="34B14B"/>
              </a:buClr>
              <a:buFont typeface="Courier New" panose="02070309020205020404" pitchFamily="49" charset="0"/>
              <a:buChar char="o"/>
              <a:defRPr b="0" i="0">
                <a:latin typeface="Arial"/>
                <a:cs typeface="Arial"/>
              </a:defRPr>
            </a:lvl4pPr>
            <a:lvl5pPr marL="2286000" indent="-457200">
              <a:buClr>
                <a:srgbClr val="34B14B"/>
              </a:buClr>
              <a:defRPr sz="180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 name="Picture 2"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Content Placeholder 2"/>
          <p:cNvSpPr>
            <a:spLocks noGrp="1"/>
          </p:cNvSpPr>
          <p:nvPr>
            <p:ph sz="half" idx="1"/>
          </p:nvPr>
        </p:nvSpPr>
        <p:spPr>
          <a:xfrm>
            <a:off x="457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4648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9144000" cy="1060704"/>
          </a:xfrm>
          <a:ln>
            <a:noFill/>
          </a:ln>
        </p:spPr>
        <p:txBody>
          <a:bodyPr anchor="t" anchorCtr="0">
            <a:normAutofit/>
          </a:bodyPr>
          <a:lstStyle>
            <a:lvl1pPr algn="l">
              <a:lnSpc>
                <a:spcPct val="100000"/>
              </a:lnSpc>
              <a:defRPr sz="2500"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3020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
        <p:nvSpPr>
          <p:cNvPr id="7" name="Text Placeholder 5"/>
          <p:cNvSpPr>
            <a:spLocks noGrp="1"/>
          </p:cNvSpPr>
          <p:nvPr>
            <p:ph type="body" sz="quarter" idx="13"/>
          </p:nvPr>
        </p:nvSpPr>
        <p:spPr>
          <a:xfrm>
            <a:off x="2833433" y="6313295"/>
            <a:ext cx="3477134" cy="379413"/>
          </a:xfrm>
        </p:spPr>
        <p:txBody>
          <a:bodyPr/>
          <a:lstStyle>
            <a:lvl1pPr marL="0" indent="0" algn="ctr">
              <a:buNone/>
              <a:defRPr sz="1800" b="1">
                <a:solidFill>
                  <a:schemeClr val="bg1"/>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234726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012840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7"/>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535117"/>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9683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93399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85670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44823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90"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90" y="5367342"/>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4331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380909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2"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51803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498605" y="248195"/>
            <a:ext cx="4645395"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86875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16"/>
          <p:cNvSpPr>
            <a:spLocks noGrp="1"/>
          </p:cNvSpPr>
          <p:nvPr>
            <p:ph type="subTitle" idx="1"/>
          </p:nvPr>
        </p:nvSpPr>
        <p:spPr>
          <a:xfrm>
            <a:off x="5333910" y="3422664"/>
            <a:ext cx="3709317" cy="1758936"/>
          </a:xfrm>
        </p:spPr>
        <p:txBody>
          <a:bodyPr/>
          <a:lstStyle/>
          <a:p>
            <a:pPr lvl="1">
              <a:lnSpc>
                <a:spcPct val="90000"/>
              </a:lnSpc>
              <a:spcBef>
                <a:spcPts val="1000"/>
              </a:spcBef>
              <a:buClr>
                <a:srgbClr val="FFFFFF"/>
              </a:buClr>
              <a:buSzPct val="1000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lang="en-US" sz="3600" dirty="0">
                <a:solidFill>
                  <a:schemeClr val="tx1"/>
                </a:solidFill>
                <a:latin typeface="Arial" panose="020B0604020202020204" pitchFamily="34" charset="0"/>
                <a:cs typeface="Arial" panose="020B0604020202020204" pitchFamily="34" charset="0"/>
              </a:rPr>
              <a:t>Computer Systems Organization</a:t>
            </a:r>
          </a:p>
        </p:txBody>
      </p:sp>
      <p:sp>
        <p:nvSpPr>
          <p:cNvPr id="2" name="Title 1"/>
          <p:cNvSpPr>
            <a:spLocks noGrp="1"/>
          </p:cNvSpPr>
          <p:nvPr>
            <p:ph type="title"/>
          </p:nvPr>
        </p:nvSpPr>
        <p:spPr>
          <a:xfrm>
            <a:off x="5665944" y="1528356"/>
            <a:ext cx="3172867" cy="1143000"/>
          </a:xfrm>
        </p:spPr>
        <p:txBody>
          <a:bodyPr>
            <a:normAutofit/>
          </a:bodyPr>
          <a:lstStyle/>
          <a:p>
            <a:r>
              <a:rPr lang="en-US" sz="4000" dirty="0">
                <a:latin typeface="Arial" panose="020B0604020202020204" pitchFamily="34" charset="0"/>
                <a:cs typeface="Arial" panose="020B0604020202020204" pitchFamily="34" charset="0"/>
              </a:rPr>
              <a:t>Chapter 5</a:t>
            </a:r>
            <a:endParaRPr lang="en-US" sz="4000" dirty="0"/>
          </a:p>
        </p:txBody>
      </p:sp>
    </p:spTree>
    <p:extLst>
      <p:ext uri="{BB962C8B-B14F-4D97-AF65-F5344CB8AC3E}">
        <p14:creationId xmlns:p14="http://schemas.microsoft.com/office/powerpoint/2010/main" val="203001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Learning Objectives (1 of 2)</a:t>
            </a:r>
            <a:endParaRPr lang="en-US"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p:txBody>
          <a:bodyPr>
            <a:noAutofit/>
          </a:bodyPr>
          <a:lstStyle/>
          <a:p>
            <a:pPr marL="457200" indent="-457200"/>
            <a:r>
              <a:rPr lang="en-US" altLang="en-US" sz="2600" dirty="0">
                <a:latin typeface="Arial" panose="020B0604020202020204" pitchFamily="34" charset="0"/>
                <a:ea typeface="ＭＳ Ｐゴシック" panose="020B0600070205080204" pitchFamily="34" charset="-128"/>
                <a:cs typeface="Arial" panose="020B0604020202020204" pitchFamily="34" charset="0"/>
              </a:rPr>
              <a:t>Enumerate the characteristics of the Von Neumann architecture </a:t>
            </a:r>
          </a:p>
          <a:p>
            <a:pPr marL="457200" indent="-457200"/>
            <a:r>
              <a:rPr lang="en-US" altLang="en-US" sz="2600" dirty="0">
                <a:latin typeface="Arial" panose="020B0604020202020204" pitchFamily="34" charset="0"/>
                <a:ea typeface="ＭＳ Ｐゴシック" panose="020B0600070205080204" pitchFamily="34" charset="-128"/>
                <a:cs typeface="Arial" panose="020B0604020202020204" pitchFamily="34" charset="0"/>
              </a:rPr>
              <a:t>Describe the components of a random access memory system, including how fetch and store operations work, and the use of cache memory to speed up access time </a:t>
            </a:r>
          </a:p>
          <a:p>
            <a:pPr marL="457200" indent="-457200"/>
            <a:r>
              <a:rPr lang="en-US" altLang="en-US" sz="2600" dirty="0">
                <a:latin typeface="Arial" panose="020B0604020202020204" pitchFamily="34" charset="0"/>
                <a:ea typeface="ＭＳ Ｐゴシック" panose="020B0600070205080204" pitchFamily="34" charset="-128"/>
                <a:cs typeface="Arial" panose="020B0604020202020204" pitchFamily="34" charset="0"/>
              </a:rPr>
              <a:t>Diagram the components of a typical arithmetic/logic unit (ALU) and illustrate how the ALU data path operates</a:t>
            </a:r>
          </a:p>
        </p:txBody>
      </p:sp>
      <p:sp>
        <p:nvSpPr>
          <p:cNvPr id="2" name="TextBox 1">
            <a:extLst>
              <a:ext uri="{FF2B5EF4-FFF2-40B4-BE49-F238E27FC236}">
                <a16:creationId xmlns:a16="http://schemas.microsoft.com/office/drawing/2014/main" id="{4707F591-93BE-4056-AE17-7BDE1B397AC3}"/>
              </a:ext>
            </a:extLst>
          </p:cNvPr>
          <p:cNvSpPr txBox="1"/>
          <p:nvPr/>
        </p:nvSpPr>
        <p:spPr>
          <a:xfrm>
            <a:off x="2838450" y="1717930"/>
            <a:ext cx="4429125" cy="369332"/>
          </a:xfrm>
          <a:prstGeom prst="rect">
            <a:avLst/>
          </a:prstGeom>
          <a:noFill/>
        </p:spPr>
        <p:txBody>
          <a:bodyPr wrap="square" rtlCol="0">
            <a:spAutoFit/>
          </a:bodyPr>
          <a:lstStyle/>
          <a:p>
            <a:r>
              <a:rPr lang="zh-CN" altLang="en-US" dirty="0"/>
              <a:t>列举冯</a:t>
            </a:r>
            <a:r>
              <a:rPr lang="en-US" altLang="zh-CN" dirty="0"/>
              <a:t>·</a:t>
            </a:r>
            <a:r>
              <a:rPr lang="zh-CN" altLang="en-US" dirty="0"/>
              <a:t>诺依曼架构的特征</a:t>
            </a:r>
            <a:endParaRPr lang="en-US" dirty="0"/>
          </a:p>
        </p:txBody>
      </p:sp>
      <p:sp>
        <p:nvSpPr>
          <p:cNvPr id="4" name="TextBox 3">
            <a:extLst>
              <a:ext uri="{FF2B5EF4-FFF2-40B4-BE49-F238E27FC236}">
                <a16:creationId xmlns:a16="http://schemas.microsoft.com/office/drawing/2014/main" id="{07077234-E4C6-46FA-AABB-02CE7BBB75D8}"/>
              </a:ext>
            </a:extLst>
          </p:cNvPr>
          <p:cNvSpPr txBox="1"/>
          <p:nvPr/>
        </p:nvSpPr>
        <p:spPr>
          <a:xfrm>
            <a:off x="4171950" y="3231008"/>
            <a:ext cx="5581650" cy="646331"/>
          </a:xfrm>
          <a:prstGeom prst="rect">
            <a:avLst/>
          </a:prstGeom>
          <a:noFill/>
        </p:spPr>
        <p:txBody>
          <a:bodyPr wrap="square" rtlCol="0">
            <a:spAutoFit/>
          </a:bodyPr>
          <a:lstStyle/>
          <a:p>
            <a:r>
              <a:rPr lang="zh-CN" altLang="en-US" dirty="0"/>
              <a:t>描述随机存取存储器系统的组件，包括获取和存储操作的工作方式，以及使用高速缓存来加快访问时间</a:t>
            </a:r>
            <a:endParaRPr lang="en-US" dirty="0"/>
          </a:p>
        </p:txBody>
      </p:sp>
      <p:sp>
        <p:nvSpPr>
          <p:cNvPr id="5" name="TextBox 4">
            <a:extLst>
              <a:ext uri="{FF2B5EF4-FFF2-40B4-BE49-F238E27FC236}">
                <a16:creationId xmlns:a16="http://schemas.microsoft.com/office/drawing/2014/main" id="{08DC9BD4-4C2B-4B11-90E8-39E945AF17A3}"/>
              </a:ext>
            </a:extLst>
          </p:cNvPr>
          <p:cNvSpPr txBox="1"/>
          <p:nvPr/>
        </p:nvSpPr>
        <p:spPr>
          <a:xfrm>
            <a:off x="847725" y="5021085"/>
            <a:ext cx="7181850" cy="646331"/>
          </a:xfrm>
          <a:prstGeom prst="rect">
            <a:avLst/>
          </a:prstGeom>
          <a:noFill/>
        </p:spPr>
        <p:txBody>
          <a:bodyPr wrap="square" rtlCol="0">
            <a:spAutoFit/>
          </a:bodyPr>
          <a:lstStyle/>
          <a:p>
            <a:r>
              <a:rPr lang="zh-CN" altLang="en-US" dirty="0"/>
              <a:t>绘制典型算术</a:t>
            </a:r>
            <a:r>
              <a:rPr lang="en-US" altLang="zh-CN" dirty="0"/>
              <a:t>/</a:t>
            </a:r>
            <a:r>
              <a:rPr lang="zh-CN" altLang="en-US" dirty="0"/>
              <a:t>逻辑单元（</a:t>
            </a:r>
            <a:r>
              <a:rPr lang="en-US" altLang="zh-CN" dirty="0"/>
              <a:t>ALU</a:t>
            </a:r>
            <a:r>
              <a:rPr lang="zh-CN" altLang="en-US" dirty="0"/>
              <a:t>）的组件图，并说明</a:t>
            </a:r>
            <a:r>
              <a:rPr lang="en-US" altLang="zh-CN" dirty="0"/>
              <a:t>ALU</a:t>
            </a:r>
            <a:r>
              <a:rPr lang="zh-CN" altLang="en-US" dirty="0"/>
              <a:t>数据路径的工作方式</a:t>
            </a:r>
            <a:endParaRPr lang="en-US" dirty="0"/>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Learning Objectives (2 of 2)</a:t>
            </a:r>
            <a:endParaRPr lang="en-US"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Describe the operation of the control unit and explain how it implements the stored program characteristic of the Von Neumann architecture </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List and explain the types of instructions in a typical instruction set, and how instructions are commonly encoded </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Diagram the organization of a typical Von Neumann machine </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Show the sequence of steps, using the book’s notation, in the fetch, decode, and execute cycle to perform a typical instruction</a:t>
            </a:r>
          </a:p>
        </p:txBody>
      </p:sp>
    </p:spTree>
    <p:extLst>
      <p:ext uri="{BB962C8B-B14F-4D97-AF65-F5344CB8AC3E}">
        <p14:creationId xmlns:p14="http://schemas.microsoft.com/office/powerpoint/2010/main" val="3762548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 Introduction</a:t>
            </a:r>
            <a:r>
              <a:rPr lang="en-US" altLang="en-US" baseline="0" dirty="0">
                <a:latin typeface="Arial" panose="020B0604020202020204" pitchFamily="34" charset="0"/>
                <a:ea typeface="ＭＳ Ｐゴシック" panose="020B0600070205080204" pitchFamily="34" charset="-128"/>
                <a:cs typeface="Arial" panose="020B0604020202020204" pitchFamily="34" charset="0"/>
              </a:rPr>
              <a:t> (1 of 2)</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This chapter changes the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level of </a:t>
            </a:r>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abstraction</a:t>
            </a:r>
            <a:r>
              <a:rPr lang="en-US" altLang="en-US" dirty="0">
                <a:latin typeface="Arial" panose="020B0604020202020204" pitchFamily="34" charset="0"/>
                <a:ea typeface="ＭＳ Ｐゴシック" panose="020B0600070205080204" pitchFamily="34" charset="-128"/>
                <a:cs typeface="Arial" panose="020B0604020202020204" pitchFamily="34" charset="0"/>
              </a:rPr>
              <a:t> and focuses on a higher level of computer system construction</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Focus on </a:t>
            </a:r>
            <a:r>
              <a:rPr lang="en-US" altLang="en-US" b="1" dirty="0">
                <a:latin typeface="Arial" panose="020B0604020202020204" pitchFamily="34" charset="0"/>
                <a:ea typeface="ＭＳ Ｐゴシック" panose="020B0600070205080204" pitchFamily="34" charset="-128"/>
                <a:cs typeface="Arial" panose="020B0604020202020204" pitchFamily="34" charset="0"/>
              </a:rPr>
              <a:t>functional units </a:t>
            </a:r>
            <a:r>
              <a:rPr lang="en-US" altLang="en-US" dirty="0">
                <a:latin typeface="Arial" panose="020B0604020202020204" pitchFamily="34" charset="0"/>
                <a:ea typeface="ＭＳ Ｐゴシック" panose="020B0600070205080204" pitchFamily="34" charset="-128"/>
                <a:cs typeface="Arial" panose="020B0604020202020204" pitchFamily="34" charset="0"/>
              </a:rPr>
              <a:t>and </a:t>
            </a:r>
            <a:r>
              <a:rPr lang="en-US" altLang="en-US" b="1" dirty="0">
                <a:latin typeface="Arial" panose="020B0604020202020204" pitchFamily="34" charset="0"/>
                <a:ea typeface="ＭＳ Ｐゴシック" panose="020B0600070205080204" pitchFamily="34" charset="-128"/>
                <a:cs typeface="Arial" panose="020B0604020202020204" pitchFamily="34" charset="0"/>
              </a:rPr>
              <a:t>computer organization</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r>
              <a:rPr lang="en-US" altLang="en-US" dirty="0">
                <a:latin typeface="Arial" panose="020B0604020202020204" pitchFamily="34" charset="0"/>
                <a:ea typeface="ＭＳ Ｐゴシック" panose="020B0600070205080204" pitchFamily="34" charset="-128"/>
                <a:cs typeface="Arial" panose="020B0604020202020204" pitchFamily="34" charset="0"/>
              </a:rPr>
              <a:t>A </a:t>
            </a:r>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hierarchy</a:t>
            </a:r>
            <a:r>
              <a:rPr lang="en-US" altLang="en-US" b="1" dirty="0">
                <a:latin typeface="Arial" panose="020B0604020202020204" pitchFamily="34" charset="0"/>
                <a:ea typeface="ＭＳ Ｐゴシック" panose="020B0600070205080204" pitchFamily="34" charset="-128"/>
                <a:cs typeface="Arial" panose="020B0604020202020204" pitchFamily="34" charset="0"/>
              </a:rPr>
              <a:t> of abstractions</a:t>
            </a:r>
            <a:r>
              <a:rPr lang="en-US" altLang="en-US" dirty="0">
                <a:latin typeface="Arial" panose="020B0604020202020204" pitchFamily="34" charset="0"/>
                <a:ea typeface="ＭＳ Ｐゴシック" panose="020B0600070205080204" pitchFamily="34" charset="-128"/>
                <a:cs typeface="Arial" panose="020B0604020202020204" pitchFamily="34" charset="0"/>
              </a:rPr>
              <a:t> hides </a:t>
            </a:r>
            <a:r>
              <a:rPr lang="en-IN" altLang="en-US" dirty="0">
                <a:latin typeface="Arial" panose="020B0604020202020204" pitchFamily="34" charset="0"/>
                <a:ea typeface="ＭＳ Ｐゴシック" panose="020B0600070205080204" pitchFamily="34" charset="-128"/>
                <a:cs typeface="Arial" panose="020B0604020202020204" pitchFamily="34" charset="0"/>
              </a:rPr>
              <a:t>unnecessary</a:t>
            </a:r>
            <a:r>
              <a:rPr lang="en-US" altLang="en-US" dirty="0">
                <a:latin typeface="Arial" panose="020B0604020202020204" pitchFamily="34" charset="0"/>
                <a:ea typeface="ＭＳ Ｐゴシック" panose="020B0600070205080204" pitchFamily="34" charset="-128"/>
                <a:cs typeface="Arial" panose="020B0604020202020204" pitchFamily="34" charset="0"/>
              </a:rPr>
              <a:t> details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Change focus from transistors to gates and to circuits as the basic unit</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Discusses in detail the Von Neumann architecture</a:t>
            </a:r>
          </a:p>
        </p:txBody>
      </p:sp>
      <p:sp>
        <p:nvSpPr>
          <p:cNvPr id="8" name="TextBox 7">
            <a:extLst>
              <a:ext uri="{FF2B5EF4-FFF2-40B4-BE49-F238E27FC236}">
                <a16:creationId xmlns:a16="http://schemas.microsoft.com/office/drawing/2014/main" id="{F8A5D4A9-3D40-4902-BF31-95A4E7189F11}"/>
              </a:ext>
            </a:extLst>
          </p:cNvPr>
          <p:cNvSpPr txBox="1"/>
          <p:nvPr/>
        </p:nvSpPr>
        <p:spPr>
          <a:xfrm>
            <a:off x="6350000" y="1046600"/>
            <a:ext cx="850900" cy="369332"/>
          </a:xfrm>
          <a:prstGeom prst="rect">
            <a:avLst/>
          </a:prstGeom>
          <a:noFill/>
        </p:spPr>
        <p:txBody>
          <a:bodyPr wrap="square" rtlCol="0">
            <a:spAutoFit/>
          </a:bodyPr>
          <a:lstStyle/>
          <a:p>
            <a:r>
              <a:rPr lang="zh-CN" altLang="en-US" dirty="0">
                <a:solidFill>
                  <a:srgbClr val="FF0000"/>
                </a:solidFill>
              </a:rPr>
              <a:t>抽象</a:t>
            </a:r>
            <a:endParaRPr lang="en-US" dirty="0"/>
          </a:p>
        </p:txBody>
      </p:sp>
      <p:sp>
        <p:nvSpPr>
          <p:cNvPr id="9" name="TextBox 8">
            <a:extLst>
              <a:ext uri="{FF2B5EF4-FFF2-40B4-BE49-F238E27FC236}">
                <a16:creationId xmlns:a16="http://schemas.microsoft.com/office/drawing/2014/main" id="{C9A87461-AE37-452B-8076-FFCEA35593FA}"/>
              </a:ext>
            </a:extLst>
          </p:cNvPr>
          <p:cNvSpPr txBox="1"/>
          <p:nvPr/>
        </p:nvSpPr>
        <p:spPr>
          <a:xfrm>
            <a:off x="1562100" y="3258439"/>
            <a:ext cx="876300" cy="369332"/>
          </a:xfrm>
          <a:prstGeom prst="rect">
            <a:avLst/>
          </a:prstGeom>
          <a:noFill/>
        </p:spPr>
        <p:txBody>
          <a:bodyPr wrap="square" rtlCol="0">
            <a:spAutoFit/>
          </a:bodyPr>
          <a:lstStyle/>
          <a:p>
            <a:r>
              <a:rPr lang="zh-CN" altLang="en-US" dirty="0"/>
              <a:t>层次</a:t>
            </a:r>
            <a:endParaRPr lang="en-US" dirty="0"/>
          </a:p>
        </p:txBody>
      </p:sp>
      <p:sp>
        <p:nvSpPr>
          <p:cNvPr id="10" name="TextBox 9">
            <a:extLst>
              <a:ext uri="{FF2B5EF4-FFF2-40B4-BE49-F238E27FC236}">
                <a16:creationId xmlns:a16="http://schemas.microsoft.com/office/drawing/2014/main" id="{C1FACDAA-856F-4AE7-8494-7D13539422C6}"/>
              </a:ext>
            </a:extLst>
          </p:cNvPr>
          <p:cNvSpPr txBox="1"/>
          <p:nvPr/>
        </p:nvSpPr>
        <p:spPr>
          <a:xfrm>
            <a:off x="4051300" y="4071239"/>
            <a:ext cx="1282700" cy="369332"/>
          </a:xfrm>
          <a:prstGeom prst="rect">
            <a:avLst/>
          </a:prstGeom>
          <a:noFill/>
        </p:spPr>
        <p:txBody>
          <a:bodyPr wrap="square" rtlCol="0">
            <a:spAutoFit/>
          </a:bodyPr>
          <a:lstStyle/>
          <a:p>
            <a:r>
              <a:rPr lang="zh-CN" altLang="en-US" dirty="0"/>
              <a:t>晶体管</a:t>
            </a:r>
            <a:endParaRPr lang="en-US" dirty="0"/>
          </a:p>
        </p:txBody>
      </p:sp>
      <p:sp>
        <p:nvSpPr>
          <p:cNvPr id="12" name="TextBox 11">
            <a:extLst>
              <a:ext uri="{FF2B5EF4-FFF2-40B4-BE49-F238E27FC236}">
                <a16:creationId xmlns:a16="http://schemas.microsoft.com/office/drawing/2014/main" id="{F2A7C235-6275-4C86-A92E-1DCA115BA9A5}"/>
              </a:ext>
            </a:extLst>
          </p:cNvPr>
          <p:cNvSpPr txBox="1"/>
          <p:nvPr/>
        </p:nvSpPr>
        <p:spPr>
          <a:xfrm>
            <a:off x="5943600" y="4071239"/>
            <a:ext cx="1371600" cy="369332"/>
          </a:xfrm>
          <a:prstGeom prst="rect">
            <a:avLst/>
          </a:prstGeom>
          <a:noFill/>
        </p:spPr>
        <p:txBody>
          <a:bodyPr wrap="square" rtlCol="0">
            <a:spAutoFit/>
          </a:bodyPr>
          <a:lstStyle/>
          <a:p>
            <a:r>
              <a:rPr lang="zh-CN" altLang="en-US" dirty="0"/>
              <a:t>栅极</a:t>
            </a:r>
            <a:endParaRPr lang="en-US" dirty="0"/>
          </a:p>
        </p:txBody>
      </p:sp>
      <p:sp>
        <p:nvSpPr>
          <p:cNvPr id="13" name="TextBox 12">
            <a:extLst>
              <a:ext uri="{FF2B5EF4-FFF2-40B4-BE49-F238E27FC236}">
                <a16:creationId xmlns:a16="http://schemas.microsoft.com/office/drawing/2014/main" id="{3C129003-AEE3-404A-81BF-0E2830D8F0CF}"/>
              </a:ext>
            </a:extLst>
          </p:cNvPr>
          <p:cNvSpPr txBox="1"/>
          <p:nvPr/>
        </p:nvSpPr>
        <p:spPr>
          <a:xfrm>
            <a:off x="4572000" y="4729369"/>
            <a:ext cx="2508250" cy="369332"/>
          </a:xfrm>
          <a:prstGeom prst="rect">
            <a:avLst/>
          </a:prstGeom>
          <a:noFill/>
        </p:spPr>
        <p:txBody>
          <a:bodyPr wrap="square" rtlCol="0">
            <a:spAutoFit/>
          </a:bodyPr>
          <a:lstStyle/>
          <a:p>
            <a:r>
              <a:rPr lang="zh-CN" altLang="en-US" dirty="0"/>
              <a:t>电路作为基本单位</a:t>
            </a:r>
            <a:endParaRPr lang="en-US" dirty="0"/>
          </a:p>
        </p:txBody>
      </p:sp>
    </p:spTree>
    <p:extLst>
      <p:ext uri="{BB962C8B-B14F-4D97-AF65-F5344CB8AC3E}">
        <p14:creationId xmlns:p14="http://schemas.microsoft.com/office/powerpoint/2010/main" val="2931425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tLang="en-US" kern="0" dirty="0">
                <a:latin typeface="Arial" panose="020B0604020202020204" pitchFamily="34" charset="0"/>
                <a:cs typeface="Arial" panose="020B0604020202020204" pitchFamily="34" charset="0"/>
              </a:rPr>
              <a:t> Introduction (2 of 2)</a:t>
            </a:r>
            <a:endParaRPr lang="en-US" dirty="0">
              <a:latin typeface="Arial" panose="020B0604020202020204" pitchFamily="34" charset="0"/>
              <a:cs typeface="Arial" panose="020B0604020202020204" pitchFamily="34" charset="0"/>
            </a:endParaRPr>
          </a:p>
        </p:txBody>
      </p:sp>
      <p:pic>
        <p:nvPicPr>
          <p:cNvPr id="6" name="Picture 4" descr="Three figures explain the concept of abstraction in relation to system S. The first figure Ay displays a most detailed system view. The elementary components ay 1 and ay 2 have direct connection and they form a common connection which leads to ay 3 and ay 4 separately. The components ay 3 and ay 4 have a direct connection and they connect with ay 5 separately. The components ay 5 and ay 6 connects directly and ay 6 has separate connections with ay 7 and ay 8. The second image B displays the grouping of components wherein the detailed view is repeated. The elementary components ay 1 and ay 2 are grouped as Ay; ay 3, ay 4, and ay 5 are grouped as B; and the components ay 6, ay 7, and ay 8 are grouped as C. The third figure displays the higher-level system view where the groups Ay, B and C are directly connected and are form the system S. The fourth figure displays a single block named S, which represents the highest-level system view.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600" y="1273853"/>
            <a:ext cx="3000800" cy="4868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7344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62" y="1"/>
            <a:ext cx="8875076"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(1 of 2)</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marL="0" indent="0">
              <a:buFontTx/>
              <a:buNone/>
            </a:pPr>
            <a:r>
              <a:rPr lang="en-US" altLang="en-US" b="1" dirty="0">
                <a:latin typeface="Arial" panose="020B0604020202020204" pitchFamily="34" charset="0"/>
                <a:ea typeface="ＭＳ Ｐゴシック" panose="020B0600070205080204" pitchFamily="34" charset="-128"/>
                <a:cs typeface="Arial" panose="020B0604020202020204" pitchFamily="34" charset="0"/>
              </a:rPr>
              <a:t>Von Neumann architecture </a:t>
            </a:r>
            <a:r>
              <a:rPr lang="en-US" altLang="en-US" dirty="0">
                <a:latin typeface="Arial" panose="020B0604020202020204" pitchFamily="34" charset="0"/>
                <a:ea typeface="ＭＳ Ｐゴシック" panose="020B0600070205080204" pitchFamily="34" charset="-128"/>
                <a:cs typeface="Arial" panose="020B0604020202020204" pitchFamily="34" charset="0"/>
              </a:rPr>
              <a:t>is the foundation for nearly all modern computers</a:t>
            </a:r>
            <a:endParaRPr lang="en-US" altLang="en-US" b="1" dirty="0">
              <a:latin typeface="Arial" panose="020B0604020202020204" pitchFamily="34" charset="0"/>
              <a:ea typeface="ＭＳ Ｐゴシック" panose="020B0600070205080204" pitchFamily="34" charset="-128"/>
              <a:cs typeface="Arial" panose="020B0604020202020204" pitchFamily="34" charset="0"/>
            </a:endParaRPr>
          </a:p>
          <a:p>
            <a:r>
              <a:rPr lang="en-US" altLang="en-US" dirty="0">
                <a:latin typeface="Arial" panose="020B0604020202020204" pitchFamily="34" charset="0"/>
                <a:ea typeface="ＭＳ Ｐゴシック" panose="020B0600070205080204" pitchFamily="34" charset="-128"/>
                <a:cs typeface="Arial" panose="020B0604020202020204" pitchFamily="34" charset="0"/>
              </a:rPr>
              <a:t>The four major subsystems of the Von Neumann architecture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Memory</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Input/output</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Arithmetic/logic unit (ALU)</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Control Unit</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ALU and control unit are often bundled inside the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central processing unit (CPU)</a:t>
            </a:r>
          </a:p>
        </p:txBody>
      </p:sp>
      <p:sp>
        <p:nvSpPr>
          <p:cNvPr id="4" name="TextBox 3">
            <a:extLst>
              <a:ext uri="{FF2B5EF4-FFF2-40B4-BE49-F238E27FC236}">
                <a16:creationId xmlns:a16="http://schemas.microsoft.com/office/drawing/2014/main" id="{0CD71A0A-15E4-412D-AF53-B16EC1DA4EBB}"/>
              </a:ext>
            </a:extLst>
          </p:cNvPr>
          <p:cNvSpPr txBox="1"/>
          <p:nvPr/>
        </p:nvSpPr>
        <p:spPr>
          <a:xfrm>
            <a:off x="3429000" y="2527300"/>
            <a:ext cx="1295400" cy="369332"/>
          </a:xfrm>
          <a:prstGeom prst="rect">
            <a:avLst/>
          </a:prstGeom>
          <a:noFill/>
        </p:spPr>
        <p:txBody>
          <a:bodyPr wrap="square" rtlCol="0">
            <a:spAutoFit/>
          </a:bodyPr>
          <a:lstStyle/>
          <a:p>
            <a:r>
              <a:rPr lang="zh-CN" altLang="en-US"/>
              <a:t>子系统</a:t>
            </a:r>
            <a:endParaRPr lang="en-US" dirty="0"/>
          </a:p>
        </p:txBody>
      </p:sp>
      <p:sp>
        <p:nvSpPr>
          <p:cNvPr id="5" name="TextBox 4">
            <a:extLst>
              <a:ext uri="{FF2B5EF4-FFF2-40B4-BE49-F238E27FC236}">
                <a16:creationId xmlns:a16="http://schemas.microsoft.com/office/drawing/2014/main" id="{F2C2C44F-44E3-4856-883E-DD660AF6D375}"/>
              </a:ext>
            </a:extLst>
          </p:cNvPr>
          <p:cNvSpPr txBox="1"/>
          <p:nvPr/>
        </p:nvSpPr>
        <p:spPr>
          <a:xfrm>
            <a:off x="1892300" y="5373395"/>
            <a:ext cx="5245100" cy="646331"/>
          </a:xfrm>
          <a:prstGeom prst="rect">
            <a:avLst/>
          </a:prstGeom>
          <a:noFill/>
        </p:spPr>
        <p:txBody>
          <a:bodyPr wrap="square" rtlCol="0">
            <a:spAutoFit/>
          </a:bodyPr>
          <a:lstStyle/>
          <a:p>
            <a:r>
              <a:rPr lang="en-US" altLang="zh-CN" dirty="0"/>
              <a:t>ALU</a:t>
            </a:r>
            <a:r>
              <a:rPr lang="zh-CN" altLang="en-US" dirty="0"/>
              <a:t>和控制单元通常捆绑在中央处理器（</a:t>
            </a:r>
            <a:r>
              <a:rPr lang="en-US" altLang="zh-CN" dirty="0"/>
              <a:t>CPU</a:t>
            </a:r>
            <a:r>
              <a:rPr lang="zh-CN" altLang="en-US" dirty="0"/>
              <a:t>）内</a:t>
            </a:r>
            <a:endParaRPr lang="en-US" dirty="0"/>
          </a:p>
          <a:p>
            <a:endParaRPr lang="en-US" dirty="0"/>
          </a:p>
        </p:txBody>
      </p:sp>
    </p:spTree>
    <p:extLst>
      <p:ext uri="{BB962C8B-B14F-4D97-AF65-F5344CB8AC3E}">
        <p14:creationId xmlns:p14="http://schemas.microsoft.com/office/powerpoint/2010/main" val="3240204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62" y="1"/>
            <a:ext cx="8875076" cy="1060704"/>
          </a:xfrm>
        </p:spPr>
        <p:txBody>
          <a:bodyPr>
            <a:noAutofit/>
          </a:bodyPr>
          <a:lstStyle/>
          <a:p>
            <a:r>
              <a:rPr lang="en-US" altLang="en-US" kern="0" dirty="0">
                <a:latin typeface="Arial" panose="020B0604020202020204" pitchFamily="34" charset="0"/>
                <a:cs typeface="Arial" panose="020B0604020202020204" pitchFamily="34" charset="0"/>
              </a:rPr>
              <a:t>The Components of a Computer System (2 of 2)</a:t>
            </a:r>
            <a:endParaRPr lang="en-US" dirty="0">
              <a:latin typeface="Arial" panose="020B0604020202020204" pitchFamily="34" charset="0"/>
              <a:cs typeface="Arial" panose="020B0604020202020204" pitchFamily="34" charset="0"/>
            </a:endParaRPr>
          </a:p>
        </p:txBody>
      </p:sp>
      <p:pic>
        <p:nvPicPr>
          <p:cNvPr id="4" name="Picture 5" descr="The image displays the Von Neumann architecture which consists of a memory, central processing unit which includes control unit and Ay L U and the input-output. The three units are connected to a central lin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470" y="1488269"/>
            <a:ext cx="7171061" cy="41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8907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Memory and Cache (1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99803" y="1231266"/>
            <a:ext cx="8604354" cy="4894898"/>
          </a:xfrm>
        </p:spPr>
        <p:txBody>
          <a:bodyPr>
            <a:normAutofit lnSpcReduction="10000"/>
          </a:bodyPr>
          <a:lstStyle/>
          <a:p>
            <a:r>
              <a:rPr lang="en-US" altLang="en-US" b="1" dirty="0">
                <a:latin typeface="Arial" panose="020B0604020202020204" pitchFamily="34" charset="0"/>
                <a:ea typeface="ＭＳ Ｐゴシック" panose="020B0600070205080204" pitchFamily="34" charset="-128"/>
                <a:cs typeface="Arial" panose="020B0604020202020204" pitchFamily="34" charset="0"/>
              </a:rPr>
              <a:t>Memory:</a:t>
            </a:r>
            <a:r>
              <a:rPr lang="en-US" altLang="en-US" dirty="0">
                <a:latin typeface="Arial" panose="020B0604020202020204" pitchFamily="34" charset="0"/>
                <a:ea typeface="ＭＳ Ｐゴシック" panose="020B0600070205080204" pitchFamily="34" charset="-128"/>
                <a:cs typeface="Arial" panose="020B0604020202020204" pitchFamily="34" charset="0"/>
              </a:rPr>
              <a:t> functional unit where data is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stored/retrieved</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Random access memory (RAM)</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Organized into </a:t>
            </a:r>
            <a:r>
              <a:rPr lang="en-US" altLang="en-US" b="1" dirty="0">
                <a:latin typeface="Arial" panose="020B0604020202020204" pitchFamily="34" charset="0"/>
                <a:ea typeface="ＭＳ Ｐゴシック" panose="020B0600070205080204" pitchFamily="34" charset="-128"/>
                <a:cs typeface="Arial" panose="020B0604020202020204" pitchFamily="34" charset="0"/>
              </a:rPr>
              <a:t>cells</a:t>
            </a:r>
            <a:r>
              <a:rPr lang="en-US" altLang="en-US" dirty="0">
                <a:latin typeface="Arial" panose="020B0604020202020204" pitchFamily="34" charset="0"/>
                <a:ea typeface="ＭＳ Ｐゴシック" panose="020B0600070205080204" pitchFamily="34" charset="-128"/>
                <a:cs typeface="Arial" panose="020B0604020202020204" pitchFamily="34" charset="0"/>
              </a:rPr>
              <a:t>, each given a unique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address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Equal time to access any cell</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Cell values may be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read and changed</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Read-only memory (ROM):</a:t>
            </a:r>
            <a:r>
              <a:rPr lang="en-US" altLang="en-US" dirty="0">
                <a:latin typeface="Arial" panose="020B0604020202020204" pitchFamily="34" charset="0"/>
                <a:ea typeface="ＭＳ Ｐゴシック" panose="020B0600070205080204" pitchFamily="34" charset="-128"/>
                <a:cs typeface="Arial" panose="020B0604020202020204" pitchFamily="34" charset="0"/>
              </a:rPr>
              <a:t> A type of RAM with prerecorded information that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cannot be modified </a:t>
            </a:r>
            <a:r>
              <a:rPr lang="en-US" altLang="en-US" dirty="0">
                <a:latin typeface="Arial" panose="020B0604020202020204" pitchFamily="34" charset="0"/>
                <a:ea typeface="ＭＳ Ｐゴシック" panose="020B0600070205080204" pitchFamily="34" charset="-128"/>
                <a:cs typeface="Arial" panose="020B0604020202020204" pitchFamily="34" charset="0"/>
              </a:rPr>
              <a:t>or changed</a:t>
            </a:r>
            <a:endParaRPr lang="en-US" altLang="en-US" b="1" dirty="0">
              <a:latin typeface="Arial" panose="020B0604020202020204" pitchFamily="34" charset="0"/>
              <a:ea typeface="ＭＳ Ｐゴシック" panose="020B0600070205080204" pitchFamily="34" charset="-128"/>
              <a:cs typeface="Arial" panose="020B0604020202020204" pitchFamily="34" charset="0"/>
            </a:endParaRP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Cell size/memory width</a:t>
            </a:r>
            <a:r>
              <a:rPr lang="en-US" altLang="en-US" dirty="0">
                <a:latin typeface="Arial" panose="020B0604020202020204" pitchFamily="34" charset="0"/>
                <a:ea typeface="ＭＳ Ｐゴシック" panose="020B0600070205080204" pitchFamily="34" charset="-128"/>
                <a:cs typeface="Arial" panose="020B0604020202020204" pitchFamily="34" charset="0"/>
              </a:rPr>
              <a:t> is typically 8 bits</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Maximum memory size/address space</a:t>
            </a:r>
            <a:r>
              <a:rPr lang="en-US" altLang="en-US" dirty="0">
                <a:latin typeface="Arial" panose="020B0604020202020204" pitchFamily="34" charset="0"/>
                <a:ea typeface="ＭＳ Ｐゴシック" panose="020B0600070205080204" pitchFamily="34" charset="-128"/>
                <a:cs typeface="Arial" panose="020B0604020202020204" pitchFamily="34" charset="0"/>
              </a:rPr>
              <a:t> is 2</a:t>
            </a:r>
            <a:r>
              <a:rPr lang="en-US" altLang="en-US" baseline="30000" dirty="0">
                <a:latin typeface="Arial" panose="020B0604020202020204" pitchFamily="34" charset="0"/>
                <a:ea typeface="ＭＳ Ｐゴシック" panose="020B0600070205080204" pitchFamily="34" charset="-128"/>
                <a:cs typeface="Arial" panose="020B0604020202020204" pitchFamily="34" charset="0"/>
              </a:rPr>
              <a:t>N</a:t>
            </a:r>
            <a:r>
              <a:rPr lang="en-US" altLang="en-US" dirty="0">
                <a:latin typeface="Arial" panose="020B0604020202020204" pitchFamily="34" charset="0"/>
                <a:ea typeface="ＭＳ Ｐゴシック" panose="020B0600070205080204" pitchFamily="34" charset="-128"/>
                <a:cs typeface="Arial" panose="020B0604020202020204" pitchFamily="34" charset="0"/>
              </a:rPr>
              <a:t>, where N is length of address</a:t>
            </a:r>
            <a:endParaRPr lang="en-US" altLang="en-US" b="1"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4" name="TextBox 3">
            <a:extLst>
              <a:ext uri="{FF2B5EF4-FFF2-40B4-BE49-F238E27FC236}">
                <a16:creationId xmlns:a16="http://schemas.microsoft.com/office/drawing/2014/main" id="{02486559-74BA-4138-AD1B-F313D25CD817}"/>
              </a:ext>
            </a:extLst>
          </p:cNvPr>
          <p:cNvSpPr txBox="1"/>
          <p:nvPr/>
        </p:nvSpPr>
        <p:spPr>
          <a:xfrm>
            <a:off x="6756400" y="3962401"/>
            <a:ext cx="924562" cy="369332"/>
          </a:xfrm>
          <a:prstGeom prst="rect">
            <a:avLst/>
          </a:prstGeom>
          <a:noFill/>
        </p:spPr>
        <p:txBody>
          <a:bodyPr wrap="square" rtlCol="0">
            <a:spAutoFit/>
          </a:bodyPr>
          <a:lstStyle/>
          <a:p>
            <a:r>
              <a:rPr lang="zh-CN" altLang="en-US" dirty="0"/>
              <a:t>更改</a:t>
            </a:r>
            <a:endParaRPr lang="en-US" dirty="0"/>
          </a:p>
        </p:txBody>
      </p:sp>
      <p:sp>
        <p:nvSpPr>
          <p:cNvPr id="5" name="TextBox 4">
            <a:extLst>
              <a:ext uri="{FF2B5EF4-FFF2-40B4-BE49-F238E27FC236}">
                <a16:creationId xmlns:a16="http://schemas.microsoft.com/office/drawing/2014/main" id="{17546BED-85F6-46E9-BDEE-8B3EA31AD8A1}"/>
              </a:ext>
            </a:extLst>
          </p:cNvPr>
          <p:cNvSpPr txBox="1"/>
          <p:nvPr/>
        </p:nvSpPr>
        <p:spPr>
          <a:xfrm>
            <a:off x="5339081" y="4275100"/>
            <a:ext cx="1879600" cy="369332"/>
          </a:xfrm>
          <a:prstGeom prst="rect">
            <a:avLst/>
          </a:prstGeom>
          <a:noFill/>
        </p:spPr>
        <p:txBody>
          <a:bodyPr wrap="square" rtlCol="0">
            <a:spAutoFit/>
          </a:bodyPr>
          <a:lstStyle/>
          <a:p>
            <a:r>
              <a:rPr lang="zh-CN" altLang="en-US" dirty="0"/>
              <a:t>通常</a:t>
            </a:r>
            <a:endParaRPr lang="en-US" dirty="0"/>
          </a:p>
        </p:txBody>
      </p:sp>
      <p:sp>
        <p:nvSpPr>
          <p:cNvPr id="6" name="TextBox 5">
            <a:extLst>
              <a:ext uri="{FF2B5EF4-FFF2-40B4-BE49-F238E27FC236}">
                <a16:creationId xmlns:a16="http://schemas.microsoft.com/office/drawing/2014/main" id="{A914ED42-4130-4B9D-BE31-79C94FC7D247}"/>
              </a:ext>
            </a:extLst>
          </p:cNvPr>
          <p:cNvSpPr txBox="1"/>
          <p:nvPr/>
        </p:nvSpPr>
        <p:spPr>
          <a:xfrm>
            <a:off x="7689954" y="1485900"/>
            <a:ext cx="1230443" cy="369332"/>
          </a:xfrm>
          <a:prstGeom prst="rect">
            <a:avLst/>
          </a:prstGeom>
          <a:noFill/>
        </p:spPr>
        <p:txBody>
          <a:bodyPr wrap="square" rtlCol="0">
            <a:spAutoFit/>
          </a:bodyPr>
          <a:lstStyle/>
          <a:p>
            <a:r>
              <a:rPr lang="zh-CN" altLang="en-US" dirty="0"/>
              <a:t>检索</a:t>
            </a:r>
            <a:endParaRPr lang="en-US" dirty="0"/>
          </a:p>
        </p:txBody>
      </p:sp>
      <p:sp>
        <p:nvSpPr>
          <p:cNvPr id="7" name="TextBox 6">
            <a:extLst>
              <a:ext uri="{FF2B5EF4-FFF2-40B4-BE49-F238E27FC236}">
                <a16:creationId xmlns:a16="http://schemas.microsoft.com/office/drawing/2014/main" id="{831DCFFB-3FDF-4C28-B615-A4AC44F92F80}"/>
              </a:ext>
            </a:extLst>
          </p:cNvPr>
          <p:cNvSpPr txBox="1"/>
          <p:nvPr/>
        </p:nvSpPr>
        <p:spPr>
          <a:xfrm>
            <a:off x="2546430" y="1011968"/>
            <a:ext cx="1230443" cy="369332"/>
          </a:xfrm>
          <a:prstGeom prst="rect">
            <a:avLst/>
          </a:prstGeom>
          <a:noFill/>
        </p:spPr>
        <p:txBody>
          <a:bodyPr wrap="square" rtlCol="0">
            <a:spAutoFit/>
          </a:bodyPr>
          <a:lstStyle/>
          <a:p>
            <a:r>
              <a:rPr lang="zh-CN" altLang="en-US" dirty="0">
                <a:solidFill>
                  <a:srgbClr val="FF0000"/>
                </a:solidFill>
              </a:rPr>
              <a:t>功能单元</a:t>
            </a:r>
            <a:endParaRPr lang="en-US" dirty="0">
              <a:solidFill>
                <a:srgbClr val="FF0000"/>
              </a:solidFill>
            </a:endParaRPr>
          </a:p>
        </p:txBody>
      </p:sp>
    </p:spTree>
    <p:extLst>
      <p:ext uri="{BB962C8B-B14F-4D97-AF65-F5344CB8AC3E}">
        <p14:creationId xmlns:p14="http://schemas.microsoft.com/office/powerpoint/2010/main" val="1768464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Memory and Cache (2 of 9)</a:t>
            </a:r>
            <a:endParaRPr lang="en-US" dirty="0">
              <a:latin typeface="Arial" panose="020B0604020202020204" pitchFamily="34" charset="0"/>
              <a:cs typeface="Arial" panose="020B0604020202020204" pitchFamily="34" charset="0"/>
            </a:endParaRPr>
          </a:p>
        </p:txBody>
      </p:sp>
      <p:pic>
        <p:nvPicPr>
          <p:cNvPr id="4" name="Picture 5" descr="The image displays the structure of random access memory. The memory size or address ranges from 0 to 2 to the N, minus 1. The memory is further divided into multiple memory cells. One memory cell consists of n bits. The memory address register or M Ay R is n bits long. The memory width or W is the number of bits per cell. The memory data register or M D R is given for W or a multiple W bit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910" y="1404274"/>
            <a:ext cx="5980180" cy="4686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1958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Memory and Cache (3 of 9)</a:t>
            </a:r>
            <a:endParaRPr lang="en-US" dirty="0">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1315529"/>
              </p:ext>
            </p:extLst>
          </p:nvPr>
        </p:nvGraphicFramePr>
        <p:xfrm>
          <a:off x="1713185" y="2206295"/>
          <a:ext cx="6096000" cy="2966720"/>
        </p:xfrm>
        <a:graphic>
          <a:graphicData uri="http://schemas.openxmlformats.org/drawingml/2006/table">
            <a:tbl>
              <a:tblPr firstRow="1" bandRow="1">
                <a:tableStyleId>{5940675A-B579-460E-94D1-54222C63F5DA}</a:tableStyleId>
              </a:tblPr>
              <a:tblGrid>
                <a:gridCol w="2393866">
                  <a:extLst>
                    <a:ext uri="{9D8B030D-6E8A-4147-A177-3AD203B41FA5}">
                      <a16:colId xmlns:a16="http://schemas.microsoft.com/office/drawing/2014/main" val="20000"/>
                    </a:ext>
                  </a:extLst>
                </a:gridCol>
                <a:gridCol w="3702134">
                  <a:extLst>
                    <a:ext uri="{9D8B030D-6E8A-4147-A177-3AD203B41FA5}">
                      <a16:colId xmlns:a16="http://schemas.microsoft.com/office/drawing/2014/main" val="20001"/>
                    </a:ext>
                  </a:extLst>
                </a:gridCol>
              </a:tblGrid>
              <a:tr h="370840">
                <a:tc>
                  <a:txBody>
                    <a:bodyPr/>
                    <a:lstStyle/>
                    <a:p>
                      <a:pPr algn="ctr"/>
                      <a:r>
                        <a:rPr lang="en-US" b="1" i="1" dirty="0">
                          <a:solidFill>
                            <a:schemeClr val="tx1"/>
                          </a:solidFill>
                          <a:latin typeface="Arial" panose="020B0604020202020204" pitchFamily="34" charset="0"/>
                          <a:cs typeface="Arial" panose="020B0604020202020204" pitchFamily="34" charset="0"/>
                        </a:rPr>
                        <a:t>N</a:t>
                      </a:r>
                    </a:p>
                  </a:txBody>
                  <a:tcPr>
                    <a:noFill/>
                  </a:tcPr>
                </a:tc>
                <a:tc>
                  <a:txBody>
                    <a:bodyPr/>
                    <a:lstStyle/>
                    <a:p>
                      <a:pPr algn="ctr"/>
                      <a:r>
                        <a:rPr lang="en-US" b="1" dirty="0">
                          <a:solidFill>
                            <a:schemeClr val="tx1"/>
                          </a:solidFill>
                          <a:latin typeface="Arial" panose="020B0604020202020204" pitchFamily="34" charset="0"/>
                          <a:cs typeface="Arial" panose="020B0604020202020204" pitchFamily="34" charset="0"/>
                        </a:rPr>
                        <a:t>Maximum Memory Size (2</a:t>
                      </a:r>
                      <a:r>
                        <a:rPr lang="en-US" b="1" i="1" baseline="30000" dirty="0">
                          <a:solidFill>
                            <a:schemeClr val="tx1"/>
                          </a:solidFill>
                          <a:latin typeface="Arial" panose="020B0604020202020204" pitchFamily="34" charset="0"/>
                          <a:cs typeface="Arial" panose="020B0604020202020204" pitchFamily="34" charset="0"/>
                        </a:rPr>
                        <a:t>N</a:t>
                      </a:r>
                      <a:r>
                        <a:rPr lang="en-US" b="1" dirty="0">
                          <a:solidFill>
                            <a:schemeClr val="tx1"/>
                          </a:solidFill>
                          <a:latin typeface="Arial" panose="020B0604020202020204" pitchFamily="34" charset="0"/>
                          <a:cs typeface="Arial" panose="020B0604020202020204" pitchFamily="34" charset="0"/>
                        </a:rPr>
                        <a:t>)</a:t>
                      </a:r>
                    </a:p>
                  </a:txBody>
                  <a:tcPr>
                    <a:noFill/>
                  </a:tcPr>
                </a:tc>
                <a:extLst>
                  <a:ext uri="{0D108BD9-81ED-4DB2-BD59-A6C34878D82A}">
                    <a16:rowId xmlns:a16="http://schemas.microsoft.com/office/drawing/2014/main" val="10000"/>
                  </a:ext>
                </a:extLst>
              </a:tr>
              <a:tr h="370840">
                <a:tc>
                  <a:txBody>
                    <a:bodyPr/>
                    <a:lstStyle/>
                    <a:p>
                      <a:r>
                        <a:rPr lang="en-US" dirty="0">
                          <a:latin typeface="Arial" panose="020B0604020202020204" pitchFamily="34" charset="0"/>
                          <a:cs typeface="Arial" panose="020B0604020202020204" pitchFamily="34" charset="0"/>
                        </a:rPr>
                        <a:t>16</a:t>
                      </a:r>
                    </a:p>
                  </a:txBody>
                  <a:tcPr/>
                </a:tc>
                <a:tc>
                  <a:txBody>
                    <a:bodyPr/>
                    <a:lstStyle/>
                    <a:p>
                      <a:r>
                        <a:rPr lang="en-US" dirty="0">
                          <a:latin typeface="Arial" panose="020B0604020202020204" pitchFamily="34" charset="0"/>
                          <a:cs typeface="Arial" panose="020B0604020202020204" pitchFamily="34" charset="0"/>
                        </a:rPr>
                        <a:t>65,536</a:t>
                      </a:r>
                    </a:p>
                  </a:txBody>
                  <a:tcPr/>
                </a:tc>
                <a:extLst>
                  <a:ext uri="{0D108BD9-81ED-4DB2-BD59-A6C34878D82A}">
                    <a16:rowId xmlns:a16="http://schemas.microsoft.com/office/drawing/2014/main" val="10001"/>
                  </a:ext>
                </a:extLst>
              </a:tr>
              <a:tr h="370840">
                <a:tc>
                  <a:txBody>
                    <a:bodyPr/>
                    <a:lstStyle/>
                    <a:p>
                      <a:r>
                        <a:rPr lang="en-US" dirty="0">
                          <a:latin typeface="Arial" panose="020B0604020202020204" pitchFamily="34" charset="0"/>
                          <a:cs typeface="Arial" panose="020B0604020202020204" pitchFamily="34" charset="0"/>
                        </a:rPr>
                        <a:t>20</a:t>
                      </a:r>
                    </a:p>
                  </a:txBody>
                  <a:tcPr/>
                </a:tc>
                <a:tc>
                  <a:txBody>
                    <a:bodyPr/>
                    <a:lstStyle/>
                    <a:p>
                      <a:r>
                        <a:rPr lang="en-US" dirty="0">
                          <a:latin typeface="Arial" panose="020B0604020202020204" pitchFamily="34" charset="0"/>
                          <a:cs typeface="Arial" panose="020B0604020202020204" pitchFamily="34" charset="0"/>
                        </a:rPr>
                        <a:t>1,048,576</a:t>
                      </a:r>
                    </a:p>
                  </a:txBody>
                  <a:tcPr/>
                </a:tc>
                <a:extLst>
                  <a:ext uri="{0D108BD9-81ED-4DB2-BD59-A6C34878D82A}">
                    <a16:rowId xmlns:a16="http://schemas.microsoft.com/office/drawing/2014/main" val="10002"/>
                  </a:ext>
                </a:extLst>
              </a:tr>
              <a:tr h="370840">
                <a:tc>
                  <a:txBody>
                    <a:bodyPr/>
                    <a:lstStyle/>
                    <a:p>
                      <a:r>
                        <a:rPr lang="en-US" dirty="0">
                          <a:latin typeface="Arial" panose="020B0604020202020204" pitchFamily="34" charset="0"/>
                          <a:cs typeface="Arial" panose="020B0604020202020204" pitchFamily="34" charset="0"/>
                        </a:rPr>
                        <a:t>22</a:t>
                      </a:r>
                    </a:p>
                  </a:txBody>
                  <a:tcPr/>
                </a:tc>
                <a:tc>
                  <a:txBody>
                    <a:bodyPr/>
                    <a:lstStyle/>
                    <a:p>
                      <a:r>
                        <a:rPr lang="en-US" dirty="0">
                          <a:latin typeface="Arial" panose="020B0604020202020204" pitchFamily="34" charset="0"/>
                          <a:cs typeface="Arial" panose="020B0604020202020204" pitchFamily="34" charset="0"/>
                        </a:rPr>
                        <a:t>4,194,304</a:t>
                      </a:r>
                    </a:p>
                  </a:txBody>
                  <a:tcPr/>
                </a:tc>
                <a:extLst>
                  <a:ext uri="{0D108BD9-81ED-4DB2-BD59-A6C34878D82A}">
                    <a16:rowId xmlns:a16="http://schemas.microsoft.com/office/drawing/2014/main" val="10003"/>
                  </a:ext>
                </a:extLst>
              </a:tr>
              <a:tr h="370840">
                <a:tc>
                  <a:txBody>
                    <a:bodyPr/>
                    <a:lstStyle/>
                    <a:p>
                      <a:r>
                        <a:rPr lang="en-US" dirty="0">
                          <a:latin typeface="Arial" panose="020B0604020202020204" pitchFamily="34" charset="0"/>
                          <a:cs typeface="Arial" panose="020B0604020202020204" pitchFamily="34" charset="0"/>
                        </a:rPr>
                        <a:t>24</a:t>
                      </a:r>
                    </a:p>
                  </a:txBody>
                  <a:tcPr/>
                </a:tc>
                <a:tc>
                  <a:txBody>
                    <a:bodyPr/>
                    <a:lstStyle/>
                    <a:p>
                      <a:r>
                        <a:rPr lang="en-US" dirty="0">
                          <a:latin typeface="Arial" panose="020B0604020202020204" pitchFamily="34" charset="0"/>
                          <a:cs typeface="Arial" panose="020B0604020202020204" pitchFamily="34" charset="0"/>
                        </a:rPr>
                        <a:t>16,777,216</a:t>
                      </a:r>
                    </a:p>
                  </a:txBody>
                  <a:tcPr/>
                </a:tc>
                <a:extLst>
                  <a:ext uri="{0D108BD9-81ED-4DB2-BD59-A6C34878D82A}">
                    <a16:rowId xmlns:a16="http://schemas.microsoft.com/office/drawing/2014/main" val="10004"/>
                  </a:ext>
                </a:extLst>
              </a:tr>
              <a:tr h="370840">
                <a:tc>
                  <a:txBody>
                    <a:bodyPr/>
                    <a:lstStyle/>
                    <a:p>
                      <a:r>
                        <a:rPr lang="en-US" dirty="0">
                          <a:latin typeface="Arial" panose="020B0604020202020204" pitchFamily="34" charset="0"/>
                          <a:cs typeface="Arial" panose="020B0604020202020204" pitchFamily="34" charset="0"/>
                        </a:rPr>
                        <a:t>32</a:t>
                      </a:r>
                    </a:p>
                  </a:txBody>
                  <a:tcPr/>
                </a:tc>
                <a:tc>
                  <a:txBody>
                    <a:bodyPr/>
                    <a:lstStyle/>
                    <a:p>
                      <a:r>
                        <a:rPr lang="en-US" dirty="0">
                          <a:latin typeface="Arial" panose="020B0604020202020204" pitchFamily="34" charset="0"/>
                          <a:cs typeface="Arial" panose="020B0604020202020204" pitchFamily="34" charset="0"/>
                        </a:rPr>
                        <a:t>4,294,967,296</a:t>
                      </a:r>
                    </a:p>
                  </a:txBody>
                  <a:tcPr/>
                </a:tc>
                <a:extLst>
                  <a:ext uri="{0D108BD9-81ED-4DB2-BD59-A6C34878D82A}">
                    <a16:rowId xmlns:a16="http://schemas.microsoft.com/office/drawing/2014/main" val="10005"/>
                  </a:ext>
                </a:extLst>
              </a:tr>
              <a:tr h="370840">
                <a:tc>
                  <a:txBody>
                    <a:bodyPr/>
                    <a:lstStyle/>
                    <a:p>
                      <a:r>
                        <a:rPr lang="en-US" dirty="0">
                          <a:latin typeface="Arial" panose="020B0604020202020204" pitchFamily="34" charset="0"/>
                          <a:cs typeface="Arial" panose="020B0604020202020204" pitchFamily="34" charset="0"/>
                        </a:rPr>
                        <a:t>40</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1,099,511,627,776</a:t>
                      </a:r>
                    </a:p>
                  </a:txBody>
                  <a:tcPr/>
                </a:tc>
                <a:extLst>
                  <a:ext uri="{0D108BD9-81ED-4DB2-BD59-A6C34878D82A}">
                    <a16:rowId xmlns:a16="http://schemas.microsoft.com/office/drawing/2014/main" val="10006"/>
                  </a:ext>
                </a:extLst>
              </a:tr>
              <a:tr h="370840">
                <a:tc>
                  <a:txBody>
                    <a:bodyPr/>
                    <a:lstStyle/>
                    <a:p>
                      <a:r>
                        <a:rPr lang="en-US" dirty="0">
                          <a:latin typeface="Arial" panose="020B0604020202020204" pitchFamily="34" charset="0"/>
                          <a:cs typeface="Arial" panose="020B0604020202020204" pitchFamily="34" charset="0"/>
                        </a:rPr>
                        <a:t>50</a:t>
                      </a:r>
                    </a:p>
                  </a:txBody>
                  <a:tcPr/>
                </a:tc>
                <a:tc>
                  <a:txBody>
                    <a:bodyPr/>
                    <a:lstStyle/>
                    <a:p>
                      <a:r>
                        <a:rPr lang="en-US" dirty="0">
                          <a:latin typeface="Arial" panose="020B0604020202020204" pitchFamily="34" charset="0"/>
                          <a:cs typeface="Arial" panose="020B0604020202020204" pitchFamily="34" charset="0"/>
                        </a:rPr>
                        <a:t>1,125,899,906,842,624</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81971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cs typeface="Arial" panose="020B0604020202020204" pitchFamily="34" charset="0"/>
              </a:rPr>
              <a:t>The Components of a Computer System Memory and Cache (4 of 9)</a:t>
            </a:r>
            <a:endParaRPr lang="en-US" dirty="0">
              <a:latin typeface="Arial" panose="020B0604020202020204" pitchFamily="34" charset="0"/>
              <a:cs typeface="Arial" panose="020B0604020202020204" pitchFamily="34" charset="0"/>
            </a:endParaRPr>
          </a:p>
        </p:txBody>
      </p:sp>
      <p:sp>
        <p:nvSpPr>
          <p:cNvPr id="4" name="Content Placeholder 3"/>
          <p:cNvSpPr>
            <a:spLocks noGrp="1"/>
          </p:cNvSpPr>
          <p:nvPr>
            <p:ph idx="1"/>
          </p:nvPr>
        </p:nvSpPr>
        <p:spPr>
          <a:xfrm>
            <a:off x="390528" y="1231266"/>
            <a:ext cx="8229600" cy="4894898"/>
          </a:xfrm>
        </p:spPr>
        <p:txBody>
          <a:bodyPr/>
          <a:lstStyle/>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Fetch</a:t>
            </a:r>
            <a:r>
              <a:rPr lang="en-US" altLang="en-US" dirty="0">
                <a:latin typeface="Arial" panose="020B0604020202020204" pitchFamily="34" charset="0"/>
                <a:ea typeface="ＭＳ Ｐゴシック" panose="020B0600070205080204" pitchFamily="34" charset="-128"/>
                <a:cs typeface="Arial" panose="020B0604020202020204" pitchFamily="34" charset="0"/>
              </a:rPr>
              <a:t>: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retrieve</a:t>
            </a:r>
            <a:r>
              <a:rPr lang="en-US" altLang="en-US" dirty="0">
                <a:latin typeface="Arial" panose="020B0604020202020204" pitchFamily="34" charset="0"/>
                <a:ea typeface="ＭＳ Ｐゴシック" panose="020B0600070205080204" pitchFamily="34" charset="-128"/>
                <a:cs typeface="Arial" panose="020B0604020202020204" pitchFamily="34" charset="0"/>
              </a:rPr>
              <a:t> from memory (</a:t>
            </a:r>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nondestructive fetch</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Store</a:t>
            </a:r>
            <a:r>
              <a:rPr lang="en-US" altLang="en-US" dirty="0">
                <a:latin typeface="Arial" panose="020B0604020202020204" pitchFamily="34" charset="0"/>
                <a:ea typeface="ＭＳ Ｐゴシック" panose="020B0600070205080204" pitchFamily="34" charset="-128"/>
                <a:cs typeface="Arial" panose="020B0604020202020204" pitchFamily="34" charset="0"/>
              </a:rPr>
              <a:t>: write to memory (</a:t>
            </a:r>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destructive store</a:t>
            </a:r>
            <a:r>
              <a:rPr lang="en-US" altLang="en-US" dirty="0">
                <a:latin typeface="Arial" panose="020B0604020202020204" pitchFamily="34" charset="0"/>
                <a:ea typeface="ＭＳ Ｐゴシック" panose="020B0600070205080204" pitchFamily="34" charset="-128"/>
                <a:cs typeface="Arial" panose="020B0604020202020204" pitchFamily="34" charset="0"/>
              </a:rPr>
              <a:t>)</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Memory access time</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Time required to fetch/store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Modern RAM requires 5-10 </a:t>
            </a:r>
            <a:r>
              <a:rPr lang="en-US" altLang="en-US" b="1" dirty="0">
                <a:latin typeface="Arial" panose="020B0604020202020204" pitchFamily="34" charset="0"/>
                <a:ea typeface="ＭＳ Ｐゴシック" panose="020B0600070205080204" pitchFamily="34" charset="-128"/>
                <a:cs typeface="Arial" panose="020B0604020202020204" pitchFamily="34" charset="0"/>
              </a:rPr>
              <a:t>nanoseconds</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Memory address register (MAR)</a:t>
            </a:r>
            <a:r>
              <a:rPr lang="en-US" altLang="en-US" dirty="0">
                <a:latin typeface="Arial" panose="020B0604020202020204" pitchFamily="34" charset="0"/>
                <a:ea typeface="ＭＳ Ｐゴシック" panose="020B0600070205080204" pitchFamily="34" charset="-128"/>
                <a:cs typeface="Arial" panose="020B0604020202020204" pitchFamily="34" charset="0"/>
              </a:rPr>
              <a:t> holds memory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address</a:t>
            </a:r>
            <a:r>
              <a:rPr lang="en-US" altLang="en-US" dirty="0">
                <a:latin typeface="Arial" panose="020B0604020202020204" pitchFamily="34" charset="0"/>
                <a:ea typeface="ＭＳ Ｐゴシック" panose="020B0600070205080204" pitchFamily="34" charset="-128"/>
                <a:cs typeface="Arial" panose="020B0604020202020204" pitchFamily="34" charset="0"/>
              </a:rPr>
              <a:t> to access</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Memory data register (MDR) </a:t>
            </a:r>
            <a:r>
              <a:rPr lang="en-US" altLang="en-US" dirty="0">
                <a:latin typeface="Arial" panose="020B0604020202020204" pitchFamily="34" charset="0"/>
                <a:ea typeface="ＭＳ Ｐゴシック" panose="020B0600070205080204" pitchFamily="34" charset="-128"/>
                <a:cs typeface="Arial" panose="020B0604020202020204" pitchFamily="34" charset="0"/>
              </a:rPr>
              <a:t>receives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data</a:t>
            </a:r>
            <a:r>
              <a:rPr lang="en-US" altLang="en-US" dirty="0">
                <a:latin typeface="Arial" panose="020B0604020202020204" pitchFamily="34" charset="0"/>
                <a:ea typeface="ＭＳ Ｐゴシック" panose="020B0600070205080204" pitchFamily="34" charset="-128"/>
                <a:cs typeface="Arial" panose="020B0604020202020204" pitchFamily="34" charset="0"/>
              </a:rPr>
              <a:t> from fetch and holds data to be stored</a:t>
            </a:r>
            <a:endParaRPr lang="en-US" altLang="en-US" b="1"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3" name="TextBox 2">
            <a:extLst>
              <a:ext uri="{FF2B5EF4-FFF2-40B4-BE49-F238E27FC236}">
                <a16:creationId xmlns:a16="http://schemas.microsoft.com/office/drawing/2014/main" id="{0A71DC1E-01DC-4EBD-8D1F-4E8B79EECD67}"/>
              </a:ext>
            </a:extLst>
          </p:cNvPr>
          <p:cNvSpPr txBox="1"/>
          <p:nvPr/>
        </p:nvSpPr>
        <p:spPr>
          <a:xfrm>
            <a:off x="2032000" y="1060705"/>
            <a:ext cx="1041400" cy="369332"/>
          </a:xfrm>
          <a:prstGeom prst="rect">
            <a:avLst/>
          </a:prstGeom>
          <a:noFill/>
        </p:spPr>
        <p:txBody>
          <a:bodyPr wrap="square" rtlCol="0">
            <a:spAutoFit/>
          </a:bodyPr>
          <a:lstStyle/>
          <a:p>
            <a:r>
              <a:rPr lang="zh-CN" altLang="en-US" dirty="0"/>
              <a:t>检索</a:t>
            </a:r>
            <a:endParaRPr lang="en-US" dirty="0"/>
          </a:p>
        </p:txBody>
      </p:sp>
      <p:sp>
        <p:nvSpPr>
          <p:cNvPr id="5" name="TextBox 4">
            <a:extLst>
              <a:ext uri="{FF2B5EF4-FFF2-40B4-BE49-F238E27FC236}">
                <a16:creationId xmlns:a16="http://schemas.microsoft.com/office/drawing/2014/main" id="{740C2F26-40F1-44E6-8716-52DBF61C196D}"/>
              </a:ext>
            </a:extLst>
          </p:cNvPr>
          <p:cNvSpPr txBox="1"/>
          <p:nvPr/>
        </p:nvSpPr>
        <p:spPr>
          <a:xfrm>
            <a:off x="1041400" y="5626734"/>
            <a:ext cx="4546600" cy="369332"/>
          </a:xfrm>
          <a:prstGeom prst="rect">
            <a:avLst/>
          </a:prstGeom>
          <a:noFill/>
        </p:spPr>
        <p:txBody>
          <a:bodyPr wrap="square" rtlCol="0">
            <a:spAutoFit/>
          </a:bodyPr>
          <a:lstStyle/>
          <a:p>
            <a:r>
              <a:rPr lang="zh-CN" altLang="en-US" dirty="0"/>
              <a:t>从读取中接收数据并保存要存储的数据</a:t>
            </a:r>
            <a:endParaRPr lang="en-US" dirty="0"/>
          </a:p>
        </p:txBody>
      </p:sp>
      <p:sp>
        <p:nvSpPr>
          <p:cNvPr id="6" name="TextBox 5">
            <a:extLst>
              <a:ext uri="{FF2B5EF4-FFF2-40B4-BE49-F238E27FC236}">
                <a16:creationId xmlns:a16="http://schemas.microsoft.com/office/drawing/2014/main" id="{3D52E379-E72A-4382-90CD-007630505D51}"/>
              </a:ext>
            </a:extLst>
          </p:cNvPr>
          <p:cNvSpPr txBox="1"/>
          <p:nvPr/>
        </p:nvSpPr>
        <p:spPr>
          <a:xfrm>
            <a:off x="1041400" y="1077716"/>
            <a:ext cx="990600" cy="369332"/>
          </a:xfrm>
          <a:prstGeom prst="rect">
            <a:avLst/>
          </a:prstGeom>
          <a:noFill/>
        </p:spPr>
        <p:txBody>
          <a:bodyPr wrap="square" rtlCol="0">
            <a:spAutoFit/>
          </a:bodyPr>
          <a:lstStyle/>
          <a:p>
            <a:r>
              <a:rPr lang="zh-CN" altLang="en-US" dirty="0"/>
              <a:t>提取</a:t>
            </a:r>
            <a:endParaRPr lang="en-US" dirty="0"/>
          </a:p>
        </p:txBody>
      </p:sp>
      <p:sp>
        <p:nvSpPr>
          <p:cNvPr id="7" name="TextBox 6">
            <a:extLst>
              <a:ext uri="{FF2B5EF4-FFF2-40B4-BE49-F238E27FC236}">
                <a16:creationId xmlns:a16="http://schemas.microsoft.com/office/drawing/2014/main" id="{A5F2DB1F-177F-4F4B-96F2-1FF75E5D75B0}"/>
              </a:ext>
            </a:extLst>
          </p:cNvPr>
          <p:cNvSpPr txBox="1"/>
          <p:nvPr/>
        </p:nvSpPr>
        <p:spPr>
          <a:xfrm>
            <a:off x="8190411" y="4048742"/>
            <a:ext cx="4546600" cy="646331"/>
          </a:xfrm>
          <a:prstGeom prst="rect">
            <a:avLst/>
          </a:prstGeom>
          <a:noFill/>
        </p:spPr>
        <p:txBody>
          <a:bodyPr wrap="square" rtlCol="0">
            <a:spAutoFit/>
          </a:bodyPr>
          <a:lstStyle/>
          <a:p>
            <a:r>
              <a:rPr lang="en-US" altLang="zh-CN" dirty="0"/>
              <a:t>MAR</a:t>
            </a:r>
            <a:r>
              <a:rPr lang="zh-CN" altLang="en-US" dirty="0"/>
              <a:t>：保存数据被传输到的位置的地址或数据来源的位置的地址</a:t>
            </a:r>
            <a:endParaRPr lang="en-US" dirty="0"/>
          </a:p>
        </p:txBody>
      </p:sp>
      <p:sp>
        <p:nvSpPr>
          <p:cNvPr id="8" name="TextBox 7">
            <a:extLst>
              <a:ext uri="{FF2B5EF4-FFF2-40B4-BE49-F238E27FC236}">
                <a16:creationId xmlns:a16="http://schemas.microsoft.com/office/drawing/2014/main" id="{67D87091-8884-4A31-AB84-A8401E89D0BD}"/>
              </a:ext>
            </a:extLst>
          </p:cNvPr>
          <p:cNvSpPr txBox="1"/>
          <p:nvPr/>
        </p:nvSpPr>
        <p:spPr>
          <a:xfrm>
            <a:off x="5806439" y="5230118"/>
            <a:ext cx="4767943" cy="646331"/>
          </a:xfrm>
          <a:prstGeom prst="rect">
            <a:avLst/>
          </a:prstGeom>
          <a:noFill/>
        </p:spPr>
        <p:txBody>
          <a:bodyPr wrap="square" rtlCol="0">
            <a:spAutoFit/>
          </a:bodyPr>
          <a:lstStyle/>
          <a:p>
            <a:r>
              <a:rPr lang="en-US" altLang="zh-CN" dirty="0"/>
              <a:t>MDR</a:t>
            </a:r>
            <a:r>
              <a:rPr lang="zh-CN" altLang="en-US" dirty="0"/>
              <a:t>：保存要被写入的地址的单元或从地址单元读出的数据。</a:t>
            </a:r>
            <a:endParaRPr lang="en-US" dirty="0"/>
          </a:p>
        </p:txBody>
      </p:sp>
      <p:sp>
        <p:nvSpPr>
          <p:cNvPr id="9" name="TextBox 8">
            <a:extLst>
              <a:ext uri="{FF2B5EF4-FFF2-40B4-BE49-F238E27FC236}">
                <a16:creationId xmlns:a16="http://schemas.microsoft.com/office/drawing/2014/main" id="{1BDE61B0-AB95-4DF8-B254-2818935F4864}"/>
              </a:ext>
            </a:extLst>
          </p:cNvPr>
          <p:cNvSpPr txBox="1"/>
          <p:nvPr/>
        </p:nvSpPr>
        <p:spPr>
          <a:xfrm>
            <a:off x="8448672" y="3679410"/>
            <a:ext cx="3057528" cy="369332"/>
          </a:xfrm>
          <a:prstGeom prst="rect">
            <a:avLst/>
          </a:prstGeom>
          <a:noFill/>
        </p:spPr>
        <p:txBody>
          <a:bodyPr wrap="square" rtlCol="0">
            <a:spAutoFit/>
          </a:bodyPr>
          <a:lstStyle/>
          <a:p>
            <a:r>
              <a:rPr lang="en-US" altLang="zh-CN" dirty="0"/>
              <a:t>MAR</a:t>
            </a:r>
            <a:r>
              <a:rPr lang="zh-CN" altLang="en-US" dirty="0"/>
              <a:t>：你可以有多少地址</a:t>
            </a:r>
            <a:endParaRPr lang="en-US" dirty="0"/>
          </a:p>
        </p:txBody>
      </p:sp>
      <p:sp>
        <p:nvSpPr>
          <p:cNvPr id="10" name="TextBox 9">
            <a:extLst>
              <a:ext uri="{FF2B5EF4-FFF2-40B4-BE49-F238E27FC236}">
                <a16:creationId xmlns:a16="http://schemas.microsoft.com/office/drawing/2014/main" id="{D25E3AC7-6F82-4C30-9775-4D55A7987386}"/>
              </a:ext>
            </a:extLst>
          </p:cNvPr>
          <p:cNvSpPr txBox="1"/>
          <p:nvPr/>
        </p:nvSpPr>
        <p:spPr>
          <a:xfrm>
            <a:off x="8083547" y="5604690"/>
            <a:ext cx="2746825" cy="923330"/>
          </a:xfrm>
          <a:prstGeom prst="rect">
            <a:avLst/>
          </a:prstGeom>
          <a:noFill/>
        </p:spPr>
        <p:txBody>
          <a:bodyPr wrap="square" rtlCol="0">
            <a:spAutoFit/>
          </a:bodyPr>
          <a:lstStyle/>
          <a:p>
            <a:r>
              <a:rPr lang="en-US" altLang="zh-CN" dirty="0"/>
              <a:t>Actually we store the valuable  we work on. </a:t>
            </a:r>
            <a:r>
              <a:rPr lang="zh-CN" altLang="en-US" dirty="0"/>
              <a:t>保存他们的</a:t>
            </a:r>
            <a:r>
              <a:rPr lang="en-US" altLang="zh-CN" dirty="0"/>
              <a:t>address</a:t>
            </a:r>
            <a:endParaRPr lang="en-US" dirty="0"/>
          </a:p>
        </p:txBody>
      </p:sp>
      <p:sp>
        <p:nvSpPr>
          <p:cNvPr id="11" name="TextBox 10">
            <a:extLst>
              <a:ext uri="{FF2B5EF4-FFF2-40B4-BE49-F238E27FC236}">
                <a16:creationId xmlns:a16="http://schemas.microsoft.com/office/drawing/2014/main" id="{06554AFF-86C7-42B8-80F8-09537BD15CE1}"/>
              </a:ext>
            </a:extLst>
          </p:cNvPr>
          <p:cNvSpPr txBox="1"/>
          <p:nvPr/>
        </p:nvSpPr>
        <p:spPr>
          <a:xfrm>
            <a:off x="8334372" y="3307458"/>
            <a:ext cx="3943353" cy="369332"/>
          </a:xfrm>
          <a:prstGeom prst="rect">
            <a:avLst/>
          </a:prstGeom>
          <a:noFill/>
        </p:spPr>
        <p:txBody>
          <a:bodyPr wrap="square" rtlCol="0">
            <a:spAutoFit/>
          </a:bodyPr>
          <a:lstStyle/>
          <a:p>
            <a:r>
              <a:rPr lang="en-US" altLang="zh-CN" dirty="0"/>
              <a:t>MAR: </a:t>
            </a:r>
            <a:r>
              <a:rPr lang="zh-CN" altLang="en-US" dirty="0"/>
              <a:t>我们要查找的内存位置的编号</a:t>
            </a:r>
            <a:endParaRPr lang="en-US" dirty="0"/>
          </a:p>
        </p:txBody>
      </p:sp>
      <p:sp>
        <p:nvSpPr>
          <p:cNvPr id="12" name="TextBox 11">
            <a:extLst>
              <a:ext uri="{FF2B5EF4-FFF2-40B4-BE49-F238E27FC236}">
                <a16:creationId xmlns:a16="http://schemas.microsoft.com/office/drawing/2014/main" id="{B3FC0E28-122B-45A7-9034-363A0B0DA689}"/>
              </a:ext>
            </a:extLst>
          </p:cNvPr>
          <p:cNvSpPr txBox="1"/>
          <p:nvPr/>
        </p:nvSpPr>
        <p:spPr>
          <a:xfrm>
            <a:off x="10792821" y="5211235"/>
            <a:ext cx="1266825" cy="1200329"/>
          </a:xfrm>
          <a:prstGeom prst="rect">
            <a:avLst/>
          </a:prstGeom>
          <a:noFill/>
        </p:spPr>
        <p:txBody>
          <a:bodyPr wrap="square" rtlCol="0">
            <a:spAutoFit/>
          </a:bodyPr>
          <a:lstStyle/>
          <a:p>
            <a:r>
              <a:rPr lang="en-US" altLang="zh-CN" dirty="0"/>
              <a:t>MDR</a:t>
            </a:r>
            <a:r>
              <a:rPr lang="zh-CN" altLang="en-US" dirty="0"/>
              <a:t>：我们想从哪里获得的实际值</a:t>
            </a:r>
            <a:endParaRPr lang="en-US" dirty="0"/>
          </a:p>
        </p:txBody>
      </p:sp>
      <p:sp>
        <p:nvSpPr>
          <p:cNvPr id="13" name="TextBox 12">
            <a:extLst>
              <a:ext uri="{FF2B5EF4-FFF2-40B4-BE49-F238E27FC236}">
                <a16:creationId xmlns:a16="http://schemas.microsoft.com/office/drawing/2014/main" id="{6EF9B159-C059-4E36-802F-EA52218E8DE4}"/>
              </a:ext>
            </a:extLst>
          </p:cNvPr>
          <p:cNvSpPr txBox="1"/>
          <p:nvPr/>
        </p:nvSpPr>
        <p:spPr>
          <a:xfrm>
            <a:off x="7625579" y="1323991"/>
            <a:ext cx="3943353" cy="646331"/>
          </a:xfrm>
          <a:prstGeom prst="rect">
            <a:avLst/>
          </a:prstGeom>
          <a:noFill/>
        </p:spPr>
        <p:txBody>
          <a:bodyPr wrap="square" rtlCol="0">
            <a:spAutoFit/>
          </a:bodyPr>
          <a:lstStyle/>
          <a:p>
            <a:r>
              <a:rPr lang="zh-CN" altLang="en-US" dirty="0"/>
              <a:t>提取：从内存中检索（非破坏性提取）</a:t>
            </a:r>
          </a:p>
          <a:p>
            <a:endParaRPr lang="en-US" dirty="0"/>
          </a:p>
        </p:txBody>
      </p:sp>
      <p:sp>
        <p:nvSpPr>
          <p:cNvPr id="14" name="TextBox 13">
            <a:extLst>
              <a:ext uri="{FF2B5EF4-FFF2-40B4-BE49-F238E27FC236}">
                <a16:creationId xmlns:a16="http://schemas.microsoft.com/office/drawing/2014/main" id="{5C3419E3-F52F-456B-9D43-BF28320B421F}"/>
              </a:ext>
            </a:extLst>
          </p:cNvPr>
          <p:cNvSpPr txBox="1"/>
          <p:nvPr/>
        </p:nvSpPr>
        <p:spPr>
          <a:xfrm>
            <a:off x="7196523" y="2217760"/>
            <a:ext cx="3633849" cy="369332"/>
          </a:xfrm>
          <a:prstGeom prst="rect">
            <a:avLst/>
          </a:prstGeom>
          <a:noFill/>
        </p:spPr>
        <p:txBody>
          <a:bodyPr wrap="square" rtlCol="0">
            <a:spAutoFit/>
          </a:bodyPr>
          <a:lstStyle/>
          <a:p>
            <a:r>
              <a:rPr lang="zh-CN" altLang="en-US"/>
              <a:t>存储：写入内存（破坏性存储）</a:t>
            </a:r>
            <a:endParaRPr lang="zh-CN" altLang="en-US" dirty="0"/>
          </a:p>
        </p:txBody>
      </p:sp>
    </p:spTree>
    <p:extLst>
      <p:ext uri="{BB962C8B-B14F-4D97-AF65-F5344CB8AC3E}">
        <p14:creationId xmlns:p14="http://schemas.microsoft.com/office/powerpoint/2010/main" val="2696649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cs typeface="Arial" panose="020B0604020202020204" pitchFamily="34" charset="0"/>
              </a:rPr>
              <a:t>The Components of a Computer System Memory and Cache (5 of 9)</a:t>
            </a:r>
            <a:endParaRPr lang="en-US" dirty="0">
              <a:latin typeface="Arial" panose="020B0604020202020204" pitchFamily="34" charset="0"/>
              <a:cs typeface="Arial" panose="020B0604020202020204" pitchFamily="34" charset="0"/>
            </a:endParaRPr>
          </a:p>
        </p:txBody>
      </p:sp>
      <p:sp>
        <p:nvSpPr>
          <p:cNvPr id="4" name="Content Placeholder 3"/>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Memory system circuits: </a:t>
            </a:r>
            <a:r>
              <a:rPr lang="en-US" altLang="en-US" b="1" dirty="0">
                <a:latin typeface="Arial" panose="020B0604020202020204" pitchFamily="34" charset="0"/>
                <a:ea typeface="ＭＳ Ｐゴシック" panose="020B0600070205080204" pitchFamily="34" charset="-128"/>
                <a:cs typeface="Arial" panose="020B0604020202020204" pitchFamily="34" charset="0"/>
              </a:rPr>
              <a:t>decoder</a:t>
            </a:r>
            <a:r>
              <a:rPr lang="en-US" altLang="en-US" dirty="0">
                <a:latin typeface="Arial" panose="020B0604020202020204" pitchFamily="34" charset="0"/>
                <a:ea typeface="ＭＳ Ｐゴシック" panose="020B0600070205080204" pitchFamily="34" charset="-128"/>
                <a:cs typeface="Arial" panose="020B0604020202020204" pitchFamily="34" charset="0"/>
              </a:rPr>
              <a:t> and </a:t>
            </a:r>
            <a:r>
              <a:rPr lang="en-US" altLang="en-US" b="1" dirty="0">
                <a:latin typeface="Arial" panose="020B0604020202020204" pitchFamily="34" charset="0"/>
                <a:ea typeface="ＭＳ Ｐゴシック" panose="020B0600070205080204" pitchFamily="34" charset="-128"/>
                <a:cs typeface="Arial" panose="020B0604020202020204" pitchFamily="34" charset="0"/>
              </a:rPr>
              <a:t>fetch/store controller</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Decoder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converts</a:t>
            </a:r>
            <a:r>
              <a:rPr lang="en-US" altLang="en-US" dirty="0">
                <a:latin typeface="Arial" panose="020B0604020202020204" pitchFamily="34" charset="0"/>
                <a:ea typeface="ＭＳ Ｐゴシック" panose="020B0600070205080204" pitchFamily="34" charset="-128"/>
                <a:cs typeface="Arial" panose="020B0604020202020204" pitchFamily="34" charset="0"/>
              </a:rPr>
              <a:t> MAR into signal to a specific memory cell</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One-dimensional versus two-dimensional memory organization</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Fetch/Store controller ► traffic cop for MDR</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Takes in a signal that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indicates</a:t>
            </a:r>
            <a:r>
              <a:rPr lang="en-US" altLang="en-US" dirty="0">
                <a:latin typeface="Arial" panose="020B0604020202020204" pitchFamily="34" charset="0"/>
                <a:ea typeface="ＭＳ Ｐゴシック" panose="020B0600070205080204" pitchFamily="34" charset="-128"/>
                <a:cs typeface="Arial" panose="020B0604020202020204" pitchFamily="34" charset="0"/>
              </a:rPr>
              <a:t> fetch or store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Routes data flow to/from memory cells and MDR</a:t>
            </a:r>
          </a:p>
        </p:txBody>
      </p:sp>
      <p:sp>
        <p:nvSpPr>
          <p:cNvPr id="3" name="TextBox 2">
            <a:extLst>
              <a:ext uri="{FF2B5EF4-FFF2-40B4-BE49-F238E27FC236}">
                <a16:creationId xmlns:a16="http://schemas.microsoft.com/office/drawing/2014/main" id="{7A8437B7-DC88-4ED0-A6A9-2C8C66674F0F}"/>
              </a:ext>
            </a:extLst>
          </p:cNvPr>
          <p:cNvSpPr txBox="1"/>
          <p:nvPr/>
        </p:nvSpPr>
        <p:spPr>
          <a:xfrm>
            <a:off x="2641600" y="1689100"/>
            <a:ext cx="3378200" cy="369332"/>
          </a:xfrm>
          <a:prstGeom prst="rect">
            <a:avLst/>
          </a:prstGeom>
          <a:noFill/>
        </p:spPr>
        <p:txBody>
          <a:bodyPr wrap="square" rtlCol="0">
            <a:spAutoFit/>
          </a:bodyPr>
          <a:lstStyle/>
          <a:p>
            <a:r>
              <a:rPr lang="zh-CN" altLang="en-US" dirty="0"/>
              <a:t>解码器和获取</a:t>
            </a:r>
            <a:r>
              <a:rPr lang="en-US" altLang="zh-CN" dirty="0"/>
              <a:t>/</a:t>
            </a:r>
            <a:r>
              <a:rPr lang="zh-CN" altLang="en-US" dirty="0"/>
              <a:t>存储控制器</a:t>
            </a:r>
            <a:endParaRPr lang="en-US" dirty="0"/>
          </a:p>
        </p:txBody>
      </p:sp>
      <p:sp>
        <p:nvSpPr>
          <p:cNvPr id="5" name="TextBox 4">
            <a:extLst>
              <a:ext uri="{FF2B5EF4-FFF2-40B4-BE49-F238E27FC236}">
                <a16:creationId xmlns:a16="http://schemas.microsoft.com/office/drawing/2014/main" id="{25C2CE0D-EEEA-4585-916E-C73D795FC257}"/>
              </a:ext>
            </a:extLst>
          </p:cNvPr>
          <p:cNvSpPr txBox="1"/>
          <p:nvPr/>
        </p:nvSpPr>
        <p:spPr>
          <a:xfrm>
            <a:off x="2908300" y="2516266"/>
            <a:ext cx="927100" cy="369332"/>
          </a:xfrm>
          <a:prstGeom prst="rect">
            <a:avLst/>
          </a:prstGeom>
          <a:noFill/>
        </p:spPr>
        <p:txBody>
          <a:bodyPr wrap="square" rtlCol="0">
            <a:spAutoFit/>
          </a:bodyPr>
          <a:lstStyle/>
          <a:p>
            <a:r>
              <a:rPr lang="zh-CN" altLang="en-US" dirty="0"/>
              <a:t>转换</a:t>
            </a:r>
            <a:endParaRPr lang="en-US" dirty="0"/>
          </a:p>
        </p:txBody>
      </p:sp>
      <p:sp>
        <p:nvSpPr>
          <p:cNvPr id="6" name="TextBox 5">
            <a:extLst>
              <a:ext uri="{FF2B5EF4-FFF2-40B4-BE49-F238E27FC236}">
                <a16:creationId xmlns:a16="http://schemas.microsoft.com/office/drawing/2014/main" id="{4F2B5B78-7485-4A7B-83A3-ECE0D7A9C196}"/>
              </a:ext>
            </a:extLst>
          </p:cNvPr>
          <p:cNvSpPr txBox="1"/>
          <p:nvPr/>
        </p:nvSpPr>
        <p:spPr>
          <a:xfrm>
            <a:off x="4902200" y="4102100"/>
            <a:ext cx="1955800" cy="369332"/>
          </a:xfrm>
          <a:prstGeom prst="rect">
            <a:avLst/>
          </a:prstGeom>
          <a:noFill/>
        </p:spPr>
        <p:txBody>
          <a:bodyPr wrap="square" rtlCol="0">
            <a:spAutoFit/>
          </a:bodyPr>
          <a:lstStyle/>
          <a:p>
            <a:r>
              <a:rPr lang="zh-CN" altLang="en-US" dirty="0"/>
              <a:t>表明、指示</a:t>
            </a:r>
            <a:endParaRPr lang="en-US" dirty="0"/>
          </a:p>
        </p:txBody>
      </p:sp>
      <p:sp>
        <p:nvSpPr>
          <p:cNvPr id="7" name="TextBox 6">
            <a:extLst>
              <a:ext uri="{FF2B5EF4-FFF2-40B4-BE49-F238E27FC236}">
                <a16:creationId xmlns:a16="http://schemas.microsoft.com/office/drawing/2014/main" id="{6A6AFC08-562B-40EC-A6CB-57349ECD4795}"/>
              </a:ext>
            </a:extLst>
          </p:cNvPr>
          <p:cNvSpPr txBox="1"/>
          <p:nvPr/>
        </p:nvSpPr>
        <p:spPr>
          <a:xfrm>
            <a:off x="1651000" y="5015468"/>
            <a:ext cx="4775200" cy="646331"/>
          </a:xfrm>
          <a:prstGeom prst="rect">
            <a:avLst/>
          </a:prstGeom>
          <a:noFill/>
        </p:spPr>
        <p:txBody>
          <a:bodyPr wrap="square" rtlCol="0">
            <a:spAutoFit/>
          </a:bodyPr>
          <a:lstStyle/>
          <a:p>
            <a:r>
              <a:rPr lang="zh-CN" altLang="en-US" dirty="0"/>
              <a:t>路由数据流往返存储单元和</a:t>
            </a:r>
            <a:r>
              <a:rPr lang="en-US" altLang="zh-CN" dirty="0"/>
              <a:t>MDR</a:t>
            </a:r>
            <a:endParaRPr lang="en-US" dirty="0"/>
          </a:p>
          <a:p>
            <a:endParaRPr lang="en-US" dirty="0"/>
          </a:p>
        </p:txBody>
      </p:sp>
    </p:spTree>
    <p:extLst>
      <p:ext uri="{BB962C8B-B14F-4D97-AF65-F5344CB8AC3E}">
        <p14:creationId xmlns:p14="http://schemas.microsoft.com/office/powerpoint/2010/main" val="1006905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cs typeface="Arial" panose="020B0604020202020204" pitchFamily="34" charset="0"/>
              </a:rPr>
              <a:t>The Components of a Computer System Memory and Cache (6 of 9)</a:t>
            </a:r>
            <a:endParaRPr lang="en-US" dirty="0">
              <a:latin typeface="Arial" panose="020B0604020202020204" pitchFamily="34" charset="0"/>
              <a:cs typeface="Arial" panose="020B0604020202020204" pitchFamily="34" charset="0"/>
            </a:endParaRPr>
          </a:p>
        </p:txBody>
      </p:sp>
      <p:pic>
        <p:nvPicPr>
          <p:cNvPr id="5" name="Picture 4" descr="The image displays the organization of memory and the decoding logic. The M Ay R contains four blocks termed d, n = 4. d = 0 or 1. There are 4 input lines therefore 2 to the forth = 16 output lines that connect to the 4 to 16 decoder circuit. The decoder circuit outputs range from 0 0 0 0 to 1 1 1 1 and Is fed into the memory. So, the address ranging from 0 to 15 will give an output ranging from 0 0 0 0 to 1 1 1 1.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2288" y="1322295"/>
            <a:ext cx="555942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680B0C35-90D9-4501-9905-5B79AB1A3B5B}"/>
              </a:ext>
            </a:extLst>
          </p:cNvPr>
          <p:cNvSpPr txBox="1"/>
          <p:nvPr/>
        </p:nvSpPr>
        <p:spPr>
          <a:xfrm>
            <a:off x="4572000" y="5651970"/>
            <a:ext cx="955040" cy="369332"/>
          </a:xfrm>
          <a:prstGeom prst="rect">
            <a:avLst/>
          </a:prstGeom>
          <a:noFill/>
        </p:spPr>
        <p:txBody>
          <a:bodyPr wrap="square" rtlCol="0">
            <a:spAutoFit/>
          </a:bodyPr>
          <a:lstStyle/>
          <a:p>
            <a:r>
              <a:rPr lang="zh-CN" altLang="en-US" dirty="0"/>
              <a:t>解码</a:t>
            </a:r>
            <a:endParaRPr lang="en-US" dirty="0"/>
          </a:p>
        </p:txBody>
      </p:sp>
    </p:spTree>
    <p:extLst>
      <p:ext uri="{BB962C8B-B14F-4D97-AF65-F5344CB8AC3E}">
        <p14:creationId xmlns:p14="http://schemas.microsoft.com/office/powerpoint/2010/main" val="2653228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cs typeface="Arial" panose="020B0604020202020204" pitchFamily="34" charset="0"/>
              </a:rPr>
              <a:t>The Components of a Computer System Memory and Cache (7 of 9)</a:t>
            </a:r>
            <a:endParaRPr lang="en-US" dirty="0">
              <a:latin typeface="Arial" panose="020B0604020202020204" pitchFamily="34" charset="0"/>
              <a:cs typeface="Arial" panose="020B0604020202020204" pitchFamily="34" charset="0"/>
            </a:endParaRPr>
          </a:p>
        </p:txBody>
      </p:sp>
      <p:pic>
        <p:nvPicPr>
          <p:cNvPr id="4" name="Picture 4" descr="The table has four columns and four rows. The four columns are as follows: column 0, 0 0; column 1, 0 1, column 2, 1 0, column 3, 1 1. The values on row 0, 0 0 are as follows: columns1, 0 0 0 0; column 2, 0 0 0 1; column 3, 0 0 1 0; column 4, 0 0 1 1. The values on row 1, 0 1are: columns1, 0 1 0 0; column 2, 0 1 0 1; column 3, 0 1 1 0; column 4, 0 1 1 1. The values on row 2, 1 0 are as follows: columns1, 1 0 0 0; column 2, 1 0 0 1; column 3, 1 0 1 0; column 4, 1 0 1 1. The values on row 3, 1 1 are as follows: columns1, 1 1 0 0; column 2, 1 1 0 1; column 3, 1 1 1 0; column 4, 1 1 1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334" y="1292034"/>
            <a:ext cx="5109333" cy="480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9633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cs typeface="Arial" panose="020B0604020202020204" pitchFamily="34" charset="0"/>
              </a:rPr>
              <a:t>The Components of a Computer System Memory and Cache (8 of 9)</a:t>
            </a:r>
            <a:endParaRPr lang="en-US" dirty="0">
              <a:latin typeface="Arial" panose="020B0604020202020204" pitchFamily="34" charset="0"/>
              <a:cs typeface="Arial" panose="020B0604020202020204" pitchFamily="34" charset="0"/>
            </a:endParaRPr>
          </a:p>
        </p:txBody>
      </p:sp>
      <p:pic>
        <p:nvPicPr>
          <p:cNvPr id="5" name="Picture 4" descr="The diagram displays an overall RAM organization. The M Ay R with N bits gets an input from the other parts of the computer. The M Ay R consists of d, and is arranged in two blocks of half n bits each. The outputs from the first block pass to the row decoder circuit and then to the memory cell. The outputs from the second block pass to the column decoder circuit and reach the memory cell block. The memory cells block consists of 2 to the N memory cells organized by 2 to the half n into 2 to half N by 2 squared. M D R which consists of multiple of W bits has a reciprocal signal exchange from other parts of the computer. The M D R has reciprocal signal exchange with the fetch or store controller. F or S signals from other parts of the computer are also fed into the fetch or store controller. The fetch or store controller has a reciprocal signal exchange with the memory cell block.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1718" y="1317669"/>
            <a:ext cx="4240565" cy="473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1933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Memory and Cache (9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RAM speeds increased more slowly than CPU speeds</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Cache memory</a:t>
            </a:r>
            <a:r>
              <a:rPr lang="en-US" altLang="en-US" dirty="0">
                <a:latin typeface="Arial" panose="020B0604020202020204" pitchFamily="34" charset="0"/>
                <a:ea typeface="ＭＳ Ｐゴシック" panose="020B0600070205080204" pitchFamily="34" charset="-128"/>
                <a:cs typeface="Arial" panose="020B0604020202020204" pitchFamily="34" charset="0"/>
              </a:rPr>
              <a:t> is fast but expensive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Built into the CPU for fast access times</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Principle of locality</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Values close to recently accessed memory are more likely to be accessed</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Load neighbors into cache and keep recent values there</a:t>
            </a:r>
            <a:endParaRPr lang="en-US" altLang="en-US" b="1" dirty="0">
              <a:latin typeface="Arial" panose="020B0604020202020204" pitchFamily="34" charset="0"/>
              <a:ea typeface="ＭＳ Ｐゴシック" panose="020B0600070205080204" pitchFamily="34" charset="-128"/>
              <a:cs typeface="Arial" panose="020B0604020202020204" pitchFamily="34" charset="0"/>
            </a:endParaRP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Cache hit rate:</a:t>
            </a:r>
            <a:r>
              <a:rPr lang="en-US" altLang="en-US" dirty="0">
                <a:latin typeface="Arial" panose="020B0604020202020204" pitchFamily="34" charset="0"/>
                <a:ea typeface="ＭＳ Ｐゴシック" panose="020B0600070205080204" pitchFamily="34" charset="-128"/>
                <a:cs typeface="Arial" panose="020B0604020202020204" pitchFamily="34" charset="0"/>
              </a:rPr>
              <a:t> percentage of times values are found in cache</a:t>
            </a:r>
            <a:endPar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37545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a:t>
            </a:r>
            <a:r>
              <a:rPr lang="en-US" altLang="en-US" baseline="0" dirty="0">
                <a:latin typeface="Arial" panose="020B0604020202020204" pitchFamily="34" charset="0"/>
                <a:ea typeface="ＭＳ Ｐゴシック" panose="020B0600070205080204" pitchFamily="34" charset="-128"/>
                <a:cs typeface="Arial" panose="020B0604020202020204" pitchFamily="34" charset="0"/>
              </a:rPr>
              <a:t> </a:t>
            </a:r>
            <a:r>
              <a:rPr lang="en-US" altLang="en-US" dirty="0">
                <a:latin typeface="Arial" panose="020B0604020202020204" pitchFamily="34" charset="0"/>
                <a:ea typeface="ＭＳ Ｐゴシック" panose="020B0600070205080204" pitchFamily="34" charset="-128"/>
                <a:cs typeface="Arial" panose="020B0604020202020204" pitchFamily="34" charset="0"/>
              </a:rPr>
              <a:t>Input/Output and Mass Storage</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b="1" dirty="0">
                <a:latin typeface="Arial" panose="020B0604020202020204" pitchFamily="34" charset="0"/>
                <a:ea typeface="ＭＳ Ｐゴシック" panose="020B0600070205080204" pitchFamily="34" charset="-128"/>
                <a:cs typeface="Arial" panose="020B0604020202020204" pitchFamily="34" charset="0"/>
              </a:rPr>
              <a:t>Input/output (I/O)</a:t>
            </a:r>
            <a:r>
              <a:rPr lang="en-US" altLang="en-US" dirty="0">
                <a:latin typeface="Arial" panose="020B0604020202020204" pitchFamily="34" charset="0"/>
                <a:ea typeface="ＭＳ Ｐゴシック" panose="020B0600070205080204" pitchFamily="34" charset="-128"/>
                <a:cs typeface="Arial" panose="020B0604020202020204" pitchFamily="34" charset="0"/>
              </a:rPr>
              <a:t> connects the processor to the outside world</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Humans: keyboard, monitor, etc.</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Data storage: hard drive, DVD, flash drive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Other computers: network</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RAM = </a:t>
            </a:r>
            <a:r>
              <a:rPr lang="en-US" altLang="en-US" b="1" dirty="0">
                <a:latin typeface="Arial" panose="020B0604020202020204" pitchFamily="34" charset="0"/>
                <a:ea typeface="ＭＳ Ｐゴシック" panose="020B0600070205080204" pitchFamily="34" charset="-128"/>
                <a:cs typeface="Arial" panose="020B0604020202020204" pitchFamily="34" charset="0"/>
              </a:rPr>
              <a:t>volatile memory</a:t>
            </a:r>
            <a:r>
              <a:rPr lang="en-US" altLang="en-US" dirty="0">
                <a:latin typeface="Arial" panose="020B0604020202020204" pitchFamily="34" charset="0"/>
                <a:ea typeface="ＭＳ Ｐゴシック" panose="020B0600070205080204" pitchFamily="34" charset="-128"/>
                <a:cs typeface="Arial" panose="020B0604020202020204" pitchFamily="34" charset="0"/>
              </a:rPr>
              <a:t> (gone without power)</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Mass storage systems</a:t>
            </a:r>
            <a:r>
              <a:rPr lang="en-US" altLang="en-US" dirty="0">
                <a:latin typeface="Arial" panose="020B0604020202020204" pitchFamily="34" charset="0"/>
                <a:ea typeface="ＭＳ Ｐゴシック" panose="020B0600070205080204" pitchFamily="34" charset="-128"/>
                <a:cs typeface="Arial" panose="020B0604020202020204" pitchFamily="34" charset="0"/>
              </a:rPr>
              <a:t> = </a:t>
            </a:r>
            <a:r>
              <a:rPr lang="en-US" altLang="en-US" b="1" dirty="0">
                <a:latin typeface="Arial" panose="020B0604020202020204" pitchFamily="34" charset="0"/>
                <a:ea typeface="ＭＳ Ｐゴシック" panose="020B0600070205080204" pitchFamily="34" charset="-128"/>
                <a:cs typeface="Arial" panose="020B0604020202020204" pitchFamily="34" charset="0"/>
              </a:rPr>
              <a:t>nonvolatile memory</a:t>
            </a:r>
          </a:p>
          <a:p>
            <a:pPr lvl="1"/>
            <a:r>
              <a:rPr lang="en-US" altLang="en-US" b="1" dirty="0">
                <a:latin typeface="Arial" panose="020B0604020202020204" pitchFamily="34" charset="0"/>
                <a:ea typeface="ＭＳ Ｐゴシック" panose="020B0600070205080204" pitchFamily="34" charset="-128"/>
                <a:cs typeface="Arial" panose="020B0604020202020204" pitchFamily="34" charset="0"/>
              </a:rPr>
              <a:t>Direct access storage devices (DASDs)</a:t>
            </a:r>
          </a:p>
          <a:p>
            <a:pPr lvl="1"/>
            <a:r>
              <a:rPr lang="en-US" altLang="en-US" b="1" dirty="0">
                <a:latin typeface="Arial" panose="020B0604020202020204" pitchFamily="34" charset="0"/>
                <a:ea typeface="ＭＳ Ｐゴシック" panose="020B0600070205080204" pitchFamily="34" charset="-128"/>
                <a:cs typeface="Arial" panose="020B0604020202020204" pitchFamily="34" charset="0"/>
              </a:rPr>
              <a:t>Sequential access storage devices (SASDs)</a:t>
            </a:r>
          </a:p>
        </p:txBody>
      </p:sp>
    </p:spTree>
    <p:extLst>
      <p:ext uri="{BB962C8B-B14F-4D97-AF65-F5344CB8AC3E}">
        <p14:creationId xmlns:p14="http://schemas.microsoft.com/office/powerpoint/2010/main" val="2756537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62" y="1"/>
            <a:ext cx="8875076"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I/O and Mass Storage (1 of 6)</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Tx/>
              <a:buNone/>
            </a:pPr>
            <a:r>
              <a:rPr lang="en-US" altLang="en-US" b="1" dirty="0">
                <a:latin typeface="Arial" panose="020B0604020202020204" pitchFamily="34" charset="0"/>
                <a:ea typeface="ＭＳ Ｐゴシック" panose="020B0600070205080204" pitchFamily="34" charset="-128"/>
                <a:cs typeface="Arial" panose="020B0604020202020204" pitchFamily="34" charset="0"/>
              </a:rPr>
              <a:t>DASDs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Disks: Hard drives and optical media (CDs/DVDs)</a:t>
            </a:r>
          </a:p>
          <a:p>
            <a:pPr lvl="1"/>
            <a:r>
              <a:rPr lang="en-US" altLang="en-US" b="1" dirty="0">
                <a:latin typeface="Arial" panose="020B0604020202020204" pitchFamily="34" charset="0"/>
                <a:ea typeface="ＭＳ Ｐゴシック" panose="020B0600070205080204" pitchFamily="34" charset="-128"/>
                <a:cs typeface="Arial" panose="020B0604020202020204" pitchFamily="34" charset="0"/>
              </a:rPr>
              <a:t>Tracks: </a:t>
            </a:r>
            <a:r>
              <a:rPr lang="en-US" altLang="en-US" dirty="0">
                <a:latin typeface="Arial" panose="020B0604020202020204" pitchFamily="34" charset="0"/>
                <a:ea typeface="ＭＳ Ｐゴシック" panose="020B0600070205080204" pitchFamily="34" charset="-128"/>
                <a:cs typeface="Arial" panose="020B0604020202020204" pitchFamily="34" charset="0"/>
              </a:rPr>
              <a:t>concentric rings around the disk surface</a:t>
            </a:r>
          </a:p>
          <a:p>
            <a:pPr lvl="1"/>
            <a:r>
              <a:rPr lang="en-US" altLang="en-US" b="1" dirty="0">
                <a:latin typeface="Arial" panose="020B0604020202020204" pitchFamily="34" charset="0"/>
                <a:ea typeface="ＭＳ Ｐゴシック" panose="020B0600070205080204" pitchFamily="34" charset="-128"/>
                <a:cs typeface="Arial" panose="020B0604020202020204" pitchFamily="34" charset="0"/>
              </a:rPr>
              <a:t>Sectors:</a:t>
            </a:r>
            <a:r>
              <a:rPr lang="en-US" altLang="en-US" dirty="0">
                <a:latin typeface="Arial" panose="020B0604020202020204" pitchFamily="34" charset="0"/>
                <a:ea typeface="ＭＳ Ｐゴシック" panose="020B0600070205080204" pitchFamily="34" charset="-128"/>
                <a:cs typeface="Arial" panose="020B0604020202020204" pitchFamily="34" charset="0"/>
              </a:rPr>
              <a:t> fixed size segments of tracks, unit of retrieval</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Time to retrieve data based on</a:t>
            </a:r>
          </a:p>
          <a:p>
            <a:pPr lvl="2"/>
            <a:r>
              <a:rPr lang="en-US" altLang="en-US" b="1" dirty="0">
                <a:latin typeface="Arial" panose="020B0604020202020204" pitchFamily="34" charset="0"/>
                <a:ea typeface="ＭＳ Ｐゴシック" panose="020B0600070205080204" pitchFamily="34" charset="-128"/>
                <a:cs typeface="Arial" panose="020B0604020202020204" pitchFamily="34" charset="0"/>
              </a:rPr>
              <a:t>Seek time</a:t>
            </a:r>
          </a:p>
          <a:p>
            <a:pPr lvl="2"/>
            <a:r>
              <a:rPr lang="en-US" altLang="en-US" b="1" dirty="0">
                <a:latin typeface="Arial" panose="020B0604020202020204" pitchFamily="34" charset="0"/>
                <a:ea typeface="ＭＳ Ｐゴシック" panose="020B0600070205080204" pitchFamily="34" charset="-128"/>
                <a:cs typeface="Arial" panose="020B0604020202020204" pitchFamily="34" charset="0"/>
              </a:rPr>
              <a:t>Latency</a:t>
            </a:r>
          </a:p>
          <a:p>
            <a:pPr lvl="2"/>
            <a:r>
              <a:rPr lang="en-US" altLang="en-US" b="1" dirty="0">
                <a:latin typeface="Arial" panose="020B0604020202020204" pitchFamily="34" charset="0"/>
                <a:ea typeface="ＭＳ Ｐゴシック" panose="020B0600070205080204" pitchFamily="34" charset="-128"/>
                <a:cs typeface="Arial" panose="020B0604020202020204" pitchFamily="34" charset="0"/>
              </a:rPr>
              <a:t>Transfer time</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Other </a:t>
            </a:r>
            <a:r>
              <a:rPr lang="en-US" altLang="en-US" dirty="0" err="1">
                <a:latin typeface="Arial" panose="020B0604020202020204" pitchFamily="34" charset="0"/>
                <a:ea typeface="ＭＳ Ｐゴシック" panose="020B0600070205080204" pitchFamily="34" charset="-128"/>
                <a:cs typeface="Arial" panose="020B0604020202020204" pitchFamily="34" charset="0"/>
              </a:rPr>
              <a:t>nondisk</a:t>
            </a:r>
            <a:r>
              <a:rPr lang="en-US" altLang="en-US" dirty="0">
                <a:latin typeface="Arial" panose="020B0604020202020204" pitchFamily="34" charset="0"/>
                <a:ea typeface="ＭＳ Ｐゴシック" panose="020B0600070205080204" pitchFamily="34" charset="-128"/>
                <a:cs typeface="Arial" panose="020B0604020202020204" pitchFamily="34" charset="0"/>
              </a:rPr>
              <a:t> DASDs: flash memory and solid-state drives (random access mass storage)</a:t>
            </a:r>
          </a:p>
        </p:txBody>
      </p:sp>
      <p:sp>
        <p:nvSpPr>
          <p:cNvPr id="4" name="TextBox 3">
            <a:extLst>
              <a:ext uri="{FF2B5EF4-FFF2-40B4-BE49-F238E27FC236}">
                <a16:creationId xmlns:a16="http://schemas.microsoft.com/office/drawing/2014/main" id="{6CDE23EA-790C-43C6-B567-F45FE4A4101A}"/>
              </a:ext>
            </a:extLst>
          </p:cNvPr>
          <p:cNvSpPr txBox="1"/>
          <p:nvPr/>
        </p:nvSpPr>
        <p:spPr>
          <a:xfrm>
            <a:off x="3632200" y="961320"/>
            <a:ext cx="2222500" cy="369332"/>
          </a:xfrm>
          <a:prstGeom prst="rect">
            <a:avLst/>
          </a:prstGeom>
          <a:noFill/>
        </p:spPr>
        <p:txBody>
          <a:bodyPr wrap="square" rtlCol="0">
            <a:spAutoFit/>
          </a:bodyPr>
          <a:lstStyle/>
          <a:p>
            <a:r>
              <a:rPr lang="zh-CN" altLang="en-US" dirty="0"/>
              <a:t>大容量储存</a:t>
            </a:r>
            <a:endParaRPr lang="en-US" dirty="0"/>
          </a:p>
        </p:txBody>
      </p:sp>
    </p:spTree>
    <p:extLst>
      <p:ext uri="{BB962C8B-B14F-4D97-AF65-F5344CB8AC3E}">
        <p14:creationId xmlns:p14="http://schemas.microsoft.com/office/powerpoint/2010/main" val="2387522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62" y="1"/>
            <a:ext cx="8875076"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I/O and Mass Storage (2 of 6)</a:t>
            </a:r>
            <a:endParaRPr lang="en-US" dirty="0">
              <a:latin typeface="Arial" panose="020B0604020202020204" pitchFamily="34" charset="0"/>
              <a:cs typeface="Arial" panose="020B0604020202020204" pitchFamily="34" charset="0"/>
            </a:endParaRPr>
          </a:p>
        </p:txBody>
      </p:sp>
      <p:pic>
        <p:nvPicPr>
          <p:cNvPr id="4" name="Picture 5" descr="The image displays the overall organization of a typical rotating disk. There are three tracks, in concentric circles, on a disk. A read or write head moves above the tracks. The disk rotates in an anti-clockwise direction.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4613" y="1447800"/>
            <a:ext cx="645477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95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62" y="1"/>
            <a:ext cx="8875076"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I/O and Mass Storage (3 of 6)</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DASDs and SASDs are orders of magnitude slower than RAM: (microseconds or milliseconds).</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I/O Controller</a:t>
            </a:r>
            <a:r>
              <a:rPr lang="en-US" altLang="en-US" dirty="0">
                <a:latin typeface="Arial" panose="020B0604020202020204" pitchFamily="34" charset="0"/>
                <a:ea typeface="ＭＳ Ｐゴシック" panose="020B0600070205080204" pitchFamily="34" charset="-128"/>
                <a:cs typeface="Arial" panose="020B0604020202020204" pitchFamily="34" charset="0"/>
              </a:rPr>
              <a:t> manages data transfer with slow I/O devices, freeing processor to do other work.</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Controller sends an </a:t>
            </a:r>
            <a:r>
              <a:rPr lang="en-US" altLang="en-US" b="1" dirty="0">
                <a:latin typeface="Arial" panose="020B0604020202020204" pitchFamily="34" charset="0"/>
                <a:ea typeface="ＭＳ Ｐゴシック" panose="020B0600070205080204" pitchFamily="34" charset="-128"/>
                <a:cs typeface="Arial" panose="020B0604020202020204" pitchFamily="34" charset="0"/>
              </a:rPr>
              <a:t>interrupt signal</a:t>
            </a:r>
            <a:r>
              <a:rPr lang="en-US" altLang="en-US" dirty="0">
                <a:latin typeface="Arial" panose="020B0604020202020204" pitchFamily="34" charset="0"/>
                <a:ea typeface="ＭＳ Ｐゴシック" panose="020B0600070205080204" pitchFamily="34" charset="-128"/>
                <a:cs typeface="Arial" panose="020B0604020202020204" pitchFamily="34" charset="0"/>
              </a:rPr>
              <a:t> to processor when I/O task is done.</a:t>
            </a:r>
          </a:p>
        </p:txBody>
      </p:sp>
    </p:spTree>
    <p:extLst>
      <p:ext uri="{BB962C8B-B14F-4D97-AF65-F5344CB8AC3E}">
        <p14:creationId xmlns:p14="http://schemas.microsoft.com/office/powerpoint/2010/main" val="1170994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62" y="1"/>
            <a:ext cx="8875076"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I/O and Mass Storage (4 of 6)</a:t>
            </a:r>
            <a:endParaRPr lang="en-US" dirty="0">
              <a:latin typeface="Arial" panose="020B0604020202020204" pitchFamily="34" charset="0"/>
              <a:cs typeface="Arial" panose="020B0604020202020204" pitchFamily="34" charset="0"/>
            </a:endParaRPr>
          </a:p>
        </p:txBody>
      </p:sp>
      <p:pic>
        <p:nvPicPr>
          <p:cNvPr id="4" name="Picture 5" descr="The diagram displays the organization of an I or O controller. The I or O controller consists of the I or O buffer and control or logic. An I or O device is connected to the I or O controller. The processor, memory and the I or O controller is connected to common link. The processor gets signal from the I or O controller and the memory transfer data to the I or O controll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144" y="1352548"/>
            <a:ext cx="7577713" cy="4659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8094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Arithmetic/Logic Unit</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ALU is part of the </a:t>
            </a:r>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processor</a:t>
            </a:r>
            <a:endPar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r>
              <a:rPr lang="en-US" altLang="en-US" dirty="0">
                <a:latin typeface="Arial" panose="020B0604020202020204" pitchFamily="34" charset="0"/>
                <a:ea typeface="ＭＳ Ｐゴシック" panose="020B0600070205080204" pitchFamily="34" charset="-128"/>
                <a:cs typeface="Arial" panose="020B0604020202020204" pitchFamily="34" charset="0"/>
              </a:rPr>
              <a:t>Contains circuits for arithmetic</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Addition, subtraction, multiplication, and division</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Contains circuits for comparison and logic</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Equality, and, or, not</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Contains </a:t>
            </a:r>
            <a:r>
              <a:rPr lang="en-US" altLang="en-US" b="1" dirty="0">
                <a:latin typeface="Arial" panose="020B0604020202020204" pitchFamily="34" charset="0"/>
                <a:ea typeface="ＭＳ Ｐゴシック" panose="020B0600070205080204" pitchFamily="34" charset="-128"/>
                <a:cs typeface="Arial" panose="020B0604020202020204" pitchFamily="34" charset="0"/>
              </a:rPr>
              <a:t>registers</a:t>
            </a:r>
            <a:r>
              <a:rPr lang="en-US" altLang="en-US" dirty="0">
                <a:latin typeface="Arial" panose="020B0604020202020204" pitchFamily="34" charset="0"/>
                <a:ea typeface="ＭＳ Ｐゴシック" panose="020B0600070205080204" pitchFamily="34" charset="-128"/>
                <a:cs typeface="Arial" panose="020B0604020202020204" pitchFamily="34" charset="0"/>
              </a:rPr>
              <a:t>: high-speed, dedicated memory connected to circuits</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Data path:</a:t>
            </a:r>
            <a:r>
              <a:rPr lang="en-US" altLang="en-US" dirty="0">
                <a:latin typeface="Arial" panose="020B0604020202020204" pitchFamily="34" charset="0"/>
                <a:ea typeface="ＭＳ Ｐゴシック" panose="020B0600070205080204" pitchFamily="34" charset="-128"/>
                <a:cs typeface="Arial" panose="020B0604020202020204" pitchFamily="34" charset="0"/>
              </a:rPr>
              <a:t> how information flows in the ALU</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From registers to circuits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From circuits back to registers</a:t>
            </a:r>
          </a:p>
        </p:txBody>
      </p:sp>
      <p:sp>
        <p:nvSpPr>
          <p:cNvPr id="4" name="TextBox 3">
            <a:extLst>
              <a:ext uri="{FF2B5EF4-FFF2-40B4-BE49-F238E27FC236}">
                <a16:creationId xmlns:a16="http://schemas.microsoft.com/office/drawing/2014/main" id="{EE515213-DFBA-46A3-9A0B-41AFDA9B4A5D}"/>
              </a:ext>
            </a:extLst>
          </p:cNvPr>
          <p:cNvSpPr txBox="1"/>
          <p:nvPr/>
        </p:nvSpPr>
        <p:spPr>
          <a:xfrm>
            <a:off x="6037943" y="3309383"/>
            <a:ext cx="1001486" cy="369332"/>
          </a:xfrm>
          <a:prstGeom prst="rect">
            <a:avLst/>
          </a:prstGeom>
          <a:noFill/>
        </p:spPr>
        <p:txBody>
          <a:bodyPr wrap="square" rtlCol="0">
            <a:spAutoFit/>
          </a:bodyPr>
          <a:lstStyle/>
          <a:p>
            <a:r>
              <a:rPr lang="zh-CN" altLang="en-US" dirty="0"/>
              <a:t>专用的</a:t>
            </a:r>
            <a:endParaRPr lang="en-US" dirty="0"/>
          </a:p>
        </p:txBody>
      </p:sp>
    </p:spTree>
    <p:extLst>
      <p:ext uri="{BB962C8B-B14F-4D97-AF65-F5344CB8AC3E}">
        <p14:creationId xmlns:p14="http://schemas.microsoft.com/office/powerpoint/2010/main" val="3832250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62" y="1"/>
            <a:ext cx="8875076" cy="1060704"/>
          </a:xfrm>
        </p:spPr>
        <p:txBody>
          <a:bodyPr>
            <a:noAutofit/>
          </a:bodyPr>
          <a:lstStyle/>
          <a:p>
            <a:r>
              <a:rPr lang="en-US" altLang="en-US" kern="0" dirty="0">
                <a:latin typeface="Arial" panose="020B0604020202020204" pitchFamily="34" charset="0"/>
                <a:cs typeface="Arial" panose="020B0604020202020204" pitchFamily="34" charset="0"/>
              </a:rPr>
              <a:t>The Components of a Computer System I/O and Mass Storage (5 of 6)</a:t>
            </a:r>
            <a:endParaRPr lang="en-US" dirty="0">
              <a:latin typeface="Arial" panose="020B0604020202020204" pitchFamily="34" charset="0"/>
              <a:cs typeface="Arial" panose="020B0604020202020204" pitchFamily="34" charset="0"/>
            </a:endParaRPr>
          </a:p>
        </p:txBody>
      </p:sp>
      <p:pic>
        <p:nvPicPr>
          <p:cNvPr id="4" name="Picture 5" descr="The diagram displays a three-register Ay L U organization. Registers Ay and B feed signals into the Ay L U. These registers are separately connected to the Ay L. Then Ay L U transfers outputs to the register C which holds the resul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446" y="1269164"/>
            <a:ext cx="5121521" cy="48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9339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462" y="1"/>
            <a:ext cx="8875076" cy="1060704"/>
          </a:xfrm>
        </p:spPr>
        <p:txBody>
          <a:bodyPr>
            <a:noAutofit/>
          </a:bodyPr>
          <a:lstStyle/>
          <a:p>
            <a:r>
              <a:rPr lang="en-US" altLang="en-US" kern="0" dirty="0">
                <a:latin typeface="Arial" panose="020B0604020202020204" pitchFamily="34" charset="0"/>
                <a:cs typeface="Arial" panose="020B0604020202020204" pitchFamily="34" charset="0"/>
              </a:rPr>
              <a:t>The Components of a Computer System I/O and Mass Storage (6 of 6)</a:t>
            </a:r>
            <a:endParaRPr lang="en-US" dirty="0">
              <a:latin typeface="Arial" panose="020B0604020202020204" pitchFamily="34" charset="0"/>
              <a:cs typeface="Arial" panose="020B0604020202020204" pitchFamily="34" charset="0"/>
            </a:endParaRPr>
          </a:p>
        </p:txBody>
      </p:sp>
      <p:pic>
        <p:nvPicPr>
          <p:cNvPr id="5" name="Picture 4" descr="An illustration shows a Multi register ALU organization&#10;There are four columns labeled as: Result; Register; Left; Right. The signals from the Result reach the registers ranging from R0 to R15. All the signals pass through Left and Right connections and reaches ALU. From ALU signals are sent back to Resul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4937" y="1230726"/>
            <a:ext cx="2674126" cy="4930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3888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ALU (1 of 4)</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How is the operation to perform chosen?</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Option 1: decoder signals one circuit to run.</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Option 2: run all circuits, multiplexer selects one output from all circuits.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In practice, option 2 is usually chosen.</a:t>
            </a:r>
          </a:p>
        </p:txBody>
      </p:sp>
    </p:spTree>
    <p:extLst>
      <p:ext uri="{BB962C8B-B14F-4D97-AF65-F5344CB8AC3E}">
        <p14:creationId xmlns:p14="http://schemas.microsoft.com/office/powerpoint/2010/main" val="2701740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ALU (2 of 4)</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231266"/>
            <a:ext cx="8229600" cy="4894898"/>
          </a:xfrm>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Information flow</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Data comes in from outside to registers </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Signal comes from registers to ALU</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Signal moves from ALU to multiplexer</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Multiplexer selects the value to keep and discards the rest</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Result from the multiplexer goes back to the register and then to outside</a:t>
            </a:r>
          </a:p>
        </p:txBody>
      </p:sp>
    </p:spTree>
    <p:extLst>
      <p:ext uri="{BB962C8B-B14F-4D97-AF65-F5344CB8AC3E}">
        <p14:creationId xmlns:p14="http://schemas.microsoft.com/office/powerpoint/2010/main" val="15855872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ALU (3 of 4)</a:t>
            </a:r>
            <a:endParaRPr lang="en-US" dirty="0">
              <a:latin typeface="Arial" panose="020B0604020202020204" pitchFamily="34" charset="0"/>
              <a:cs typeface="Arial" panose="020B0604020202020204" pitchFamily="34" charset="0"/>
            </a:endParaRPr>
          </a:p>
        </p:txBody>
      </p:sp>
      <p:pic>
        <p:nvPicPr>
          <p:cNvPr id="4" name="Picture 5" descr="Signal is fed to the Ay L U, from lines Ay and B, which performs the following operations: Ay + B; Ay minus B; Ay divided by B, and Ay times B. Ay + B is line 0 or 0 0; Ay minus B is line 1 or 0 1; Ay over B is line 2 or 1 0 and Ay times B is line 3 or 1 1. The four lines connect to the multiplexer circuit which also has input signal from two sector lines. The multiplexer circuit gives the outpu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154" y="1514446"/>
            <a:ext cx="7765692" cy="4399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35332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ALU (4 of 4)</a:t>
            </a:r>
            <a:endParaRPr lang="en-US" dirty="0">
              <a:latin typeface="Arial" panose="020B0604020202020204" pitchFamily="34" charset="0"/>
              <a:cs typeface="Arial" panose="020B0604020202020204" pitchFamily="34" charset="0"/>
            </a:endParaRPr>
          </a:p>
        </p:txBody>
      </p:sp>
      <p:pic>
        <p:nvPicPr>
          <p:cNvPr id="5" name="Picture 4" descr="Bus 2 relays signals to registers R 0, R 1, R 2, R 3 and others. The registers further relay the signals to bus 0 and bus 1. Bus 0 and Bus 1 relay the signal to lines ay and b in the Ay L U where multiple operations are performed and the signal is fed to the multiplexer. The multiplexer also receives signals from multiple sector lines. The signal from the multiplexer is relayed back to bus 2.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2846" y="1321410"/>
            <a:ext cx="3218309" cy="4855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5854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Control Unit (1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Stored program</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dirty="0">
                <a:latin typeface="Arial" panose="020B0604020202020204" pitchFamily="34" charset="0"/>
                <a:ea typeface="ＭＳ Ｐゴシック" panose="020B0600070205080204" pitchFamily="34" charset="-128"/>
                <a:cs typeface="Arial" panose="020B0604020202020204" pitchFamily="34" charset="0"/>
              </a:rPr>
              <a:t>characteristic</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Programs are encoded in binary and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stored in computer’s memory</a:t>
            </a:r>
          </a:p>
          <a:p>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Control unit</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 fetches instructions from memory, decodes them, and executes them</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Instructions encoded</a:t>
            </a:r>
          </a:p>
          <a:p>
            <a:pPr lvl="1"/>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Operation code (op code) tells which operation</a:t>
            </a:r>
          </a:p>
          <a:p>
            <a:pPr lvl="1"/>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Addresses tell which memory addresses/registers to operate on</a:t>
            </a:r>
          </a:p>
        </p:txBody>
      </p:sp>
    </p:spTree>
    <p:extLst>
      <p:ext uri="{BB962C8B-B14F-4D97-AF65-F5344CB8AC3E}">
        <p14:creationId xmlns:p14="http://schemas.microsoft.com/office/powerpoint/2010/main" val="3049076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Control Unit (2 of 9)</a:t>
            </a:r>
            <a:endParaRPr lang="en-US" dirty="0">
              <a:latin typeface="Arial" panose="020B0604020202020204" pitchFamily="34" charset="0"/>
              <a:cs typeface="Arial" panose="020B0604020202020204" pitchFamily="34" charset="0"/>
            </a:endParaRPr>
          </a:p>
        </p:txBody>
      </p:sp>
      <p:pic>
        <p:nvPicPr>
          <p:cNvPr id="4" name="Picture 5" descr="A typical machine language instruction format has an operation, and multiple address field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362200"/>
            <a:ext cx="7315200" cy="210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58108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Control Unit (3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b="1" dirty="0">
                <a:latin typeface="Arial" panose="020B0604020202020204" pitchFamily="34" charset="0"/>
                <a:ea typeface="ＭＳ Ｐゴシック" panose="020B0600070205080204" pitchFamily="34" charset="-128"/>
                <a:cs typeface="Arial" panose="020B0604020202020204" pitchFamily="34" charset="0"/>
              </a:rPr>
              <a:t>Machine language</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Binary strings encode instructions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Instructions can be carried out by hardware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Sequences of instructions encode algorithms</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Instruction set</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Instructions implemented by a particular chip</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Each kind of processor has a different instruction set (speaks a different language)</a:t>
            </a:r>
          </a:p>
        </p:txBody>
      </p:sp>
    </p:spTree>
    <p:extLst>
      <p:ext uri="{BB962C8B-B14F-4D97-AF65-F5344CB8AC3E}">
        <p14:creationId xmlns:p14="http://schemas.microsoft.com/office/powerpoint/2010/main" val="29284862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Control Unit (4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b="1" dirty="0">
                <a:latin typeface="Arial" panose="020B0604020202020204" pitchFamily="34" charset="0"/>
                <a:ea typeface="ＭＳ Ｐゴシック" panose="020B0600070205080204" pitchFamily="34" charset="-128"/>
                <a:cs typeface="Arial" panose="020B0604020202020204" pitchFamily="34" charset="0"/>
              </a:rPr>
              <a:t>Reduced instruction set computer (RISC)</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Small instruction sets </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Each instruction highly optimized</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Easy to design hardware</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Complex instruction set computer (CISC)</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Large instruction set </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Single instruction can do a lot of work </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Complex to design hardware</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Modern hardware is a compromise between RISC and CISC</a:t>
            </a:r>
          </a:p>
        </p:txBody>
      </p:sp>
    </p:spTree>
    <p:extLst>
      <p:ext uri="{BB962C8B-B14F-4D97-AF65-F5344CB8AC3E}">
        <p14:creationId xmlns:p14="http://schemas.microsoft.com/office/powerpoint/2010/main" val="13693512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Control Unit (5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Instruction set examples: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Data transfer, e.g., move data from memory to register</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Arithmetic, e.g., add, but also AND</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Comparison: compare two values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Branch: change to a </a:t>
            </a:r>
            <a:r>
              <a:rPr lang="en-US" altLang="en-US" dirty="0" err="1">
                <a:latin typeface="Arial" panose="020B0604020202020204" pitchFamily="34" charset="0"/>
                <a:ea typeface="ＭＳ Ｐゴシック" panose="020B0600070205080204" pitchFamily="34" charset="-128"/>
                <a:cs typeface="Arial" panose="020B0604020202020204" pitchFamily="34" charset="0"/>
              </a:rPr>
              <a:t>nonsequential</a:t>
            </a:r>
            <a:r>
              <a:rPr lang="en-US" altLang="en-US" dirty="0">
                <a:latin typeface="Arial" panose="020B0604020202020204" pitchFamily="34" charset="0"/>
                <a:ea typeface="ＭＳ Ｐゴシック" panose="020B0600070205080204" pitchFamily="34" charset="-128"/>
                <a:cs typeface="Arial" panose="020B0604020202020204" pitchFamily="34" charset="0"/>
              </a:rPr>
              <a:t> instruction</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Branching allows for conditional and loop forms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E.g., JUMPLT </a:t>
            </a:r>
            <a:r>
              <a:rPr lang="en-US" altLang="en-US" i="1" dirty="0">
                <a:latin typeface="Arial" panose="020B0604020202020204" pitchFamily="34" charset="0"/>
                <a:ea typeface="ＭＳ Ｐゴシック" panose="020B0600070205080204" pitchFamily="34" charset="-128"/>
                <a:cs typeface="Arial" panose="020B0604020202020204" pitchFamily="34" charset="0"/>
              </a:rPr>
              <a:t>a</a:t>
            </a:r>
            <a:r>
              <a:rPr lang="en-US" altLang="en-US" dirty="0">
                <a:latin typeface="Arial" panose="020B0604020202020204" pitchFamily="34" charset="0"/>
                <a:ea typeface="ＭＳ Ｐゴシック" panose="020B0600070205080204" pitchFamily="34" charset="-128"/>
                <a:cs typeface="Arial" panose="020B0604020202020204" pitchFamily="34" charset="0"/>
              </a:rPr>
              <a:t> = If previous comparison of A and B found A &lt; B, then jump to instruction at address </a:t>
            </a:r>
            <a:r>
              <a:rPr lang="en-US" altLang="en-US" i="1" dirty="0">
                <a:latin typeface="Arial" panose="020B0604020202020204" pitchFamily="34" charset="0"/>
                <a:ea typeface="ＭＳ Ｐゴシック" panose="020B0600070205080204" pitchFamily="34" charset="-128"/>
                <a:cs typeface="Arial" panose="020B0604020202020204" pitchFamily="34" charset="0"/>
              </a:rPr>
              <a:t>a</a:t>
            </a:r>
          </a:p>
        </p:txBody>
      </p:sp>
      <p:sp>
        <p:nvSpPr>
          <p:cNvPr id="4" name="TextBox 3">
            <a:extLst>
              <a:ext uri="{FF2B5EF4-FFF2-40B4-BE49-F238E27FC236}">
                <a16:creationId xmlns:a16="http://schemas.microsoft.com/office/drawing/2014/main" id="{FF452AB8-1514-42D9-B88C-B45E517F8F3C}"/>
              </a:ext>
            </a:extLst>
          </p:cNvPr>
          <p:cNvSpPr txBox="1"/>
          <p:nvPr/>
        </p:nvSpPr>
        <p:spPr>
          <a:xfrm>
            <a:off x="982639" y="3848669"/>
            <a:ext cx="1214651" cy="369332"/>
          </a:xfrm>
          <a:prstGeom prst="rect">
            <a:avLst/>
          </a:prstGeom>
          <a:noFill/>
        </p:spPr>
        <p:txBody>
          <a:bodyPr wrap="square" rtlCol="0">
            <a:spAutoFit/>
          </a:bodyPr>
          <a:lstStyle/>
          <a:p>
            <a:r>
              <a:rPr lang="zh-CN" altLang="en-US" dirty="0"/>
              <a:t>转移指令</a:t>
            </a:r>
            <a:endParaRPr lang="en-US" dirty="0"/>
          </a:p>
        </p:txBody>
      </p:sp>
    </p:spTree>
    <p:extLst>
      <p:ext uri="{BB962C8B-B14F-4D97-AF65-F5344CB8AC3E}">
        <p14:creationId xmlns:p14="http://schemas.microsoft.com/office/powerpoint/2010/main" val="3293289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Control Unit (6 of 9)</a:t>
            </a:r>
            <a:endParaRPr lang="en-US" dirty="0">
              <a:latin typeface="Arial" panose="020B0604020202020204" pitchFamily="34" charset="0"/>
              <a:cs typeface="Arial" panose="020B0604020202020204" pitchFamily="34" charset="0"/>
            </a:endParaRPr>
          </a:p>
        </p:txBody>
      </p:sp>
      <p:pic>
        <p:nvPicPr>
          <p:cNvPr id="4" name="Picture 4" descr="The figure displays an example of simple machine language instruction sequences. Address 100, content value of ay. Address 101, content value of b. Address 102, value of c. Algorithmic notation machine language instruction sequences. 1. Set ay to the value b + c. address 50, content, load 101, commentary, put the value of b into register R. Address 51, content, add 102, commentary, add c to register R. It now holds b + c. Address 52, content, store 100, commentary, store the contents of register R into ay. 2. If ay &gt; b then, address 50, content compare 100, 101, commentary compare ay and b and set condition codes. Set c to the value ay, address 51, content jump g t 54, commentary, go to location 54 if ay &gt; b. Else, address 52, content move 101, 102, commentary get here if ay less than or equal to b, so move b into c. Set c to the value b, address 53, content jump 55, commentary, and skip the next instruction. Address 54, content, move 100, 102, commentary move ay into c. Address 55, commentary next statement begins her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2688" y="1286017"/>
            <a:ext cx="3558624" cy="490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75606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Control Unit (7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Control unit contains:</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Program counter (PC)</a:t>
            </a:r>
            <a:r>
              <a:rPr lang="en-US" altLang="en-US" dirty="0">
                <a:latin typeface="Arial" panose="020B0604020202020204" pitchFamily="34" charset="0"/>
                <a:ea typeface="ＭＳ Ｐゴシック" panose="020B0600070205080204" pitchFamily="34" charset="-128"/>
                <a:cs typeface="Arial" panose="020B0604020202020204" pitchFamily="34" charset="0"/>
              </a:rPr>
              <a:t> register: holds address of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next</a:t>
            </a:r>
            <a:r>
              <a:rPr lang="en-US" altLang="en-US" dirty="0">
                <a:latin typeface="Arial" panose="020B0604020202020204" pitchFamily="34" charset="0"/>
                <a:ea typeface="ＭＳ Ｐゴシック" panose="020B0600070205080204" pitchFamily="34" charset="-128"/>
                <a:cs typeface="Arial" panose="020B0604020202020204" pitchFamily="34" charset="0"/>
              </a:rPr>
              <a:t> instruction</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Instruction register (IR)</a:t>
            </a:r>
            <a:r>
              <a:rPr lang="en-US" altLang="en-US" dirty="0">
                <a:latin typeface="Arial" panose="020B0604020202020204" pitchFamily="34" charset="0"/>
                <a:ea typeface="ＭＳ Ｐゴシック" panose="020B0600070205080204" pitchFamily="34" charset="-128"/>
                <a:cs typeface="Arial" panose="020B0604020202020204" pitchFamily="34" charset="0"/>
              </a:rPr>
              <a:t>: holds encoding of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current</a:t>
            </a:r>
            <a:r>
              <a:rPr lang="en-US" altLang="en-US" dirty="0">
                <a:latin typeface="Arial" panose="020B0604020202020204" pitchFamily="34" charset="0"/>
                <a:ea typeface="ＭＳ Ｐゴシック" panose="020B0600070205080204" pitchFamily="34" charset="-128"/>
                <a:cs typeface="Arial" panose="020B0604020202020204" pitchFamily="34" charset="0"/>
              </a:rPr>
              <a:t> instruction</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Instruction decoder circuit</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Decodes op code of instruction and signals helper circuits, one per instruction</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Helpers send addresses to proper circuits</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Helpers signal ALU, I/O controller, and memory</a:t>
            </a:r>
          </a:p>
        </p:txBody>
      </p:sp>
    </p:spTree>
    <p:extLst>
      <p:ext uri="{BB962C8B-B14F-4D97-AF65-F5344CB8AC3E}">
        <p14:creationId xmlns:p14="http://schemas.microsoft.com/office/powerpoint/2010/main" val="1735264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Control Unit (8 of 9)</a:t>
            </a:r>
            <a:endParaRPr lang="en-US" dirty="0">
              <a:latin typeface="Arial" panose="020B0604020202020204" pitchFamily="34" charset="0"/>
              <a:cs typeface="Arial" panose="020B0604020202020204" pitchFamily="34" charset="0"/>
            </a:endParaRPr>
          </a:p>
        </p:txBody>
      </p:sp>
      <p:pic>
        <p:nvPicPr>
          <p:cNvPr id="4" name="Picture 5" descr="The diagram displays an organization of the control unit register and circuits. The diagram consists of bus, P C, I R and instruction decoder circuit. The I R consists of the o p code and address fields. Both P C and I R are linked to the bus. The signal from o p code are transferred to the instruction decoder circuit which further sends the signals to the memory, Ay L U, I or O controllers and other components. The signal from P C is transferred to + 1 and again returned to the P C.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613647"/>
            <a:ext cx="8001000"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7215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68" y="1"/>
            <a:ext cx="9053465" cy="1060704"/>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The Components of a Computer System The Control Unit (9 of 9)</a:t>
            </a:r>
            <a:endParaRPr lang="en-US" dirty="0">
              <a:latin typeface="Arial" panose="020B0604020202020204" pitchFamily="34" charset="0"/>
              <a:cs typeface="Arial" panose="020B0604020202020204" pitchFamily="34" charset="0"/>
            </a:endParaRPr>
          </a:p>
        </p:txBody>
      </p:sp>
      <p:pic>
        <p:nvPicPr>
          <p:cNvPr id="5" name="Picture 4" descr="O p code 0 0 0, Instruction, add; O p code 0 0 1, Instruction, load; O p code 0 1 0, Instruction, jump; O p code 1 1 1, Instruction, halt; O p code B B B is fed into the instruction decoder. The following output signals are produced: Line 0 0 0, ADD, Enable the ADD operation. Line 0 0 1, load, Enable the load operation. Line 0 1 0, jump, Enable the jump operation. Line 1 1 1, halt, Enable the halt oper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4524" y="1344994"/>
            <a:ext cx="4498126" cy="4756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1760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Putting the Pieces Together—the Von Neumann Architecture (1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Combine previous pieces: Von Neumann machine</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Fetch/decode/execute </a:t>
            </a:r>
            <a:r>
              <a:rPr lang="en-US" altLang="en-US" dirty="0">
                <a:latin typeface="Arial" panose="020B0604020202020204" pitchFamily="34" charset="0"/>
                <a:ea typeface="ＭＳ Ｐゴシック" panose="020B0600070205080204" pitchFamily="34" charset="-128"/>
                <a:cs typeface="Arial" panose="020B0604020202020204" pitchFamily="34" charset="0"/>
              </a:rPr>
              <a:t>phase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Machine repeats until HALT instruction or error</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Also called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Von Neumann cycle</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Fetch phase: get next instruction into memory</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Decode phase: instruction decoder gets op code</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Execute phase: different for each instruction</a:t>
            </a:r>
          </a:p>
        </p:txBody>
      </p:sp>
    </p:spTree>
    <p:extLst>
      <p:ext uri="{BB962C8B-B14F-4D97-AF65-F5344CB8AC3E}">
        <p14:creationId xmlns:p14="http://schemas.microsoft.com/office/powerpoint/2010/main" val="2360238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kern="0" dirty="0">
                <a:latin typeface="Arial" panose="020B0604020202020204" pitchFamily="34" charset="0"/>
                <a:cs typeface="Arial" panose="020B0604020202020204" pitchFamily="34" charset="0"/>
              </a:rPr>
              <a:t>Putting the Pieces Together—the Von Neumann Architecture (2 of 9)</a:t>
            </a:r>
            <a:endParaRPr lang="en-US" dirty="0">
              <a:latin typeface="Arial" panose="020B0604020202020204" pitchFamily="34" charset="0"/>
              <a:cs typeface="Arial" panose="020B0604020202020204" pitchFamily="34" charset="0"/>
            </a:endParaRPr>
          </a:p>
        </p:txBody>
      </p:sp>
      <p:pic>
        <p:nvPicPr>
          <p:cNvPr id="4" name="Picture 4" descr="An illustration shows a process map for the organization of a Von-Neumann computer. A straight line is labeled as Bus; all processor are represented in rectangular box except I/O device. The overall process is primarily separated into four major units includes: Memory unit, Arithmetic/logic unit, Input/output unit and Control unit. The process under Memory unit is as follows: Bus; MAR; Memory decoder circuit; Random access memory. A second point from Bus shows the following path: MDR; Fetch/Store controller; Random access memory. Each processor is connected with a two-way arrow under this point. A third point labeled F/S signal reaches the third point. The process under Arithmetic/logic unit is as follows: Registers starting from R0 reach the Left and Right lines, and reach ALU through Selector lines and is further connected to GT, EQ and LT which commonly labeled as condition code register. The process under Input/output unit shows the following process: a two-way arrow connects I/O controller from the Bus and further connects to I/O device. The process under Control unit shows the following: A two-way arrow connects the Bus and PC; an arrow from PC connects further to +1 that forms a loop with PC. A second connection shows a two-way arrow connecting Bus and IR; from IR a arrow connects to Instruction decoder circuit. Control signals from Instruction decoder circuit moves up to Bu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639" y="1293133"/>
            <a:ext cx="5162723" cy="4831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0269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Putting the Pieces Together—the Von Neumann Architecture (3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410561"/>
            <a:ext cx="8229600" cy="498922"/>
          </a:xfrm>
        </p:spPr>
        <p:txBody>
          <a:bodyPr/>
          <a:lstStyle/>
          <a:p>
            <a:pPr marL="0" indent="0">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Notation for computer’s behavior</a:t>
            </a:r>
          </a:p>
        </p:txBody>
      </p:sp>
      <p:graphicFrame>
        <p:nvGraphicFramePr>
          <p:cNvPr id="5" name="Table 4"/>
          <p:cNvGraphicFramePr>
            <a:graphicFrameLocks noGrp="1"/>
          </p:cNvGraphicFramePr>
          <p:nvPr>
            <p:extLst>
              <p:ext uri="{D42A27DB-BD31-4B8C-83A1-F6EECF244321}">
                <p14:modId xmlns:p14="http://schemas.microsoft.com/office/powerpoint/2010/main" val="475521821"/>
              </p:ext>
            </p:extLst>
          </p:nvPr>
        </p:nvGraphicFramePr>
        <p:xfrm>
          <a:off x="968188" y="2302435"/>
          <a:ext cx="7404847" cy="3306954"/>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4356847">
                  <a:extLst>
                    <a:ext uri="{9D8B030D-6E8A-4147-A177-3AD203B41FA5}">
                      <a16:colId xmlns:a16="http://schemas.microsoft.com/office/drawing/2014/main" val="20001"/>
                    </a:ext>
                  </a:extLst>
                </a:gridCol>
              </a:tblGrid>
              <a:tr h="370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CON(A)</a:t>
                      </a:r>
                    </a:p>
                  </a:txBody>
                  <a:tcPr marT="45699" marB="45699"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Contents of memory cell A</a:t>
                      </a:r>
                    </a:p>
                  </a:txBody>
                  <a:tcPr marT="45699" marB="45699" horzOverflow="overflow"/>
                </a:tc>
                <a:extLst>
                  <a:ext uri="{0D108BD9-81ED-4DB2-BD59-A6C34878D82A}">
                    <a16:rowId xmlns:a16="http://schemas.microsoft.com/office/drawing/2014/main" val="10000"/>
                  </a:ext>
                </a:extLst>
              </a:tr>
              <a:tr h="370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A → B</a:t>
                      </a:r>
                    </a:p>
                  </a:txBody>
                  <a:tcPr marT="45699" marB="45699"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Send value in register A to register B</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(special registers: PC, MAR, MDR, IR, ALU, R, GT, EQ, LT, +1)</a:t>
                      </a:r>
                    </a:p>
                  </a:txBody>
                  <a:tcPr marT="45699" marB="45699" horzOverflow="overflow"/>
                </a:tc>
                <a:extLst>
                  <a:ext uri="{0D108BD9-81ED-4DB2-BD59-A6C34878D82A}">
                    <a16:rowId xmlns:a16="http://schemas.microsoft.com/office/drawing/2014/main" val="10001"/>
                  </a:ext>
                </a:extLst>
              </a:tr>
              <a:tr h="370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FETCH</a:t>
                      </a:r>
                    </a:p>
                  </a:txBody>
                  <a:tcPr marT="45699" marB="45699"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Initiate a memory fetch operation</a:t>
                      </a:r>
                    </a:p>
                  </a:txBody>
                  <a:tcPr marT="45699" marB="45699" horzOverflow="overflow"/>
                </a:tc>
                <a:extLst>
                  <a:ext uri="{0D108BD9-81ED-4DB2-BD59-A6C34878D82A}">
                    <a16:rowId xmlns:a16="http://schemas.microsoft.com/office/drawing/2014/main" val="10002"/>
                  </a:ext>
                </a:extLst>
              </a:tr>
              <a:tr h="370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STORE</a:t>
                      </a:r>
                    </a:p>
                  </a:txBody>
                  <a:tcPr marT="45699" marB="45699"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Initiate a memory store operation</a:t>
                      </a:r>
                    </a:p>
                  </a:txBody>
                  <a:tcPr marT="45699" marB="45699" horzOverflow="overflow"/>
                </a:tc>
                <a:extLst>
                  <a:ext uri="{0D108BD9-81ED-4DB2-BD59-A6C34878D82A}">
                    <a16:rowId xmlns:a16="http://schemas.microsoft.com/office/drawing/2014/main" val="10003"/>
                  </a:ext>
                </a:extLst>
              </a:tr>
              <a:tr h="370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ADD</a:t>
                      </a:r>
                    </a:p>
                  </a:txBody>
                  <a:tcPr marT="45699" marB="45699"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Instruct the ALU to select the output of the adder circuit</a:t>
                      </a:r>
                    </a:p>
                  </a:txBody>
                  <a:tcPr marT="45699" marB="45699" horzOverflow="overflow"/>
                </a:tc>
                <a:extLst>
                  <a:ext uri="{0D108BD9-81ED-4DB2-BD59-A6C34878D82A}">
                    <a16:rowId xmlns:a16="http://schemas.microsoft.com/office/drawing/2014/main" val="10004"/>
                  </a:ext>
                </a:extLst>
              </a:tr>
              <a:tr h="370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SUBTRACT</a:t>
                      </a:r>
                    </a:p>
                  </a:txBody>
                  <a:tcPr marT="45699" marB="45699"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ＭＳ Ｐゴシック" pitchFamily="34" charset="-128"/>
                        </a:rPr>
                        <a:t>Instruct the ALU to select the output of the subtract circuit</a:t>
                      </a:r>
                    </a:p>
                  </a:txBody>
                  <a:tcPr marT="45699" marB="45699" horzOverflow="overflow"/>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700836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Putting the Pieces Together—the Von Neumann Architecture (4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Fetch phase</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PC → MAR		Send address in PC to MAR</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FETCH		Initiate fetch, data to MDR</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MDR → IR		Move instruction in MDR to IR</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PC + 1 → PC	Add one to PC</a:t>
            </a:r>
          </a:p>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Decode phase</a:t>
            </a:r>
          </a:p>
          <a:p>
            <a:pPr lvl="1">
              <a:buFontTx/>
              <a:buAutoNum type="arabicPeriod"/>
            </a:pPr>
            <a:r>
              <a:rPr lang="en-US" altLang="en-US" sz="2600" dirty="0" err="1">
                <a:latin typeface="Arial" panose="020B0604020202020204" pitchFamily="34" charset="0"/>
                <a:ea typeface="ＭＳ Ｐゴシック" panose="020B0600070205080204" pitchFamily="34" charset="-128"/>
                <a:cs typeface="Arial" panose="020B0604020202020204" pitchFamily="34" charset="0"/>
              </a:rPr>
              <a:t>IR</a:t>
            </a:r>
            <a:r>
              <a:rPr lang="en-US" altLang="en-US" sz="2600" baseline="-25000" dirty="0" err="1">
                <a:latin typeface="Arial" panose="020B0604020202020204" pitchFamily="34" charset="0"/>
                <a:ea typeface="ＭＳ Ｐゴシック" panose="020B0600070205080204" pitchFamily="34" charset="-128"/>
                <a:cs typeface="Arial" panose="020B0604020202020204" pitchFamily="34" charset="0"/>
              </a:rPr>
              <a:t>op</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 instruction decoder</a:t>
            </a:r>
          </a:p>
        </p:txBody>
      </p:sp>
      <p:sp>
        <p:nvSpPr>
          <p:cNvPr id="5" name="TextBox 4">
            <a:extLst>
              <a:ext uri="{FF2B5EF4-FFF2-40B4-BE49-F238E27FC236}">
                <a16:creationId xmlns:a16="http://schemas.microsoft.com/office/drawing/2014/main" id="{62BC764E-ACAB-48DD-A132-2EFA92CB63CE}"/>
              </a:ext>
            </a:extLst>
          </p:cNvPr>
          <p:cNvSpPr txBox="1"/>
          <p:nvPr/>
        </p:nvSpPr>
        <p:spPr>
          <a:xfrm>
            <a:off x="1171575" y="4791075"/>
            <a:ext cx="4876800" cy="923330"/>
          </a:xfrm>
          <a:prstGeom prst="rect">
            <a:avLst/>
          </a:prstGeom>
          <a:noFill/>
        </p:spPr>
        <p:txBody>
          <a:bodyPr wrap="square" rtlCol="0">
            <a:spAutoFit/>
          </a:bodyPr>
          <a:lstStyle/>
          <a:p>
            <a:r>
              <a:rPr lang="zh-CN" altLang="en-US" dirty="0"/>
              <a:t>如果要获取内容，</a:t>
            </a:r>
            <a:r>
              <a:rPr lang="en-US" altLang="zh-CN" dirty="0"/>
              <a:t>date</a:t>
            </a:r>
            <a:r>
              <a:rPr lang="zh-CN" altLang="en-US" dirty="0"/>
              <a:t>要加载到</a:t>
            </a:r>
            <a:r>
              <a:rPr lang="en-US" altLang="zh-CN" dirty="0"/>
              <a:t>MAR</a:t>
            </a:r>
            <a:r>
              <a:rPr lang="zh-CN" altLang="en-US" dirty="0"/>
              <a:t>（</a:t>
            </a:r>
            <a:r>
              <a:rPr lang="en-US" altLang="zh-CN" dirty="0"/>
              <a:t>memory address register</a:t>
            </a:r>
            <a:r>
              <a:rPr lang="zh-CN" altLang="en-US" dirty="0"/>
              <a:t>），然后执行</a:t>
            </a:r>
            <a:r>
              <a:rPr lang="en-US" altLang="zh-CN" dirty="0"/>
              <a:t>fetch</a:t>
            </a:r>
            <a:r>
              <a:rPr lang="zh-CN" altLang="en-US" dirty="0"/>
              <a:t>， </a:t>
            </a:r>
            <a:r>
              <a:rPr lang="en-US" altLang="zh-CN" dirty="0"/>
              <a:t>then transfer into the register</a:t>
            </a:r>
            <a:r>
              <a:rPr lang="zh-CN" altLang="en-US" dirty="0"/>
              <a:t>。</a:t>
            </a:r>
            <a:endParaRPr lang="en-US" altLang="zh-CN" dirty="0"/>
          </a:p>
        </p:txBody>
      </p:sp>
    </p:spTree>
    <p:extLst>
      <p:ext uri="{BB962C8B-B14F-4D97-AF65-F5344CB8AC3E}">
        <p14:creationId xmlns:p14="http://schemas.microsoft.com/office/powerpoint/2010/main" val="8458687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kern="0" dirty="0">
                <a:latin typeface="Arial" panose="020B0604020202020204" pitchFamily="34" charset="0"/>
                <a:cs typeface="Arial" panose="020B0604020202020204" pitchFamily="34" charset="0"/>
              </a:rPr>
              <a:t>Putting the Pieces Together—the Von Neumann Architecture (5 of 9)</a:t>
            </a:r>
            <a:endParaRPr lang="en-US" dirty="0">
              <a:latin typeface="Arial" panose="020B0604020202020204" pitchFamily="34" charset="0"/>
              <a:cs typeface="Arial" panose="020B0604020202020204" pitchFamily="34" charset="0"/>
            </a:endParaRPr>
          </a:p>
        </p:txBody>
      </p:sp>
      <p:pic>
        <p:nvPicPr>
          <p:cNvPr id="4" name="Picture 5" descr="The image displays instruction set for Von Neumann machine. Binary o p code 0 0 0 0, operation LOAD X, meaning C O N, left parenthesis, X, right parenthesis, arrow, R. Binary o p code 0 0 0 1, operation STORE X, meaning R arrow, C O N, left parenthesis, X, right parenthesis. Binary o p code 0 0 1 0, operation CLEAR X, meaning 0 arrow, C O N, left parenthesis, X, right parenthesis. Binary o p code 0 0 1 1, operation ADD X, meaning R + C O N, left parenthesis, X, right parenthesis, arrow, R. Binary o p code 0 1 0 0, operation INCREMENT X, meaning C O N, left parenthesis, X, right parenthesis, + 1 arrow, C O N, left parenthesis, X, right parenthesis. Binary o p code 0 1 0 1, operation SUBTRACT X meaning R minus C O N, left parenthesis, X, right parenthesis, arrow, R. Binary o p code 0 1 1 0, operation DECREMENT X, meaning C O N, left parenthesis, X, right parenthesis, minus 1 arrow, C O N, left parenthesis, X, right parenthesis. Binary o p code, 0 1 1 1, operation COMPARE X, meaning if C O N, left parenthesis, X, right parenthesis, &gt; R then G T = 1 else 0, if C O N, left parenthesis, X, right parenthesis, = R then E Q = 1 else 0, if C O N, left parenthesis, X, right parenthesis, &lt; R then L T = 1 else 0. Binary o p code, 1 0 0 0, operation JUMP X, meaning get the next instruction from memory location X. Binary o p code 1 0 0 1, operation JUMP G T X, meaning get the next instruction from memory location X, if G T = 1. Binary o p code 1 0 1 0, operation JUMP E Q X meaning get the next instruction from memory location X if E Q = 1. Binary o p code 1 0 1 1 operation JUMP L T X meaning get the next instruction from memory location X if L T = 1. Binary o p code 1 1 0 0, operation JUMP N E Q X meaning get the next instruction from memory location X if E Q = 0. Binary o p code 1 1 0 1 operation I N X meaning input an integer value from the standard input device and store into memory cell X. Binary o p code 1 1 1 0 operation OUT X meaning output, in decimal notation, the value stored in memory cell X. Binary o p code 1 1 1 1 operation HALT meaning stop program exec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4848" y="1312770"/>
            <a:ext cx="4674305" cy="4880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7620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Putting the Pieces Together—the Von Neumann Architecture (6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Tx/>
              <a:buNone/>
            </a:pPr>
            <a:r>
              <a:rPr lang="en-IN" altLang="en-US" dirty="0">
                <a:latin typeface="Arial" panose="020B0604020202020204" pitchFamily="34" charset="0"/>
                <a:ea typeface="ＭＳ Ｐゴシック" panose="020B0600070205080204" pitchFamily="34" charset="-128"/>
                <a:cs typeface="Arial" panose="020B0604020202020204" pitchFamily="34" charset="0"/>
              </a:rPr>
              <a:t>Execution phase </a:t>
            </a:r>
          </a:p>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LOAD X	meaning CON(X) → R</a:t>
            </a:r>
          </a:p>
          <a:p>
            <a:pPr lvl="1">
              <a:buFontTx/>
              <a:buAutoNum type="arabicPeriod"/>
            </a:pPr>
            <a:r>
              <a:rPr lang="en-US" altLang="en-US" dirty="0" err="1">
                <a:latin typeface="Arial" panose="020B0604020202020204" pitchFamily="34" charset="0"/>
                <a:ea typeface="ＭＳ Ｐゴシック" panose="020B0600070205080204" pitchFamily="34" charset="-128"/>
                <a:cs typeface="Arial" panose="020B0604020202020204" pitchFamily="34" charset="0"/>
              </a:rPr>
              <a:t>IR</a:t>
            </a:r>
            <a:r>
              <a:rPr lang="en-US" altLang="en-US" baseline="-25000" dirty="0" err="1">
                <a:latin typeface="Arial" panose="020B0604020202020204" pitchFamily="34" charset="0"/>
                <a:ea typeface="ＭＳ Ｐゴシック" panose="020B0600070205080204" pitchFamily="34" charset="-128"/>
                <a:cs typeface="Arial" panose="020B0604020202020204" pitchFamily="34" charset="0"/>
              </a:rPr>
              <a:t>addr</a:t>
            </a:r>
            <a:r>
              <a:rPr lang="en-US" altLang="en-US" dirty="0">
                <a:latin typeface="Arial" panose="020B0604020202020204" pitchFamily="34" charset="0"/>
                <a:ea typeface="ＭＳ Ｐゴシック" panose="020B0600070205080204" pitchFamily="34" charset="-128"/>
                <a:cs typeface="Arial" panose="020B0604020202020204" pitchFamily="34" charset="0"/>
              </a:rPr>
              <a:t> → MAR Send address X to MAR</a:t>
            </a:r>
          </a:p>
          <a:p>
            <a:pPr lvl="1">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FETCH Initiate fetch, data to MDR</a:t>
            </a:r>
          </a:p>
          <a:p>
            <a:pPr lvl="1">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MDR → R Copy data in MDR into R</a:t>
            </a:r>
          </a:p>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STORE X	meaning R → CON(X)</a:t>
            </a:r>
          </a:p>
          <a:p>
            <a:pPr lvl="1">
              <a:buFontTx/>
              <a:buAutoNum type="arabicPeriod"/>
            </a:pPr>
            <a:r>
              <a:rPr lang="en-US" altLang="en-US" dirty="0" err="1">
                <a:latin typeface="Arial" panose="020B0604020202020204" pitchFamily="34" charset="0"/>
                <a:ea typeface="ＭＳ Ｐゴシック" panose="020B0600070205080204" pitchFamily="34" charset="-128"/>
                <a:cs typeface="Arial" panose="020B0604020202020204" pitchFamily="34" charset="0"/>
              </a:rPr>
              <a:t>IR</a:t>
            </a:r>
            <a:r>
              <a:rPr lang="en-US" altLang="en-US" baseline="-25000" dirty="0" err="1">
                <a:latin typeface="Arial" panose="020B0604020202020204" pitchFamily="34" charset="0"/>
                <a:ea typeface="ＭＳ Ｐゴシック" panose="020B0600070205080204" pitchFamily="34" charset="-128"/>
                <a:cs typeface="Arial" panose="020B0604020202020204" pitchFamily="34" charset="0"/>
              </a:rPr>
              <a:t>addr</a:t>
            </a:r>
            <a:r>
              <a:rPr lang="en-US" altLang="en-US" dirty="0">
                <a:latin typeface="Arial" panose="020B0604020202020204" pitchFamily="34" charset="0"/>
                <a:ea typeface="ＭＳ Ｐゴシック" panose="020B0600070205080204" pitchFamily="34" charset="-128"/>
                <a:cs typeface="Arial" panose="020B0604020202020204" pitchFamily="34" charset="0"/>
              </a:rPr>
              <a:t> → MAR Send address X to MAR</a:t>
            </a:r>
          </a:p>
          <a:p>
            <a:pPr lvl="1">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R → MDR Send data in R to MDR</a:t>
            </a:r>
          </a:p>
          <a:p>
            <a:pPr lvl="1">
              <a:buFontTx/>
              <a:buAutoNum type="arabicPeriod"/>
            </a:pPr>
            <a:r>
              <a:rPr lang="en-US" altLang="en-US" dirty="0">
                <a:latin typeface="Arial" panose="020B0604020202020204" pitchFamily="34" charset="0"/>
                <a:ea typeface="ＭＳ Ｐゴシック" panose="020B0600070205080204" pitchFamily="34" charset="-128"/>
                <a:cs typeface="Arial" panose="020B0604020202020204" pitchFamily="34" charset="0"/>
              </a:rPr>
              <a:t>STORE Initiate store of MDR to X</a:t>
            </a:r>
          </a:p>
        </p:txBody>
      </p:sp>
    </p:spTree>
    <p:extLst>
      <p:ext uri="{BB962C8B-B14F-4D97-AF65-F5344CB8AC3E}">
        <p14:creationId xmlns:p14="http://schemas.microsoft.com/office/powerpoint/2010/main" val="4000739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Putting the Pieces Together—the Von Neumann Architecture (7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ADD X	meaning R + CON(X) → R</a:t>
            </a:r>
          </a:p>
          <a:p>
            <a:pPr lvl="1">
              <a:buFontTx/>
              <a:buAutoNum type="arabicPeriod"/>
            </a:pPr>
            <a:r>
              <a:rPr lang="en-US" altLang="en-US" sz="2600" dirty="0" err="1">
                <a:latin typeface="Arial" panose="020B0604020202020204" pitchFamily="34" charset="0"/>
                <a:ea typeface="ＭＳ Ｐゴシック" panose="020B0600070205080204" pitchFamily="34" charset="-128"/>
                <a:cs typeface="Arial" panose="020B0604020202020204" pitchFamily="34" charset="0"/>
              </a:rPr>
              <a:t>IR</a:t>
            </a:r>
            <a:r>
              <a:rPr lang="en-US" altLang="en-US" sz="2600" baseline="-25000" dirty="0" err="1">
                <a:latin typeface="Arial" panose="020B0604020202020204" pitchFamily="34" charset="0"/>
                <a:ea typeface="ＭＳ Ｐゴシック" panose="020B0600070205080204" pitchFamily="34" charset="-128"/>
                <a:cs typeface="Arial" panose="020B0604020202020204" pitchFamily="34" charset="0"/>
              </a:rPr>
              <a:t>addr</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 MAR	Send address X to MAR</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FETCH		Initiate fetch, data to MDR</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MDR → ALU		Send data in MDR to ALU</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R → ALU		Send data in R to ALU</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ADD			Select ADD circuit as result</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ALU → R		Copy selected result to R</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JUMP X	meaning get next instruction from X</a:t>
            </a:r>
          </a:p>
          <a:p>
            <a:pPr lvl="1">
              <a:buFontTx/>
              <a:buAutoNum type="arabicPeriod"/>
            </a:pPr>
            <a:r>
              <a:rPr lang="en-US" altLang="en-US" sz="2600" dirty="0" err="1">
                <a:latin typeface="Arial" panose="020B0604020202020204" pitchFamily="34" charset="0"/>
                <a:ea typeface="ＭＳ Ｐゴシック" panose="020B0600070205080204" pitchFamily="34" charset="-128"/>
                <a:cs typeface="Arial" panose="020B0604020202020204" pitchFamily="34" charset="0"/>
              </a:rPr>
              <a:t>IR</a:t>
            </a:r>
            <a:r>
              <a:rPr lang="en-US" altLang="en-US" sz="2600" baseline="-25000" dirty="0" err="1">
                <a:latin typeface="Arial" panose="020B0604020202020204" pitchFamily="34" charset="0"/>
                <a:ea typeface="ＭＳ Ｐゴシック" panose="020B0600070205080204" pitchFamily="34" charset="-128"/>
                <a:cs typeface="Arial" panose="020B0604020202020204" pitchFamily="34" charset="0"/>
              </a:rPr>
              <a:t>addr</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 PC	Send address X to PC</a:t>
            </a:r>
          </a:p>
        </p:txBody>
      </p:sp>
    </p:spTree>
    <p:extLst>
      <p:ext uri="{BB962C8B-B14F-4D97-AF65-F5344CB8AC3E}">
        <p14:creationId xmlns:p14="http://schemas.microsoft.com/office/powerpoint/2010/main" val="20592857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Putting the Pieces Together—the Von Neumann Architecture (8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COMPARE X   meaning: </a:t>
            </a:r>
          </a:p>
          <a:p>
            <a:pPr marL="2743200" indent="0">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if CON(X) &gt; R, then GT = 1, else 0</a:t>
            </a:r>
          </a:p>
          <a:p>
            <a:pPr marL="2743200" indent="0">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if CON(X) = R, then EQ = 1, else 0</a:t>
            </a:r>
          </a:p>
          <a:p>
            <a:pPr marL="2743200" indent="0">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if CON(X) &lt; R, then LT = 1, else 0</a:t>
            </a:r>
          </a:p>
          <a:p>
            <a:pPr lvl="1">
              <a:buFontTx/>
              <a:buAutoNum type="arabicPeriod"/>
            </a:pPr>
            <a:r>
              <a:rPr lang="en-US" altLang="en-US" sz="2600" dirty="0" err="1">
                <a:latin typeface="Arial" panose="020B0604020202020204" pitchFamily="34" charset="0"/>
                <a:ea typeface="ＭＳ Ｐゴシック" panose="020B0600070205080204" pitchFamily="34" charset="-128"/>
                <a:cs typeface="Arial" panose="020B0604020202020204" pitchFamily="34" charset="0"/>
              </a:rPr>
              <a:t>IR</a:t>
            </a:r>
            <a:r>
              <a:rPr lang="en-US" altLang="en-US" sz="2600" baseline="-25000" dirty="0" err="1">
                <a:latin typeface="Arial" panose="020B0604020202020204" pitchFamily="34" charset="0"/>
                <a:ea typeface="ＭＳ Ｐゴシック" panose="020B0600070205080204" pitchFamily="34" charset="-128"/>
                <a:cs typeface="Arial" panose="020B0604020202020204" pitchFamily="34" charset="0"/>
              </a:rPr>
              <a:t>addr</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 MAR	Send address X to MAR</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FETCH		Initiate fetch, data to MDR</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MDR → ALU		Send data in MDR to ALU</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R → ALU		Send data in R to ALU</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SUBTRACT		Evaluate CON(X) – R</a:t>
            </a:r>
          </a:p>
          <a:p>
            <a:pPr lvl="1">
              <a:buNone/>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Sets EQ, GT, and LT</a:t>
            </a:r>
          </a:p>
        </p:txBody>
      </p:sp>
    </p:spTree>
    <p:extLst>
      <p:ext uri="{BB962C8B-B14F-4D97-AF65-F5344CB8AC3E}">
        <p14:creationId xmlns:p14="http://schemas.microsoft.com/office/powerpoint/2010/main" val="4054992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Putting the Pieces Together—the Von Neumann Architecture (9 of 9)</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JUMPGT X	meaning: </a:t>
            </a:r>
          </a:p>
          <a:p>
            <a:pPr marL="1828800">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if GT = 1, then jump to X,</a:t>
            </a:r>
          </a:p>
          <a:p>
            <a:pPr marL="1828800">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else continue to next instruction</a:t>
            </a:r>
          </a:p>
          <a:p>
            <a:pPr lvl="1">
              <a:buFontTx/>
              <a:buAutoNum type="arabicPeriod"/>
            </a:pPr>
            <a:r>
              <a:rPr lang="en-US" altLang="en-US" sz="2600" dirty="0">
                <a:latin typeface="Arial" panose="020B0604020202020204" pitchFamily="34" charset="0"/>
                <a:ea typeface="ＭＳ Ｐゴシック" panose="020B0600070205080204" pitchFamily="34" charset="-128"/>
                <a:cs typeface="Arial" panose="020B0604020202020204" pitchFamily="34" charset="0"/>
              </a:rPr>
              <a:t>IF GT = 1 THEN </a:t>
            </a:r>
            <a:r>
              <a:rPr lang="en-US" altLang="en-US" sz="2600" dirty="0" err="1">
                <a:latin typeface="Arial" panose="020B0604020202020204" pitchFamily="34" charset="0"/>
                <a:ea typeface="ＭＳ Ｐゴシック" panose="020B0600070205080204" pitchFamily="34" charset="-128"/>
                <a:cs typeface="Arial" panose="020B0604020202020204" pitchFamily="34" charset="0"/>
              </a:rPr>
              <a:t>IR</a:t>
            </a:r>
            <a:r>
              <a:rPr lang="en-US" altLang="en-US" sz="2600" baseline="-25000" dirty="0" err="1">
                <a:latin typeface="Arial" panose="020B0604020202020204" pitchFamily="34" charset="0"/>
                <a:ea typeface="ＭＳ Ｐゴシック" panose="020B0600070205080204" pitchFamily="34" charset="-128"/>
                <a:cs typeface="Arial" panose="020B0604020202020204" pitchFamily="34" charset="0"/>
              </a:rPr>
              <a:t>addr</a:t>
            </a:r>
            <a:r>
              <a:rPr lang="en-US" altLang="en-US" sz="2600" dirty="0">
                <a:latin typeface="Arial" panose="020B0604020202020204" pitchFamily="34" charset="0"/>
                <a:ea typeface="ＭＳ Ｐゴシック" panose="020B0600070205080204" pitchFamily="34" charset="-128"/>
                <a:cs typeface="Arial" panose="020B0604020202020204" pitchFamily="34" charset="0"/>
              </a:rPr>
              <a:t> → PC</a:t>
            </a:r>
          </a:p>
        </p:txBody>
      </p:sp>
    </p:spTree>
    <p:extLst>
      <p:ext uri="{BB962C8B-B14F-4D97-AF65-F5344CB8AC3E}">
        <p14:creationId xmlns:p14="http://schemas.microsoft.com/office/powerpoint/2010/main" val="23216463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Non–Von Neumann Architectures (1 of 6)</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Problems to solve are always larger</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Computer chip speeds no longer increase exponentially</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Reducing size puts gates closer together, faster</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Speed of light pertains to signals through wire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Cannot put gates much closer together</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Heat production increases too fast</a:t>
            </a:r>
          </a:p>
          <a:p>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Von Neumann bottleneck</a:t>
            </a:r>
            <a:r>
              <a:rPr lang="en-US" altLang="en-US" dirty="0">
                <a:latin typeface="Arial" panose="020B0604020202020204" pitchFamily="34" charset="0"/>
                <a:ea typeface="ＭＳ Ｐゴシック" panose="020B0600070205080204" pitchFamily="34" charset="-128"/>
                <a:cs typeface="Arial" panose="020B0604020202020204" pitchFamily="34" charset="0"/>
              </a:rPr>
              <a:t>: inability of sequential machines to handle larger problems</a:t>
            </a:r>
          </a:p>
        </p:txBody>
      </p:sp>
    </p:spTree>
    <p:extLst>
      <p:ext uri="{BB962C8B-B14F-4D97-AF65-F5344CB8AC3E}">
        <p14:creationId xmlns:p14="http://schemas.microsoft.com/office/powerpoint/2010/main" val="41262982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kern="0" dirty="0">
                <a:latin typeface="Arial" panose="020B0604020202020204" pitchFamily="34" charset="0"/>
                <a:cs typeface="Arial" panose="020B0604020202020204" pitchFamily="34" charset="0"/>
              </a:rPr>
              <a:t>Non</a:t>
            </a:r>
            <a:r>
              <a:rPr lang="en-US" altLang="en-US" dirty="0">
                <a:latin typeface="Arial" panose="020B0604020202020204" pitchFamily="34" charset="0"/>
                <a:ea typeface="ＭＳ Ｐゴシック" panose="020B0600070205080204" pitchFamily="34" charset="-128"/>
                <a:cs typeface="Arial" panose="020B0604020202020204" pitchFamily="34" charset="0"/>
              </a:rPr>
              <a:t>–</a:t>
            </a:r>
            <a:r>
              <a:rPr lang="en-US" altLang="en-US" kern="0" dirty="0">
                <a:latin typeface="Arial" panose="020B0604020202020204" pitchFamily="34" charset="0"/>
                <a:cs typeface="Arial" panose="020B0604020202020204" pitchFamily="34" charset="0"/>
              </a:rPr>
              <a:t>Von Neumann Architectures (2 of 6)</a:t>
            </a:r>
            <a:endParaRPr lang="en-US" dirty="0">
              <a:latin typeface="Arial" panose="020B0604020202020204" pitchFamily="34" charset="0"/>
              <a:cs typeface="Arial" panose="020B0604020202020204" pitchFamily="34" charset="0"/>
            </a:endParaRPr>
          </a:p>
        </p:txBody>
      </p:sp>
      <p:pic>
        <p:nvPicPr>
          <p:cNvPr id="4" name="Picture 4" descr="The graph displays the processor speeds from 1945 to 2020. The x axis of the graph denotes the years from 1940 where the computers were born to 2020. The y axis denotes the instructions per second. The graph plots two lines, the exponential growth rate and the actual growth rate. The actual growth late line and the exponential growth rate line are the same till the year 1970. From 1970 the actual growth rate falls below the exponential growth rate. 1940: Birth of computers, 1000; 1950: First generation, 10,000; 1960: second generation, 100,000; 1970: third generation, 1 million; 1980: fourth generation, 10 million; 1990, 80 million; 2000, 200 million; 2010, 1 G.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7792" y="1360975"/>
            <a:ext cx="4004941" cy="481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59312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Non–Von Neumann Architectures (3 of 6)</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altLang="en-US" b="1" dirty="0">
                <a:latin typeface="Arial" panose="020B0604020202020204" pitchFamily="34" charset="0"/>
                <a:ea typeface="ＭＳ Ｐゴシック" panose="020B0600070205080204" pitchFamily="34" charset="-128"/>
                <a:cs typeface="Arial" panose="020B0604020202020204" pitchFamily="34" charset="0"/>
              </a:rPr>
              <a:t>Non–Von Neumann architectures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Other ways to organize computers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Most are experimental/theoretical, EXCEPT parallel processing</a:t>
            </a:r>
          </a:p>
          <a:p>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Parallel processing</a:t>
            </a:r>
            <a:r>
              <a:rPr lang="zh-CN"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（可行的）</a:t>
            </a:r>
            <a:endPar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Many processing units operating at the same time</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Supercomputers (in the past)</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Desktop multicore machines and “the cloud” (in the present)</a:t>
            </a:r>
          </a:p>
          <a:p>
            <a:pPr lvl="1"/>
            <a:r>
              <a:rPr lang="en-US" altLang="en-US" b="1" dirty="0">
                <a:latin typeface="Arial" panose="020B0604020202020204" pitchFamily="34" charset="0"/>
                <a:ea typeface="ＭＳ Ｐゴシック" panose="020B0600070205080204" pitchFamily="34" charset="-128"/>
                <a:cs typeface="Arial" panose="020B0604020202020204" pitchFamily="34" charset="0"/>
              </a:rPr>
              <a:t>Quantum computing </a:t>
            </a:r>
            <a:r>
              <a:rPr lang="en-US" altLang="en-US" dirty="0">
                <a:latin typeface="Arial" panose="020B0604020202020204" pitchFamily="34" charset="0"/>
                <a:ea typeface="ＭＳ Ｐゴシック" panose="020B0600070205080204" pitchFamily="34" charset="-128"/>
                <a:cs typeface="Arial" panose="020B0604020202020204" pitchFamily="34" charset="0"/>
              </a:rPr>
              <a:t>(in the future)</a:t>
            </a:r>
          </a:p>
        </p:txBody>
      </p:sp>
    </p:spTree>
    <p:extLst>
      <p:ext uri="{BB962C8B-B14F-4D97-AF65-F5344CB8AC3E}">
        <p14:creationId xmlns:p14="http://schemas.microsoft.com/office/powerpoint/2010/main" val="10412221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Non–Von Neumann Architectures (4 of 6)</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Tx/>
              <a:buNone/>
            </a:pPr>
            <a:r>
              <a:rPr lang="en-US" altLang="en-US" b="1"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MIMD parallel processing</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Multiple instruction stream/Multiple data streams</a:t>
            </a:r>
          </a:p>
          <a:p>
            <a:pPr lvl="1"/>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Cluster computing</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Multiple, independent processors</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Each ALU operates on its own data</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Each processor can operate independently</a:t>
            </a:r>
          </a:p>
          <a:p>
            <a:pPr lvl="1"/>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On its own data</a:t>
            </a:r>
          </a:p>
          <a:p>
            <a:pPr lvl="1"/>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On its own program</a:t>
            </a:r>
          </a:p>
          <a:p>
            <a:pPr lvl="1"/>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At its own rate</a:t>
            </a:r>
          </a:p>
        </p:txBody>
      </p:sp>
      <p:sp>
        <p:nvSpPr>
          <p:cNvPr id="4" name="TextBox 3">
            <a:extLst>
              <a:ext uri="{FF2B5EF4-FFF2-40B4-BE49-F238E27FC236}">
                <a16:creationId xmlns:a16="http://schemas.microsoft.com/office/drawing/2014/main" id="{9D73712C-6511-49D2-8B2A-59C7FAAA8C69}"/>
              </a:ext>
            </a:extLst>
          </p:cNvPr>
          <p:cNvSpPr txBox="1"/>
          <p:nvPr/>
        </p:nvSpPr>
        <p:spPr>
          <a:xfrm>
            <a:off x="4565173" y="1381391"/>
            <a:ext cx="4121624" cy="369332"/>
          </a:xfrm>
          <a:prstGeom prst="rect">
            <a:avLst/>
          </a:prstGeom>
          <a:noFill/>
        </p:spPr>
        <p:txBody>
          <a:bodyPr wrap="square" rtlCol="0">
            <a:spAutoFit/>
          </a:bodyPr>
          <a:lstStyle/>
          <a:p>
            <a:r>
              <a:rPr lang="en-US" altLang="zh-CN" dirty="0"/>
              <a:t>MIMD</a:t>
            </a:r>
            <a:r>
              <a:rPr lang="zh-CN" altLang="en-US" dirty="0"/>
              <a:t>：</a:t>
            </a:r>
            <a:r>
              <a:rPr lang="en-US" altLang="zh-CN" dirty="0"/>
              <a:t>multiple instruction multiple data</a:t>
            </a:r>
            <a:endParaRPr lang="en-US" dirty="0"/>
          </a:p>
        </p:txBody>
      </p:sp>
    </p:spTree>
    <p:extLst>
      <p:ext uri="{BB962C8B-B14F-4D97-AF65-F5344CB8AC3E}">
        <p14:creationId xmlns:p14="http://schemas.microsoft.com/office/powerpoint/2010/main" val="23394270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kern="0" dirty="0">
                <a:latin typeface="Arial" panose="020B0604020202020204" pitchFamily="34" charset="0"/>
                <a:cs typeface="Arial" panose="020B0604020202020204" pitchFamily="34" charset="0"/>
              </a:rPr>
              <a:t>Non–Von Neumann Architectures (5 of 6)</a:t>
            </a:r>
            <a:endParaRPr lang="en-US" dirty="0">
              <a:latin typeface="Arial" panose="020B0604020202020204" pitchFamily="34" charset="0"/>
              <a:cs typeface="Arial" panose="020B0604020202020204" pitchFamily="34" charset="0"/>
            </a:endParaRPr>
          </a:p>
        </p:txBody>
      </p:sp>
      <p:pic>
        <p:nvPicPr>
          <p:cNvPr id="4" name="Picture 5" descr="A circuit shows a model of MMD parallel processing.&#10;Multiples machines show a parallel network with the following path: Local memory is connected to Processor that further connects to a common Interconnection net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193" y="1364085"/>
            <a:ext cx="6483614" cy="471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46910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Non–Von Neumann Architectures (6 of 6)</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Tx/>
              <a:buNone/>
            </a:pPr>
            <a:r>
              <a:rPr lang="en-US" altLang="en-US" dirty="0">
                <a:latin typeface="Arial" panose="020B0604020202020204" pitchFamily="34" charset="0"/>
                <a:ea typeface="ＭＳ Ｐゴシック" panose="020B0600070205080204" pitchFamily="34" charset="-128"/>
                <a:cs typeface="Arial" panose="020B0604020202020204" pitchFamily="34" charset="0"/>
              </a:rPr>
              <a:t>Varieties of MIMD systems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Special-purpose systems: newer supercomputers</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Cluster computing</a:t>
            </a:r>
            <a:r>
              <a:rPr lang="en-US" altLang="en-US" dirty="0">
                <a:latin typeface="Arial" panose="020B0604020202020204" pitchFamily="34" charset="0"/>
                <a:ea typeface="ＭＳ Ｐゴシック" panose="020B0600070205080204" pitchFamily="34" charset="-128"/>
                <a:cs typeface="Arial" panose="020B0604020202020204" pitchFamily="34" charset="0"/>
              </a:rPr>
              <a:t>: standard machines communicating over LAN or WAN</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Grid computing</a:t>
            </a:r>
            <a:r>
              <a:rPr lang="en-US" altLang="en-US" dirty="0">
                <a:latin typeface="Arial" panose="020B0604020202020204" pitchFamily="34" charset="0"/>
                <a:ea typeface="ＭＳ Ｐゴシック" panose="020B0600070205080204" pitchFamily="34" charset="-128"/>
                <a:cs typeface="Arial" panose="020B0604020202020204" pitchFamily="34" charset="0"/>
              </a:rPr>
              <a:t>: machines of varying power, over large distances/Internet</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Examples</a:t>
            </a:r>
          </a:p>
          <a:p>
            <a:pPr lvl="2"/>
            <a:r>
              <a:rPr lang="en-US" altLang="en-US" dirty="0">
                <a:latin typeface="Arial" panose="020B0604020202020204" pitchFamily="34" charset="0"/>
                <a:ea typeface="ＭＳ Ｐゴシック" panose="020B0600070205080204" pitchFamily="34" charset="-128"/>
                <a:cs typeface="Arial" panose="020B0604020202020204" pitchFamily="34" charset="0"/>
              </a:rPr>
              <a:t>SETI project</a:t>
            </a:r>
          </a:p>
          <a:p>
            <a:pPr lvl="2"/>
            <a:r>
              <a:rPr lang="en-IN" altLang="en-US" dirty="0">
                <a:latin typeface="Arial" panose="020B0604020202020204" pitchFamily="34" charset="0"/>
                <a:ea typeface="ＭＳ Ｐゴシック" panose="020B0600070205080204" pitchFamily="34" charset="-128"/>
                <a:cs typeface="Arial" panose="020B0604020202020204" pitchFamily="34" charset="0"/>
              </a:rPr>
              <a:t>BOINC</a:t>
            </a:r>
            <a:r>
              <a:rPr lang="en-US" altLang="en-US" dirty="0">
                <a:latin typeface="Arial" panose="020B0604020202020204" pitchFamily="34" charset="0"/>
                <a:ea typeface="ＭＳ Ｐゴシック" panose="020B0600070205080204" pitchFamily="34" charset="-128"/>
                <a:cs typeface="Arial" panose="020B0604020202020204" pitchFamily="34" charset="0"/>
              </a:rPr>
              <a:t> at Berkley</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Hot research area ► </a:t>
            </a:r>
            <a:r>
              <a:rPr lang="en-US" altLang="en-US" b="1" dirty="0">
                <a:latin typeface="Arial" panose="020B0604020202020204" pitchFamily="34" charset="0"/>
                <a:ea typeface="ＭＳ Ｐゴシック" panose="020B0600070205080204" pitchFamily="34" charset="-128"/>
                <a:cs typeface="Arial" panose="020B0604020202020204" pitchFamily="34" charset="0"/>
              </a:rPr>
              <a:t>parallel algorithms</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Need to take advantage of all this processing power</a:t>
            </a:r>
          </a:p>
        </p:txBody>
      </p:sp>
    </p:spTree>
    <p:extLst>
      <p:ext uri="{BB962C8B-B14F-4D97-AF65-F5344CB8AC3E}">
        <p14:creationId xmlns:p14="http://schemas.microsoft.com/office/powerpoint/2010/main" val="12127791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8D456-B840-48FE-9154-869E4C8DB95B}"/>
              </a:ext>
            </a:extLst>
          </p:cNvPr>
          <p:cNvSpPr>
            <a:spLocks noGrp="1"/>
          </p:cNvSpPr>
          <p:nvPr>
            <p:ph type="title"/>
          </p:nvPr>
        </p:nvSpPr>
        <p:spPr/>
        <p:txBody>
          <a:bodyPr/>
          <a:lstStyle/>
          <a:p>
            <a:endParaRPr lang="en-US" dirty="0"/>
          </a:p>
        </p:txBody>
      </p:sp>
      <p:sp>
        <p:nvSpPr>
          <p:cNvPr id="4" name="TextBox 3">
            <a:extLst>
              <a:ext uri="{FF2B5EF4-FFF2-40B4-BE49-F238E27FC236}">
                <a16:creationId xmlns:a16="http://schemas.microsoft.com/office/drawing/2014/main" id="{EA5D794C-E83A-4F28-92D1-A1157D1CE802}"/>
              </a:ext>
            </a:extLst>
          </p:cNvPr>
          <p:cNvSpPr txBox="1"/>
          <p:nvPr/>
        </p:nvSpPr>
        <p:spPr>
          <a:xfrm>
            <a:off x="752475" y="1720840"/>
            <a:ext cx="8143875" cy="3416320"/>
          </a:xfrm>
          <a:prstGeom prst="rect">
            <a:avLst/>
          </a:prstGeom>
          <a:noFill/>
        </p:spPr>
        <p:txBody>
          <a:bodyPr wrap="square" rtlCol="0">
            <a:spAutoFit/>
          </a:bodyPr>
          <a:lstStyle/>
          <a:p>
            <a:r>
              <a:rPr lang="zh-CN" altLang="en-US" dirty="0"/>
              <a:t>我</a:t>
            </a:r>
            <a:r>
              <a:rPr lang="en-US" altLang="zh-CN" dirty="0"/>
              <a:t>:</a:t>
            </a:r>
            <a:r>
              <a:rPr lang="zh-CN" altLang="en-US" dirty="0"/>
              <a:t>因此，所有这些都连接到内存，它们只有一点本地内存，但是每个处理器都连接到系统的主内存，所以我们可以在一个</a:t>
            </a:r>
            <a:r>
              <a:rPr lang="en-US" altLang="zh-CN" dirty="0"/>
              <a:t>CPU</a:t>
            </a:r>
            <a:r>
              <a:rPr lang="zh-CN" altLang="en-US" dirty="0"/>
              <a:t>内的一台本地计算机中拥有这种方法，然后再进行操作 有一个内部装有多个内核的</a:t>
            </a:r>
            <a:r>
              <a:rPr lang="en-US" altLang="zh-CN" dirty="0"/>
              <a:t>CPU</a:t>
            </a:r>
            <a:r>
              <a:rPr lang="zh-CN" altLang="en-US" dirty="0"/>
              <a:t>，还有一个网络系统，因此我们甚至可以执行将这些多线程</a:t>
            </a:r>
            <a:r>
              <a:rPr lang="en-US" altLang="zh-CN" dirty="0"/>
              <a:t>CPU</a:t>
            </a:r>
            <a:r>
              <a:rPr lang="zh-CN" altLang="en-US" dirty="0"/>
              <a:t>连接到网络上的版本。</a:t>
            </a:r>
            <a:endParaRPr lang="en-US" altLang="zh-CN" dirty="0"/>
          </a:p>
          <a:p>
            <a:r>
              <a:rPr lang="zh-CN" altLang="en-US" dirty="0"/>
              <a:t>我</a:t>
            </a:r>
            <a:r>
              <a:rPr lang="en-US" altLang="zh-CN" dirty="0"/>
              <a:t>:</a:t>
            </a:r>
            <a:r>
              <a:rPr lang="zh-CN" altLang="en-US" dirty="0"/>
              <a:t>好的，我们已经可以在一个机箱内连接在一起，而集群计算基本上就是让这些</a:t>
            </a:r>
            <a:r>
              <a:rPr lang="en-US" altLang="zh-CN" dirty="0"/>
              <a:t>CPU</a:t>
            </a:r>
            <a:r>
              <a:rPr lang="zh-CN" altLang="en-US" dirty="0"/>
              <a:t>通过网络相互通信。我</a:t>
            </a:r>
            <a:r>
              <a:rPr lang="en-US" altLang="zh-CN" dirty="0"/>
              <a:t>:</a:t>
            </a:r>
            <a:r>
              <a:rPr lang="zh-CN" altLang="en-US" dirty="0"/>
              <a:t>我要走了，但除了拥有一个简单的局域网外，我们甚至可以继续使用网格，该网格基本上是将整个互联网用作它们之间的互连，因此可以想象，当您从</a:t>
            </a:r>
            <a:r>
              <a:rPr lang="en-US" altLang="zh-CN" dirty="0"/>
              <a:t>CPU</a:t>
            </a:r>
            <a:r>
              <a:rPr lang="zh-CN" altLang="en-US" dirty="0"/>
              <a:t>之外进入集群或 网格变得越来越难编程，但是仍然有一个领域仍在进行大量研究，找到了对该系统进行编程的好方法，所以我记得当我还是一个本科生学习如何使用这些高级系统时，确实很难 现在，如果我们想运行可以在您的本地计算机上运行并利用</a:t>
            </a:r>
            <a:r>
              <a:rPr lang="en-US" altLang="zh-CN" dirty="0"/>
              <a:t>Java</a:t>
            </a:r>
            <a:r>
              <a:rPr lang="zh-CN" altLang="en-US" dirty="0"/>
              <a:t>中所有内核和超线程功能的辅助程序，则非常简单。</a:t>
            </a:r>
            <a:endParaRPr lang="en-US" altLang="zh-CN" dirty="0"/>
          </a:p>
        </p:txBody>
      </p:sp>
    </p:spTree>
    <p:extLst>
      <p:ext uri="{BB962C8B-B14F-4D97-AF65-F5344CB8AC3E}">
        <p14:creationId xmlns:p14="http://schemas.microsoft.com/office/powerpoint/2010/main" val="25038106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51339-3483-4474-AE0A-B8243DDBCD0A}"/>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BDDB4082-1B1B-44BF-BF5F-F429E7F7C615}"/>
              </a:ext>
            </a:extLst>
          </p:cNvPr>
          <p:cNvSpPr txBox="1"/>
          <p:nvPr/>
        </p:nvSpPr>
        <p:spPr>
          <a:xfrm>
            <a:off x="647700" y="1552575"/>
            <a:ext cx="8086725" cy="4524315"/>
          </a:xfrm>
          <a:prstGeom prst="rect">
            <a:avLst/>
          </a:prstGeom>
          <a:noFill/>
        </p:spPr>
        <p:txBody>
          <a:bodyPr wrap="square" rtlCol="0">
            <a:spAutoFit/>
          </a:bodyPr>
          <a:lstStyle/>
          <a:p>
            <a:r>
              <a:rPr lang="zh-CN" altLang="en-US" dirty="0"/>
              <a:t>我</a:t>
            </a:r>
            <a:r>
              <a:rPr lang="en-US" altLang="zh-CN" dirty="0"/>
              <a:t>:</a:t>
            </a:r>
            <a:r>
              <a:rPr lang="zh-CN" altLang="en-US" dirty="0"/>
              <a:t>与几十年前的土耳其相比，土耳其如此，所以即使到现在，也有一些方法可以使网格计算变得同样容易，我们还不存在，但是我们正在尝试的问题是，它还不存在。 总是有可能将问题分解成较小的部分，然后分别解决，所以经典的例子总是：如果一个女人需要</a:t>
            </a:r>
            <a:r>
              <a:rPr lang="en-US" altLang="zh-CN" dirty="0"/>
              <a:t>9</a:t>
            </a:r>
            <a:r>
              <a:rPr lang="zh-CN" altLang="en-US" dirty="0"/>
              <a:t>个月的时间生孩子，如果我们一个月内需要一个孩子，我们可以让</a:t>
            </a:r>
            <a:r>
              <a:rPr lang="en-US" altLang="zh-CN" dirty="0"/>
              <a:t>9</a:t>
            </a:r>
            <a:r>
              <a:rPr lang="zh-CN" altLang="en-US" dirty="0"/>
              <a:t>个女人在一起并共同努力吗？ 在一个月之内使一天成为现实，那不是那么有效，就没有办法解决这些问题。</a:t>
            </a:r>
            <a:endParaRPr lang="en-US" altLang="zh-CN" dirty="0"/>
          </a:p>
          <a:p>
            <a:r>
              <a:rPr lang="zh-CN" altLang="en-US" dirty="0"/>
              <a:t>我</a:t>
            </a:r>
            <a:r>
              <a:rPr lang="en-US" altLang="zh-CN" dirty="0"/>
              <a:t>:</a:t>
            </a:r>
            <a:r>
              <a:rPr lang="zh-CN" altLang="en-US" dirty="0"/>
              <a:t>因此，使用并行算法，有时可以将问题分解为多个小部分，这些小部分可以一起完成，但并非总是如此，因此对于单指令多数据而言，另一种对幻灯片没有任何了解的系统令我感到惊讶，因为您会那样做 另一个常见的事情是单指令多个数据，这些数据可以在您的</a:t>
            </a:r>
            <a:r>
              <a:rPr lang="en-US" altLang="zh-CN" dirty="0"/>
              <a:t>GPU</a:t>
            </a:r>
            <a:r>
              <a:rPr lang="zh-CN" altLang="en-US" dirty="0"/>
              <a:t>中找到。我</a:t>
            </a:r>
            <a:r>
              <a:rPr lang="en-US" altLang="zh-CN" dirty="0"/>
              <a:t>:</a:t>
            </a:r>
            <a:r>
              <a:rPr lang="zh-CN" altLang="en-US" dirty="0"/>
              <a:t>嘿，您的图形卡上只有一条指令可以处理多条数据，因此，例如，如果要在屏幕上绘制图像，则在条形屏幕上每个点都需要两个图像，基本上可以执行相同的操作 因此，如果您的屏幕上有一千个点，或者屏幕上没有一千个点，那么您就可以拥有一百万个不同的</a:t>
            </a:r>
            <a:r>
              <a:rPr lang="en-US" altLang="zh-CN" dirty="0"/>
              <a:t>GPU</a:t>
            </a:r>
            <a:r>
              <a:rPr lang="zh-CN" altLang="en-US" dirty="0"/>
              <a:t>核来计算我应该使用哪种颜色 显示那个。 他们可能都在按照相同的指令处理不同的数据。我</a:t>
            </a:r>
            <a:r>
              <a:rPr lang="en-US" altLang="zh-CN" dirty="0"/>
              <a:t>:</a:t>
            </a:r>
            <a:r>
              <a:rPr lang="zh-CN" altLang="en-US" dirty="0"/>
              <a:t>这是另外一个不是冯诺依曼系统的例子</a:t>
            </a:r>
            <a:endParaRPr lang="en-US" dirty="0"/>
          </a:p>
          <a:p>
            <a:endParaRPr lang="en-US" dirty="0"/>
          </a:p>
        </p:txBody>
      </p:sp>
    </p:spTree>
    <p:extLst>
      <p:ext uri="{BB962C8B-B14F-4D97-AF65-F5344CB8AC3E}">
        <p14:creationId xmlns:p14="http://schemas.microsoft.com/office/powerpoint/2010/main" val="30912793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Summary (1 of 2)</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2475" y="1169273"/>
            <a:ext cx="8648054" cy="4999053"/>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We must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abstract</a:t>
            </a:r>
            <a:r>
              <a:rPr lang="en-US" altLang="en-US" dirty="0">
                <a:latin typeface="Arial" panose="020B0604020202020204" pitchFamily="34" charset="0"/>
                <a:ea typeface="ＭＳ Ｐゴシック" panose="020B0600070205080204" pitchFamily="34" charset="-128"/>
                <a:cs typeface="Arial" panose="020B0604020202020204" pitchFamily="34" charset="0"/>
              </a:rPr>
              <a:t> in order to manage system complexity—no more writing instructions in machine language.</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Von Neumann architecture is standard for modern computing.</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Von Neumann machines have memory, I/O, ALU, and control unit; programs are stored in memory; execution is sequential unless program says otherwise.</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Memory is organized into addressable cells; data is fetched and stored based on MAR and MDR; uses decoder and fetch/store controller.</a:t>
            </a:r>
          </a:p>
        </p:txBody>
      </p:sp>
      <p:sp>
        <p:nvSpPr>
          <p:cNvPr id="4" name="TextBox 3">
            <a:extLst>
              <a:ext uri="{FF2B5EF4-FFF2-40B4-BE49-F238E27FC236}">
                <a16:creationId xmlns:a16="http://schemas.microsoft.com/office/drawing/2014/main" id="{4CC8C367-1349-4999-A9F4-C4D0D51AFE19}"/>
              </a:ext>
            </a:extLst>
          </p:cNvPr>
          <p:cNvSpPr txBox="1"/>
          <p:nvPr/>
        </p:nvSpPr>
        <p:spPr>
          <a:xfrm>
            <a:off x="2368446" y="1007977"/>
            <a:ext cx="1049312" cy="369332"/>
          </a:xfrm>
          <a:prstGeom prst="rect">
            <a:avLst/>
          </a:prstGeom>
          <a:noFill/>
        </p:spPr>
        <p:txBody>
          <a:bodyPr wrap="square" rtlCol="0">
            <a:spAutoFit/>
          </a:bodyPr>
          <a:lstStyle/>
          <a:p>
            <a:r>
              <a:rPr lang="zh-CN" altLang="en-US" dirty="0"/>
              <a:t>抽象</a:t>
            </a:r>
            <a:endParaRPr lang="en-US" dirty="0"/>
          </a:p>
        </p:txBody>
      </p:sp>
    </p:spTree>
    <p:extLst>
      <p:ext uri="{BB962C8B-B14F-4D97-AF65-F5344CB8AC3E}">
        <p14:creationId xmlns:p14="http://schemas.microsoft.com/office/powerpoint/2010/main" val="22992401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Summary (2 of 2)</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Mass data storage is nonvolatile; disks store and fetch sectors of data stored in tracks.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I/O is slow, needs dedicated controller to free CPU.</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ALU performs computations, moving data to/from dedicated registers.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Control unit fetches, decodes, and executes instructions; instructions are written in machine language.</a:t>
            </a:r>
          </a:p>
          <a:p>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Parallel processing architectures can perform multiple instructions at one time.</a:t>
            </a:r>
          </a:p>
        </p:txBody>
      </p:sp>
    </p:spTree>
    <p:extLst>
      <p:ext uri="{BB962C8B-B14F-4D97-AF65-F5344CB8AC3E}">
        <p14:creationId xmlns:p14="http://schemas.microsoft.com/office/powerpoint/2010/main" val="5925590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3FEDC-0100-4B5A-9024-3D4BF02DC69C}"/>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B2F26F27-FC75-4BB6-9CB8-9CD68B45F289}"/>
              </a:ext>
            </a:extLst>
          </p:cNvPr>
          <p:cNvPicPr>
            <a:picLocks noChangeAspect="1"/>
          </p:cNvPicPr>
          <p:nvPr/>
        </p:nvPicPr>
        <p:blipFill rotWithShape="1">
          <a:blip r:embed="rId3"/>
          <a:srcRect b="27506"/>
          <a:stretch/>
        </p:blipFill>
        <p:spPr>
          <a:xfrm>
            <a:off x="466725" y="1325707"/>
            <a:ext cx="7591425" cy="1969943"/>
          </a:xfrm>
          <a:prstGeom prst="rect">
            <a:avLst/>
          </a:prstGeom>
        </p:spPr>
      </p:pic>
      <p:sp>
        <p:nvSpPr>
          <p:cNvPr id="5" name="TextBox 4">
            <a:extLst>
              <a:ext uri="{FF2B5EF4-FFF2-40B4-BE49-F238E27FC236}">
                <a16:creationId xmlns:a16="http://schemas.microsoft.com/office/drawing/2014/main" id="{53E7F867-47E8-4171-AB95-B7393CF299DD}"/>
              </a:ext>
            </a:extLst>
          </p:cNvPr>
          <p:cNvSpPr txBox="1"/>
          <p:nvPr/>
        </p:nvSpPr>
        <p:spPr>
          <a:xfrm>
            <a:off x="1190625" y="3429000"/>
            <a:ext cx="6867525" cy="369332"/>
          </a:xfrm>
          <a:prstGeom prst="rect">
            <a:avLst/>
          </a:prstGeom>
          <a:noFill/>
        </p:spPr>
        <p:txBody>
          <a:bodyPr wrap="square" rtlCol="0">
            <a:spAutoFit/>
          </a:bodyPr>
          <a:lstStyle/>
          <a:p>
            <a:r>
              <a:rPr lang="zh-CN" altLang="en-US" dirty="0"/>
              <a:t>                          什么将任何事物的高级视图与实施的低级细节分开。</a:t>
            </a:r>
            <a:endParaRPr lang="en-US" dirty="0"/>
          </a:p>
        </p:txBody>
      </p:sp>
      <p:sp>
        <p:nvSpPr>
          <p:cNvPr id="6" name="TextBox 5">
            <a:extLst>
              <a:ext uri="{FF2B5EF4-FFF2-40B4-BE49-F238E27FC236}">
                <a16:creationId xmlns:a16="http://schemas.microsoft.com/office/drawing/2014/main" id="{4F7087DB-D50E-4150-8E09-BCB2B3CD3729}"/>
              </a:ext>
            </a:extLst>
          </p:cNvPr>
          <p:cNvSpPr txBox="1"/>
          <p:nvPr/>
        </p:nvSpPr>
        <p:spPr>
          <a:xfrm>
            <a:off x="981075" y="5847576"/>
            <a:ext cx="2419350" cy="646331"/>
          </a:xfrm>
          <a:prstGeom prst="rect">
            <a:avLst/>
          </a:prstGeom>
          <a:noFill/>
        </p:spPr>
        <p:txBody>
          <a:bodyPr wrap="square" rtlCol="0">
            <a:spAutoFit/>
          </a:bodyPr>
          <a:lstStyle/>
          <a:p>
            <a:r>
              <a:rPr lang="en-US" dirty="0"/>
              <a:t>Abstraction</a:t>
            </a:r>
            <a:r>
              <a:rPr lang="zh-CN" altLang="en-US" dirty="0"/>
              <a:t>抽象</a:t>
            </a:r>
            <a:endParaRPr lang="en-US" dirty="0"/>
          </a:p>
          <a:p>
            <a:endParaRPr lang="en-US" dirty="0"/>
          </a:p>
        </p:txBody>
      </p:sp>
      <p:sp>
        <p:nvSpPr>
          <p:cNvPr id="3" name="TextBox 2">
            <a:extLst>
              <a:ext uri="{FF2B5EF4-FFF2-40B4-BE49-F238E27FC236}">
                <a16:creationId xmlns:a16="http://schemas.microsoft.com/office/drawing/2014/main" id="{AC78D4D8-1B1B-4525-8BD6-4653776FAEE1}"/>
              </a:ext>
            </a:extLst>
          </p:cNvPr>
          <p:cNvSpPr txBox="1"/>
          <p:nvPr/>
        </p:nvSpPr>
        <p:spPr>
          <a:xfrm>
            <a:off x="2190750" y="2862818"/>
            <a:ext cx="1993900" cy="369332"/>
          </a:xfrm>
          <a:prstGeom prst="rect">
            <a:avLst/>
          </a:prstGeom>
          <a:noFill/>
        </p:spPr>
        <p:txBody>
          <a:bodyPr wrap="square" rtlCol="0">
            <a:spAutoFit/>
          </a:bodyPr>
          <a:lstStyle/>
          <a:p>
            <a:r>
              <a:rPr lang="zh-CN" altLang="en-US" dirty="0"/>
              <a:t>实施</a:t>
            </a:r>
            <a:r>
              <a:rPr lang="en-US" altLang="zh-CN" dirty="0"/>
              <a:t>n.</a:t>
            </a:r>
            <a:endParaRPr lang="en-US" dirty="0"/>
          </a:p>
        </p:txBody>
      </p:sp>
    </p:spTree>
    <p:extLst>
      <p:ext uri="{BB962C8B-B14F-4D97-AF65-F5344CB8AC3E}">
        <p14:creationId xmlns:p14="http://schemas.microsoft.com/office/powerpoint/2010/main" val="39180670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BE83C-9F42-48D6-B932-994DEBDC1A08}"/>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9AB327BE-E8D4-4DC2-AB66-E1A6AEA0B559}"/>
              </a:ext>
            </a:extLst>
          </p:cNvPr>
          <p:cNvPicPr>
            <a:picLocks noChangeAspect="1"/>
          </p:cNvPicPr>
          <p:nvPr/>
        </p:nvPicPr>
        <p:blipFill>
          <a:blip r:embed="rId3"/>
          <a:stretch>
            <a:fillRect/>
          </a:stretch>
        </p:blipFill>
        <p:spPr>
          <a:xfrm>
            <a:off x="385762" y="1500187"/>
            <a:ext cx="7591425" cy="1476375"/>
          </a:xfrm>
          <a:prstGeom prst="rect">
            <a:avLst/>
          </a:prstGeom>
        </p:spPr>
      </p:pic>
      <p:sp>
        <p:nvSpPr>
          <p:cNvPr id="5" name="TextBox 4">
            <a:extLst>
              <a:ext uri="{FF2B5EF4-FFF2-40B4-BE49-F238E27FC236}">
                <a16:creationId xmlns:a16="http://schemas.microsoft.com/office/drawing/2014/main" id="{23557A01-41CC-4896-9C70-2F6767A6C8A6}"/>
              </a:ext>
            </a:extLst>
          </p:cNvPr>
          <p:cNvSpPr txBox="1"/>
          <p:nvPr/>
        </p:nvSpPr>
        <p:spPr>
          <a:xfrm>
            <a:off x="1038225" y="2791896"/>
            <a:ext cx="6038850" cy="369332"/>
          </a:xfrm>
          <a:prstGeom prst="rect">
            <a:avLst/>
          </a:prstGeom>
          <a:noFill/>
        </p:spPr>
        <p:txBody>
          <a:bodyPr wrap="square" rtlCol="0">
            <a:spAutoFit/>
          </a:bodyPr>
          <a:lstStyle/>
          <a:p>
            <a:r>
              <a:rPr lang="zh-CN" altLang="en-US" dirty="0"/>
              <a:t>列出模式算法的一些实际用途。</a:t>
            </a:r>
            <a:endParaRPr lang="en-US" dirty="0"/>
          </a:p>
        </p:txBody>
      </p:sp>
      <p:pic>
        <p:nvPicPr>
          <p:cNvPr id="6" name="Picture 5">
            <a:extLst>
              <a:ext uri="{FF2B5EF4-FFF2-40B4-BE49-F238E27FC236}">
                <a16:creationId xmlns:a16="http://schemas.microsoft.com/office/drawing/2014/main" id="{02E75A38-6557-40C9-A505-3E3EC5A39FB4}"/>
              </a:ext>
            </a:extLst>
          </p:cNvPr>
          <p:cNvPicPr>
            <a:picLocks noChangeAspect="1"/>
          </p:cNvPicPr>
          <p:nvPr/>
        </p:nvPicPr>
        <p:blipFill>
          <a:blip r:embed="rId4"/>
          <a:stretch>
            <a:fillRect/>
          </a:stretch>
        </p:blipFill>
        <p:spPr>
          <a:xfrm>
            <a:off x="804862" y="3429000"/>
            <a:ext cx="5648325" cy="2362200"/>
          </a:xfrm>
          <a:prstGeom prst="rect">
            <a:avLst/>
          </a:prstGeom>
        </p:spPr>
      </p:pic>
      <p:sp>
        <p:nvSpPr>
          <p:cNvPr id="7" name="TextBox 6">
            <a:extLst>
              <a:ext uri="{FF2B5EF4-FFF2-40B4-BE49-F238E27FC236}">
                <a16:creationId xmlns:a16="http://schemas.microsoft.com/office/drawing/2014/main" id="{1E274748-A3C5-4CB9-8095-851A6ED593BA}"/>
              </a:ext>
            </a:extLst>
          </p:cNvPr>
          <p:cNvSpPr txBox="1"/>
          <p:nvPr/>
        </p:nvSpPr>
        <p:spPr>
          <a:xfrm>
            <a:off x="4014787" y="4533900"/>
            <a:ext cx="2438400" cy="369332"/>
          </a:xfrm>
          <a:prstGeom prst="rect">
            <a:avLst/>
          </a:prstGeom>
          <a:noFill/>
        </p:spPr>
        <p:txBody>
          <a:bodyPr wrap="square" rtlCol="0">
            <a:spAutoFit/>
          </a:bodyPr>
          <a:lstStyle/>
          <a:p>
            <a:r>
              <a:rPr lang="zh-CN" altLang="en-US" dirty="0"/>
              <a:t>医疗影像</a:t>
            </a:r>
            <a:endParaRPr lang="en-US" dirty="0"/>
          </a:p>
        </p:txBody>
      </p:sp>
      <p:sp>
        <p:nvSpPr>
          <p:cNvPr id="8" name="TextBox 7">
            <a:extLst>
              <a:ext uri="{FF2B5EF4-FFF2-40B4-BE49-F238E27FC236}">
                <a16:creationId xmlns:a16="http://schemas.microsoft.com/office/drawing/2014/main" id="{1EB384FF-A419-4AD7-BAF9-77A0F3EF9E71}"/>
              </a:ext>
            </a:extLst>
          </p:cNvPr>
          <p:cNvSpPr txBox="1"/>
          <p:nvPr/>
        </p:nvSpPr>
        <p:spPr>
          <a:xfrm>
            <a:off x="5343525" y="4987409"/>
            <a:ext cx="2438400" cy="369332"/>
          </a:xfrm>
          <a:prstGeom prst="rect">
            <a:avLst/>
          </a:prstGeom>
          <a:noFill/>
        </p:spPr>
        <p:txBody>
          <a:bodyPr wrap="square" rtlCol="0">
            <a:spAutoFit/>
          </a:bodyPr>
          <a:lstStyle/>
          <a:p>
            <a:r>
              <a:rPr lang="zh-CN" altLang="en-US" dirty="0"/>
              <a:t>人类基因组搜索</a:t>
            </a:r>
            <a:endParaRPr lang="en-US" dirty="0"/>
          </a:p>
        </p:txBody>
      </p:sp>
    </p:spTree>
    <p:extLst>
      <p:ext uri="{BB962C8B-B14F-4D97-AF65-F5344CB8AC3E}">
        <p14:creationId xmlns:p14="http://schemas.microsoft.com/office/powerpoint/2010/main" val="42845745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68F96-E400-4224-8208-DAE9521AA10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6B1FE24F-AD17-4024-83AC-7433FD48261C}"/>
              </a:ext>
            </a:extLst>
          </p:cNvPr>
          <p:cNvPicPr>
            <a:picLocks noChangeAspect="1"/>
          </p:cNvPicPr>
          <p:nvPr/>
        </p:nvPicPr>
        <p:blipFill>
          <a:blip r:embed="rId2"/>
          <a:stretch>
            <a:fillRect/>
          </a:stretch>
        </p:blipFill>
        <p:spPr>
          <a:xfrm>
            <a:off x="252412" y="1166128"/>
            <a:ext cx="8181975" cy="3762375"/>
          </a:xfrm>
          <a:prstGeom prst="rect">
            <a:avLst/>
          </a:prstGeom>
        </p:spPr>
      </p:pic>
      <p:sp>
        <p:nvSpPr>
          <p:cNvPr id="5" name="TextBox 4">
            <a:extLst>
              <a:ext uri="{FF2B5EF4-FFF2-40B4-BE49-F238E27FC236}">
                <a16:creationId xmlns:a16="http://schemas.microsoft.com/office/drawing/2014/main" id="{2A4B706A-7E47-475D-AFB9-72374013747E}"/>
              </a:ext>
            </a:extLst>
          </p:cNvPr>
          <p:cNvSpPr txBox="1"/>
          <p:nvPr/>
        </p:nvSpPr>
        <p:spPr>
          <a:xfrm>
            <a:off x="833437" y="3434807"/>
            <a:ext cx="7600950" cy="646331"/>
          </a:xfrm>
          <a:prstGeom prst="rect">
            <a:avLst/>
          </a:prstGeom>
          <a:noFill/>
        </p:spPr>
        <p:txBody>
          <a:bodyPr wrap="square" rtlCol="0">
            <a:spAutoFit/>
          </a:bodyPr>
          <a:lstStyle/>
          <a:p>
            <a:r>
              <a:rPr lang="zh-CN" altLang="en-US" dirty="0"/>
              <a:t>从上而下的设计是指一种方法，你可以从算法的顶部开始编写伪代码，然后逐行编写直到结束。</a:t>
            </a:r>
            <a:endParaRPr lang="en-US" dirty="0"/>
          </a:p>
        </p:txBody>
      </p:sp>
      <p:sp>
        <p:nvSpPr>
          <p:cNvPr id="6" name="TextBox 5">
            <a:extLst>
              <a:ext uri="{FF2B5EF4-FFF2-40B4-BE49-F238E27FC236}">
                <a16:creationId xmlns:a16="http://schemas.microsoft.com/office/drawing/2014/main" id="{266C792B-A47D-4801-80C4-9A11E8B86D2E}"/>
              </a:ext>
            </a:extLst>
          </p:cNvPr>
          <p:cNvSpPr txBox="1"/>
          <p:nvPr/>
        </p:nvSpPr>
        <p:spPr>
          <a:xfrm>
            <a:off x="1738312" y="4237940"/>
            <a:ext cx="6453188" cy="369332"/>
          </a:xfrm>
          <a:prstGeom prst="rect">
            <a:avLst/>
          </a:prstGeom>
          <a:noFill/>
        </p:spPr>
        <p:txBody>
          <a:bodyPr wrap="square" rtlCol="0">
            <a:spAutoFit/>
          </a:bodyPr>
          <a:lstStyle/>
          <a:p>
            <a:r>
              <a:rPr lang="en-US" dirty="0"/>
              <a:t>Algorithm </a:t>
            </a:r>
            <a:r>
              <a:rPr lang="zh-CN" altLang="en-US" dirty="0"/>
              <a:t>和</a:t>
            </a:r>
            <a:r>
              <a:rPr lang="en-US" altLang="zh-CN" dirty="0"/>
              <a:t>pseudocode </a:t>
            </a:r>
            <a:r>
              <a:rPr lang="zh-CN" altLang="en-US" dirty="0"/>
              <a:t>是两个东西。不能放在一起</a:t>
            </a:r>
            <a:endParaRPr lang="en-US" altLang="zh-CN" dirty="0"/>
          </a:p>
        </p:txBody>
      </p:sp>
    </p:spTree>
    <p:extLst>
      <p:ext uri="{BB962C8B-B14F-4D97-AF65-F5344CB8AC3E}">
        <p14:creationId xmlns:p14="http://schemas.microsoft.com/office/powerpoint/2010/main" val="36763170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70CD13-38ED-45D0-9736-D05D58A9F18F}"/>
              </a:ext>
            </a:extLst>
          </p:cNvPr>
          <p:cNvSpPr txBox="1"/>
          <p:nvPr/>
        </p:nvSpPr>
        <p:spPr>
          <a:xfrm>
            <a:off x="1000124" y="1247773"/>
            <a:ext cx="7591425" cy="2585323"/>
          </a:xfrm>
          <a:prstGeom prst="rect">
            <a:avLst/>
          </a:prstGeom>
          <a:noFill/>
        </p:spPr>
        <p:txBody>
          <a:bodyPr wrap="square" rtlCol="0">
            <a:spAutoFit/>
          </a:bodyPr>
          <a:lstStyle/>
          <a:p>
            <a:pPr>
              <a:defRPr/>
            </a:pPr>
            <a:r>
              <a:rPr lang="en-US" altLang="en-US" dirty="0">
                <a:latin typeface="Arial" pitchFamily="34" charset="0"/>
                <a:ea typeface="ＭＳ Ｐゴシック" panose="020B0600070205080204" pitchFamily="34" charset="-128"/>
                <a:cs typeface="Arial" pitchFamily="34" charset="0"/>
              </a:rPr>
              <a:t>Algorithm has two parts:</a:t>
            </a:r>
          </a:p>
          <a:p>
            <a:pPr lvl="1">
              <a:buFontTx/>
              <a:buAutoNum type="arabicPeriod"/>
              <a:defRPr/>
            </a:pPr>
            <a:r>
              <a:rPr lang="en-US" altLang="en-US" dirty="0">
                <a:latin typeface="Arial" pitchFamily="34" charset="0"/>
                <a:ea typeface="ＭＳ Ｐゴシック" panose="020B0600070205080204" pitchFamily="34" charset="-128"/>
                <a:cs typeface="Arial" pitchFamily="34" charset="0"/>
              </a:rPr>
              <a:t>Sliding the pattern along the text, aligning it with each position in turn</a:t>
            </a:r>
          </a:p>
          <a:p>
            <a:pPr lvl="1">
              <a:buFontTx/>
              <a:buAutoNum type="arabicPeriod"/>
              <a:defRPr/>
            </a:pPr>
            <a:r>
              <a:rPr lang="en-US" altLang="en-US" dirty="0">
                <a:latin typeface="Arial" pitchFamily="34" charset="0"/>
                <a:ea typeface="ＭＳ Ｐゴシック" panose="020B0600070205080204" pitchFamily="34" charset="-128"/>
                <a:cs typeface="Arial" pitchFamily="34" charset="0"/>
              </a:rPr>
              <a:t>Given a particular alignment, determine if there is a match at that location</a:t>
            </a:r>
          </a:p>
          <a:p>
            <a:pPr>
              <a:defRPr/>
            </a:pPr>
            <a:r>
              <a:rPr lang="en-US" altLang="en-US" dirty="0">
                <a:latin typeface="Arial" pitchFamily="34" charset="0"/>
                <a:ea typeface="ＭＳ Ｐゴシック" panose="020B0600070205080204" pitchFamily="34" charset="-128"/>
                <a:cs typeface="Arial" pitchFamily="34" charset="0"/>
              </a:rPr>
              <a:t>Solve parts separately and use</a:t>
            </a:r>
          </a:p>
          <a:p>
            <a:pPr lvl="1" indent="-342900">
              <a:defRPr/>
            </a:pPr>
            <a:r>
              <a:rPr lang="en-US" altLang="en-US" b="1" dirty="0">
                <a:latin typeface="Arial" pitchFamily="34" charset="0"/>
                <a:ea typeface="ＭＳ Ｐゴシック" panose="020B0600070205080204" pitchFamily="34" charset="-128"/>
                <a:cs typeface="Arial" pitchFamily="34" charset="0"/>
              </a:rPr>
              <a:t>Abstraction:</a:t>
            </a:r>
            <a:r>
              <a:rPr lang="en-US" altLang="en-US" dirty="0">
                <a:latin typeface="Arial" pitchFamily="34" charset="0"/>
                <a:ea typeface="ＭＳ Ｐゴシック" panose="020B0600070205080204" pitchFamily="34" charset="-128"/>
                <a:cs typeface="Arial" pitchFamily="34" charset="0"/>
              </a:rPr>
              <a:t> focus on high level, not details</a:t>
            </a:r>
          </a:p>
          <a:p>
            <a:pPr lvl="1" indent="-342900">
              <a:defRPr/>
            </a:pPr>
            <a:r>
              <a:rPr lang="en-US" altLang="en-US" b="1" dirty="0">
                <a:latin typeface="Arial" pitchFamily="34" charset="0"/>
                <a:ea typeface="ＭＳ Ｐゴシック" panose="020B0600070205080204" pitchFamily="34" charset="-128"/>
                <a:cs typeface="Arial" pitchFamily="34" charset="0"/>
              </a:rPr>
              <a:t>Top-down design:</a:t>
            </a:r>
            <a:r>
              <a:rPr lang="en-US" altLang="en-US" dirty="0">
                <a:latin typeface="Arial" pitchFamily="34" charset="0"/>
                <a:ea typeface="ＭＳ Ｐゴシック" panose="020B0600070205080204" pitchFamily="34" charset="-128"/>
                <a:cs typeface="Arial" pitchFamily="34" charset="0"/>
              </a:rPr>
              <a:t> start with big picture, gradually elaborate parts</a:t>
            </a:r>
            <a:endParaRPr lang="en-US" altLang="en-US" b="1" dirty="0">
              <a:latin typeface="Arial" pitchFamily="34" charset="0"/>
              <a:ea typeface="ＭＳ Ｐゴシック" panose="020B0600070205080204" pitchFamily="34" charset="-128"/>
              <a:cs typeface="Arial" pitchFamily="34" charset="0"/>
            </a:endParaRPr>
          </a:p>
          <a:p>
            <a:endParaRPr lang="en-US" dirty="0"/>
          </a:p>
        </p:txBody>
      </p:sp>
      <p:sp>
        <p:nvSpPr>
          <p:cNvPr id="3" name="TextBox 2">
            <a:extLst>
              <a:ext uri="{FF2B5EF4-FFF2-40B4-BE49-F238E27FC236}">
                <a16:creationId xmlns:a16="http://schemas.microsoft.com/office/drawing/2014/main" id="{89829EC3-0D4F-469E-AF4D-D442DCFEF70B}"/>
              </a:ext>
            </a:extLst>
          </p:cNvPr>
          <p:cNvSpPr txBox="1"/>
          <p:nvPr/>
        </p:nvSpPr>
        <p:spPr>
          <a:xfrm>
            <a:off x="1000124" y="4352925"/>
            <a:ext cx="6772276" cy="2095500"/>
          </a:xfrm>
          <a:prstGeom prst="rect">
            <a:avLst/>
          </a:prstGeom>
          <a:noFill/>
        </p:spPr>
        <p:txBody>
          <a:bodyPr wrap="square" rtlCol="0">
            <a:spAutoFit/>
          </a:bodyPr>
          <a:lstStyle/>
          <a:p>
            <a:r>
              <a:rPr lang="zh-CN" altLang="en-US" dirty="0"/>
              <a:t>算法分为两部分：</a:t>
            </a:r>
          </a:p>
          <a:p>
            <a:r>
              <a:rPr lang="en-US" altLang="zh-CN" dirty="0"/>
              <a:t>1. </a:t>
            </a:r>
            <a:r>
              <a:rPr lang="zh-CN" altLang="en-US" dirty="0"/>
              <a:t>沿文本滑动模式，依次将其与每个位置对齐</a:t>
            </a:r>
          </a:p>
          <a:p>
            <a:r>
              <a:rPr lang="en-US" altLang="zh-CN" dirty="0"/>
              <a:t>2. </a:t>
            </a:r>
            <a:r>
              <a:rPr lang="zh-CN" altLang="en-US" dirty="0"/>
              <a:t>给定特定的对齐方式，确定该位置是否存在匹配项</a:t>
            </a:r>
          </a:p>
          <a:p>
            <a:r>
              <a:rPr lang="zh-CN" altLang="en-US" dirty="0"/>
              <a:t>单独解决零件并使用</a:t>
            </a:r>
          </a:p>
          <a:p>
            <a:r>
              <a:rPr lang="zh-CN" altLang="en-US" dirty="0"/>
              <a:t>抽象：专注于高层次，而不是细节</a:t>
            </a:r>
          </a:p>
          <a:p>
            <a:r>
              <a:rPr lang="zh-CN" altLang="en-US" dirty="0"/>
              <a:t>自上而下的设计：从大局开始，逐步完善零件</a:t>
            </a:r>
            <a:endParaRPr lang="en-US" dirty="0"/>
          </a:p>
          <a:p>
            <a:endParaRPr lang="en-US" dirty="0"/>
          </a:p>
        </p:txBody>
      </p:sp>
    </p:spTree>
    <p:extLst>
      <p:ext uri="{BB962C8B-B14F-4D97-AF65-F5344CB8AC3E}">
        <p14:creationId xmlns:p14="http://schemas.microsoft.com/office/powerpoint/2010/main" val="27485786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932F9FD-8E21-486B-AA9F-3819C33C3B75}"/>
              </a:ext>
            </a:extLst>
          </p:cNvPr>
          <p:cNvPicPr>
            <a:picLocks noChangeAspect="1"/>
          </p:cNvPicPr>
          <p:nvPr/>
        </p:nvPicPr>
        <p:blipFill>
          <a:blip r:embed="rId3"/>
          <a:stretch>
            <a:fillRect/>
          </a:stretch>
        </p:blipFill>
        <p:spPr>
          <a:xfrm>
            <a:off x="578757" y="1369786"/>
            <a:ext cx="7696200" cy="1447800"/>
          </a:xfrm>
          <a:prstGeom prst="rect">
            <a:avLst/>
          </a:prstGeom>
        </p:spPr>
      </p:pic>
      <p:sp>
        <p:nvSpPr>
          <p:cNvPr id="3" name="TextBox 2">
            <a:extLst>
              <a:ext uri="{FF2B5EF4-FFF2-40B4-BE49-F238E27FC236}">
                <a16:creationId xmlns:a16="http://schemas.microsoft.com/office/drawing/2014/main" id="{B09706FB-6B47-481C-B641-C420B35C8B9B}"/>
              </a:ext>
            </a:extLst>
          </p:cNvPr>
          <p:cNvSpPr txBox="1"/>
          <p:nvPr/>
        </p:nvSpPr>
        <p:spPr>
          <a:xfrm>
            <a:off x="962025" y="3609975"/>
            <a:ext cx="4743450" cy="369332"/>
          </a:xfrm>
          <a:prstGeom prst="rect">
            <a:avLst/>
          </a:prstGeom>
          <a:noFill/>
        </p:spPr>
        <p:txBody>
          <a:bodyPr wrap="square" rtlCol="0">
            <a:spAutoFit/>
          </a:bodyPr>
          <a:lstStyle/>
          <a:p>
            <a:r>
              <a:rPr lang="en-US" dirty="0"/>
              <a:t>An address</a:t>
            </a:r>
            <a:r>
              <a:rPr lang="zh-CN" altLang="en-US" dirty="0"/>
              <a:t>是</a:t>
            </a:r>
            <a:r>
              <a:rPr lang="en-US" altLang="zh-CN" dirty="0"/>
              <a:t>RAM</a:t>
            </a:r>
            <a:r>
              <a:rPr lang="zh-CN" altLang="en-US" dirty="0"/>
              <a:t>中每个单元相关的唯一编号</a:t>
            </a:r>
            <a:endParaRPr lang="en-US" dirty="0"/>
          </a:p>
        </p:txBody>
      </p:sp>
    </p:spTree>
    <p:extLst>
      <p:ext uri="{BB962C8B-B14F-4D97-AF65-F5344CB8AC3E}">
        <p14:creationId xmlns:p14="http://schemas.microsoft.com/office/powerpoint/2010/main" val="21182428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B11CF0-2399-4DC2-B798-43394510D1F0}"/>
              </a:ext>
            </a:extLst>
          </p:cNvPr>
          <p:cNvSpPr txBox="1"/>
          <p:nvPr/>
        </p:nvSpPr>
        <p:spPr>
          <a:xfrm>
            <a:off x="857250" y="2314574"/>
            <a:ext cx="7162800" cy="369332"/>
          </a:xfrm>
          <a:prstGeom prst="rect">
            <a:avLst/>
          </a:prstGeom>
          <a:noFill/>
        </p:spPr>
        <p:txBody>
          <a:bodyPr wrap="square" rtlCol="0">
            <a:spAutoFit/>
          </a:bodyPr>
          <a:lstStyle/>
          <a:p>
            <a:r>
              <a:rPr lang="zh-CN" altLang="en-US" dirty="0"/>
              <a:t>大多数计算机内部的整数都限于可以容纳在一个储存单元的值。</a:t>
            </a:r>
            <a:endParaRPr lang="en-US" dirty="0"/>
          </a:p>
        </p:txBody>
      </p:sp>
      <p:pic>
        <p:nvPicPr>
          <p:cNvPr id="4" name="Picture 3">
            <a:extLst>
              <a:ext uri="{FF2B5EF4-FFF2-40B4-BE49-F238E27FC236}">
                <a16:creationId xmlns:a16="http://schemas.microsoft.com/office/drawing/2014/main" id="{B21176E2-8143-4BE3-B415-5681FE03CB6C}"/>
              </a:ext>
            </a:extLst>
          </p:cNvPr>
          <p:cNvPicPr>
            <a:picLocks noChangeAspect="1"/>
          </p:cNvPicPr>
          <p:nvPr/>
        </p:nvPicPr>
        <p:blipFill>
          <a:blip r:embed="rId2"/>
          <a:stretch>
            <a:fillRect/>
          </a:stretch>
        </p:blipFill>
        <p:spPr>
          <a:xfrm>
            <a:off x="533400" y="1019174"/>
            <a:ext cx="7810500" cy="1295400"/>
          </a:xfrm>
          <a:prstGeom prst="rect">
            <a:avLst/>
          </a:prstGeom>
        </p:spPr>
      </p:pic>
      <p:sp>
        <p:nvSpPr>
          <p:cNvPr id="5" name="TextBox 4">
            <a:extLst>
              <a:ext uri="{FF2B5EF4-FFF2-40B4-BE49-F238E27FC236}">
                <a16:creationId xmlns:a16="http://schemas.microsoft.com/office/drawing/2014/main" id="{28F35928-43E6-4FF4-BEC3-12E7C4F4CC44}"/>
              </a:ext>
            </a:extLst>
          </p:cNvPr>
          <p:cNvSpPr txBox="1"/>
          <p:nvPr/>
        </p:nvSpPr>
        <p:spPr>
          <a:xfrm>
            <a:off x="1057275" y="3429000"/>
            <a:ext cx="5343525" cy="646331"/>
          </a:xfrm>
          <a:prstGeom prst="rect">
            <a:avLst/>
          </a:prstGeom>
          <a:noFill/>
        </p:spPr>
        <p:txBody>
          <a:bodyPr wrap="square" rtlCol="0">
            <a:spAutoFit/>
          </a:bodyPr>
          <a:lstStyle/>
          <a:p>
            <a:r>
              <a:rPr lang="zh-CN" altLang="en-US" dirty="0"/>
              <a:t>错：</a:t>
            </a:r>
            <a:r>
              <a:rPr lang="en-US" altLang="zh-CN" dirty="0"/>
              <a:t>32</a:t>
            </a:r>
            <a:r>
              <a:rPr lang="zh-CN" altLang="en-US" dirty="0"/>
              <a:t>位（</a:t>
            </a:r>
            <a:r>
              <a:rPr lang="en-US" altLang="zh-CN" dirty="0"/>
              <a:t>32bits</a:t>
            </a:r>
            <a:r>
              <a:rPr lang="zh-CN" altLang="en-US" dirty="0"/>
              <a:t>）计算机整数限制为</a:t>
            </a:r>
            <a:r>
              <a:rPr lang="en-US" altLang="zh-CN" dirty="0"/>
              <a:t>32bits</a:t>
            </a:r>
            <a:r>
              <a:rPr lang="zh-CN" altLang="en-US" dirty="0"/>
              <a:t>，</a:t>
            </a:r>
            <a:r>
              <a:rPr lang="en-US" altLang="zh-CN" dirty="0"/>
              <a:t>64</a:t>
            </a:r>
            <a:r>
              <a:rPr lang="zh-CN" altLang="en-US" dirty="0"/>
              <a:t>位计算机限制就是</a:t>
            </a:r>
            <a:r>
              <a:rPr lang="en-US" altLang="zh-CN" dirty="0"/>
              <a:t>64bits</a:t>
            </a:r>
            <a:endParaRPr lang="en-US" dirty="0"/>
          </a:p>
        </p:txBody>
      </p:sp>
    </p:spTree>
    <p:extLst>
      <p:ext uri="{BB962C8B-B14F-4D97-AF65-F5344CB8AC3E}">
        <p14:creationId xmlns:p14="http://schemas.microsoft.com/office/powerpoint/2010/main" val="14807344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464FCA-BB76-465F-8741-3D3A10AE306E}"/>
              </a:ext>
            </a:extLst>
          </p:cNvPr>
          <p:cNvPicPr>
            <a:picLocks noChangeAspect="1"/>
          </p:cNvPicPr>
          <p:nvPr/>
        </p:nvPicPr>
        <p:blipFill>
          <a:blip r:embed="rId2"/>
          <a:stretch>
            <a:fillRect/>
          </a:stretch>
        </p:blipFill>
        <p:spPr>
          <a:xfrm>
            <a:off x="361950" y="1552575"/>
            <a:ext cx="8420100" cy="990600"/>
          </a:xfrm>
          <a:prstGeom prst="rect">
            <a:avLst/>
          </a:prstGeom>
        </p:spPr>
      </p:pic>
      <p:sp>
        <p:nvSpPr>
          <p:cNvPr id="3" name="TextBox 2">
            <a:extLst>
              <a:ext uri="{FF2B5EF4-FFF2-40B4-BE49-F238E27FC236}">
                <a16:creationId xmlns:a16="http://schemas.microsoft.com/office/drawing/2014/main" id="{BDB0AAEF-D513-4945-BBAF-1283A1722E6E}"/>
              </a:ext>
            </a:extLst>
          </p:cNvPr>
          <p:cNvSpPr txBox="1"/>
          <p:nvPr/>
        </p:nvSpPr>
        <p:spPr>
          <a:xfrm>
            <a:off x="1019175" y="2743200"/>
            <a:ext cx="5419725" cy="369332"/>
          </a:xfrm>
          <a:prstGeom prst="rect">
            <a:avLst/>
          </a:prstGeom>
          <a:noFill/>
        </p:spPr>
        <p:txBody>
          <a:bodyPr wrap="square" rtlCol="0">
            <a:spAutoFit/>
          </a:bodyPr>
          <a:lstStyle/>
          <a:p>
            <a:r>
              <a:rPr lang="zh-CN" altLang="en-US" dirty="0"/>
              <a:t>破坏性储存操作会破坏储存单元的内容</a:t>
            </a:r>
            <a:endParaRPr lang="en-US" dirty="0"/>
          </a:p>
        </p:txBody>
      </p:sp>
    </p:spTree>
    <p:extLst>
      <p:ext uri="{BB962C8B-B14F-4D97-AF65-F5344CB8AC3E}">
        <p14:creationId xmlns:p14="http://schemas.microsoft.com/office/powerpoint/2010/main" val="8283487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1BBAC3-A6B4-4A85-B49C-D81447971E35}"/>
              </a:ext>
            </a:extLst>
          </p:cNvPr>
          <p:cNvPicPr>
            <a:picLocks noChangeAspect="1"/>
          </p:cNvPicPr>
          <p:nvPr/>
        </p:nvPicPr>
        <p:blipFill>
          <a:blip r:embed="rId2"/>
          <a:stretch>
            <a:fillRect/>
          </a:stretch>
        </p:blipFill>
        <p:spPr>
          <a:xfrm>
            <a:off x="284258" y="2219325"/>
            <a:ext cx="8575483" cy="2038350"/>
          </a:xfrm>
          <a:prstGeom prst="rect">
            <a:avLst/>
          </a:prstGeom>
        </p:spPr>
      </p:pic>
      <p:sp>
        <p:nvSpPr>
          <p:cNvPr id="3" name="TextBox 2">
            <a:extLst>
              <a:ext uri="{FF2B5EF4-FFF2-40B4-BE49-F238E27FC236}">
                <a16:creationId xmlns:a16="http://schemas.microsoft.com/office/drawing/2014/main" id="{3B59F31B-4B3E-4E7C-AFE6-902256FA16ED}"/>
              </a:ext>
            </a:extLst>
          </p:cNvPr>
          <p:cNvSpPr txBox="1"/>
          <p:nvPr/>
        </p:nvSpPr>
        <p:spPr>
          <a:xfrm>
            <a:off x="1600200" y="2134672"/>
            <a:ext cx="762000" cy="369332"/>
          </a:xfrm>
          <a:prstGeom prst="rect">
            <a:avLst/>
          </a:prstGeom>
          <a:noFill/>
        </p:spPr>
        <p:txBody>
          <a:bodyPr wrap="square" rtlCol="0">
            <a:spAutoFit/>
          </a:bodyPr>
          <a:lstStyle/>
          <a:p>
            <a:r>
              <a:rPr lang="zh-CN" altLang="en-US" dirty="0"/>
              <a:t>执行</a:t>
            </a:r>
            <a:endParaRPr lang="en-US" dirty="0"/>
          </a:p>
        </p:txBody>
      </p:sp>
      <p:sp>
        <p:nvSpPr>
          <p:cNvPr id="4" name="TextBox 3">
            <a:extLst>
              <a:ext uri="{FF2B5EF4-FFF2-40B4-BE49-F238E27FC236}">
                <a16:creationId xmlns:a16="http://schemas.microsoft.com/office/drawing/2014/main" id="{DFD5939A-0CEA-453D-8E79-D09FB8C9FEBB}"/>
              </a:ext>
            </a:extLst>
          </p:cNvPr>
          <p:cNvSpPr txBox="1"/>
          <p:nvPr/>
        </p:nvSpPr>
        <p:spPr>
          <a:xfrm>
            <a:off x="5886452" y="2134672"/>
            <a:ext cx="895350" cy="369332"/>
          </a:xfrm>
          <a:prstGeom prst="rect">
            <a:avLst/>
          </a:prstGeom>
          <a:noFill/>
        </p:spPr>
        <p:txBody>
          <a:bodyPr wrap="square" rtlCol="0">
            <a:spAutoFit/>
          </a:bodyPr>
          <a:lstStyle/>
          <a:p>
            <a:r>
              <a:rPr lang="zh-CN" altLang="en-US" dirty="0"/>
              <a:t>电路</a:t>
            </a:r>
            <a:endParaRPr lang="en-US" dirty="0"/>
          </a:p>
        </p:txBody>
      </p:sp>
      <p:sp>
        <p:nvSpPr>
          <p:cNvPr id="5" name="TextBox 4">
            <a:extLst>
              <a:ext uri="{FF2B5EF4-FFF2-40B4-BE49-F238E27FC236}">
                <a16:creationId xmlns:a16="http://schemas.microsoft.com/office/drawing/2014/main" id="{43C5C2E0-8111-471A-BBFD-9A1FA6E8C87B}"/>
              </a:ext>
            </a:extLst>
          </p:cNvPr>
          <p:cNvSpPr txBox="1"/>
          <p:nvPr/>
        </p:nvSpPr>
        <p:spPr>
          <a:xfrm>
            <a:off x="752475" y="3686175"/>
            <a:ext cx="5133977" cy="646331"/>
          </a:xfrm>
          <a:prstGeom prst="rect">
            <a:avLst/>
          </a:prstGeom>
          <a:noFill/>
        </p:spPr>
        <p:txBody>
          <a:bodyPr wrap="square" rtlCol="0">
            <a:spAutoFit/>
          </a:bodyPr>
          <a:lstStyle/>
          <a:p>
            <a:r>
              <a:rPr lang="zh-CN" altLang="en-US" dirty="0"/>
              <a:t>解码器（将地址转换为特定单元的信号）</a:t>
            </a:r>
            <a:endParaRPr lang="en-US" altLang="zh-CN" dirty="0"/>
          </a:p>
          <a:p>
            <a:r>
              <a:rPr lang="zh-CN" altLang="en-US" dirty="0"/>
              <a:t>获取</a:t>
            </a:r>
            <a:r>
              <a:rPr lang="en-US" altLang="zh-CN" dirty="0"/>
              <a:t>/</a:t>
            </a:r>
            <a:r>
              <a:rPr lang="zh-CN" altLang="en-US" dirty="0"/>
              <a:t>储存控制器（以确保数据以正确的方式流动）</a:t>
            </a:r>
            <a:endParaRPr lang="en-US" dirty="0"/>
          </a:p>
        </p:txBody>
      </p:sp>
      <p:sp>
        <p:nvSpPr>
          <p:cNvPr id="6" name="TextBox 5">
            <a:extLst>
              <a:ext uri="{FF2B5EF4-FFF2-40B4-BE49-F238E27FC236}">
                <a16:creationId xmlns:a16="http://schemas.microsoft.com/office/drawing/2014/main" id="{63376A8F-C465-4D57-B6B4-5D50317C46C7}"/>
              </a:ext>
            </a:extLst>
          </p:cNvPr>
          <p:cNvSpPr txBox="1"/>
          <p:nvPr/>
        </p:nvSpPr>
        <p:spPr>
          <a:xfrm>
            <a:off x="1323974" y="1122849"/>
            <a:ext cx="6029325" cy="646331"/>
          </a:xfrm>
          <a:prstGeom prst="rect">
            <a:avLst/>
          </a:prstGeom>
          <a:noFill/>
        </p:spPr>
        <p:txBody>
          <a:bodyPr wrap="square" rtlCol="0">
            <a:spAutoFit/>
          </a:bodyPr>
          <a:lstStyle/>
          <a:p>
            <a:r>
              <a:rPr lang="zh-CN" altLang="en-US" dirty="0"/>
              <a:t>为了执行获取和储存操作，除了</a:t>
            </a:r>
            <a:r>
              <a:rPr lang="en-US" altLang="zh-CN" dirty="0"/>
              <a:t>RAM</a:t>
            </a:r>
            <a:r>
              <a:rPr lang="zh-CN" altLang="en-US" dirty="0"/>
              <a:t>必须具有的储存单元外，还要命名两个电路。</a:t>
            </a:r>
            <a:endParaRPr lang="en-US" dirty="0"/>
          </a:p>
        </p:txBody>
      </p:sp>
    </p:spTree>
    <p:extLst>
      <p:ext uri="{BB962C8B-B14F-4D97-AF65-F5344CB8AC3E}">
        <p14:creationId xmlns:p14="http://schemas.microsoft.com/office/powerpoint/2010/main" val="9251436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20BDEE2-6445-45AF-9580-AF251D0ECC40}"/>
              </a:ext>
            </a:extLst>
          </p:cNvPr>
          <p:cNvPicPr>
            <a:picLocks noChangeAspect="1"/>
          </p:cNvPicPr>
          <p:nvPr/>
        </p:nvPicPr>
        <p:blipFill rotWithShape="1">
          <a:blip r:embed="rId2"/>
          <a:srcRect r="2464"/>
          <a:stretch/>
        </p:blipFill>
        <p:spPr>
          <a:xfrm>
            <a:off x="138179" y="2143125"/>
            <a:ext cx="8862946" cy="1666875"/>
          </a:xfrm>
          <a:prstGeom prst="rect">
            <a:avLst/>
          </a:prstGeom>
        </p:spPr>
      </p:pic>
      <p:sp>
        <p:nvSpPr>
          <p:cNvPr id="3" name="TextBox 2">
            <a:extLst>
              <a:ext uri="{FF2B5EF4-FFF2-40B4-BE49-F238E27FC236}">
                <a16:creationId xmlns:a16="http://schemas.microsoft.com/office/drawing/2014/main" id="{2A2C1036-FFEC-4AA6-8B06-6D53189271D6}"/>
              </a:ext>
            </a:extLst>
          </p:cNvPr>
          <p:cNvSpPr txBox="1"/>
          <p:nvPr/>
        </p:nvSpPr>
        <p:spPr>
          <a:xfrm>
            <a:off x="514350" y="1859518"/>
            <a:ext cx="5743575" cy="369332"/>
          </a:xfrm>
          <a:prstGeom prst="rect">
            <a:avLst/>
          </a:prstGeom>
          <a:noFill/>
        </p:spPr>
        <p:txBody>
          <a:bodyPr wrap="square" rtlCol="0">
            <a:spAutoFit/>
          </a:bodyPr>
          <a:lstStyle/>
          <a:p>
            <a:r>
              <a:rPr lang="zh-CN" altLang="en-US" dirty="0"/>
              <a:t>在获取指令中有多少个控制单元来选择正确的行和列？</a:t>
            </a:r>
            <a:endParaRPr lang="en-US" dirty="0"/>
          </a:p>
        </p:txBody>
      </p:sp>
    </p:spTree>
    <p:extLst>
      <p:ext uri="{BB962C8B-B14F-4D97-AF65-F5344CB8AC3E}">
        <p14:creationId xmlns:p14="http://schemas.microsoft.com/office/powerpoint/2010/main" val="2264729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DBCF69-CE9C-4488-9755-4E14318B58C0}"/>
              </a:ext>
            </a:extLst>
          </p:cNvPr>
          <p:cNvPicPr>
            <a:picLocks noChangeAspect="1"/>
          </p:cNvPicPr>
          <p:nvPr/>
        </p:nvPicPr>
        <p:blipFill>
          <a:blip r:embed="rId2"/>
          <a:stretch>
            <a:fillRect/>
          </a:stretch>
        </p:blipFill>
        <p:spPr>
          <a:xfrm>
            <a:off x="341486" y="2371725"/>
            <a:ext cx="8461028" cy="1323975"/>
          </a:xfrm>
          <a:prstGeom prst="rect">
            <a:avLst/>
          </a:prstGeom>
        </p:spPr>
      </p:pic>
      <p:sp>
        <p:nvSpPr>
          <p:cNvPr id="3" name="TextBox 2">
            <a:extLst>
              <a:ext uri="{FF2B5EF4-FFF2-40B4-BE49-F238E27FC236}">
                <a16:creationId xmlns:a16="http://schemas.microsoft.com/office/drawing/2014/main" id="{811D28D0-F6D5-4657-821D-EADE05A89810}"/>
              </a:ext>
            </a:extLst>
          </p:cNvPr>
          <p:cNvSpPr txBox="1"/>
          <p:nvPr/>
        </p:nvSpPr>
        <p:spPr>
          <a:xfrm>
            <a:off x="1119187" y="2048559"/>
            <a:ext cx="6905625" cy="646331"/>
          </a:xfrm>
          <a:prstGeom prst="rect">
            <a:avLst/>
          </a:prstGeom>
          <a:noFill/>
        </p:spPr>
        <p:txBody>
          <a:bodyPr wrap="square" rtlCol="0">
            <a:spAutoFit/>
          </a:bodyPr>
          <a:lstStyle/>
          <a:p>
            <a:r>
              <a:rPr lang="zh-CN" altLang="en-US" dirty="0"/>
              <a:t>用于储存可能要访问的值的高速储存器叫做什么</a:t>
            </a:r>
            <a:endParaRPr lang="en-US" altLang="zh-CN" dirty="0"/>
          </a:p>
          <a:p>
            <a:endParaRPr lang="en-US" dirty="0"/>
          </a:p>
        </p:txBody>
      </p:sp>
      <p:sp>
        <p:nvSpPr>
          <p:cNvPr id="4" name="TextBox 3">
            <a:extLst>
              <a:ext uri="{FF2B5EF4-FFF2-40B4-BE49-F238E27FC236}">
                <a16:creationId xmlns:a16="http://schemas.microsoft.com/office/drawing/2014/main" id="{22EA261D-53DE-44A0-B08A-F73DE4862A9C}"/>
              </a:ext>
            </a:extLst>
          </p:cNvPr>
          <p:cNvSpPr txBox="1"/>
          <p:nvPr/>
        </p:nvSpPr>
        <p:spPr>
          <a:xfrm>
            <a:off x="1704975" y="3876675"/>
            <a:ext cx="2867025" cy="369332"/>
          </a:xfrm>
          <a:prstGeom prst="rect">
            <a:avLst/>
          </a:prstGeom>
          <a:noFill/>
        </p:spPr>
        <p:txBody>
          <a:bodyPr wrap="square" rtlCol="0">
            <a:spAutoFit/>
          </a:bodyPr>
          <a:lstStyle/>
          <a:p>
            <a:r>
              <a:rPr lang="en-US" altLang="zh-CN" dirty="0"/>
              <a:t>Cache</a:t>
            </a:r>
            <a:r>
              <a:rPr lang="zh-CN" altLang="en-US" dirty="0"/>
              <a:t> </a:t>
            </a:r>
            <a:r>
              <a:rPr lang="en-US" altLang="zh-CN" dirty="0"/>
              <a:t>is a part of CPU.</a:t>
            </a:r>
            <a:endParaRPr lang="en-US" dirty="0"/>
          </a:p>
        </p:txBody>
      </p:sp>
    </p:spTree>
    <p:extLst>
      <p:ext uri="{BB962C8B-B14F-4D97-AF65-F5344CB8AC3E}">
        <p14:creationId xmlns:p14="http://schemas.microsoft.com/office/powerpoint/2010/main" val="25560870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BFFC36-A92D-4E97-99C5-CAB4C40F3618}"/>
              </a:ext>
            </a:extLst>
          </p:cNvPr>
          <p:cNvPicPr>
            <a:picLocks noChangeAspect="1"/>
          </p:cNvPicPr>
          <p:nvPr/>
        </p:nvPicPr>
        <p:blipFill>
          <a:blip r:embed="rId2"/>
          <a:stretch>
            <a:fillRect/>
          </a:stretch>
        </p:blipFill>
        <p:spPr>
          <a:xfrm>
            <a:off x="1076325" y="2652712"/>
            <a:ext cx="6991350" cy="1552575"/>
          </a:xfrm>
          <a:prstGeom prst="rect">
            <a:avLst/>
          </a:prstGeom>
        </p:spPr>
      </p:pic>
    </p:spTree>
    <p:extLst>
      <p:ext uri="{BB962C8B-B14F-4D97-AF65-F5344CB8AC3E}">
        <p14:creationId xmlns:p14="http://schemas.microsoft.com/office/powerpoint/2010/main" val="5798060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57BE1A-C11E-4FF5-B2AA-DD6917DDF645}"/>
              </a:ext>
            </a:extLst>
          </p:cNvPr>
          <p:cNvPicPr>
            <a:picLocks noChangeAspect="1"/>
          </p:cNvPicPr>
          <p:nvPr/>
        </p:nvPicPr>
        <p:blipFill>
          <a:blip r:embed="rId2"/>
          <a:stretch>
            <a:fillRect/>
          </a:stretch>
        </p:blipFill>
        <p:spPr>
          <a:xfrm>
            <a:off x="0" y="2684348"/>
            <a:ext cx="9144000" cy="1489303"/>
          </a:xfrm>
          <a:prstGeom prst="rect">
            <a:avLst/>
          </a:prstGeom>
        </p:spPr>
      </p:pic>
      <p:sp>
        <p:nvSpPr>
          <p:cNvPr id="3" name="TextBox 2">
            <a:extLst>
              <a:ext uri="{FF2B5EF4-FFF2-40B4-BE49-F238E27FC236}">
                <a16:creationId xmlns:a16="http://schemas.microsoft.com/office/drawing/2014/main" id="{A122B7D3-66FD-4806-9433-4E63ABC5F584}"/>
              </a:ext>
            </a:extLst>
          </p:cNvPr>
          <p:cNvSpPr txBox="1"/>
          <p:nvPr/>
        </p:nvSpPr>
        <p:spPr>
          <a:xfrm>
            <a:off x="3648075" y="2684348"/>
            <a:ext cx="1095375" cy="369332"/>
          </a:xfrm>
          <a:prstGeom prst="rect">
            <a:avLst/>
          </a:prstGeom>
          <a:noFill/>
        </p:spPr>
        <p:txBody>
          <a:bodyPr wrap="square" rtlCol="0">
            <a:spAutoFit/>
          </a:bodyPr>
          <a:lstStyle/>
          <a:p>
            <a:r>
              <a:rPr lang="zh-CN" altLang="en-US" dirty="0"/>
              <a:t>芯片</a:t>
            </a:r>
            <a:endParaRPr lang="en-US" dirty="0"/>
          </a:p>
        </p:txBody>
      </p:sp>
    </p:spTree>
    <p:extLst>
      <p:ext uri="{BB962C8B-B14F-4D97-AF65-F5344CB8AC3E}">
        <p14:creationId xmlns:p14="http://schemas.microsoft.com/office/powerpoint/2010/main" val="3453991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BA05AF-507C-472B-BCBA-B7156A6EA131}"/>
              </a:ext>
            </a:extLst>
          </p:cNvPr>
          <p:cNvPicPr>
            <a:picLocks noChangeAspect="1"/>
          </p:cNvPicPr>
          <p:nvPr/>
        </p:nvPicPr>
        <p:blipFill>
          <a:blip r:embed="rId2"/>
          <a:stretch>
            <a:fillRect/>
          </a:stretch>
        </p:blipFill>
        <p:spPr>
          <a:xfrm>
            <a:off x="186913" y="1690687"/>
            <a:ext cx="8957087" cy="1338263"/>
          </a:xfrm>
          <a:prstGeom prst="rect">
            <a:avLst/>
          </a:prstGeom>
        </p:spPr>
      </p:pic>
      <p:sp>
        <p:nvSpPr>
          <p:cNvPr id="3" name="TextBox 2">
            <a:extLst>
              <a:ext uri="{FF2B5EF4-FFF2-40B4-BE49-F238E27FC236}">
                <a16:creationId xmlns:a16="http://schemas.microsoft.com/office/drawing/2014/main" id="{B28F1F95-70BA-418D-96F6-5D31FF7E15A0}"/>
              </a:ext>
            </a:extLst>
          </p:cNvPr>
          <p:cNvSpPr txBox="1"/>
          <p:nvPr/>
        </p:nvSpPr>
        <p:spPr>
          <a:xfrm>
            <a:off x="1314450" y="1581150"/>
            <a:ext cx="5524500" cy="369332"/>
          </a:xfrm>
          <a:prstGeom prst="rect">
            <a:avLst/>
          </a:prstGeom>
          <a:noFill/>
        </p:spPr>
        <p:txBody>
          <a:bodyPr wrap="square" rtlCol="0">
            <a:spAutoFit/>
          </a:bodyPr>
          <a:lstStyle/>
          <a:p>
            <a:r>
              <a:rPr lang="zh-CN" altLang="en-US" dirty="0"/>
              <a:t>给出大多数指令集包含的两种指令</a:t>
            </a:r>
            <a:endParaRPr lang="en-US" dirty="0"/>
          </a:p>
        </p:txBody>
      </p:sp>
    </p:spTree>
    <p:extLst>
      <p:ext uri="{BB962C8B-B14F-4D97-AF65-F5344CB8AC3E}">
        <p14:creationId xmlns:p14="http://schemas.microsoft.com/office/powerpoint/2010/main" val="14994538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8F60E1-A613-4199-B987-8EACD3A7560F}"/>
              </a:ext>
            </a:extLst>
          </p:cNvPr>
          <p:cNvPicPr>
            <a:picLocks noChangeAspect="1"/>
          </p:cNvPicPr>
          <p:nvPr/>
        </p:nvPicPr>
        <p:blipFill rotWithShape="1">
          <a:blip r:embed="rId2"/>
          <a:srcRect r="1842"/>
          <a:stretch/>
        </p:blipFill>
        <p:spPr>
          <a:xfrm>
            <a:off x="166435" y="633412"/>
            <a:ext cx="8811129" cy="1357313"/>
          </a:xfrm>
          <a:prstGeom prst="rect">
            <a:avLst/>
          </a:prstGeom>
        </p:spPr>
      </p:pic>
      <p:sp>
        <p:nvSpPr>
          <p:cNvPr id="3" name="TextBox 2">
            <a:extLst>
              <a:ext uri="{FF2B5EF4-FFF2-40B4-BE49-F238E27FC236}">
                <a16:creationId xmlns:a16="http://schemas.microsoft.com/office/drawing/2014/main" id="{8E5D8F2D-1F19-43CE-8DE1-2C152C22DA62}"/>
              </a:ext>
            </a:extLst>
          </p:cNvPr>
          <p:cNvSpPr txBox="1"/>
          <p:nvPr/>
        </p:nvSpPr>
        <p:spPr>
          <a:xfrm>
            <a:off x="433135" y="371475"/>
            <a:ext cx="7677150" cy="369332"/>
          </a:xfrm>
          <a:prstGeom prst="rect">
            <a:avLst/>
          </a:prstGeom>
          <a:noFill/>
        </p:spPr>
        <p:txBody>
          <a:bodyPr wrap="square" rtlCol="0">
            <a:spAutoFit/>
          </a:bodyPr>
          <a:lstStyle/>
          <a:p>
            <a:r>
              <a:rPr lang="zh-CN" altLang="en-US" dirty="0"/>
              <a:t>指令寄存器（</a:t>
            </a:r>
            <a:r>
              <a:rPr lang="en-US" altLang="zh-CN" dirty="0"/>
              <a:t>IR</a:t>
            </a:r>
            <a:r>
              <a:rPr lang="zh-CN" altLang="en-US" dirty="0"/>
              <a:t>）在储存下一条指令的储存器中保存单元的地址。</a:t>
            </a:r>
            <a:endParaRPr lang="en-US" dirty="0"/>
          </a:p>
        </p:txBody>
      </p:sp>
      <p:sp>
        <p:nvSpPr>
          <p:cNvPr id="4" name="TextBox 3">
            <a:extLst>
              <a:ext uri="{FF2B5EF4-FFF2-40B4-BE49-F238E27FC236}">
                <a16:creationId xmlns:a16="http://schemas.microsoft.com/office/drawing/2014/main" id="{16008231-AF4C-45B7-BB9E-AB2F90AD074F}"/>
              </a:ext>
            </a:extLst>
          </p:cNvPr>
          <p:cNvSpPr txBox="1"/>
          <p:nvPr/>
        </p:nvSpPr>
        <p:spPr>
          <a:xfrm>
            <a:off x="342900" y="3019425"/>
            <a:ext cx="6010275" cy="2308324"/>
          </a:xfrm>
          <a:prstGeom prst="rect">
            <a:avLst/>
          </a:prstGeom>
          <a:noFill/>
        </p:spPr>
        <p:txBody>
          <a:bodyPr wrap="square" rtlCol="0">
            <a:spAutoFit/>
          </a:bodyPr>
          <a:lstStyle/>
          <a:p>
            <a:r>
              <a:rPr lang="en-US" altLang="zh-CN" dirty="0"/>
              <a:t>IR</a:t>
            </a:r>
            <a:r>
              <a:rPr lang="zh-CN" altLang="en-US" dirty="0"/>
              <a:t>是</a:t>
            </a:r>
            <a:r>
              <a:rPr lang="en-US" altLang="zh-CN" dirty="0"/>
              <a:t>data register</a:t>
            </a:r>
          </a:p>
          <a:p>
            <a:r>
              <a:rPr lang="en-US" altLang="zh-CN" dirty="0"/>
              <a:t>The program counter</a:t>
            </a:r>
            <a:r>
              <a:rPr lang="zh-CN" altLang="en-US" dirty="0"/>
              <a:t>（</a:t>
            </a:r>
            <a:r>
              <a:rPr lang="en-US" altLang="zh-CN" dirty="0"/>
              <a:t>PC</a:t>
            </a:r>
            <a:r>
              <a:rPr lang="zh-CN" altLang="en-US" dirty="0"/>
              <a:t>）</a:t>
            </a:r>
            <a:r>
              <a:rPr lang="en-US" altLang="zh-CN" dirty="0"/>
              <a:t> store</a:t>
            </a:r>
            <a:r>
              <a:rPr lang="zh-CN" altLang="en-US" dirty="0"/>
              <a:t>（</a:t>
            </a:r>
            <a:r>
              <a:rPr lang="en-US" altLang="zh-CN" dirty="0"/>
              <a:t>holds</a:t>
            </a:r>
            <a:r>
              <a:rPr lang="zh-CN" altLang="en-US" dirty="0"/>
              <a:t>）</a:t>
            </a:r>
            <a:r>
              <a:rPr lang="en-US" altLang="zh-CN" dirty="0"/>
              <a:t> address and</a:t>
            </a:r>
            <a:r>
              <a:rPr lang="zh-CN" altLang="en-US" dirty="0"/>
              <a:t> </a:t>
            </a:r>
            <a:r>
              <a:rPr lang="en-US" altLang="zh-CN" dirty="0"/>
              <a:t>tells</a:t>
            </a:r>
            <a:r>
              <a:rPr lang="zh-CN" altLang="en-US" dirty="0"/>
              <a:t> </a:t>
            </a:r>
            <a:r>
              <a:rPr lang="en-US" altLang="zh-CN" dirty="0"/>
              <a:t>us</a:t>
            </a:r>
            <a:r>
              <a:rPr lang="zh-CN" altLang="en-US" dirty="0"/>
              <a:t> </a:t>
            </a:r>
            <a:r>
              <a:rPr lang="en-US" altLang="zh-CN" dirty="0"/>
              <a:t>where to go and grab</a:t>
            </a:r>
            <a:r>
              <a:rPr lang="zh-CN" altLang="en-US" dirty="0"/>
              <a:t>（抓取）</a:t>
            </a:r>
            <a:endParaRPr lang="en-US" altLang="zh-CN" dirty="0"/>
          </a:p>
          <a:p>
            <a:r>
              <a:rPr lang="zh-CN" altLang="en-US" dirty="0"/>
              <a:t>但我们从内存中获取了值，那么该指令实际上将储存在</a:t>
            </a:r>
            <a:r>
              <a:rPr lang="en-US" altLang="zh-CN" dirty="0"/>
              <a:t>IR register</a:t>
            </a:r>
            <a:r>
              <a:rPr lang="zh-CN" altLang="en-US" dirty="0"/>
              <a:t>中。</a:t>
            </a:r>
            <a:endParaRPr lang="en-US" altLang="zh-CN" dirty="0"/>
          </a:p>
          <a:p>
            <a:r>
              <a:rPr lang="zh-CN" altLang="en-US" dirty="0"/>
              <a:t>储存在</a:t>
            </a:r>
            <a:r>
              <a:rPr lang="en-US" altLang="zh-CN" dirty="0"/>
              <a:t>IR</a:t>
            </a:r>
            <a:r>
              <a:rPr lang="zh-CN" altLang="en-US" dirty="0"/>
              <a:t>中的内容是什么，</a:t>
            </a:r>
            <a:r>
              <a:rPr lang="en-US" altLang="zh-CN" dirty="0"/>
              <a:t>system</a:t>
            </a:r>
            <a:r>
              <a:rPr lang="zh-CN" altLang="en-US" dirty="0"/>
              <a:t>需要对其解码</a:t>
            </a:r>
            <a:r>
              <a:rPr lang="en-US" altLang="zh-CN" dirty="0"/>
              <a:t>decode</a:t>
            </a:r>
            <a:r>
              <a:rPr lang="zh-CN" altLang="en-US" dirty="0"/>
              <a:t>，找出</a:t>
            </a:r>
            <a:r>
              <a:rPr lang="en-US" altLang="zh-CN" dirty="0"/>
              <a:t>which operation to</a:t>
            </a:r>
            <a:r>
              <a:rPr lang="zh-CN" altLang="en-US" dirty="0"/>
              <a:t> </a:t>
            </a:r>
            <a:r>
              <a:rPr lang="en-US" altLang="zh-CN" dirty="0"/>
              <a:t>work</a:t>
            </a:r>
            <a:r>
              <a:rPr lang="zh-CN" altLang="en-US" dirty="0"/>
              <a:t> </a:t>
            </a:r>
            <a:r>
              <a:rPr lang="en-US" altLang="zh-CN" dirty="0"/>
              <a:t>and</a:t>
            </a:r>
            <a:r>
              <a:rPr lang="zh-CN" altLang="en-US" dirty="0"/>
              <a:t> </a:t>
            </a:r>
            <a:r>
              <a:rPr lang="en-US" altLang="zh-CN" dirty="0"/>
              <a:t>what are operand</a:t>
            </a:r>
            <a:r>
              <a:rPr lang="zh-CN" altLang="en-US" dirty="0"/>
              <a:t>（运算对象）</a:t>
            </a:r>
            <a:r>
              <a:rPr lang="en-US" altLang="zh-CN" dirty="0"/>
              <a:t>are going to be.</a:t>
            </a:r>
            <a:endParaRPr lang="en-US" dirty="0"/>
          </a:p>
        </p:txBody>
      </p:sp>
      <p:sp>
        <p:nvSpPr>
          <p:cNvPr id="6" name="TextBox 5">
            <a:extLst>
              <a:ext uri="{FF2B5EF4-FFF2-40B4-BE49-F238E27FC236}">
                <a16:creationId xmlns:a16="http://schemas.microsoft.com/office/drawing/2014/main" id="{A73651CA-3499-44F0-A2F4-BA7F8F3D3B8B}"/>
              </a:ext>
            </a:extLst>
          </p:cNvPr>
          <p:cNvSpPr txBox="1"/>
          <p:nvPr/>
        </p:nvSpPr>
        <p:spPr>
          <a:xfrm>
            <a:off x="742950" y="5524411"/>
            <a:ext cx="4572000" cy="1200329"/>
          </a:xfrm>
          <a:prstGeom prst="rect">
            <a:avLst/>
          </a:prstGeom>
          <a:noFill/>
        </p:spPr>
        <p:txBody>
          <a:bodyPr wrap="square">
            <a:spAutoFit/>
          </a:bodyPr>
          <a:lstStyle/>
          <a:p>
            <a:r>
              <a:rPr lang="en-US" altLang="en-US" b="1" dirty="0">
                <a:latin typeface="Arial" panose="020B0604020202020204" pitchFamily="34" charset="0"/>
                <a:ea typeface="ＭＳ Ｐゴシック" panose="020B0600070205080204" pitchFamily="34" charset="-128"/>
                <a:cs typeface="Arial" panose="020B0604020202020204" pitchFamily="34" charset="0"/>
              </a:rPr>
              <a:t>Program counter (PC)</a:t>
            </a:r>
            <a:r>
              <a:rPr lang="en-US" altLang="en-US" dirty="0">
                <a:latin typeface="Arial" panose="020B0604020202020204" pitchFamily="34" charset="0"/>
                <a:ea typeface="ＭＳ Ｐゴシック" panose="020B0600070205080204" pitchFamily="34" charset="-128"/>
                <a:cs typeface="Arial" panose="020B0604020202020204" pitchFamily="34" charset="0"/>
              </a:rPr>
              <a:t> register: holds address of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next</a:t>
            </a:r>
            <a:r>
              <a:rPr lang="en-US" altLang="en-US" dirty="0">
                <a:latin typeface="Arial" panose="020B0604020202020204" pitchFamily="34" charset="0"/>
                <a:ea typeface="ＭＳ Ｐゴシック" panose="020B0600070205080204" pitchFamily="34" charset="-128"/>
                <a:cs typeface="Arial" panose="020B0604020202020204" pitchFamily="34" charset="0"/>
              </a:rPr>
              <a:t> instruction</a:t>
            </a:r>
          </a:p>
          <a:p>
            <a:r>
              <a:rPr lang="en-US" altLang="en-US" b="1" dirty="0">
                <a:latin typeface="Arial" panose="020B0604020202020204" pitchFamily="34" charset="0"/>
                <a:ea typeface="ＭＳ Ｐゴシック" panose="020B0600070205080204" pitchFamily="34" charset="-128"/>
                <a:cs typeface="Arial" panose="020B0604020202020204" pitchFamily="34" charset="0"/>
              </a:rPr>
              <a:t>Instruction register (IR)</a:t>
            </a:r>
            <a:r>
              <a:rPr lang="en-US" altLang="en-US" dirty="0">
                <a:latin typeface="Arial" panose="020B0604020202020204" pitchFamily="34" charset="0"/>
                <a:ea typeface="ＭＳ Ｐゴシック" panose="020B0600070205080204" pitchFamily="34" charset="-128"/>
                <a:cs typeface="Arial" panose="020B0604020202020204" pitchFamily="34" charset="0"/>
              </a:rPr>
              <a:t>: holds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encoding</a:t>
            </a:r>
            <a:r>
              <a:rPr lang="en-US" altLang="en-US" dirty="0">
                <a:latin typeface="Arial" panose="020B0604020202020204" pitchFamily="34" charset="0"/>
                <a:ea typeface="ＭＳ Ｐゴシック" panose="020B0600070205080204" pitchFamily="34" charset="-128"/>
                <a:cs typeface="Arial" panose="020B0604020202020204" pitchFamily="34" charset="0"/>
              </a:rPr>
              <a:t> of </a:t>
            </a:r>
            <a:r>
              <a:rPr lang="en-US" altLang="en-US"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current</a:t>
            </a:r>
            <a:r>
              <a:rPr lang="en-US" altLang="en-US" dirty="0">
                <a:latin typeface="Arial" panose="020B0604020202020204" pitchFamily="34" charset="0"/>
                <a:ea typeface="ＭＳ Ｐゴシック" panose="020B0600070205080204" pitchFamily="34" charset="-128"/>
                <a:cs typeface="Arial" panose="020B0604020202020204" pitchFamily="34" charset="0"/>
              </a:rPr>
              <a:t> instruction</a:t>
            </a:r>
          </a:p>
        </p:txBody>
      </p:sp>
    </p:spTree>
    <p:extLst>
      <p:ext uri="{BB962C8B-B14F-4D97-AF65-F5344CB8AC3E}">
        <p14:creationId xmlns:p14="http://schemas.microsoft.com/office/powerpoint/2010/main" val="34743129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9EE362-D436-4F7E-B4D5-83EDD5ABC40F}"/>
              </a:ext>
            </a:extLst>
          </p:cNvPr>
          <p:cNvPicPr>
            <a:picLocks noChangeAspect="1"/>
          </p:cNvPicPr>
          <p:nvPr/>
        </p:nvPicPr>
        <p:blipFill>
          <a:blip r:embed="rId2"/>
          <a:stretch>
            <a:fillRect/>
          </a:stretch>
        </p:blipFill>
        <p:spPr>
          <a:xfrm>
            <a:off x="806839" y="947737"/>
            <a:ext cx="8037123" cy="1357313"/>
          </a:xfrm>
          <a:prstGeom prst="rect">
            <a:avLst/>
          </a:prstGeom>
        </p:spPr>
      </p:pic>
      <p:sp>
        <p:nvSpPr>
          <p:cNvPr id="3" name="TextBox 2">
            <a:extLst>
              <a:ext uri="{FF2B5EF4-FFF2-40B4-BE49-F238E27FC236}">
                <a16:creationId xmlns:a16="http://schemas.microsoft.com/office/drawing/2014/main" id="{247D9D94-497C-4544-9333-75EED6C0ECF1}"/>
              </a:ext>
            </a:extLst>
          </p:cNvPr>
          <p:cNvSpPr txBox="1"/>
          <p:nvPr/>
        </p:nvSpPr>
        <p:spPr>
          <a:xfrm>
            <a:off x="7041356" y="777358"/>
            <a:ext cx="1457325" cy="369332"/>
          </a:xfrm>
          <a:prstGeom prst="rect">
            <a:avLst/>
          </a:prstGeom>
          <a:noFill/>
        </p:spPr>
        <p:txBody>
          <a:bodyPr wrap="square" rtlCol="0">
            <a:spAutoFit/>
          </a:bodyPr>
          <a:lstStyle/>
          <a:p>
            <a:r>
              <a:rPr lang="zh-CN" altLang="en-US" dirty="0"/>
              <a:t>原理</a:t>
            </a:r>
            <a:endParaRPr lang="en-US" dirty="0"/>
          </a:p>
        </p:txBody>
      </p:sp>
    </p:spTree>
    <p:extLst>
      <p:ext uri="{BB962C8B-B14F-4D97-AF65-F5344CB8AC3E}">
        <p14:creationId xmlns:p14="http://schemas.microsoft.com/office/powerpoint/2010/main" val="2404852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645658-DAB3-4814-A4CD-B36ED3D7DAE0}"/>
              </a:ext>
            </a:extLst>
          </p:cNvPr>
          <p:cNvPicPr>
            <a:picLocks noChangeAspect="1"/>
          </p:cNvPicPr>
          <p:nvPr/>
        </p:nvPicPr>
        <p:blipFill>
          <a:blip r:embed="rId2"/>
          <a:stretch>
            <a:fillRect/>
          </a:stretch>
        </p:blipFill>
        <p:spPr>
          <a:xfrm>
            <a:off x="403387" y="1190626"/>
            <a:ext cx="8337225" cy="2005012"/>
          </a:xfrm>
          <a:prstGeom prst="rect">
            <a:avLst/>
          </a:prstGeom>
        </p:spPr>
      </p:pic>
      <p:sp>
        <p:nvSpPr>
          <p:cNvPr id="6" name="TextBox 5">
            <a:extLst>
              <a:ext uri="{FF2B5EF4-FFF2-40B4-BE49-F238E27FC236}">
                <a16:creationId xmlns:a16="http://schemas.microsoft.com/office/drawing/2014/main" id="{6EC84D7A-4C35-4532-ABD9-FE6997D89127}"/>
              </a:ext>
            </a:extLst>
          </p:cNvPr>
          <p:cNvSpPr txBox="1"/>
          <p:nvPr/>
        </p:nvSpPr>
        <p:spPr>
          <a:xfrm>
            <a:off x="1528761" y="2826306"/>
            <a:ext cx="6019800" cy="369332"/>
          </a:xfrm>
          <a:prstGeom prst="rect">
            <a:avLst/>
          </a:prstGeom>
          <a:noFill/>
        </p:spPr>
        <p:txBody>
          <a:bodyPr wrap="square" rtlCol="0">
            <a:spAutoFit/>
          </a:bodyPr>
          <a:lstStyle/>
          <a:p>
            <a:r>
              <a:rPr lang="en-US" altLang="zh-CN" dirty="0"/>
              <a:t>Single instruction multiple data</a:t>
            </a:r>
            <a:endParaRPr lang="en-US" dirty="0"/>
          </a:p>
        </p:txBody>
      </p:sp>
      <p:sp>
        <p:nvSpPr>
          <p:cNvPr id="7" name="TextBox 6">
            <a:extLst>
              <a:ext uri="{FF2B5EF4-FFF2-40B4-BE49-F238E27FC236}">
                <a16:creationId xmlns:a16="http://schemas.microsoft.com/office/drawing/2014/main" id="{F99BD563-A2DF-4DFC-AEE9-219DEB874633}"/>
              </a:ext>
            </a:extLst>
          </p:cNvPr>
          <p:cNvSpPr txBox="1"/>
          <p:nvPr/>
        </p:nvSpPr>
        <p:spPr>
          <a:xfrm>
            <a:off x="1595436" y="821294"/>
            <a:ext cx="5953125" cy="369332"/>
          </a:xfrm>
          <a:prstGeom prst="rect">
            <a:avLst/>
          </a:prstGeom>
          <a:noFill/>
        </p:spPr>
        <p:txBody>
          <a:bodyPr wrap="square" rtlCol="0">
            <a:spAutoFit/>
          </a:bodyPr>
          <a:lstStyle/>
          <a:p>
            <a:r>
              <a:rPr lang="en-US" altLang="zh-CN" dirty="0"/>
              <a:t>ALU</a:t>
            </a:r>
            <a:r>
              <a:rPr lang="zh-CN" altLang="en-US" dirty="0"/>
              <a:t>被重复多次的一个并行架构称作什么？</a:t>
            </a:r>
            <a:endParaRPr lang="en-US" dirty="0"/>
          </a:p>
        </p:txBody>
      </p:sp>
    </p:spTree>
    <p:extLst>
      <p:ext uri="{BB962C8B-B14F-4D97-AF65-F5344CB8AC3E}">
        <p14:creationId xmlns:p14="http://schemas.microsoft.com/office/powerpoint/2010/main" val="42160548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71965F-432D-4917-BB2A-87E433B3E71F}"/>
              </a:ext>
            </a:extLst>
          </p:cNvPr>
          <p:cNvPicPr>
            <a:picLocks noChangeAspect="1"/>
          </p:cNvPicPr>
          <p:nvPr/>
        </p:nvPicPr>
        <p:blipFill>
          <a:blip r:embed="rId2"/>
          <a:stretch>
            <a:fillRect/>
          </a:stretch>
        </p:blipFill>
        <p:spPr>
          <a:xfrm>
            <a:off x="590550" y="1214437"/>
            <a:ext cx="7639050" cy="1285875"/>
          </a:xfrm>
          <a:prstGeom prst="rect">
            <a:avLst/>
          </a:prstGeom>
        </p:spPr>
      </p:pic>
      <p:sp>
        <p:nvSpPr>
          <p:cNvPr id="3" name="TextBox 2">
            <a:extLst>
              <a:ext uri="{FF2B5EF4-FFF2-40B4-BE49-F238E27FC236}">
                <a16:creationId xmlns:a16="http://schemas.microsoft.com/office/drawing/2014/main" id="{4521EC74-255D-4266-8BAC-AC1B559E60AC}"/>
              </a:ext>
            </a:extLst>
          </p:cNvPr>
          <p:cNvSpPr txBox="1"/>
          <p:nvPr/>
        </p:nvSpPr>
        <p:spPr>
          <a:xfrm>
            <a:off x="914400" y="845105"/>
            <a:ext cx="6572250" cy="369332"/>
          </a:xfrm>
          <a:prstGeom prst="rect">
            <a:avLst/>
          </a:prstGeom>
          <a:noFill/>
        </p:spPr>
        <p:txBody>
          <a:bodyPr wrap="square" rtlCol="0">
            <a:spAutoFit/>
          </a:bodyPr>
          <a:lstStyle/>
          <a:p>
            <a:r>
              <a:rPr lang="en-US" altLang="zh-CN" dirty="0"/>
              <a:t>BIONIC</a:t>
            </a:r>
            <a:r>
              <a:rPr lang="zh-CN" altLang="en-US" dirty="0"/>
              <a:t>是网格计算的示例，是一种多指令多数据并行处理</a:t>
            </a:r>
            <a:endParaRPr lang="en-US" dirty="0"/>
          </a:p>
        </p:txBody>
      </p:sp>
    </p:spTree>
    <p:extLst>
      <p:ext uri="{BB962C8B-B14F-4D97-AF65-F5344CB8AC3E}">
        <p14:creationId xmlns:p14="http://schemas.microsoft.com/office/powerpoint/2010/main" val="26983970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72907D-54A3-4D6F-B314-225AE3BFF513}"/>
              </a:ext>
            </a:extLst>
          </p:cNvPr>
          <p:cNvPicPr>
            <a:picLocks noChangeAspect="1"/>
          </p:cNvPicPr>
          <p:nvPr/>
        </p:nvPicPr>
        <p:blipFill>
          <a:blip r:embed="rId2"/>
          <a:stretch>
            <a:fillRect/>
          </a:stretch>
        </p:blipFill>
        <p:spPr>
          <a:xfrm>
            <a:off x="0" y="2285999"/>
            <a:ext cx="9127514" cy="1438275"/>
          </a:xfrm>
          <a:prstGeom prst="rect">
            <a:avLst/>
          </a:prstGeom>
        </p:spPr>
      </p:pic>
      <p:sp>
        <p:nvSpPr>
          <p:cNvPr id="3" name="TextBox 2">
            <a:extLst>
              <a:ext uri="{FF2B5EF4-FFF2-40B4-BE49-F238E27FC236}">
                <a16:creationId xmlns:a16="http://schemas.microsoft.com/office/drawing/2014/main" id="{99180817-5AFF-487D-A2DE-DB13DE329A61}"/>
              </a:ext>
            </a:extLst>
          </p:cNvPr>
          <p:cNvSpPr txBox="1"/>
          <p:nvPr/>
        </p:nvSpPr>
        <p:spPr>
          <a:xfrm>
            <a:off x="971550" y="1600200"/>
            <a:ext cx="6734175" cy="369332"/>
          </a:xfrm>
          <a:prstGeom prst="rect">
            <a:avLst/>
          </a:prstGeom>
          <a:noFill/>
        </p:spPr>
        <p:txBody>
          <a:bodyPr wrap="square" rtlCol="0">
            <a:spAutoFit/>
          </a:bodyPr>
          <a:lstStyle/>
          <a:p>
            <a:r>
              <a:rPr lang="zh-CN" altLang="en-US" dirty="0"/>
              <a:t>顺序处理器无法在合理时间内执行非常大的计算的问题称为。。</a:t>
            </a:r>
            <a:endParaRPr lang="en-US" dirty="0"/>
          </a:p>
        </p:txBody>
      </p:sp>
      <p:sp>
        <p:nvSpPr>
          <p:cNvPr id="4" name="TextBox 3">
            <a:extLst>
              <a:ext uri="{FF2B5EF4-FFF2-40B4-BE49-F238E27FC236}">
                <a16:creationId xmlns:a16="http://schemas.microsoft.com/office/drawing/2014/main" id="{32A90C16-6FFB-4655-B735-000B3BAC0553}"/>
              </a:ext>
            </a:extLst>
          </p:cNvPr>
          <p:cNvSpPr txBox="1"/>
          <p:nvPr/>
        </p:nvSpPr>
        <p:spPr>
          <a:xfrm>
            <a:off x="2876550" y="3225284"/>
            <a:ext cx="895350" cy="369332"/>
          </a:xfrm>
          <a:prstGeom prst="rect">
            <a:avLst/>
          </a:prstGeom>
          <a:noFill/>
        </p:spPr>
        <p:txBody>
          <a:bodyPr wrap="square" rtlCol="0">
            <a:spAutoFit/>
          </a:bodyPr>
          <a:lstStyle/>
          <a:p>
            <a:r>
              <a:rPr lang="zh-CN" altLang="en-US" dirty="0"/>
              <a:t>瓶颈</a:t>
            </a:r>
            <a:endParaRPr lang="en-US" dirty="0"/>
          </a:p>
        </p:txBody>
      </p:sp>
    </p:spTree>
    <p:extLst>
      <p:ext uri="{BB962C8B-B14F-4D97-AF65-F5344CB8AC3E}">
        <p14:creationId xmlns:p14="http://schemas.microsoft.com/office/powerpoint/2010/main" val="30069278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2BBB0B-9AB6-4F90-8511-C37E1CB8B591}"/>
              </a:ext>
            </a:extLst>
          </p:cNvPr>
          <p:cNvPicPr>
            <a:picLocks noChangeAspect="1"/>
          </p:cNvPicPr>
          <p:nvPr/>
        </p:nvPicPr>
        <p:blipFill>
          <a:blip r:embed="rId2"/>
          <a:stretch>
            <a:fillRect/>
          </a:stretch>
        </p:blipFill>
        <p:spPr>
          <a:xfrm>
            <a:off x="230254" y="2419350"/>
            <a:ext cx="8683489" cy="1743075"/>
          </a:xfrm>
          <a:prstGeom prst="rect">
            <a:avLst/>
          </a:prstGeom>
        </p:spPr>
      </p:pic>
      <p:sp>
        <p:nvSpPr>
          <p:cNvPr id="3" name="TextBox 2">
            <a:extLst>
              <a:ext uri="{FF2B5EF4-FFF2-40B4-BE49-F238E27FC236}">
                <a16:creationId xmlns:a16="http://schemas.microsoft.com/office/drawing/2014/main" id="{85BC0D1B-F8F7-489B-BB84-897D2F273229}"/>
              </a:ext>
            </a:extLst>
          </p:cNvPr>
          <p:cNvSpPr txBox="1"/>
          <p:nvPr/>
        </p:nvSpPr>
        <p:spPr>
          <a:xfrm>
            <a:off x="6843609" y="2253734"/>
            <a:ext cx="2109787" cy="369332"/>
          </a:xfrm>
          <a:prstGeom prst="rect">
            <a:avLst/>
          </a:prstGeom>
          <a:noFill/>
        </p:spPr>
        <p:txBody>
          <a:bodyPr wrap="square" rtlCol="0">
            <a:spAutoFit/>
          </a:bodyPr>
          <a:lstStyle/>
          <a:p>
            <a:r>
              <a:rPr lang="zh-CN" altLang="en-US" dirty="0"/>
              <a:t>就不能扩展的</a:t>
            </a:r>
            <a:endParaRPr lang="en-US" dirty="0"/>
          </a:p>
        </p:txBody>
      </p:sp>
      <p:sp>
        <p:nvSpPr>
          <p:cNvPr id="4" name="TextBox 3">
            <a:extLst>
              <a:ext uri="{FF2B5EF4-FFF2-40B4-BE49-F238E27FC236}">
                <a16:creationId xmlns:a16="http://schemas.microsoft.com/office/drawing/2014/main" id="{9712C7DF-0ABC-4CDA-BF28-4B05D6FC6862}"/>
              </a:ext>
            </a:extLst>
          </p:cNvPr>
          <p:cNvSpPr txBox="1"/>
          <p:nvPr/>
        </p:nvSpPr>
        <p:spPr>
          <a:xfrm>
            <a:off x="5105400" y="2253734"/>
            <a:ext cx="1619250" cy="369332"/>
          </a:xfrm>
          <a:prstGeom prst="rect">
            <a:avLst/>
          </a:prstGeom>
          <a:noFill/>
        </p:spPr>
        <p:txBody>
          <a:bodyPr wrap="square" rtlCol="0">
            <a:spAutoFit/>
          </a:bodyPr>
          <a:lstStyle/>
          <a:p>
            <a:r>
              <a:rPr lang="zh-CN" altLang="en-US" dirty="0"/>
              <a:t>一旦实施</a:t>
            </a:r>
            <a:endParaRPr lang="en-US" dirty="0"/>
          </a:p>
        </p:txBody>
      </p:sp>
    </p:spTree>
    <p:extLst>
      <p:ext uri="{BB962C8B-B14F-4D97-AF65-F5344CB8AC3E}">
        <p14:creationId xmlns:p14="http://schemas.microsoft.com/office/powerpoint/2010/main" val="2532940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3834</TotalTime>
  <Words>5836</Words>
  <Application>Microsoft Office PowerPoint</Application>
  <PresentationFormat>On-screen Show (4:3)</PresentationFormat>
  <Paragraphs>643</Paragraphs>
  <Slides>75</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75</vt:i4>
      </vt:variant>
    </vt:vector>
  </HeadingPairs>
  <TitlesOfParts>
    <vt:vector size="80" baseType="lpstr">
      <vt:lpstr>Arial</vt:lpstr>
      <vt:lpstr>Calibri</vt:lpstr>
      <vt:lpstr>Courier New</vt:lpstr>
      <vt:lpstr>Wingdings</vt:lpstr>
      <vt:lpstr>Office Theme</vt:lpstr>
      <vt:lpstr>Chapter 5</vt:lpstr>
      <vt:lpstr>Learning Objectives (1 of 2)</vt:lpstr>
      <vt:lpstr>Learning Objectives (2 of 2)</vt:lpstr>
      <vt:lpstr> Introduction (1 of 2)</vt:lpstr>
      <vt:lpstr> Introduction (2 of 2)</vt:lpstr>
      <vt:lpstr>The Components of a Computer System (1 of 2)</vt:lpstr>
      <vt:lpstr>The Components of a Computer System (2 of 2)</vt:lpstr>
      <vt:lpstr>The Components of a Computer System Memory and Cache (1 of 9)</vt:lpstr>
      <vt:lpstr>The Components of a Computer System Memory and Cache (2 of 9)</vt:lpstr>
      <vt:lpstr>The Components of a Computer System Memory and Cache (3 of 9)</vt:lpstr>
      <vt:lpstr>The Components of a Computer System Memory and Cache (4 of 9)</vt:lpstr>
      <vt:lpstr>The Components of a Computer System Memory and Cache (5 of 9)</vt:lpstr>
      <vt:lpstr>The Components of a Computer System Memory and Cache (6 of 9)</vt:lpstr>
      <vt:lpstr>The Components of a Computer System Memory and Cache (7 of 9)</vt:lpstr>
      <vt:lpstr>The Components of a Computer System Memory and Cache (8 of 9)</vt:lpstr>
      <vt:lpstr>The Components of a Computer System Memory and Cache (9 of 9)</vt:lpstr>
      <vt:lpstr>The Components of a Computer System Input/Output and Mass Storage</vt:lpstr>
      <vt:lpstr>The Components of a Computer System I/O and Mass Storage (1 of 6)</vt:lpstr>
      <vt:lpstr>The Components of a Computer System I/O and Mass Storage (2 of 6)</vt:lpstr>
      <vt:lpstr>The Components of a Computer System I/O and Mass Storage (3 of 6)</vt:lpstr>
      <vt:lpstr>The Components of a Computer System I/O and Mass Storage (4 of 6)</vt:lpstr>
      <vt:lpstr>The Components of a Computer System The Arithmetic/Logic Unit</vt:lpstr>
      <vt:lpstr>The Components of a Computer System I/O and Mass Storage (5 of 6)</vt:lpstr>
      <vt:lpstr>The Components of a Computer System I/O and Mass Storage (6 of 6)</vt:lpstr>
      <vt:lpstr>The Components of a Computer System The ALU (1 of 4)</vt:lpstr>
      <vt:lpstr>The Components of a Computer System The ALU (2 of 4)</vt:lpstr>
      <vt:lpstr>The Components of a Computer System The ALU (3 of 4)</vt:lpstr>
      <vt:lpstr>The Components of a Computer System The ALU (4 of 4)</vt:lpstr>
      <vt:lpstr>The Components of a Computer System The Control Unit (1 of 9)</vt:lpstr>
      <vt:lpstr>The Components of a Computer System The Control Unit (2 of 9)</vt:lpstr>
      <vt:lpstr>The Components of a Computer System The Control Unit (3 of 9)</vt:lpstr>
      <vt:lpstr>The Components of a Computer System The Control Unit (4 of 9)</vt:lpstr>
      <vt:lpstr>The Components of a Computer System The Control Unit (5 of 9)</vt:lpstr>
      <vt:lpstr>The Components of a Computer System The Control Unit (6 of 9)</vt:lpstr>
      <vt:lpstr>The Components of a Computer System The Control Unit (7 of 9)</vt:lpstr>
      <vt:lpstr>The Components of a Computer System The Control Unit (8 of 9)</vt:lpstr>
      <vt:lpstr>The Components of a Computer System The Control Unit (9 of 9)</vt:lpstr>
      <vt:lpstr>Putting the Pieces Together—the Von Neumann Architecture (1 of 9)</vt:lpstr>
      <vt:lpstr>Putting the Pieces Together—the Von Neumann Architecture (2 of 9)</vt:lpstr>
      <vt:lpstr>Putting the Pieces Together—the Von Neumann Architecture (3 of 9)</vt:lpstr>
      <vt:lpstr>Putting the Pieces Together—the Von Neumann Architecture (4 of 9)</vt:lpstr>
      <vt:lpstr>Putting the Pieces Together—the Von Neumann Architecture (5 of 9)</vt:lpstr>
      <vt:lpstr>Putting the Pieces Together—the Von Neumann Architecture (6 of 9)</vt:lpstr>
      <vt:lpstr>Putting the Pieces Together—the Von Neumann Architecture (7 of 9)</vt:lpstr>
      <vt:lpstr>Putting the Pieces Together—the Von Neumann Architecture (8 of 9)</vt:lpstr>
      <vt:lpstr>Putting the Pieces Together—the Von Neumann Architecture (9 of 9)</vt:lpstr>
      <vt:lpstr>Non–Von Neumann Architectures (1 of 6)</vt:lpstr>
      <vt:lpstr>Non–Von Neumann Architectures (2 of 6)</vt:lpstr>
      <vt:lpstr>Non–Von Neumann Architectures (3 of 6)</vt:lpstr>
      <vt:lpstr>Non–Von Neumann Architectures (4 of 6)</vt:lpstr>
      <vt:lpstr>Non–Von Neumann Architectures (5 of 6)</vt:lpstr>
      <vt:lpstr>Non–Von Neumann Architectures (6 of 6)</vt:lpstr>
      <vt:lpstr>PowerPoint Presentation</vt:lpstr>
      <vt:lpstr>PowerPoint Presentation</vt:lpstr>
      <vt:lpstr>Summary (1 of 2)</vt:lpstr>
      <vt:lpstr>Summary (2 of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Computer Systems Organization</dc:title>
  <dc:creator>Schneider</dc:creator>
  <cp:lastModifiedBy>Jiahui Xia</cp:lastModifiedBy>
  <cp:revision>218</cp:revision>
  <dcterms:created xsi:type="dcterms:W3CDTF">2015-05-05T09:30:46Z</dcterms:created>
  <dcterms:modified xsi:type="dcterms:W3CDTF">2020-09-21T20:50:41Z</dcterms:modified>
</cp:coreProperties>
</file>