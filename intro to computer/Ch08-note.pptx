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handoutMasterIdLst>
    <p:handoutMasterId r:id="rId44"/>
  </p:handoutMasterIdLst>
  <p:sldIdLst>
    <p:sldId id="288" r:id="rId2"/>
    <p:sldId id="257" r:id="rId3"/>
    <p:sldId id="259" r:id="rId4"/>
    <p:sldId id="260" r:id="rId5"/>
    <p:sldId id="261" r:id="rId6"/>
    <p:sldId id="262" r:id="rId7"/>
    <p:sldId id="264" r:id="rId8"/>
    <p:sldId id="265" r:id="rId9"/>
    <p:sldId id="266" r:id="rId10"/>
    <p:sldId id="267" r:id="rId11"/>
    <p:sldId id="268" r:id="rId12"/>
    <p:sldId id="269" r:id="rId13"/>
    <p:sldId id="270" r:id="rId14"/>
    <p:sldId id="289" r:id="rId15"/>
    <p:sldId id="290" r:id="rId16"/>
    <p:sldId id="291" r:id="rId17"/>
    <p:sldId id="292" r:id="rId18"/>
    <p:sldId id="293" r:id="rId19"/>
    <p:sldId id="294" r:id="rId20"/>
    <p:sldId id="295" r:id="rId21"/>
    <p:sldId id="271" r:id="rId22"/>
    <p:sldId id="272" r:id="rId23"/>
    <p:sldId id="273" r:id="rId24"/>
    <p:sldId id="274" r:id="rId25"/>
    <p:sldId id="275" r:id="rId26"/>
    <p:sldId id="277" r:id="rId27"/>
    <p:sldId id="263" r:id="rId28"/>
    <p:sldId id="276" r:id="rId29"/>
    <p:sldId id="278" r:id="rId30"/>
    <p:sldId id="279" r:id="rId31"/>
    <p:sldId id="280" r:id="rId32"/>
    <p:sldId id="281" r:id="rId33"/>
    <p:sldId id="282" r:id="rId34"/>
    <p:sldId id="296" r:id="rId35"/>
    <p:sldId id="297" r:id="rId36"/>
    <p:sldId id="298" r:id="rId37"/>
    <p:sldId id="283" r:id="rId38"/>
    <p:sldId id="284" r:id="rId39"/>
    <p:sldId id="285" r:id="rId40"/>
    <p:sldId id="286" r:id="rId41"/>
    <p:sldId id="287" r:id="rId4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5">
          <p15:clr>
            <a:srgbClr val="A4A3A4"/>
          </p15:clr>
        </p15:guide>
        <p15:guide id="2" pos="5612">
          <p15:clr>
            <a:srgbClr val="A4A3A4"/>
          </p15:clr>
        </p15:guide>
        <p15:guide id="3" pos="4085">
          <p15:clr>
            <a:srgbClr val="A4A3A4"/>
          </p15:clr>
        </p15:guide>
        <p15:guide id="4" pos="288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36E75"/>
    <a:srgbClr val="34B14B"/>
    <a:srgbClr val="5FC3DA"/>
    <a:srgbClr val="D2D927"/>
    <a:srgbClr val="1F3668"/>
    <a:srgbClr val="D72229"/>
    <a:srgbClr val="5A7B36"/>
    <a:srgbClr val="2C3C22"/>
    <a:srgbClr val="A2D35D"/>
    <a:srgbClr val="F3702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279" autoAdjust="0"/>
    <p:restoredTop sz="66262" autoAdjust="0"/>
  </p:normalViewPr>
  <p:slideViewPr>
    <p:cSldViewPr snapToGrid="0">
      <p:cViewPr varScale="1">
        <p:scale>
          <a:sx n="44" d="100"/>
          <a:sy n="44" d="100"/>
        </p:scale>
        <p:origin x="1780" y="52"/>
      </p:cViewPr>
      <p:guideLst>
        <p:guide orient="horz" pos="705"/>
        <p:guide pos="5612"/>
        <p:guide pos="4085"/>
        <p:guide pos="2881"/>
      </p:guideLst>
    </p:cSldViewPr>
  </p:slideViewPr>
  <p:outlineViewPr>
    <p:cViewPr>
      <p:scale>
        <a:sx n="33" d="100"/>
        <a:sy n="33" d="100"/>
      </p:scale>
      <p:origin x="0" y="-12036"/>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114" d="100"/>
          <a:sy n="114" d="100"/>
        </p:scale>
        <p:origin x="-5032"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A65FDED-9808-2145-B21E-E47DA86996FE}" type="datetimeFigureOut">
              <a:rPr lang="en-US" smtClean="0"/>
              <a:t>11/6/2020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5C2110-F9BA-5949-A42B-CE3DC41F2361}" type="slidenum">
              <a:rPr lang="en-US" smtClean="0"/>
              <a:t>‹#›</a:t>
            </a:fld>
            <a:endParaRPr lang="en-US" dirty="0"/>
          </a:p>
        </p:txBody>
      </p:sp>
    </p:spTree>
    <p:extLst>
      <p:ext uri="{BB962C8B-B14F-4D97-AF65-F5344CB8AC3E}">
        <p14:creationId xmlns:p14="http://schemas.microsoft.com/office/powerpoint/2010/main" val="29341999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2B3269-F868-1148-8D0F-00224D62984F}" type="datetimeFigureOut">
              <a:rPr lang="en-US" smtClean="0"/>
              <a:t>11/6/2020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483670-0D61-9349-97AC-A9731AA75D95}" type="slidenum">
              <a:rPr lang="en-US" smtClean="0"/>
              <a:t>‹#›</a:t>
            </a:fld>
            <a:endParaRPr lang="en-US" dirty="0"/>
          </a:p>
        </p:txBody>
      </p:sp>
    </p:spTree>
    <p:extLst>
      <p:ext uri="{BB962C8B-B14F-4D97-AF65-F5344CB8AC3E}">
        <p14:creationId xmlns:p14="http://schemas.microsoft.com/office/powerpoint/2010/main" val="392382414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483670-0D61-9349-97AC-A9731AA75D95}" type="slidenum">
              <a:rPr lang="en-US" smtClean="0"/>
              <a:t>1</a:t>
            </a:fld>
            <a:endParaRPr lang="en-US" dirty="0"/>
          </a:p>
        </p:txBody>
      </p:sp>
    </p:spTree>
    <p:extLst>
      <p:ext uri="{BB962C8B-B14F-4D97-AF65-F5344CB8AC3E}">
        <p14:creationId xmlns:p14="http://schemas.microsoft.com/office/powerpoint/2010/main" val="3968861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解释身份验证和授权之间的区别</a:t>
            </a:r>
          </a:p>
          <a:p>
            <a:r>
              <a:rPr lang="zh-CN" altLang="en-US" dirty="0"/>
              <a:t>解释使用哈希函数对计算机系统上的密码进行加密</a:t>
            </a:r>
          </a:p>
          <a:p>
            <a:r>
              <a:rPr lang="zh-CN" altLang="en-US" dirty="0"/>
              <a:t>描述网络攻击，包括病毒，蠕虫，特洛伊木马，</a:t>
            </a:r>
            <a:r>
              <a:rPr lang="en-US" altLang="zh-CN" dirty="0"/>
              <a:t>DoS</a:t>
            </a:r>
            <a:r>
              <a:rPr lang="zh-CN" altLang="en-US" dirty="0"/>
              <a:t>攻击和网络钓鱼，并说明它们之间的区别</a:t>
            </a:r>
          </a:p>
          <a:p>
            <a:r>
              <a:rPr lang="zh-CN" altLang="en-US" dirty="0"/>
              <a:t>描述提高计算机和在线信息安全性的方法</a:t>
            </a:r>
          </a:p>
          <a:p>
            <a:r>
              <a:rPr lang="zh-CN" altLang="en-US" dirty="0"/>
              <a:t>使用简单的</a:t>
            </a:r>
            <a:r>
              <a:rPr lang="en-US" altLang="zh-CN" dirty="0"/>
              <a:t>Caesar</a:t>
            </a:r>
            <a:r>
              <a:rPr lang="zh-CN" altLang="en-US" dirty="0"/>
              <a:t>密码和基于矩阵的分组密码对消息进行加密和解密</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a:t>
            </a:fld>
            <a:endParaRPr lang="en-US" dirty="0"/>
          </a:p>
        </p:txBody>
      </p:sp>
    </p:spTree>
    <p:extLst>
      <p:ext uri="{BB962C8B-B14F-4D97-AF65-F5344CB8AC3E}">
        <p14:creationId xmlns:p14="http://schemas.microsoft.com/office/powerpoint/2010/main" val="3861597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描述对称加密算法（例如</a:t>
            </a:r>
            <a:r>
              <a:rPr lang="en-US" altLang="zh-CN" dirty="0"/>
              <a:t>DES</a:t>
            </a:r>
            <a:r>
              <a:rPr lang="zh-CN" altLang="en-US" dirty="0"/>
              <a:t>）使用的总体过程</a:t>
            </a:r>
          </a:p>
          <a:p>
            <a:r>
              <a:rPr lang="zh-CN" altLang="en-US" dirty="0"/>
              <a:t>描述</a:t>
            </a:r>
            <a:r>
              <a:rPr lang="en-US" altLang="zh-CN" dirty="0"/>
              <a:t>RSA</a:t>
            </a:r>
            <a:r>
              <a:rPr lang="zh-CN" altLang="en-US" dirty="0"/>
              <a:t>公钥加密使用的总体过程</a:t>
            </a:r>
          </a:p>
          <a:p>
            <a:r>
              <a:rPr lang="zh-CN" altLang="en-US" dirty="0"/>
              <a:t>说明为什么网络传输协议（例如</a:t>
            </a:r>
            <a:r>
              <a:rPr lang="en-US" altLang="zh-CN" dirty="0"/>
              <a:t>SSL</a:t>
            </a:r>
            <a:r>
              <a:rPr lang="zh-CN" altLang="en-US" dirty="0"/>
              <a:t>和</a:t>
            </a:r>
            <a:r>
              <a:rPr lang="en-US" altLang="zh-CN" dirty="0"/>
              <a:t>TLS</a:t>
            </a:r>
            <a:r>
              <a:rPr lang="zh-CN" altLang="en-US" dirty="0"/>
              <a:t>）使用多种形式的加密来确保通过网络的数据传输的安全</a:t>
            </a:r>
          </a:p>
          <a:p>
            <a:r>
              <a:rPr lang="zh-CN" altLang="en-US" dirty="0"/>
              <a:t>解释计算机安全对网络嵌入式系统的重要性</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a:t>
            </a:fld>
            <a:endParaRPr lang="en-US" dirty="0"/>
          </a:p>
        </p:txBody>
      </p:sp>
    </p:spTree>
    <p:extLst>
      <p:ext uri="{BB962C8B-B14F-4D97-AF65-F5344CB8AC3E}">
        <p14:creationId xmlns:p14="http://schemas.microsoft.com/office/powerpoint/2010/main" val="1153484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信息安全</a:t>
            </a:r>
          </a:p>
          <a:p>
            <a:r>
              <a:rPr lang="zh-CN" altLang="en-US" dirty="0"/>
              <a:t>确保信息安全</a:t>
            </a:r>
          </a:p>
          <a:p>
            <a:r>
              <a:rPr lang="zh-CN" altLang="en-US" dirty="0"/>
              <a:t>仅控制对授权人员的访问</a:t>
            </a:r>
          </a:p>
          <a:p>
            <a:r>
              <a:rPr lang="zh-CN" altLang="en-US" dirty="0"/>
              <a:t>人身安全</a:t>
            </a:r>
          </a:p>
          <a:p>
            <a:r>
              <a:rPr lang="zh-CN" altLang="en-US" dirty="0"/>
              <a:t>锁门</a:t>
            </a:r>
          </a:p>
          <a:p>
            <a:r>
              <a:rPr lang="zh-CN" altLang="en-US" dirty="0"/>
              <a:t>保持对设备的控制</a:t>
            </a:r>
          </a:p>
          <a:p>
            <a:r>
              <a:rPr lang="zh-CN" altLang="en-US" dirty="0"/>
              <a:t>在线安全</a:t>
            </a:r>
          </a:p>
          <a:p>
            <a:r>
              <a:rPr lang="zh-CN" altLang="en-US" dirty="0"/>
              <a:t>安全的汇编语言</a:t>
            </a:r>
          </a:p>
          <a:p>
            <a:r>
              <a:rPr lang="zh-CN" altLang="en-US" dirty="0"/>
              <a:t>安全操作系统</a:t>
            </a:r>
          </a:p>
          <a:p>
            <a:r>
              <a:rPr lang="zh-CN" altLang="en-US" dirty="0"/>
              <a:t>安全网络</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a:t>
            </a:fld>
            <a:endParaRPr lang="en-US" dirty="0"/>
          </a:p>
        </p:txBody>
      </p:sp>
    </p:spTree>
    <p:extLst>
      <p:ext uri="{BB962C8B-B14F-4D97-AF65-F5344CB8AC3E}">
        <p14:creationId xmlns:p14="http://schemas.microsoft.com/office/powerpoint/2010/main" val="4768947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在线威胁通常比对实物威胁更为危险</a:t>
            </a:r>
          </a:p>
          <a:p>
            <a:r>
              <a:rPr lang="zh-CN" altLang="en-US" dirty="0"/>
              <a:t>黑客更喜欢攻击易于访问的数据</a:t>
            </a:r>
          </a:p>
          <a:p>
            <a:r>
              <a:rPr lang="zh-CN" altLang="en-US" dirty="0"/>
              <a:t>多种威慑网上攻击</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5</a:t>
            </a:fld>
            <a:endParaRPr lang="en-US" dirty="0"/>
          </a:p>
        </p:txBody>
      </p:sp>
    </p:spTree>
    <p:extLst>
      <p:ext uri="{BB962C8B-B14F-4D97-AF65-F5344CB8AC3E}">
        <p14:creationId xmlns:p14="http://schemas.microsoft.com/office/powerpoint/2010/main" val="33286803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身份验证：建立身份</a:t>
            </a:r>
          </a:p>
          <a:p>
            <a:r>
              <a:rPr lang="zh-CN" altLang="en-US" dirty="0"/>
              <a:t>需要用户名和密码</a:t>
            </a:r>
          </a:p>
          <a:p>
            <a:r>
              <a:rPr lang="zh-CN" altLang="en-US" dirty="0"/>
              <a:t>使用哈希功能保护密码文件； 单向加密</a:t>
            </a:r>
          </a:p>
          <a:p>
            <a:r>
              <a:rPr lang="zh-CN" altLang="en-US" dirty="0"/>
              <a:t>示例：密码</a:t>
            </a:r>
            <a:r>
              <a:rPr lang="en-US" altLang="zh-CN" dirty="0"/>
              <a:t>= badboy2</a:t>
            </a:r>
          </a:p>
          <a:p>
            <a:r>
              <a:rPr lang="zh-CN" altLang="en-US" dirty="0"/>
              <a:t>用数字代替字母：</a:t>
            </a:r>
            <a:r>
              <a:rPr lang="en-US" altLang="zh-CN" dirty="0"/>
              <a:t>2 1 4 2 15 25 2</a:t>
            </a:r>
          </a:p>
          <a:p>
            <a:r>
              <a:rPr lang="zh-CN" altLang="en-US" dirty="0"/>
              <a:t>加数位：</a:t>
            </a:r>
            <a:r>
              <a:rPr lang="en-US" altLang="zh-CN" dirty="0"/>
              <a:t>2 +1 + 4 + 2 + 15 + 25 + 2 = 51</a:t>
            </a:r>
          </a:p>
          <a:p>
            <a:r>
              <a:rPr lang="en-US" altLang="zh-CN" dirty="0"/>
              <a:t>sum / 7</a:t>
            </a:r>
            <a:r>
              <a:rPr lang="zh-CN" altLang="en-US" dirty="0"/>
              <a:t>的余数：</a:t>
            </a:r>
            <a:r>
              <a:rPr lang="en-US" altLang="zh-CN" dirty="0"/>
              <a:t>51 mod 7 = 2</a:t>
            </a:r>
          </a:p>
          <a:p>
            <a:r>
              <a:rPr lang="zh-CN" altLang="en-US" dirty="0"/>
              <a:t>加</a:t>
            </a:r>
            <a:r>
              <a:rPr lang="en-US" altLang="zh-CN" dirty="0"/>
              <a:t>1</a:t>
            </a:r>
            <a:r>
              <a:rPr lang="zh-CN" altLang="en-US" dirty="0"/>
              <a:t>并乘以</a:t>
            </a:r>
            <a:r>
              <a:rPr lang="en-US" altLang="zh-CN" dirty="0"/>
              <a:t>9</a:t>
            </a:r>
            <a:r>
              <a:rPr lang="zh-CN" altLang="en-US" dirty="0"/>
              <a:t>：（</a:t>
            </a:r>
            <a:r>
              <a:rPr lang="en-US" altLang="zh-CN" dirty="0"/>
              <a:t>2 +1</a:t>
            </a:r>
            <a:r>
              <a:rPr lang="zh-CN" altLang="en-US" dirty="0"/>
              <a:t>）</a:t>
            </a:r>
            <a:r>
              <a:rPr lang="en-US" altLang="zh-CN" dirty="0"/>
              <a:t>×9 = 27</a:t>
            </a:r>
          </a:p>
          <a:p>
            <a:r>
              <a:rPr lang="zh-CN" altLang="en-US" dirty="0"/>
              <a:t>反转数字并转换为字母：</a:t>
            </a:r>
            <a:r>
              <a:rPr lang="en-US" altLang="zh-CN" dirty="0"/>
              <a:t>72 = </a:t>
            </a:r>
            <a:r>
              <a:rPr lang="en-US" altLang="zh-CN" dirty="0" err="1"/>
              <a:t>gb</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6</a:t>
            </a:fld>
            <a:endParaRPr lang="en-US" dirty="0"/>
          </a:p>
        </p:txBody>
      </p:sp>
    </p:spTree>
    <p:extLst>
      <p:ext uri="{BB962C8B-B14F-4D97-AF65-F5344CB8AC3E}">
        <p14:creationId xmlns:p14="http://schemas.microsoft.com/office/powerpoint/2010/main" val="37342505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密码文件安全性：不存储纯文本密码</a:t>
            </a:r>
          </a:p>
          <a:p>
            <a:r>
              <a:rPr lang="zh-CN" altLang="en-US" dirty="0"/>
              <a:t>登录时</a:t>
            </a:r>
          </a:p>
          <a:p>
            <a:r>
              <a:rPr lang="en-US" altLang="zh-CN" dirty="0"/>
              <a:t>	</a:t>
            </a:r>
            <a:r>
              <a:rPr lang="zh-CN" altLang="en-US" dirty="0"/>
              <a:t>读取用户名和密码</a:t>
            </a:r>
          </a:p>
          <a:p>
            <a:r>
              <a:rPr lang="en-US" altLang="zh-CN" dirty="0"/>
              <a:t>	</a:t>
            </a:r>
            <a:r>
              <a:rPr lang="zh-CN" altLang="en-US" dirty="0"/>
              <a:t>在密码文件中查找用户名条目</a:t>
            </a:r>
          </a:p>
          <a:p>
            <a:r>
              <a:rPr lang="en-US" altLang="zh-CN" dirty="0"/>
              <a:t>	</a:t>
            </a:r>
            <a:r>
              <a:rPr lang="zh-CN" altLang="en-US" dirty="0"/>
              <a:t>哈希输入密码并进行比较</a:t>
            </a:r>
          </a:p>
          <a:p>
            <a:r>
              <a:rPr lang="zh-CN" altLang="en-US" dirty="0"/>
              <a:t>更安全的方法</a:t>
            </a:r>
          </a:p>
          <a:p>
            <a:r>
              <a:rPr lang="en-US" altLang="zh-CN" dirty="0"/>
              <a:t>	</a:t>
            </a:r>
            <a:r>
              <a:rPr lang="zh-CN" altLang="en-US" dirty="0"/>
              <a:t>保持密码创建时间</a:t>
            </a:r>
          </a:p>
          <a:p>
            <a:r>
              <a:rPr lang="en-US" altLang="zh-CN" dirty="0"/>
              <a:t>	</a:t>
            </a:r>
            <a:r>
              <a:rPr lang="zh-CN" altLang="en-US" dirty="0"/>
              <a:t>在哈希之前将创建时间添加到密码</a:t>
            </a:r>
          </a:p>
          <a:p>
            <a:r>
              <a:rPr lang="en-US" altLang="zh-CN" dirty="0"/>
              <a:t>	</a:t>
            </a:r>
            <a:r>
              <a:rPr lang="zh-CN" altLang="en-US" dirty="0"/>
              <a:t>相同的密码不会散列为相同的值</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7</a:t>
            </a:fld>
            <a:endParaRPr lang="en-US" dirty="0"/>
          </a:p>
        </p:txBody>
      </p:sp>
    </p:spTree>
    <p:extLst>
      <p:ext uri="{BB962C8B-B14F-4D97-AF65-F5344CB8AC3E}">
        <p14:creationId xmlns:p14="http://schemas.microsoft.com/office/powerpoint/2010/main" val="183335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密码攻击</a:t>
            </a:r>
          </a:p>
          <a:p>
            <a:r>
              <a:rPr lang="zh-CN" altLang="en-US" dirty="0"/>
              <a:t>猜测密码，蛮力或从知识</a:t>
            </a:r>
          </a:p>
          <a:p>
            <a:r>
              <a:rPr lang="zh-CN" altLang="en-US" dirty="0"/>
              <a:t>尝试使用通用密码（例如</a:t>
            </a:r>
            <a:r>
              <a:rPr lang="en-US" altLang="zh-CN" dirty="0"/>
              <a:t>123456</a:t>
            </a:r>
            <a:r>
              <a:rPr lang="zh-CN" altLang="en-US" dirty="0"/>
              <a:t>）</a:t>
            </a:r>
          </a:p>
          <a:p>
            <a:r>
              <a:rPr lang="zh-CN" altLang="en-US" dirty="0"/>
              <a:t>尝试使用个人推荐（例如，宠物的名字）</a:t>
            </a:r>
          </a:p>
          <a:p>
            <a:r>
              <a:rPr lang="zh-CN" altLang="en-US" dirty="0"/>
              <a:t>尝试所有可能的密码（计算困难）</a:t>
            </a:r>
          </a:p>
          <a:p>
            <a:r>
              <a:rPr lang="zh-CN" altLang="en-US" dirty="0"/>
              <a:t>窃取密码文件并使用密码破解软件</a:t>
            </a:r>
          </a:p>
          <a:p>
            <a:r>
              <a:rPr lang="zh-CN" altLang="en-US" dirty="0"/>
              <a:t>尝试单词和单词组合，每秒数百万种密码的可能性</a:t>
            </a:r>
          </a:p>
          <a:p>
            <a:r>
              <a:rPr lang="zh-CN" altLang="en-US" dirty="0"/>
              <a:t>社会工程：请人告诉密码</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8</a:t>
            </a:fld>
            <a:endParaRPr lang="en-US" dirty="0"/>
          </a:p>
        </p:txBody>
      </p:sp>
    </p:spTree>
    <p:extLst>
      <p:ext uri="{BB962C8B-B14F-4D97-AF65-F5344CB8AC3E}">
        <p14:creationId xmlns:p14="http://schemas.microsoft.com/office/powerpoint/2010/main" val="1518404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其他认证方式</a:t>
            </a:r>
          </a:p>
          <a:p>
            <a:r>
              <a:rPr lang="zh-CN" altLang="en-US" dirty="0"/>
              <a:t>回答个人信息问题</a:t>
            </a:r>
          </a:p>
          <a:p>
            <a:r>
              <a:rPr lang="zh-CN" altLang="en-US" dirty="0"/>
              <a:t>生物特征信息（指纹或视网膜扫描）</a:t>
            </a:r>
          </a:p>
          <a:p>
            <a:r>
              <a:rPr lang="zh-CN" altLang="en-US" dirty="0"/>
              <a:t>一次性密码方案</a:t>
            </a:r>
          </a:p>
          <a:p>
            <a:r>
              <a:rPr lang="zh-CN" altLang="en-US" dirty="0"/>
              <a:t>用户输入</a:t>
            </a:r>
            <a:r>
              <a:rPr lang="en-US" altLang="zh-CN" dirty="0"/>
              <a:t>ID</a:t>
            </a:r>
            <a:r>
              <a:rPr lang="zh-CN" altLang="en-US" dirty="0"/>
              <a:t>和部分密码</a:t>
            </a:r>
          </a:p>
          <a:p>
            <a:r>
              <a:rPr lang="zh-CN" altLang="en-US" dirty="0"/>
              <a:t>系统或用户设备生成密码的后半部分</a:t>
            </a:r>
          </a:p>
          <a:p>
            <a:r>
              <a:rPr lang="zh-CN" altLang="en-US" dirty="0"/>
              <a:t>密码的后半段仅持续几秒钟</a:t>
            </a:r>
          </a:p>
          <a:p>
            <a:r>
              <a:rPr lang="zh-CN" altLang="en-US" dirty="0"/>
              <a:t>双重身份验证：临时代码或密码发送到受信任的设备</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9</a:t>
            </a:fld>
            <a:endParaRPr lang="en-US" dirty="0"/>
          </a:p>
        </p:txBody>
      </p:sp>
    </p:spTree>
    <p:extLst>
      <p:ext uri="{BB962C8B-B14F-4D97-AF65-F5344CB8AC3E}">
        <p14:creationId xmlns:p14="http://schemas.microsoft.com/office/powerpoint/2010/main" val="21719322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授权：为每个授权人设置的一组允许的操作</a:t>
            </a:r>
          </a:p>
          <a:p>
            <a:r>
              <a:rPr lang="zh-CN" altLang="en-US" dirty="0"/>
              <a:t>操作系统维护访问控制列表</a:t>
            </a:r>
          </a:p>
          <a:p>
            <a:r>
              <a:rPr lang="zh-CN" altLang="en-US" dirty="0"/>
              <a:t>读取访问权限（读取文件）</a:t>
            </a:r>
          </a:p>
          <a:p>
            <a:r>
              <a:rPr lang="zh-CN" altLang="en-US" dirty="0"/>
              <a:t>写访问权限（修改文件）</a:t>
            </a:r>
          </a:p>
          <a:p>
            <a:r>
              <a:rPr lang="zh-CN" altLang="en-US" dirty="0"/>
              <a:t>执行访问（运行程序）</a:t>
            </a:r>
          </a:p>
          <a:p>
            <a:r>
              <a:rPr lang="zh-CN" altLang="en-US" dirty="0"/>
              <a:t>删除访问权限（删除文件）</a:t>
            </a:r>
          </a:p>
          <a:p>
            <a:r>
              <a:rPr lang="zh-CN" altLang="en-US" dirty="0"/>
              <a:t>系统管理员或超级用户具有通用访问权限并设置了授权</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10</a:t>
            </a:fld>
            <a:endParaRPr lang="en-US" dirty="0"/>
          </a:p>
        </p:txBody>
      </p:sp>
    </p:spTree>
    <p:extLst>
      <p:ext uri="{BB962C8B-B14F-4D97-AF65-F5344CB8AC3E}">
        <p14:creationId xmlns:p14="http://schemas.microsoft.com/office/powerpoint/2010/main" val="36612666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恶意软件：来自网络的恶意软件</a:t>
            </a:r>
          </a:p>
          <a:p>
            <a:r>
              <a:rPr lang="zh-CN" altLang="en-US" dirty="0"/>
              <a:t>病毒：嵌入另一个程序或文件中的程序，自我复制并攻击其他文件</a:t>
            </a:r>
          </a:p>
          <a:p>
            <a:r>
              <a:rPr lang="zh-CN" altLang="en-US" dirty="0"/>
              <a:t>蠕虫：可以将自身副本发送到网络上其他节点的程序</a:t>
            </a:r>
          </a:p>
          <a:p>
            <a:r>
              <a:rPr lang="zh-CN" altLang="en-US" dirty="0"/>
              <a:t>特洛伊木马程序：看似有益但隐藏恶意代码的程序</a:t>
            </a:r>
          </a:p>
          <a:p>
            <a:r>
              <a:rPr lang="zh-CN" altLang="en-US" dirty="0"/>
              <a:t>按键记录器：记录所有键入的按键</a:t>
            </a:r>
          </a:p>
          <a:p>
            <a:r>
              <a:rPr lang="zh-CN" altLang="en-US" dirty="0"/>
              <a:t>偷渡式漏洞利用</a:t>
            </a:r>
            <a:r>
              <a:rPr lang="en-US" altLang="zh-CN" dirty="0"/>
              <a:t>/</a:t>
            </a:r>
            <a:r>
              <a:rPr lang="zh-CN" altLang="en-US" dirty="0"/>
              <a:t>偷渡式下载：只需访问受感染的网站即可下载特洛伊木马</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11</a:t>
            </a:fld>
            <a:endParaRPr lang="en-US" dirty="0"/>
          </a:p>
        </p:txBody>
      </p:sp>
    </p:spTree>
    <p:extLst>
      <p:ext uri="{BB962C8B-B14F-4D97-AF65-F5344CB8AC3E}">
        <p14:creationId xmlns:p14="http://schemas.microsoft.com/office/powerpoint/2010/main" val="40178902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拒绝服务（</a:t>
            </a:r>
            <a:r>
              <a:rPr lang="en-US" altLang="zh-CN" dirty="0"/>
              <a:t>DoS</a:t>
            </a:r>
            <a:r>
              <a:rPr lang="zh-CN" altLang="en-US" dirty="0"/>
              <a:t>）攻击：许多计算机尝试同时访问同一</a:t>
            </a:r>
            <a:r>
              <a:rPr lang="en-US" altLang="zh-CN" dirty="0"/>
              <a:t>URL</a:t>
            </a:r>
          </a:p>
          <a:p>
            <a:r>
              <a:rPr lang="zh-CN" altLang="en-US" dirty="0"/>
              <a:t>阻塞网络，阻止合法访问，并导致服务器崩溃</a:t>
            </a:r>
          </a:p>
          <a:p>
            <a:r>
              <a:rPr lang="zh-CN" altLang="en-US" dirty="0"/>
              <a:t>分布式</a:t>
            </a:r>
            <a:r>
              <a:rPr lang="en-US" altLang="zh-CN" dirty="0"/>
              <a:t>DoS</a:t>
            </a:r>
            <a:r>
              <a:rPr lang="zh-CN" altLang="en-US" dirty="0"/>
              <a:t>使用数千台计算机</a:t>
            </a:r>
          </a:p>
          <a:p>
            <a:r>
              <a:rPr lang="zh-CN" altLang="en-US" dirty="0"/>
              <a:t>使用僵尸军队（僵尸网络）：许多无辜的计算机感染了恶意软件</a:t>
            </a:r>
          </a:p>
          <a:p>
            <a:r>
              <a:rPr lang="zh-CN" altLang="en-US" dirty="0"/>
              <a:t>网络钓鱼：通过假冒合法来源获取敏感信息</a:t>
            </a:r>
          </a:p>
          <a:p>
            <a:r>
              <a:rPr lang="zh-CN" altLang="en-US" dirty="0"/>
              <a:t>许多电子邮件； 只需“咬一口”就足够了</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12</a:t>
            </a:fld>
            <a:endParaRPr lang="en-US" dirty="0"/>
          </a:p>
        </p:txBody>
      </p:sp>
    </p:spTree>
    <p:extLst>
      <p:ext uri="{BB962C8B-B14F-4D97-AF65-F5344CB8AC3E}">
        <p14:creationId xmlns:p14="http://schemas.microsoft.com/office/powerpoint/2010/main" val="32955819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白帽是安全专家，也是致力于保护系统免受攻击者攻击的人。</a:t>
            </a:r>
          </a:p>
          <a:p>
            <a:r>
              <a:rPr lang="zh-CN" altLang="en-US" dirty="0"/>
              <a:t>戴黑帽子的人或团体致力于绕过安全设施窃取信息，获取金钱或进行其他邪恶，不道德和非法的行为。</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13</a:t>
            </a:fld>
            <a:endParaRPr lang="en-US" dirty="0"/>
          </a:p>
        </p:txBody>
      </p:sp>
    </p:spTree>
    <p:extLst>
      <p:ext uri="{BB962C8B-B14F-4D97-AF65-F5344CB8AC3E}">
        <p14:creationId xmlns:p14="http://schemas.microsoft.com/office/powerpoint/2010/main" val="37582234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密码学：“秘密写作”的科学</a:t>
            </a:r>
          </a:p>
          <a:p>
            <a:r>
              <a:rPr lang="zh-CN" altLang="en-US" dirty="0"/>
              <a:t>加密和解密（逆运算）</a:t>
            </a:r>
          </a:p>
          <a:p>
            <a:r>
              <a:rPr lang="zh-CN" altLang="en-US" dirty="0"/>
              <a:t>从纯文本转换为密文，然后再次返回</a:t>
            </a:r>
          </a:p>
          <a:p>
            <a:r>
              <a:rPr lang="zh-CN" altLang="en-US" dirty="0"/>
              <a:t>对称加密算法</a:t>
            </a:r>
          </a:p>
          <a:p>
            <a:r>
              <a:rPr lang="zh-CN" altLang="en-US" dirty="0"/>
              <a:t>发送者和接收者共享的密钥</a:t>
            </a:r>
          </a:p>
          <a:p>
            <a:r>
              <a:rPr lang="zh-CN" altLang="en-US" dirty="0"/>
              <a:t>使用相同的密钥进行加密和解密</a:t>
            </a:r>
          </a:p>
          <a:p>
            <a:r>
              <a:rPr lang="zh-CN" altLang="en-US" dirty="0"/>
              <a:t>非对称加密算法（公钥）</a:t>
            </a:r>
          </a:p>
          <a:p>
            <a:r>
              <a:rPr lang="zh-CN" altLang="en-US" dirty="0"/>
              <a:t>使用两个密钥：公开和私有</a:t>
            </a:r>
          </a:p>
          <a:p>
            <a:r>
              <a:rPr lang="zh-CN" altLang="en-US" dirty="0"/>
              <a:t>使用公钥（通常已知）进行加密</a:t>
            </a:r>
          </a:p>
          <a:p>
            <a:r>
              <a:rPr lang="zh-CN" altLang="en-US" dirty="0"/>
              <a:t>使用私钥（仅接收者知道）解密</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21</a:t>
            </a:fld>
            <a:endParaRPr lang="en-US" dirty="0"/>
          </a:p>
        </p:txBody>
      </p:sp>
    </p:spTree>
    <p:extLst>
      <p:ext uri="{BB962C8B-B14F-4D97-AF65-F5344CB8AC3E}">
        <p14:creationId xmlns:p14="http://schemas.microsoft.com/office/powerpoint/2010/main" val="5698236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凯撒密码（移位密码）</a:t>
            </a:r>
          </a:p>
          <a:p>
            <a:r>
              <a:rPr lang="zh-CN" altLang="en-US" dirty="0"/>
              <a:t>将字符映射到与字母固定距离的其他人</a:t>
            </a:r>
          </a:p>
          <a:p>
            <a:r>
              <a:rPr lang="zh-CN" altLang="en-US" dirty="0"/>
              <a:t>例如：</a:t>
            </a:r>
            <a:r>
              <a:rPr lang="en-US" altLang="zh-CN" dirty="0"/>
              <a:t>AE</a:t>
            </a:r>
            <a:r>
              <a:rPr lang="zh-CN" altLang="en-US" dirty="0"/>
              <a:t>，</a:t>
            </a:r>
            <a:r>
              <a:rPr lang="en-US" altLang="zh-CN" dirty="0"/>
              <a:t>BF</a:t>
            </a:r>
            <a:r>
              <a:rPr lang="zh-CN" altLang="en-US" dirty="0"/>
              <a:t>，</a:t>
            </a:r>
            <a:r>
              <a:rPr lang="en-US" altLang="zh-CN" dirty="0"/>
              <a:t>CG…UY</a:t>
            </a:r>
            <a:r>
              <a:rPr lang="zh-CN" altLang="en-US" dirty="0"/>
              <a:t>，</a:t>
            </a:r>
            <a:r>
              <a:rPr lang="en-US" altLang="zh-CN" dirty="0"/>
              <a:t>VZ</a:t>
            </a:r>
            <a:r>
              <a:rPr lang="zh-CN" altLang="en-US" dirty="0"/>
              <a:t>，</a:t>
            </a:r>
            <a:r>
              <a:rPr lang="en-US" altLang="zh-CN" dirty="0"/>
              <a:t>WA</a:t>
            </a:r>
          </a:p>
          <a:p>
            <a:r>
              <a:rPr lang="zh-CN" altLang="en-US" dirty="0"/>
              <a:t>流密码：对每个字符进行编码</a:t>
            </a:r>
          </a:p>
          <a:p>
            <a:r>
              <a:rPr lang="zh-CN" altLang="en-US" dirty="0"/>
              <a:t>替代密码：相似，但实现其他映射</a:t>
            </a:r>
          </a:p>
          <a:p>
            <a:r>
              <a:rPr lang="zh-CN" altLang="en-US" dirty="0"/>
              <a:t>优点：简单快速，可以逐个字符地做</a:t>
            </a:r>
          </a:p>
          <a:p>
            <a:r>
              <a:rPr lang="zh-CN" altLang="en-US" dirty="0"/>
              <a:t>缺点：字母频率，双字母，仍然适用，容易折断</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22</a:t>
            </a:fld>
            <a:endParaRPr lang="en-US" dirty="0"/>
          </a:p>
        </p:txBody>
      </p:sp>
    </p:spTree>
    <p:extLst>
      <p:ext uri="{BB962C8B-B14F-4D97-AF65-F5344CB8AC3E}">
        <p14:creationId xmlns:p14="http://schemas.microsoft.com/office/powerpoint/2010/main" val="3486431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分组密码</a:t>
            </a:r>
          </a:p>
          <a:p>
            <a:r>
              <a:rPr lang="zh-CN" altLang="en-US" dirty="0"/>
              <a:t>将明文块编码为密文块</a:t>
            </a:r>
          </a:p>
          <a:p>
            <a:r>
              <a:rPr lang="zh-CN" altLang="en-US" dirty="0"/>
              <a:t>每个角色贡献多个角色</a:t>
            </a:r>
          </a:p>
          <a:p>
            <a:r>
              <a:rPr lang="zh-CN" altLang="en-US" dirty="0"/>
              <a:t>基于矩阵的分组密码</a:t>
            </a:r>
          </a:p>
          <a:p>
            <a:r>
              <a:rPr lang="zh-CN" altLang="en-US" dirty="0"/>
              <a:t>将字符分组为</a:t>
            </a:r>
            <a:r>
              <a:rPr lang="en-US" altLang="zh-CN" dirty="0"/>
              <a:t>n</a:t>
            </a:r>
            <a:r>
              <a:rPr lang="zh-CN" altLang="en-US" dirty="0"/>
              <a:t>个字符长的块</a:t>
            </a:r>
          </a:p>
          <a:p>
            <a:r>
              <a:rPr lang="zh-CN" altLang="en-US" dirty="0"/>
              <a:t>通过矩阵</a:t>
            </a:r>
            <a:r>
              <a:rPr lang="en-US" altLang="zh-CN" dirty="0"/>
              <a:t>n</a:t>
            </a:r>
            <a:r>
              <a:rPr lang="zh-CN" altLang="en-US" dirty="0"/>
              <a:t>求</a:t>
            </a:r>
            <a:r>
              <a:rPr lang="en-US" altLang="zh-CN" dirty="0"/>
              <a:t>n</a:t>
            </a:r>
            <a:r>
              <a:rPr lang="zh-CN" altLang="en-US" dirty="0"/>
              <a:t>的可逆</a:t>
            </a:r>
            <a:r>
              <a:rPr lang="en-US" altLang="zh-CN" dirty="0"/>
              <a:t>n</a:t>
            </a:r>
            <a:r>
              <a:rPr lang="zh-CN" altLang="en-US" dirty="0"/>
              <a:t>及其倒数</a:t>
            </a:r>
            <a:r>
              <a:rPr lang="en-US" altLang="zh-CN" dirty="0"/>
              <a:t>M'</a:t>
            </a:r>
            <a:r>
              <a:rPr lang="zh-CN" altLang="en-US" dirty="0"/>
              <a:t>作为键</a:t>
            </a:r>
          </a:p>
          <a:p>
            <a:r>
              <a:rPr lang="zh-CN" altLang="en-US" dirty="0"/>
              <a:t>将字符映射到字母</a:t>
            </a:r>
            <a:r>
              <a:rPr lang="en-US" altLang="zh-CN" dirty="0"/>
              <a:t>A1</a:t>
            </a:r>
            <a:r>
              <a:rPr lang="zh-CN" altLang="en-US" dirty="0"/>
              <a:t>，</a:t>
            </a:r>
            <a:r>
              <a:rPr lang="en-US" altLang="zh-CN" dirty="0"/>
              <a:t>B2</a:t>
            </a:r>
            <a:r>
              <a:rPr lang="zh-CN" altLang="en-US" dirty="0"/>
              <a:t>等</a:t>
            </a:r>
          </a:p>
          <a:p>
            <a:r>
              <a:rPr lang="zh-CN" altLang="en-US" dirty="0"/>
              <a:t>将值</a:t>
            </a:r>
            <a:r>
              <a:rPr lang="en-US" altLang="zh-CN" dirty="0"/>
              <a:t>26</a:t>
            </a:r>
            <a:r>
              <a:rPr lang="zh-CN" altLang="en-US" dirty="0"/>
              <a:t>以上的值换回零：</a:t>
            </a:r>
            <a:r>
              <a:rPr lang="en-US" altLang="zh-CN" dirty="0"/>
              <a:t>260</a:t>
            </a:r>
            <a:r>
              <a:rPr lang="zh-CN" altLang="en-US" dirty="0"/>
              <a:t>、</a:t>
            </a:r>
            <a:r>
              <a:rPr lang="en-US" altLang="zh-CN" dirty="0"/>
              <a:t>271</a:t>
            </a:r>
            <a:r>
              <a:rPr lang="zh-CN" altLang="en-US" dirty="0"/>
              <a:t>，依此类推。</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23</a:t>
            </a:fld>
            <a:endParaRPr lang="en-US" dirty="0"/>
          </a:p>
        </p:txBody>
      </p:sp>
    </p:spTree>
    <p:extLst>
      <p:ext uri="{BB962C8B-B14F-4D97-AF65-F5344CB8AC3E}">
        <p14:creationId xmlns:p14="http://schemas.microsoft.com/office/powerpoint/2010/main" val="18820506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图</a:t>
            </a:r>
            <a:r>
              <a:rPr lang="en-US" altLang="zh-CN" dirty="0"/>
              <a:t>8.1</a:t>
            </a:r>
          </a:p>
          <a:p>
            <a:r>
              <a:rPr lang="zh-CN" altLang="en-US" dirty="0"/>
              <a:t>编码方式</a:t>
            </a:r>
          </a:p>
          <a:p>
            <a:r>
              <a:rPr lang="zh-CN" altLang="en-US" dirty="0"/>
              <a:t>将</a:t>
            </a:r>
            <a:r>
              <a:rPr lang="en-US" altLang="zh-CN" dirty="0"/>
              <a:t>S</a:t>
            </a:r>
            <a:r>
              <a:rPr lang="zh-CN" altLang="en-US" dirty="0"/>
              <a:t>映射应用于纯文本块。</a:t>
            </a:r>
          </a:p>
          <a:p>
            <a:r>
              <a:rPr lang="zh-CN" altLang="en-US" dirty="0"/>
              <a:t>乘以结果乘以结果</a:t>
            </a:r>
            <a:r>
              <a:rPr lang="en-US" altLang="zh-CN" dirty="0"/>
              <a:t>M</a:t>
            </a:r>
            <a:r>
              <a:rPr lang="zh-CN" altLang="en-US" dirty="0"/>
              <a:t>。</a:t>
            </a:r>
          </a:p>
          <a:p>
            <a:r>
              <a:rPr lang="zh-CN" altLang="en-US" dirty="0"/>
              <a:t>将</a:t>
            </a:r>
            <a:r>
              <a:rPr lang="en-US" altLang="zh-CN" dirty="0"/>
              <a:t>S’</a:t>
            </a:r>
            <a:r>
              <a:rPr lang="zh-CN" altLang="en-US" dirty="0"/>
              <a:t>应用于结果。</a:t>
            </a:r>
          </a:p>
          <a:p>
            <a:r>
              <a:rPr lang="zh-CN" altLang="en-US" dirty="0"/>
              <a:t>解码</a:t>
            </a:r>
          </a:p>
          <a:p>
            <a:r>
              <a:rPr lang="zh-CN" altLang="en-US" dirty="0"/>
              <a:t>将</a:t>
            </a:r>
            <a:r>
              <a:rPr lang="en-US" altLang="zh-CN" dirty="0"/>
              <a:t>S</a:t>
            </a:r>
            <a:r>
              <a:rPr lang="zh-CN" altLang="en-US" dirty="0"/>
              <a:t>映射应用于密文块。</a:t>
            </a:r>
          </a:p>
          <a:p>
            <a:r>
              <a:rPr lang="zh-CN" altLang="en-US" dirty="0"/>
              <a:t>乘以结果乘以结果</a:t>
            </a:r>
            <a:r>
              <a:rPr lang="en-US" altLang="zh-CN" dirty="0"/>
              <a:t>M'</a:t>
            </a:r>
            <a:r>
              <a:rPr lang="zh-CN" altLang="en-US" dirty="0"/>
              <a:t>。</a:t>
            </a:r>
          </a:p>
          <a:p>
            <a:r>
              <a:rPr lang="zh-CN" altLang="en-US" dirty="0"/>
              <a:t>将</a:t>
            </a:r>
            <a:r>
              <a:rPr lang="en-US" altLang="zh-CN" dirty="0"/>
              <a:t>S’</a:t>
            </a:r>
            <a:r>
              <a:rPr lang="zh-CN" altLang="en-US" dirty="0"/>
              <a:t>应用于结果。</a:t>
            </a:r>
          </a:p>
          <a:p>
            <a:r>
              <a:rPr lang="zh-CN" altLang="en-US" dirty="0"/>
              <a:t>分组密码的编码和解码步骤。</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24</a:t>
            </a:fld>
            <a:endParaRPr lang="en-US" dirty="0"/>
          </a:p>
        </p:txBody>
      </p:sp>
    </p:spTree>
    <p:extLst>
      <p:ext uri="{BB962C8B-B14F-4D97-AF65-F5344CB8AC3E}">
        <p14:creationId xmlns:p14="http://schemas.microsoft.com/office/powerpoint/2010/main" val="6112269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对称加密算法</a:t>
            </a:r>
          </a:p>
          <a:p>
            <a:r>
              <a:rPr lang="zh-CN" altLang="en-US" dirty="0"/>
              <a:t>专为数字数据而设计； 明文是二进制字符串</a:t>
            </a:r>
          </a:p>
          <a:p>
            <a:r>
              <a:rPr lang="zh-CN" altLang="en-US" dirty="0"/>
              <a:t>使用</a:t>
            </a:r>
            <a:r>
              <a:rPr lang="en-US" altLang="zh-CN" dirty="0"/>
              <a:t>64</a:t>
            </a:r>
            <a:r>
              <a:rPr lang="zh-CN" altLang="en-US" dirty="0"/>
              <a:t>位二进制密钥（实际使用</a:t>
            </a:r>
            <a:r>
              <a:rPr lang="en-US" altLang="zh-CN" dirty="0"/>
              <a:t>56</a:t>
            </a:r>
            <a:r>
              <a:rPr lang="zh-CN" altLang="en-US" dirty="0"/>
              <a:t>位）</a:t>
            </a:r>
          </a:p>
          <a:p>
            <a:r>
              <a:rPr lang="zh-CN" altLang="en-US" dirty="0"/>
              <a:t>相同系列的十六轮操作</a:t>
            </a:r>
          </a:p>
          <a:p>
            <a:r>
              <a:rPr lang="zh-CN" altLang="en-US" dirty="0"/>
              <a:t>解密使用相同的算法； 反向键</a:t>
            </a:r>
          </a:p>
          <a:p>
            <a:r>
              <a:rPr lang="zh-CN" altLang="en-US" dirty="0"/>
              <a:t>快速有效，但需要共享密钥</a:t>
            </a:r>
          </a:p>
          <a:p>
            <a:r>
              <a:rPr lang="en-US" altLang="zh-CN" dirty="0"/>
              <a:t>56</a:t>
            </a:r>
            <a:r>
              <a:rPr lang="zh-CN" altLang="en-US" dirty="0"/>
              <a:t>位对于现代技术而言太小了</a:t>
            </a:r>
          </a:p>
          <a:p>
            <a:r>
              <a:rPr lang="en-US" altLang="zh-CN" dirty="0"/>
              <a:t>AES</a:t>
            </a:r>
            <a:r>
              <a:rPr lang="zh-CN" altLang="en-US" dirty="0"/>
              <a:t>（高级加密标准）使用类似的方法。 长键</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27</a:t>
            </a:fld>
            <a:endParaRPr lang="en-US" dirty="0"/>
          </a:p>
        </p:txBody>
      </p:sp>
    </p:spTree>
    <p:extLst>
      <p:ext uri="{BB962C8B-B14F-4D97-AF65-F5344CB8AC3E}">
        <p14:creationId xmlns:p14="http://schemas.microsoft.com/office/powerpoint/2010/main" val="1226875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DES</a:t>
            </a:r>
            <a:r>
              <a:rPr lang="zh-CN" altLang="en-US" dirty="0"/>
              <a:t>操作</a:t>
            </a:r>
          </a:p>
          <a:p>
            <a:r>
              <a:rPr lang="zh-CN" altLang="en-US" dirty="0"/>
              <a:t>分割字串</a:t>
            </a:r>
          </a:p>
          <a:p>
            <a:r>
              <a:rPr lang="zh-CN" altLang="en-US" dirty="0"/>
              <a:t>复制一些位</a:t>
            </a:r>
          </a:p>
          <a:p>
            <a:r>
              <a:rPr lang="zh-CN" altLang="en-US" dirty="0"/>
              <a:t>省略一些位</a:t>
            </a:r>
          </a:p>
          <a:p>
            <a:r>
              <a:rPr lang="zh-CN" altLang="en-US" dirty="0"/>
              <a:t>置换位顺序</a:t>
            </a:r>
          </a:p>
          <a:p>
            <a:r>
              <a:rPr lang="zh-CN" altLang="en-US" dirty="0"/>
              <a:t>将位串与</a:t>
            </a:r>
            <a:r>
              <a:rPr lang="en-US" altLang="zh-CN" dirty="0"/>
              <a:t>XOR</a:t>
            </a:r>
            <a:r>
              <a:rPr lang="zh-CN" altLang="en-US" dirty="0"/>
              <a:t>（异或）结合</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28</a:t>
            </a:fld>
            <a:endParaRPr lang="en-US" dirty="0"/>
          </a:p>
        </p:txBody>
      </p:sp>
    </p:spTree>
    <p:extLst>
      <p:ext uri="{BB962C8B-B14F-4D97-AF65-F5344CB8AC3E}">
        <p14:creationId xmlns:p14="http://schemas.microsoft.com/office/powerpoint/2010/main" val="24899631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RSA</a:t>
            </a:r>
            <a:r>
              <a:rPr lang="zh-CN" altLang="en-US" dirty="0"/>
              <a:t>密钥创建</a:t>
            </a:r>
          </a:p>
          <a:p>
            <a:r>
              <a:rPr lang="zh-CN" altLang="en-US" dirty="0"/>
              <a:t>选择</a:t>
            </a:r>
            <a:r>
              <a:rPr lang="en-US" altLang="zh-CN" dirty="0"/>
              <a:t>2</a:t>
            </a:r>
            <a:r>
              <a:rPr lang="zh-CN" altLang="en-US" dirty="0"/>
              <a:t>个大质数：</a:t>
            </a:r>
            <a:r>
              <a:rPr lang="en-US" altLang="zh-CN" dirty="0"/>
              <a:t>p</a:t>
            </a:r>
            <a:r>
              <a:rPr lang="zh-CN" altLang="en-US" dirty="0"/>
              <a:t>和</a:t>
            </a:r>
            <a:r>
              <a:rPr lang="en-US" altLang="zh-CN" dirty="0"/>
              <a:t>q</a:t>
            </a:r>
          </a:p>
          <a:p>
            <a:r>
              <a:rPr lang="zh-CN" altLang="en-US" dirty="0"/>
              <a:t>计算</a:t>
            </a:r>
            <a:r>
              <a:rPr lang="en-US" altLang="zh-CN" dirty="0"/>
              <a:t>n = </a:t>
            </a:r>
            <a:r>
              <a:rPr lang="en-US" altLang="zh-CN" dirty="0" err="1"/>
              <a:t>p×q</a:t>
            </a:r>
            <a:r>
              <a:rPr lang="zh-CN" altLang="en-US" dirty="0"/>
              <a:t>，</a:t>
            </a:r>
            <a:r>
              <a:rPr lang="en-US" altLang="zh-CN" dirty="0"/>
              <a:t>m =</a:t>
            </a:r>
            <a:r>
              <a:rPr lang="zh-CN" altLang="en-US" dirty="0"/>
              <a:t>（</a:t>
            </a:r>
            <a:r>
              <a:rPr lang="en-US" altLang="zh-CN" dirty="0"/>
              <a:t>p-1</a:t>
            </a:r>
            <a:r>
              <a:rPr lang="zh-CN" altLang="en-US" dirty="0"/>
              <a:t>）</a:t>
            </a:r>
            <a:r>
              <a:rPr lang="en-US" altLang="zh-CN" dirty="0"/>
              <a:t>×</a:t>
            </a:r>
            <a:r>
              <a:rPr lang="zh-CN" altLang="en-US" dirty="0"/>
              <a:t>（</a:t>
            </a:r>
            <a:r>
              <a:rPr lang="en-US" altLang="zh-CN" dirty="0"/>
              <a:t>q-1</a:t>
            </a:r>
            <a:r>
              <a:rPr lang="zh-CN" altLang="en-US" dirty="0"/>
              <a:t>）</a:t>
            </a:r>
          </a:p>
          <a:p>
            <a:r>
              <a:rPr lang="zh-CN" altLang="en-US" dirty="0"/>
              <a:t>随机选择大数</a:t>
            </a:r>
            <a:r>
              <a:rPr lang="en-US" altLang="zh-CN" dirty="0"/>
              <a:t>e</a:t>
            </a:r>
            <a:r>
              <a:rPr lang="zh-CN" altLang="en-US" dirty="0"/>
              <a:t>，以便</a:t>
            </a:r>
            <a:r>
              <a:rPr lang="en-US" altLang="zh-CN" dirty="0"/>
              <a:t>e</a:t>
            </a:r>
            <a:r>
              <a:rPr lang="zh-CN" altLang="en-US" dirty="0"/>
              <a:t>和</a:t>
            </a:r>
            <a:r>
              <a:rPr lang="en-US" altLang="zh-CN" dirty="0"/>
              <a:t>m</a:t>
            </a:r>
            <a:r>
              <a:rPr lang="zh-CN" altLang="en-US" dirty="0"/>
              <a:t>相对质数（除</a:t>
            </a:r>
            <a:r>
              <a:rPr lang="en-US" altLang="zh-CN" dirty="0"/>
              <a:t>1</a:t>
            </a:r>
            <a:r>
              <a:rPr lang="zh-CN" altLang="en-US" dirty="0"/>
              <a:t>外没有其他公因数）</a:t>
            </a:r>
          </a:p>
          <a:p>
            <a:r>
              <a:rPr lang="zh-CN" altLang="en-US" dirty="0"/>
              <a:t>找到介于</a:t>
            </a:r>
            <a:r>
              <a:rPr lang="en-US" altLang="zh-CN" dirty="0"/>
              <a:t>0</a:t>
            </a:r>
            <a:r>
              <a:rPr lang="zh-CN" altLang="en-US" dirty="0"/>
              <a:t>和</a:t>
            </a:r>
            <a:r>
              <a:rPr lang="en-US" altLang="zh-CN" dirty="0"/>
              <a:t>m</a:t>
            </a:r>
            <a:r>
              <a:rPr lang="zh-CN" altLang="en-US" dirty="0"/>
              <a:t>之间的唯一值</a:t>
            </a:r>
            <a:r>
              <a:rPr lang="en-US" altLang="zh-CN" dirty="0"/>
              <a:t>d</a:t>
            </a:r>
            <a:r>
              <a:rPr lang="zh-CN" altLang="en-US" dirty="0"/>
              <a:t>，这样</a:t>
            </a:r>
          </a:p>
          <a:p>
            <a:r>
              <a:rPr lang="zh-CN" altLang="en-US" dirty="0"/>
              <a:t>（</a:t>
            </a:r>
            <a:r>
              <a:rPr lang="en-US" altLang="zh-CN" dirty="0" err="1"/>
              <a:t>e×d</a:t>
            </a:r>
            <a:r>
              <a:rPr lang="zh-CN" altLang="en-US" dirty="0"/>
              <a:t>）模</a:t>
            </a:r>
            <a:r>
              <a:rPr lang="en-US" altLang="zh-CN" dirty="0"/>
              <a:t>m = 1</a:t>
            </a:r>
          </a:p>
          <a:p>
            <a:r>
              <a:rPr lang="zh-CN" altLang="en-US" dirty="0"/>
              <a:t>公钥</a:t>
            </a:r>
            <a:r>
              <a:rPr lang="en-US" altLang="zh-CN" dirty="0"/>
              <a:t>=</a:t>
            </a:r>
            <a:r>
              <a:rPr lang="zh-CN" altLang="en-US" dirty="0"/>
              <a:t>（</a:t>
            </a:r>
            <a:r>
              <a:rPr lang="en-US" altLang="zh-CN" dirty="0"/>
              <a:t>n</a:t>
            </a:r>
            <a:r>
              <a:rPr lang="zh-CN" altLang="en-US" dirty="0"/>
              <a:t>，</a:t>
            </a:r>
            <a:r>
              <a:rPr lang="en-US" altLang="zh-CN" dirty="0"/>
              <a:t>e</a:t>
            </a:r>
            <a:r>
              <a:rPr lang="zh-CN" altLang="en-US" dirty="0"/>
              <a:t>）</a:t>
            </a:r>
            <a:r>
              <a:rPr lang="en-US" altLang="zh-CN" dirty="0"/>
              <a:t>; </a:t>
            </a:r>
            <a:r>
              <a:rPr lang="zh-CN" altLang="en-US" dirty="0"/>
              <a:t>私钥</a:t>
            </a:r>
            <a:r>
              <a:rPr lang="en-US" altLang="zh-CN" dirty="0"/>
              <a:t>= d</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30</a:t>
            </a:fld>
            <a:endParaRPr lang="en-US" dirty="0"/>
          </a:p>
        </p:txBody>
      </p:sp>
    </p:spTree>
    <p:extLst>
      <p:ext uri="{BB962C8B-B14F-4D97-AF65-F5344CB8AC3E}">
        <p14:creationId xmlns:p14="http://schemas.microsoft.com/office/powerpoint/2010/main" val="5885673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RSA</a:t>
            </a:r>
            <a:r>
              <a:rPr lang="zh-CN" altLang="en-US" dirty="0"/>
              <a:t>加密</a:t>
            </a:r>
          </a:p>
          <a:p>
            <a:r>
              <a:rPr lang="zh-CN" altLang="en-US" dirty="0"/>
              <a:t>给定公钥（</a:t>
            </a:r>
            <a:r>
              <a:rPr lang="en-US" altLang="zh-CN" dirty="0"/>
              <a:t>n</a:t>
            </a:r>
            <a:r>
              <a:rPr lang="zh-CN" altLang="en-US" dirty="0"/>
              <a:t>，</a:t>
            </a:r>
            <a:r>
              <a:rPr lang="en-US" altLang="zh-CN" dirty="0"/>
              <a:t>e</a:t>
            </a:r>
            <a:r>
              <a:rPr lang="zh-CN" altLang="en-US" dirty="0"/>
              <a:t>）</a:t>
            </a:r>
          </a:p>
          <a:p>
            <a:r>
              <a:rPr lang="zh-CN" altLang="en-US" dirty="0"/>
              <a:t>将消息转换为整数</a:t>
            </a:r>
            <a:r>
              <a:rPr lang="en-US" altLang="zh-CN" dirty="0"/>
              <a:t>P</a:t>
            </a:r>
          </a:p>
          <a:p>
            <a:r>
              <a:rPr lang="zh-CN" altLang="en-US" dirty="0"/>
              <a:t>计算</a:t>
            </a:r>
            <a:r>
              <a:rPr lang="en-US" altLang="zh-CN" dirty="0"/>
              <a:t>C = Pe</a:t>
            </a:r>
            <a:r>
              <a:rPr lang="zh-CN" altLang="en-US" dirty="0"/>
              <a:t>模</a:t>
            </a:r>
            <a:r>
              <a:rPr lang="en-US" altLang="zh-CN" dirty="0"/>
              <a:t>n</a:t>
            </a:r>
          </a:p>
          <a:p>
            <a:r>
              <a:rPr lang="en-US" altLang="zh-CN" dirty="0"/>
              <a:t>RSA</a:t>
            </a:r>
            <a:r>
              <a:rPr lang="zh-CN" altLang="en-US" dirty="0"/>
              <a:t>解密</a:t>
            </a:r>
          </a:p>
          <a:p>
            <a:r>
              <a:rPr lang="zh-CN" altLang="en-US" dirty="0"/>
              <a:t>给定私钥</a:t>
            </a:r>
            <a:r>
              <a:rPr lang="en-US" altLang="zh-CN" dirty="0"/>
              <a:t>d</a:t>
            </a:r>
          </a:p>
          <a:p>
            <a:r>
              <a:rPr lang="zh-CN" altLang="en-US" dirty="0"/>
              <a:t>计算</a:t>
            </a:r>
            <a:r>
              <a:rPr lang="en-US" altLang="zh-CN" dirty="0"/>
              <a:t>Cd</a:t>
            </a:r>
            <a:r>
              <a:rPr lang="zh-CN" altLang="en-US" dirty="0"/>
              <a:t>模</a:t>
            </a:r>
            <a:r>
              <a:rPr lang="en-US" altLang="zh-CN" dirty="0"/>
              <a:t>n</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32</a:t>
            </a:fld>
            <a:endParaRPr lang="en-US" dirty="0"/>
          </a:p>
        </p:txBody>
      </p:sp>
    </p:spTree>
    <p:extLst>
      <p:ext uri="{BB962C8B-B14F-4D97-AF65-F5344CB8AC3E}">
        <p14:creationId xmlns:p14="http://schemas.microsoft.com/office/powerpoint/2010/main" val="41672944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电子商务需要安全地传输名称，密码和信用卡号</a:t>
            </a:r>
          </a:p>
          <a:p>
            <a:r>
              <a:rPr lang="en-US" altLang="zh-CN" dirty="0"/>
              <a:t>Web</a:t>
            </a:r>
            <a:r>
              <a:rPr lang="zh-CN" altLang="en-US" dirty="0"/>
              <a:t>协议：</a:t>
            </a:r>
            <a:r>
              <a:rPr lang="en-US" altLang="zh-CN" dirty="0"/>
              <a:t>SSL</a:t>
            </a:r>
            <a:r>
              <a:rPr lang="zh-CN" altLang="en-US" dirty="0"/>
              <a:t>（安全套接字层）和</a:t>
            </a:r>
            <a:r>
              <a:rPr lang="en-US" altLang="zh-CN" dirty="0"/>
              <a:t>TLS</a:t>
            </a:r>
            <a:r>
              <a:rPr lang="zh-CN" altLang="en-US" dirty="0"/>
              <a:t>（传输层安全性）</a:t>
            </a:r>
          </a:p>
          <a:p>
            <a:r>
              <a:rPr lang="zh-CN" altLang="en-US" dirty="0"/>
              <a:t>客户端服务器应用程序</a:t>
            </a:r>
          </a:p>
          <a:p>
            <a:r>
              <a:rPr lang="zh-CN" altLang="en-US" dirty="0"/>
              <a:t>服务器提供身份验证证书和服务器的公钥</a:t>
            </a:r>
          </a:p>
          <a:p>
            <a:r>
              <a:rPr lang="zh-CN" altLang="en-US" dirty="0"/>
              <a:t>客户端发送使用</a:t>
            </a:r>
            <a:r>
              <a:rPr lang="en-US" altLang="zh-CN" dirty="0"/>
              <a:t>RSA</a:t>
            </a:r>
            <a:r>
              <a:rPr lang="zh-CN" altLang="en-US" dirty="0"/>
              <a:t>加密的</a:t>
            </a:r>
            <a:r>
              <a:rPr lang="en-US" altLang="zh-CN" dirty="0"/>
              <a:t>DES</a:t>
            </a:r>
            <a:r>
              <a:rPr lang="zh-CN" altLang="en-US" dirty="0"/>
              <a:t>密钥</a:t>
            </a:r>
          </a:p>
          <a:p>
            <a:r>
              <a:rPr lang="zh-CN" altLang="en-US" dirty="0"/>
              <a:t>通过（现在共享的）</a:t>
            </a:r>
            <a:r>
              <a:rPr lang="en-US" altLang="zh-CN" dirty="0"/>
              <a:t>DES</a:t>
            </a:r>
            <a:r>
              <a:rPr lang="zh-CN" altLang="en-US" dirty="0"/>
              <a:t>密钥加密发送数据</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37</a:t>
            </a:fld>
            <a:endParaRPr lang="en-US" dirty="0"/>
          </a:p>
        </p:txBody>
      </p:sp>
    </p:spTree>
    <p:extLst>
      <p:ext uri="{BB962C8B-B14F-4D97-AF65-F5344CB8AC3E}">
        <p14:creationId xmlns:p14="http://schemas.microsoft.com/office/powerpoint/2010/main" val="10707476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嵌入式计算机：其他系统中的专用受限计算机</a:t>
            </a:r>
          </a:p>
          <a:p>
            <a:r>
              <a:rPr lang="zh-CN" altLang="en-US" dirty="0"/>
              <a:t>示例：汽车，智能电器，遥控器和患者监护系统</a:t>
            </a:r>
          </a:p>
          <a:p>
            <a:r>
              <a:rPr lang="zh-CN" altLang="en-US" dirty="0"/>
              <a:t>新趋势：将嵌入式计算机连接到网络</a:t>
            </a:r>
          </a:p>
          <a:p>
            <a:r>
              <a:rPr lang="zh-CN" altLang="en-US" dirty="0"/>
              <a:t>传输数据，接收更新</a:t>
            </a:r>
          </a:p>
          <a:p>
            <a:r>
              <a:rPr lang="zh-CN" altLang="en-US" dirty="0"/>
              <a:t>针对嵌入式系统可能会造成混乱</a:t>
            </a:r>
          </a:p>
          <a:p>
            <a:r>
              <a:rPr lang="zh-CN" altLang="en-US" dirty="0"/>
              <a:t>更改恒温器，中断患者护理或禁用飞机或汽车</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39</a:t>
            </a:fld>
            <a:endParaRPr lang="en-US" dirty="0"/>
          </a:p>
        </p:txBody>
      </p:sp>
    </p:spTree>
    <p:extLst>
      <p:ext uri="{BB962C8B-B14F-4D97-AF65-F5344CB8AC3E}">
        <p14:creationId xmlns:p14="http://schemas.microsoft.com/office/powerpoint/2010/main" val="18626216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Internet</a:t>
            </a:r>
            <a:r>
              <a:rPr lang="zh-CN" altLang="en-US" dirty="0"/>
              <a:t>和</a:t>
            </a:r>
            <a:r>
              <a:rPr lang="en-US" altLang="zh-CN" dirty="0"/>
              <a:t>Web</a:t>
            </a:r>
            <a:r>
              <a:rPr lang="zh-CN" altLang="en-US" dirty="0"/>
              <a:t>旨在促进信息交换，因此信息安全很难。</a:t>
            </a:r>
          </a:p>
          <a:p>
            <a:r>
              <a:rPr lang="zh-CN" altLang="en-US" dirty="0"/>
              <a:t>在线攻击包括病毒，蠕虫，特洛伊木马，</a:t>
            </a:r>
            <a:r>
              <a:rPr lang="en-US" altLang="zh-CN" dirty="0"/>
              <a:t>DoS</a:t>
            </a:r>
            <a:r>
              <a:rPr lang="zh-CN" altLang="en-US" dirty="0"/>
              <a:t>攻击和网络钓鱼等。</a:t>
            </a:r>
          </a:p>
          <a:p>
            <a:r>
              <a:rPr lang="zh-CN" altLang="en-US" dirty="0"/>
              <a:t>数据安全性涉及在不安全的位置传输或存储之前对敏感数据进行加密。</a:t>
            </a:r>
          </a:p>
          <a:p>
            <a:r>
              <a:rPr lang="zh-CN" altLang="en-US" dirty="0"/>
              <a:t>对称加密需要共享密钥。</a:t>
            </a:r>
          </a:p>
          <a:p>
            <a:r>
              <a:rPr lang="zh-CN" altLang="en-US" dirty="0"/>
              <a:t>非对称加密使用公钥和私钥。</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40</a:t>
            </a:fld>
            <a:endParaRPr lang="en-US" dirty="0"/>
          </a:p>
        </p:txBody>
      </p:sp>
    </p:spTree>
    <p:extLst>
      <p:ext uri="{BB962C8B-B14F-4D97-AF65-F5344CB8AC3E}">
        <p14:creationId xmlns:p14="http://schemas.microsoft.com/office/powerpoint/2010/main" val="6000077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凯撒密码是一种简单的对称加密。 替代密码相似。</a:t>
            </a:r>
          </a:p>
          <a:p>
            <a:r>
              <a:rPr lang="zh-CN" altLang="en-US" dirty="0"/>
              <a:t>分组密码将明文符号的分组合并为密文的块。</a:t>
            </a:r>
          </a:p>
          <a:p>
            <a:r>
              <a:rPr lang="en-US" altLang="zh-CN" dirty="0"/>
              <a:t>DES</a:t>
            </a:r>
            <a:r>
              <a:rPr lang="zh-CN" altLang="en-US" dirty="0"/>
              <a:t>和</a:t>
            </a:r>
            <a:r>
              <a:rPr lang="en-US" altLang="zh-CN" dirty="0"/>
              <a:t>AES</a:t>
            </a:r>
            <a:r>
              <a:rPr lang="zh-CN" altLang="en-US" dirty="0"/>
              <a:t>是强大的对称加密算法。</a:t>
            </a:r>
          </a:p>
          <a:p>
            <a:r>
              <a:rPr lang="en-US" altLang="zh-CN" dirty="0"/>
              <a:t>RSA</a:t>
            </a:r>
            <a:r>
              <a:rPr lang="zh-CN" altLang="en-US" dirty="0"/>
              <a:t>是最常见的非对称算法。</a:t>
            </a:r>
          </a:p>
          <a:p>
            <a:r>
              <a:rPr lang="zh-CN" altLang="en-US" dirty="0"/>
              <a:t>安全的</a:t>
            </a:r>
            <a:r>
              <a:rPr lang="en-US" altLang="zh-CN" dirty="0"/>
              <a:t>Web</a:t>
            </a:r>
            <a:r>
              <a:rPr lang="zh-CN" altLang="en-US" dirty="0"/>
              <a:t>传输需要以下协议：</a:t>
            </a:r>
            <a:r>
              <a:rPr lang="en-US" altLang="zh-CN" dirty="0"/>
              <a:t>SSL / TLS</a:t>
            </a:r>
            <a:r>
              <a:rPr lang="zh-CN" altLang="en-US" dirty="0"/>
              <a:t>。</a:t>
            </a:r>
          </a:p>
          <a:p>
            <a:r>
              <a:rPr lang="zh-CN" altLang="en-US" dirty="0"/>
              <a:t>嵌入式系统是下一个要解决的问题。</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41</a:t>
            </a:fld>
            <a:endParaRPr lang="en-US" dirty="0"/>
          </a:p>
        </p:txBody>
      </p:sp>
    </p:spTree>
    <p:extLst>
      <p:ext uri="{BB962C8B-B14F-4D97-AF65-F5344CB8AC3E}">
        <p14:creationId xmlns:p14="http://schemas.microsoft.com/office/powerpoint/2010/main" val="29312352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descr="Article_PPT_Template-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itle 2"/>
          <p:cNvSpPr>
            <a:spLocks noGrp="1"/>
          </p:cNvSpPr>
          <p:nvPr>
            <p:ph type="subTitle" idx="1"/>
          </p:nvPr>
        </p:nvSpPr>
        <p:spPr>
          <a:xfrm>
            <a:off x="5438414" y="3422664"/>
            <a:ext cx="3709317" cy="1982154"/>
          </a:xfrm>
        </p:spPr>
        <p:txBody>
          <a:bodyPr>
            <a:noAutofit/>
          </a:bodyPr>
          <a:lstStyle>
            <a:lvl1pPr marL="0" indent="0" algn="l">
              <a:buNone/>
              <a:defRPr sz="4000" b="1">
                <a:solidFill>
                  <a:srgbClr val="536E75"/>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4" name="Text Placeholder 23"/>
          <p:cNvSpPr>
            <a:spLocks noGrp="1"/>
          </p:cNvSpPr>
          <p:nvPr>
            <p:ph type="body" sz="quarter" idx="12"/>
          </p:nvPr>
        </p:nvSpPr>
        <p:spPr>
          <a:xfrm>
            <a:off x="5438415" y="1465263"/>
            <a:ext cx="3705585" cy="1708160"/>
          </a:xfrm>
        </p:spPr>
        <p:txBody>
          <a:bodyPr>
            <a:noAutofit/>
          </a:bodyPr>
          <a:lstStyle>
            <a:lvl1pPr marL="0" indent="0">
              <a:buNone/>
              <a:defRPr sz="3500" b="1" baseline="0">
                <a:solidFill>
                  <a:srgbClr val="34B14B"/>
                </a:solidFill>
                <a:latin typeface="Arial"/>
                <a:cs typeface="Arial"/>
              </a:defRPr>
            </a:lvl1pPr>
          </a:lstStyle>
          <a:p>
            <a:pPr lvl="0"/>
            <a:r>
              <a:rPr lang="en-US" dirty="0"/>
              <a:t>Click to edit Master text styles</a:t>
            </a:r>
          </a:p>
        </p:txBody>
      </p:sp>
    </p:spTree>
    <p:extLst>
      <p:ext uri="{BB962C8B-B14F-4D97-AF65-F5344CB8AC3E}">
        <p14:creationId xmlns:p14="http://schemas.microsoft.com/office/powerpoint/2010/main" val="2945547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4" name="Picture 3" descr="Article_PPT_Template-2.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0" y="1"/>
            <a:ext cx="9144000" cy="1060704"/>
          </a:xfrm>
          <a:noFill/>
          <a:ln>
            <a:noFill/>
          </a:ln>
        </p:spPr>
        <p:txBody>
          <a:bodyPr anchor="t" anchorCtr="0">
            <a:normAutofit/>
          </a:bodyPr>
          <a:lstStyle>
            <a:lvl1pPr algn="l">
              <a:lnSpc>
                <a:spcPct val="100000"/>
              </a:lnSpc>
              <a:defRPr sz="2500" b="1" i="0">
                <a:solidFill>
                  <a:schemeClr val="bg1"/>
                </a:solidFill>
                <a:latin typeface="Arial"/>
                <a:cs typeface="Arial"/>
              </a:defRPr>
            </a:lvl1pPr>
          </a:lstStyle>
          <a:p>
            <a:r>
              <a:rPr lang="en-US" dirty="0"/>
              <a:t>Click to edit Master title style</a:t>
            </a:r>
          </a:p>
        </p:txBody>
      </p:sp>
      <p:sp>
        <p:nvSpPr>
          <p:cNvPr id="3" name="Content Placeholder 2"/>
          <p:cNvSpPr>
            <a:spLocks noGrp="1"/>
          </p:cNvSpPr>
          <p:nvPr>
            <p:ph idx="1"/>
          </p:nvPr>
        </p:nvSpPr>
        <p:spPr>
          <a:xfrm>
            <a:off x="457203" y="1231266"/>
            <a:ext cx="8229600" cy="4894898"/>
          </a:xfrm>
        </p:spPr>
        <p:txBody>
          <a:bodyPr/>
          <a:lstStyle>
            <a:lvl1pPr>
              <a:buClr>
                <a:srgbClr val="34B14B"/>
              </a:buClr>
              <a:defRPr sz="3000" b="0" i="0">
                <a:latin typeface="Arial"/>
                <a:cs typeface="Arial"/>
              </a:defRPr>
            </a:lvl1pPr>
            <a:lvl2pPr>
              <a:buClr>
                <a:srgbClr val="34B14B"/>
              </a:buClr>
              <a:defRPr b="0" i="0">
                <a:latin typeface="Arial"/>
                <a:cs typeface="Arial"/>
              </a:defRPr>
            </a:lvl2pPr>
            <a:lvl3pPr>
              <a:buClr>
                <a:srgbClr val="34B14B"/>
              </a:buClr>
              <a:defRPr b="0" i="0">
                <a:latin typeface="Arial"/>
                <a:cs typeface="Arial"/>
              </a:defRPr>
            </a:lvl3pPr>
            <a:lvl4pPr>
              <a:buClr>
                <a:srgbClr val="34B14B"/>
              </a:buClr>
              <a:defRPr b="0" i="0">
                <a:latin typeface="Arial"/>
                <a:cs typeface="Arial"/>
              </a:defRPr>
            </a:lvl4pPr>
            <a:lvl5pPr>
              <a:buClr>
                <a:srgbClr val="34B14B"/>
              </a:buClr>
              <a:defRPr b="0" i="0">
                <a:latin typeface="Arial"/>
                <a:cs typeface="Aria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7937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3" name="Picture 2" descr="Article_PPT_Template-2.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2" name="Content Placeholder 2"/>
          <p:cNvSpPr>
            <a:spLocks noGrp="1"/>
          </p:cNvSpPr>
          <p:nvPr>
            <p:ph sz="half" idx="1"/>
          </p:nvPr>
        </p:nvSpPr>
        <p:spPr>
          <a:xfrm>
            <a:off x="457200" y="1234440"/>
            <a:ext cx="4038600" cy="4892040"/>
          </a:xfrm>
        </p:spPr>
        <p:txBody>
          <a:bodyPr/>
          <a:lstStyle>
            <a:lvl1pPr>
              <a:buClr>
                <a:srgbClr val="34B14B"/>
              </a:buClr>
              <a:defRPr sz="3000">
                <a:latin typeface="Arial"/>
                <a:cs typeface="Arial"/>
              </a:defRPr>
            </a:lvl1pPr>
            <a:lvl2pPr>
              <a:buClr>
                <a:srgbClr val="34B14B"/>
              </a:buClr>
              <a:defRPr sz="2800">
                <a:latin typeface="Arial"/>
                <a:cs typeface="Arial"/>
              </a:defRPr>
            </a:lvl2pPr>
            <a:lvl3pPr>
              <a:buClr>
                <a:srgbClr val="34B14B"/>
              </a:buClr>
              <a:defRPr sz="2400">
                <a:latin typeface="Arial"/>
                <a:cs typeface="Arial"/>
              </a:defRPr>
            </a:lvl3pPr>
            <a:lvl4pPr>
              <a:buClr>
                <a:srgbClr val="34B14B"/>
              </a:buClr>
              <a:defRPr sz="2000">
                <a:latin typeface="Arial"/>
                <a:cs typeface="Arial"/>
              </a:defRPr>
            </a:lvl4pPr>
            <a:lvl5pPr>
              <a:buClr>
                <a:srgbClr val="34B14B"/>
              </a:buClr>
              <a:defRPr sz="2000">
                <a:latin typeface="Arial"/>
                <a:cs typeface="Aria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3"/>
          <p:cNvSpPr>
            <a:spLocks noGrp="1"/>
          </p:cNvSpPr>
          <p:nvPr>
            <p:ph sz="half" idx="2"/>
          </p:nvPr>
        </p:nvSpPr>
        <p:spPr>
          <a:xfrm>
            <a:off x="4648200" y="1234440"/>
            <a:ext cx="4038600" cy="4892040"/>
          </a:xfrm>
        </p:spPr>
        <p:txBody>
          <a:bodyPr/>
          <a:lstStyle>
            <a:lvl1pPr>
              <a:buClr>
                <a:srgbClr val="34B14B"/>
              </a:buClr>
              <a:defRPr sz="3000">
                <a:latin typeface="Arial"/>
                <a:cs typeface="Arial"/>
              </a:defRPr>
            </a:lvl1pPr>
            <a:lvl2pPr>
              <a:buClr>
                <a:srgbClr val="34B14B"/>
              </a:buClr>
              <a:defRPr sz="2800">
                <a:latin typeface="Arial"/>
                <a:cs typeface="Arial"/>
              </a:defRPr>
            </a:lvl2pPr>
            <a:lvl3pPr>
              <a:buClr>
                <a:srgbClr val="34B14B"/>
              </a:buClr>
              <a:defRPr sz="2400">
                <a:latin typeface="Arial"/>
                <a:cs typeface="Arial"/>
              </a:defRPr>
            </a:lvl3pPr>
            <a:lvl4pPr>
              <a:buClr>
                <a:srgbClr val="34B14B"/>
              </a:buClr>
              <a:defRPr sz="2000">
                <a:latin typeface="Arial"/>
                <a:cs typeface="Arial"/>
              </a:defRPr>
            </a:lvl4pPr>
            <a:lvl5pPr>
              <a:buClr>
                <a:srgbClr val="34B14B"/>
              </a:buClr>
              <a:defRPr sz="2000">
                <a:latin typeface="Arial"/>
                <a:cs typeface="Aria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1"/>
          <p:cNvSpPr>
            <a:spLocks noGrp="1"/>
          </p:cNvSpPr>
          <p:nvPr>
            <p:ph type="title"/>
          </p:nvPr>
        </p:nvSpPr>
        <p:spPr>
          <a:xfrm>
            <a:off x="0" y="1"/>
            <a:ext cx="9144000" cy="1060704"/>
          </a:xfrm>
          <a:ln>
            <a:noFill/>
          </a:ln>
        </p:spPr>
        <p:txBody>
          <a:bodyPr anchor="t" anchorCtr="0">
            <a:normAutofit/>
          </a:bodyPr>
          <a:lstStyle>
            <a:lvl1pPr algn="l">
              <a:lnSpc>
                <a:spcPct val="100000"/>
              </a:lnSpc>
              <a:defRPr sz="2500" b="1" i="0">
                <a:solidFill>
                  <a:srgbClr val="FFFFFF"/>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230206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5"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5" y="2906716"/>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t>‹#›</a:t>
            </a:fld>
            <a:endParaRPr lang="en-US" dirty="0"/>
          </a:p>
        </p:txBody>
      </p:sp>
      <p:sp>
        <p:nvSpPr>
          <p:cNvPr id="7" name="Text Placeholder 5"/>
          <p:cNvSpPr>
            <a:spLocks noGrp="1"/>
          </p:cNvSpPr>
          <p:nvPr>
            <p:ph type="body" sz="quarter" idx="13"/>
          </p:nvPr>
        </p:nvSpPr>
        <p:spPr>
          <a:xfrm>
            <a:off x="2833433" y="6313295"/>
            <a:ext cx="3477134" cy="379413"/>
          </a:xfrm>
        </p:spPr>
        <p:txBody>
          <a:bodyPr/>
          <a:lstStyle>
            <a:lvl1pPr marL="0" indent="0" algn="ctr">
              <a:buNone/>
              <a:defRPr sz="1800" b="1">
                <a:solidFill>
                  <a:schemeClr val="bg1"/>
                </a:solidFill>
                <a:latin typeface="Arial"/>
                <a:cs typeface="Aria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Tree>
    <p:extLst>
      <p:ext uri="{BB962C8B-B14F-4D97-AF65-F5344CB8AC3E}">
        <p14:creationId xmlns:p14="http://schemas.microsoft.com/office/powerpoint/2010/main" val="2347261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012840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2" y="1535117"/>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2" y="2174879"/>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6" y="1535117"/>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9"/>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96831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1933993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1856707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4"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4"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448239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90" y="4800604"/>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90"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90" y="5367342"/>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143319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3809092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2" y="27464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5180352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4" name="Picture 3" descr="Article_PPT_Template-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itle 2"/>
          <p:cNvSpPr>
            <a:spLocks noGrp="1"/>
          </p:cNvSpPr>
          <p:nvPr>
            <p:ph type="subTitle" idx="1"/>
          </p:nvPr>
        </p:nvSpPr>
        <p:spPr>
          <a:xfrm>
            <a:off x="5438414" y="3422664"/>
            <a:ext cx="3709317" cy="1982154"/>
          </a:xfrm>
        </p:spPr>
        <p:txBody>
          <a:bodyPr>
            <a:noAutofit/>
          </a:bodyPr>
          <a:lstStyle>
            <a:lvl1pPr marL="0" indent="0" algn="l">
              <a:buNone/>
              <a:defRPr sz="4000" b="1">
                <a:solidFill>
                  <a:srgbClr val="536E75"/>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4" name="Text Placeholder 23"/>
          <p:cNvSpPr>
            <a:spLocks noGrp="1"/>
          </p:cNvSpPr>
          <p:nvPr>
            <p:ph type="body" sz="quarter" idx="12"/>
          </p:nvPr>
        </p:nvSpPr>
        <p:spPr>
          <a:xfrm>
            <a:off x="5438415" y="1465263"/>
            <a:ext cx="3705585" cy="1708160"/>
          </a:xfrm>
        </p:spPr>
        <p:txBody>
          <a:bodyPr>
            <a:noAutofit/>
          </a:bodyPr>
          <a:lstStyle>
            <a:lvl1pPr marL="0" indent="0">
              <a:buNone/>
              <a:defRPr sz="3500" b="1" baseline="0">
                <a:solidFill>
                  <a:srgbClr val="34B14B"/>
                </a:solidFill>
                <a:latin typeface="Arial"/>
                <a:cs typeface="Arial"/>
              </a:defRPr>
            </a:lvl1pPr>
          </a:lstStyle>
          <a:p>
            <a:pPr lvl="0"/>
            <a:r>
              <a:rPr lang="en-US" dirty="0"/>
              <a:t>Click to edit Master text styles</a:t>
            </a:r>
          </a:p>
        </p:txBody>
      </p:sp>
      <p:sp>
        <p:nvSpPr>
          <p:cNvPr id="2" name="Title 1"/>
          <p:cNvSpPr>
            <a:spLocks noGrp="1"/>
          </p:cNvSpPr>
          <p:nvPr>
            <p:ph type="title"/>
          </p:nvPr>
        </p:nvSpPr>
        <p:spPr>
          <a:xfrm>
            <a:off x="4498605" y="248195"/>
            <a:ext cx="4645395" cy="1143000"/>
          </a:xfrm>
        </p:spPr>
        <p:txBody>
          <a:bodyPr>
            <a:normAutofit/>
          </a:bodyPr>
          <a:lstStyle>
            <a:lvl1pPr>
              <a:defRPr lang="en-US" sz="3500" b="1" kern="1200" baseline="0" dirty="0">
                <a:solidFill>
                  <a:srgbClr val="34B14B"/>
                </a:solidFill>
                <a:latin typeface="Arial"/>
                <a:ea typeface="+mn-ea"/>
                <a:cs typeface="Arial"/>
              </a:defRPr>
            </a:lvl1pPr>
          </a:lstStyle>
          <a:p>
            <a:pPr marL="0" lvl="0" indent="0" algn="l" defTabSz="457200" rtl="0" eaLnBrk="1" latinLnBrk="0" hangingPunct="1">
              <a:spcBef>
                <a:spcPct val="20000"/>
              </a:spcBef>
              <a:buClr>
                <a:srgbClr val="3C5AA8"/>
              </a:buClr>
              <a:buFont typeface="Arial"/>
              <a:buNone/>
            </a:pPr>
            <a:r>
              <a:rPr lang="en-US" dirty="0"/>
              <a:t>Click to edit Master title style</a:t>
            </a:r>
          </a:p>
        </p:txBody>
      </p:sp>
    </p:spTree>
    <p:extLst>
      <p:ext uri="{BB962C8B-B14F-4D97-AF65-F5344CB8AC3E}">
        <p14:creationId xmlns:p14="http://schemas.microsoft.com/office/powerpoint/2010/main" val="548814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 y="0"/>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3"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3" y="6356354"/>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3124202" y="6356354"/>
            <a:ext cx="2895601"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3" y="6356354"/>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15F8B6-4AEF-1F4D-AC2D-D10919A1A67B}" type="slidenum">
              <a:rPr lang="en-US" smtClean="0"/>
              <a:t>‹#›</a:t>
            </a:fld>
            <a:endParaRPr lang="en-US" dirty="0"/>
          </a:p>
        </p:txBody>
      </p:sp>
    </p:spTree>
    <p:extLst>
      <p:ext uri="{BB962C8B-B14F-4D97-AF65-F5344CB8AC3E}">
        <p14:creationId xmlns:p14="http://schemas.microsoft.com/office/powerpoint/2010/main" val="76484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Clr>
          <a:srgbClr val="3C5AA8"/>
        </a:buClr>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Clr>
          <a:srgbClr val="3C5AA8"/>
        </a:buClr>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Clr>
          <a:srgbClr val="3C5AA8"/>
        </a:buClr>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Clr>
          <a:srgbClr val="3C5AA8"/>
        </a:buClr>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Clr>
          <a:srgbClr val="3C5AA8"/>
        </a:buClr>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0.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1.w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ubtitle 16"/>
          <p:cNvSpPr>
            <a:spLocks noGrp="1"/>
          </p:cNvSpPr>
          <p:nvPr>
            <p:ph type="subTitle" idx="1"/>
          </p:nvPr>
        </p:nvSpPr>
        <p:spPr>
          <a:xfrm>
            <a:off x="5333910" y="3422663"/>
            <a:ext cx="3709317" cy="1227713"/>
          </a:xfrm>
        </p:spPr>
        <p:txBody>
          <a:bodyPr/>
          <a:lstStyle/>
          <a:p>
            <a:pPr marL="0" lvl="1"/>
            <a:r>
              <a:rPr lang="en-US" sz="3600" dirty="0">
                <a:solidFill>
                  <a:schemeClr val="tx1"/>
                </a:solidFill>
                <a:latin typeface="Arial" pitchFamily="34" charset="0"/>
                <a:cs typeface="Arial" pitchFamily="34" charset="0"/>
              </a:rPr>
              <a:t>Information Security</a:t>
            </a:r>
          </a:p>
        </p:txBody>
      </p:sp>
      <p:sp>
        <p:nvSpPr>
          <p:cNvPr id="2" name="Title 1"/>
          <p:cNvSpPr>
            <a:spLocks noGrp="1"/>
          </p:cNvSpPr>
          <p:nvPr>
            <p:ph type="title"/>
          </p:nvPr>
        </p:nvSpPr>
        <p:spPr>
          <a:xfrm>
            <a:off x="5665944" y="1528356"/>
            <a:ext cx="3172867" cy="1143000"/>
          </a:xfrm>
        </p:spPr>
        <p:txBody>
          <a:bodyPr>
            <a:normAutofit/>
          </a:bodyPr>
          <a:lstStyle/>
          <a:p>
            <a:r>
              <a:rPr lang="en-US" sz="4000" dirty="0">
                <a:latin typeface="Arial" panose="020B0604020202020204" pitchFamily="34" charset="0"/>
                <a:cs typeface="Arial" panose="020B0604020202020204" pitchFamily="34" charset="0"/>
              </a:rPr>
              <a:t>Chapter 8</a:t>
            </a:r>
            <a:endParaRPr lang="en-US" sz="4000" dirty="0"/>
          </a:p>
        </p:txBody>
      </p:sp>
    </p:spTree>
    <p:extLst>
      <p:ext uri="{BB962C8B-B14F-4D97-AF65-F5344CB8AC3E}">
        <p14:creationId xmlns:p14="http://schemas.microsoft.com/office/powerpoint/2010/main" val="31957444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Learning Objectives (1 of 2)</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p:txBody>
          <a:bodyPr>
            <a:normAutofit/>
          </a:bodyPr>
          <a:lstStyle/>
          <a:p>
            <a:r>
              <a:rPr lang="en-US" altLang="en-US" sz="2600" dirty="0">
                <a:latin typeface="Arial" panose="020B0604020202020204" pitchFamily="34" charset="0"/>
                <a:ea typeface="ＭＳ Ｐゴシック" pitchFamily="34" charset="-128"/>
                <a:cs typeface="Arial" panose="020B0604020202020204" pitchFamily="34" charset="0"/>
              </a:rPr>
              <a:t>Explain the difference between </a:t>
            </a:r>
            <a:r>
              <a:rPr lang="en-US" altLang="en-US" sz="2600" dirty="0">
                <a:solidFill>
                  <a:srgbClr val="FF0000"/>
                </a:solidFill>
                <a:latin typeface="Arial" panose="020B0604020202020204" pitchFamily="34" charset="0"/>
                <a:ea typeface="ＭＳ Ｐゴシック" pitchFamily="34" charset="-128"/>
                <a:cs typeface="Arial" panose="020B0604020202020204" pitchFamily="34" charset="0"/>
              </a:rPr>
              <a:t>authentication</a:t>
            </a:r>
            <a:r>
              <a:rPr lang="en-US" altLang="en-US" sz="2600" dirty="0">
                <a:latin typeface="Arial" panose="020B0604020202020204" pitchFamily="34" charset="0"/>
                <a:ea typeface="ＭＳ Ｐゴシック" pitchFamily="34" charset="-128"/>
                <a:cs typeface="Arial" panose="020B0604020202020204" pitchFamily="34" charset="0"/>
              </a:rPr>
              <a:t> and </a:t>
            </a:r>
            <a:r>
              <a:rPr lang="en-US" altLang="en-US" sz="2600" dirty="0">
                <a:solidFill>
                  <a:srgbClr val="FF0000"/>
                </a:solidFill>
                <a:latin typeface="Arial" panose="020B0604020202020204" pitchFamily="34" charset="0"/>
                <a:ea typeface="ＭＳ Ｐゴシック" pitchFamily="34" charset="-128"/>
                <a:cs typeface="Arial" panose="020B0604020202020204" pitchFamily="34" charset="0"/>
              </a:rPr>
              <a:t>authorization</a:t>
            </a:r>
            <a:r>
              <a:rPr lang="en-US" altLang="en-US" sz="2600" dirty="0">
                <a:latin typeface="Arial" panose="020B0604020202020204" pitchFamily="34" charset="0"/>
                <a:ea typeface="ＭＳ Ｐゴシック" pitchFamily="34" charset="-128"/>
                <a:cs typeface="Arial" panose="020B0604020202020204" pitchFamily="34" charset="0"/>
              </a:rPr>
              <a:t> </a:t>
            </a:r>
          </a:p>
          <a:p>
            <a:r>
              <a:rPr lang="en-US" altLang="en-US" sz="2600" dirty="0">
                <a:latin typeface="Arial" panose="020B0604020202020204" pitchFamily="34" charset="0"/>
                <a:ea typeface="ＭＳ Ｐゴシック" pitchFamily="34" charset="-128"/>
                <a:cs typeface="Arial" panose="020B0604020202020204" pitchFamily="34" charset="0"/>
              </a:rPr>
              <a:t>Explain the use of a hash function to </a:t>
            </a:r>
            <a:r>
              <a:rPr lang="en-US" altLang="en-US" sz="2600" dirty="0">
                <a:solidFill>
                  <a:srgbClr val="FF0000"/>
                </a:solidFill>
                <a:latin typeface="Arial" panose="020B0604020202020204" pitchFamily="34" charset="0"/>
                <a:ea typeface="ＭＳ Ｐゴシック" pitchFamily="34" charset="-128"/>
                <a:cs typeface="Arial" panose="020B0604020202020204" pitchFamily="34" charset="0"/>
              </a:rPr>
              <a:t>encrypt </a:t>
            </a:r>
            <a:r>
              <a:rPr lang="en-US" altLang="en-US" sz="2600" dirty="0">
                <a:latin typeface="Arial" panose="020B0604020202020204" pitchFamily="34" charset="0"/>
                <a:ea typeface="ＭＳ Ｐゴシック" pitchFamily="34" charset="-128"/>
                <a:cs typeface="Arial" panose="020B0604020202020204" pitchFamily="34" charset="0"/>
              </a:rPr>
              <a:t>passwords on a computer system </a:t>
            </a:r>
          </a:p>
          <a:p>
            <a:r>
              <a:rPr lang="en-US" altLang="en-US" sz="2600" dirty="0">
                <a:latin typeface="Arial" panose="020B0604020202020204" pitchFamily="34" charset="0"/>
                <a:ea typeface="ＭＳ Ｐゴシック" pitchFamily="34" charset="-128"/>
                <a:cs typeface="Arial" panose="020B0604020202020204" pitchFamily="34" charset="0"/>
              </a:rPr>
              <a:t>Describe </a:t>
            </a:r>
            <a:r>
              <a:rPr lang="en-US" altLang="en-US" sz="2600" dirty="0">
                <a:solidFill>
                  <a:srgbClr val="FF0000"/>
                </a:solidFill>
                <a:latin typeface="Arial" panose="020B0604020202020204" pitchFamily="34" charset="0"/>
                <a:ea typeface="ＭＳ Ｐゴシック" pitchFamily="34" charset="-128"/>
                <a:cs typeface="Arial" panose="020B0604020202020204" pitchFamily="34" charset="0"/>
              </a:rPr>
              <a:t>cyber-attacks</a:t>
            </a:r>
            <a:r>
              <a:rPr lang="en-US" altLang="en-US" sz="2600" dirty="0">
                <a:latin typeface="Arial" panose="020B0604020202020204" pitchFamily="34" charset="0"/>
                <a:ea typeface="ＭＳ Ｐゴシック" pitchFamily="34" charset="-128"/>
                <a:cs typeface="Arial" panose="020B0604020202020204" pitchFamily="34" charset="0"/>
              </a:rPr>
              <a:t> including viruses, worms, Trojan horses, DoS attacks, and phishing, and explain how they differ from each other </a:t>
            </a:r>
          </a:p>
          <a:p>
            <a:r>
              <a:rPr lang="en-US" altLang="en-US" sz="2600" dirty="0">
                <a:latin typeface="Arial" panose="020B0604020202020204" pitchFamily="34" charset="0"/>
                <a:ea typeface="ＭＳ Ｐゴシック" pitchFamily="34" charset="-128"/>
                <a:cs typeface="Arial" panose="020B0604020202020204" pitchFamily="34" charset="0"/>
              </a:rPr>
              <a:t>Describe ways to increase the security of information on your computer and online</a:t>
            </a:r>
          </a:p>
          <a:p>
            <a:r>
              <a:rPr lang="en-US" altLang="en-US" sz="2600" dirty="0">
                <a:latin typeface="Arial" panose="020B0604020202020204" pitchFamily="34" charset="0"/>
                <a:ea typeface="ＭＳ Ｐゴシック" pitchFamily="34" charset="-128"/>
                <a:cs typeface="Arial" panose="020B0604020202020204" pitchFamily="34" charset="0"/>
              </a:rPr>
              <a:t>Encrypt and decrypt messages using simple Caesar </a:t>
            </a:r>
            <a:r>
              <a:rPr lang="en-US" altLang="en-US" sz="2600" dirty="0">
                <a:solidFill>
                  <a:srgbClr val="FF0000"/>
                </a:solidFill>
                <a:latin typeface="Arial" panose="020B0604020202020204" pitchFamily="34" charset="0"/>
                <a:ea typeface="ＭＳ Ｐゴシック" pitchFamily="34" charset="-128"/>
                <a:cs typeface="Arial" panose="020B0604020202020204" pitchFamily="34" charset="0"/>
              </a:rPr>
              <a:t>cipher</a:t>
            </a:r>
            <a:r>
              <a:rPr lang="en-US" altLang="en-US" sz="2600" dirty="0">
                <a:latin typeface="Arial" panose="020B0604020202020204" pitchFamily="34" charset="0"/>
                <a:ea typeface="ＭＳ Ｐゴシック" pitchFamily="34" charset="-128"/>
                <a:cs typeface="Arial" panose="020B0604020202020204" pitchFamily="34" charset="0"/>
              </a:rPr>
              <a:t>s and matrix-based block ciphers</a:t>
            </a:r>
          </a:p>
        </p:txBody>
      </p:sp>
      <p:sp>
        <p:nvSpPr>
          <p:cNvPr id="5" name="TextBox 4">
            <a:extLst>
              <a:ext uri="{FF2B5EF4-FFF2-40B4-BE49-F238E27FC236}">
                <a16:creationId xmlns:a16="http://schemas.microsoft.com/office/drawing/2014/main" id="{75B1E3CB-A0F4-4936-9281-583A7D680163}"/>
              </a:ext>
            </a:extLst>
          </p:cNvPr>
          <p:cNvSpPr txBox="1"/>
          <p:nvPr/>
        </p:nvSpPr>
        <p:spPr>
          <a:xfrm>
            <a:off x="5956126" y="1060705"/>
            <a:ext cx="4572000" cy="369332"/>
          </a:xfrm>
          <a:prstGeom prst="rect">
            <a:avLst/>
          </a:prstGeom>
          <a:noFill/>
        </p:spPr>
        <p:txBody>
          <a:bodyPr wrap="square">
            <a:spAutoFit/>
          </a:bodyPr>
          <a:lstStyle/>
          <a:p>
            <a:r>
              <a:rPr lang="zh-CN" altLang="en-US" dirty="0">
                <a:solidFill>
                  <a:srgbClr val="FF0000"/>
                </a:solidFill>
              </a:rPr>
              <a:t>身份验证</a:t>
            </a:r>
            <a:endParaRPr lang="en-US" dirty="0">
              <a:solidFill>
                <a:srgbClr val="FF0000"/>
              </a:solidFill>
            </a:endParaRPr>
          </a:p>
        </p:txBody>
      </p:sp>
      <p:sp>
        <p:nvSpPr>
          <p:cNvPr id="8" name="TextBox 7">
            <a:extLst>
              <a:ext uri="{FF2B5EF4-FFF2-40B4-BE49-F238E27FC236}">
                <a16:creationId xmlns:a16="http://schemas.microsoft.com/office/drawing/2014/main" id="{3D38CE6F-3545-4C7D-8C55-BD5949B9D942}"/>
              </a:ext>
            </a:extLst>
          </p:cNvPr>
          <p:cNvSpPr txBox="1"/>
          <p:nvPr/>
        </p:nvSpPr>
        <p:spPr>
          <a:xfrm>
            <a:off x="2718148" y="1701973"/>
            <a:ext cx="776614" cy="369332"/>
          </a:xfrm>
          <a:prstGeom prst="rect">
            <a:avLst/>
          </a:prstGeom>
          <a:noFill/>
        </p:spPr>
        <p:txBody>
          <a:bodyPr wrap="square">
            <a:spAutoFit/>
          </a:bodyPr>
          <a:lstStyle/>
          <a:p>
            <a:r>
              <a:rPr lang="zh-CN" altLang="en-US" dirty="0">
                <a:solidFill>
                  <a:srgbClr val="FF0000"/>
                </a:solidFill>
              </a:rPr>
              <a:t>授权</a:t>
            </a:r>
            <a:endParaRPr lang="en-US" dirty="0">
              <a:solidFill>
                <a:srgbClr val="FF0000"/>
              </a:solidFill>
            </a:endParaRPr>
          </a:p>
        </p:txBody>
      </p:sp>
      <p:sp>
        <p:nvSpPr>
          <p:cNvPr id="9" name="TextBox 8">
            <a:extLst>
              <a:ext uri="{FF2B5EF4-FFF2-40B4-BE49-F238E27FC236}">
                <a16:creationId xmlns:a16="http://schemas.microsoft.com/office/drawing/2014/main" id="{3B73C92F-F09B-493C-B917-0AE10B080449}"/>
              </a:ext>
            </a:extLst>
          </p:cNvPr>
          <p:cNvSpPr txBox="1"/>
          <p:nvPr/>
        </p:nvSpPr>
        <p:spPr>
          <a:xfrm>
            <a:off x="7365305" y="2199788"/>
            <a:ext cx="2292263" cy="369332"/>
          </a:xfrm>
          <a:prstGeom prst="rect">
            <a:avLst/>
          </a:prstGeom>
          <a:noFill/>
        </p:spPr>
        <p:txBody>
          <a:bodyPr wrap="square">
            <a:spAutoFit/>
          </a:bodyPr>
          <a:lstStyle/>
          <a:p>
            <a:r>
              <a:rPr lang="zh-CN" altLang="en-US" dirty="0">
                <a:solidFill>
                  <a:srgbClr val="FF0000"/>
                </a:solidFill>
              </a:rPr>
              <a:t>加密</a:t>
            </a:r>
            <a:endParaRPr lang="en-US" dirty="0">
              <a:solidFill>
                <a:srgbClr val="FF0000"/>
              </a:solidFill>
            </a:endParaRPr>
          </a:p>
        </p:txBody>
      </p:sp>
      <p:sp>
        <p:nvSpPr>
          <p:cNvPr id="13" name="TextBox 12">
            <a:extLst>
              <a:ext uri="{FF2B5EF4-FFF2-40B4-BE49-F238E27FC236}">
                <a16:creationId xmlns:a16="http://schemas.microsoft.com/office/drawing/2014/main" id="{B5BF2D0F-1FD2-49A9-8A58-5D09C1BA390B}"/>
              </a:ext>
            </a:extLst>
          </p:cNvPr>
          <p:cNvSpPr txBox="1"/>
          <p:nvPr/>
        </p:nvSpPr>
        <p:spPr>
          <a:xfrm>
            <a:off x="2718148" y="2839227"/>
            <a:ext cx="5260930" cy="369332"/>
          </a:xfrm>
          <a:prstGeom prst="rect">
            <a:avLst/>
          </a:prstGeom>
          <a:noFill/>
        </p:spPr>
        <p:txBody>
          <a:bodyPr wrap="square">
            <a:spAutoFit/>
          </a:bodyPr>
          <a:lstStyle/>
          <a:p>
            <a:r>
              <a:rPr lang="zh-CN" altLang="en-US" dirty="0">
                <a:solidFill>
                  <a:srgbClr val="FF0000"/>
                </a:solidFill>
              </a:rPr>
              <a:t>网络攻击</a:t>
            </a:r>
            <a:endParaRPr lang="en-US" dirty="0">
              <a:solidFill>
                <a:srgbClr val="FF0000"/>
              </a:solidFill>
            </a:endParaRPr>
          </a:p>
        </p:txBody>
      </p:sp>
      <p:sp>
        <p:nvSpPr>
          <p:cNvPr id="15" name="TextBox 14">
            <a:extLst>
              <a:ext uri="{FF2B5EF4-FFF2-40B4-BE49-F238E27FC236}">
                <a16:creationId xmlns:a16="http://schemas.microsoft.com/office/drawing/2014/main" id="{C893C2CD-D6BF-4836-9C4C-5F86A0D4C1C9}"/>
              </a:ext>
            </a:extLst>
          </p:cNvPr>
          <p:cNvSpPr txBox="1"/>
          <p:nvPr/>
        </p:nvSpPr>
        <p:spPr>
          <a:xfrm>
            <a:off x="864297" y="5904237"/>
            <a:ext cx="5260930" cy="369332"/>
          </a:xfrm>
          <a:prstGeom prst="rect">
            <a:avLst/>
          </a:prstGeom>
          <a:noFill/>
        </p:spPr>
        <p:txBody>
          <a:bodyPr wrap="square">
            <a:spAutoFit/>
          </a:bodyPr>
          <a:lstStyle/>
          <a:p>
            <a:r>
              <a:rPr lang="zh-CN" altLang="en-US" dirty="0">
                <a:solidFill>
                  <a:srgbClr val="FF0000"/>
                </a:solidFill>
              </a:rPr>
              <a:t>密码</a:t>
            </a:r>
            <a:endParaRPr lang="en-US" dirty="0">
              <a:solidFill>
                <a:srgbClr val="FF0000"/>
              </a:solidFill>
            </a:endParaRPr>
          </a:p>
        </p:txBody>
      </p:sp>
    </p:spTree>
    <p:extLst>
      <p:ext uri="{BB962C8B-B14F-4D97-AF65-F5344CB8AC3E}">
        <p14:creationId xmlns:p14="http://schemas.microsoft.com/office/powerpoint/2010/main" val="2077823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marL="0" marR="0" indent="0" algn="ctr" defTabSz="457200" rtl="0" eaLnBrk="1" fontAlgn="auto" latinLnBrk="0" hangingPunct="1">
              <a:lnSpc>
                <a:spcPct val="100000"/>
              </a:lnSpc>
              <a:spcBef>
                <a:spcPct val="0"/>
              </a:spcBef>
              <a:spcAft>
                <a:spcPts val="0"/>
              </a:spcAft>
              <a:buClrTx/>
              <a:buSzTx/>
              <a:buFontTx/>
              <a:buNone/>
              <a:tabLst/>
              <a:defRPr/>
            </a:pPr>
            <a:r>
              <a:rPr lang="en-US" altLang="en-US" sz="3600" b="0" dirty="0">
                <a:latin typeface="Arial" panose="020B0604020202020204" pitchFamily="34" charset="0"/>
                <a:ea typeface="ＭＳ Ｐゴシック" pitchFamily="34" charset="-128"/>
                <a:cs typeface="Arial" panose="020B0604020202020204" pitchFamily="34" charset="0"/>
              </a:rPr>
              <a:t>Learning Objectives </a:t>
            </a:r>
            <a:r>
              <a:rPr lang="en-US" sz="3600" b="0" i="0" kern="1200" dirty="0">
                <a:solidFill>
                  <a:schemeClr val="bg1"/>
                </a:solidFill>
                <a:effectLst/>
                <a:latin typeface="Arial" panose="020B0604020202020204" pitchFamily="34" charset="0"/>
                <a:cs typeface="Arial" panose="020B0604020202020204" pitchFamily="34" charset="0"/>
              </a:rPr>
              <a:t>(2 of 2)</a:t>
            </a:r>
            <a:endParaRPr lang="en-US" sz="3600" b="0" dirty="0">
              <a:effectLst/>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p:txBody>
          <a:bodyPr>
            <a:normAutofit/>
          </a:bodyPr>
          <a:lstStyle/>
          <a:p>
            <a:r>
              <a:rPr lang="en-US" altLang="en-US" sz="2600" dirty="0">
                <a:latin typeface="Arial" panose="020B0604020202020204" pitchFamily="34" charset="0"/>
                <a:ea typeface="ＭＳ Ｐゴシック" pitchFamily="34" charset="-128"/>
                <a:cs typeface="Arial" panose="020B0604020202020204" pitchFamily="34" charset="0"/>
              </a:rPr>
              <a:t>Describe the overall process used by </a:t>
            </a:r>
            <a:r>
              <a:rPr lang="en-US" altLang="en-US" sz="2600" dirty="0">
                <a:solidFill>
                  <a:srgbClr val="FF0000"/>
                </a:solidFill>
                <a:latin typeface="Arial" panose="020B0604020202020204" pitchFamily="34" charset="0"/>
                <a:ea typeface="ＭＳ Ｐゴシック" pitchFamily="34" charset="-128"/>
                <a:cs typeface="Arial" panose="020B0604020202020204" pitchFamily="34" charset="0"/>
              </a:rPr>
              <a:t>symmetric encryption algorithms </a:t>
            </a:r>
            <a:r>
              <a:rPr lang="en-US" altLang="en-US" sz="2600" dirty="0">
                <a:latin typeface="Arial" panose="020B0604020202020204" pitchFamily="34" charset="0"/>
                <a:ea typeface="ＭＳ Ｐゴシック" pitchFamily="34" charset="-128"/>
                <a:cs typeface="Arial" panose="020B0604020202020204" pitchFamily="34" charset="0"/>
              </a:rPr>
              <a:t>such as DES </a:t>
            </a:r>
          </a:p>
          <a:p>
            <a:r>
              <a:rPr lang="en-US" altLang="en-US" sz="2600" dirty="0">
                <a:latin typeface="Arial" panose="020B0604020202020204" pitchFamily="34" charset="0"/>
                <a:ea typeface="ＭＳ Ｐゴシック" pitchFamily="34" charset="-128"/>
                <a:cs typeface="Arial" panose="020B0604020202020204" pitchFamily="34" charset="0"/>
              </a:rPr>
              <a:t>Describe the overall process used by RSA public-key encryption </a:t>
            </a:r>
          </a:p>
          <a:p>
            <a:r>
              <a:rPr lang="en-US" altLang="en-US" sz="2600" dirty="0">
                <a:latin typeface="Arial" panose="020B0604020202020204" pitchFamily="34" charset="0"/>
                <a:ea typeface="ＭＳ Ｐゴシック" pitchFamily="34" charset="-128"/>
                <a:cs typeface="Arial" panose="020B0604020202020204" pitchFamily="34" charset="0"/>
              </a:rPr>
              <a:t>Explain why web transmission protocols such as SSL and TLS use multiple forms of encryption to secure data transfer over the web </a:t>
            </a:r>
          </a:p>
          <a:p>
            <a:r>
              <a:rPr lang="en-US" altLang="en-US" sz="2600" dirty="0">
                <a:latin typeface="Arial" panose="020B0604020202020204" pitchFamily="34" charset="0"/>
                <a:ea typeface="ＭＳ Ｐゴシック" pitchFamily="34" charset="-128"/>
                <a:cs typeface="Arial" panose="020B0604020202020204" pitchFamily="34" charset="0"/>
              </a:rPr>
              <a:t>Explain the importance of computer security for networked embedded systems</a:t>
            </a:r>
          </a:p>
        </p:txBody>
      </p:sp>
      <p:sp>
        <p:nvSpPr>
          <p:cNvPr id="5" name="TextBox 4">
            <a:extLst>
              <a:ext uri="{FF2B5EF4-FFF2-40B4-BE49-F238E27FC236}">
                <a16:creationId xmlns:a16="http://schemas.microsoft.com/office/drawing/2014/main" id="{A707EF4F-8D84-4942-AF28-68B6AC2EE499}"/>
              </a:ext>
            </a:extLst>
          </p:cNvPr>
          <p:cNvSpPr txBox="1"/>
          <p:nvPr/>
        </p:nvSpPr>
        <p:spPr>
          <a:xfrm>
            <a:off x="6206647" y="1060705"/>
            <a:ext cx="4572000" cy="369332"/>
          </a:xfrm>
          <a:prstGeom prst="rect">
            <a:avLst/>
          </a:prstGeom>
          <a:noFill/>
        </p:spPr>
        <p:txBody>
          <a:bodyPr wrap="square">
            <a:spAutoFit/>
          </a:bodyPr>
          <a:lstStyle/>
          <a:p>
            <a:r>
              <a:rPr lang="zh-CN" altLang="en-US" dirty="0">
                <a:solidFill>
                  <a:srgbClr val="FF0000"/>
                </a:solidFill>
              </a:rPr>
              <a:t>对称加密算法</a:t>
            </a:r>
            <a:endParaRPr lang="en-US" dirty="0">
              <a:solidFill>
                <a:srgbClr val="FF0000"/>
              </a:solidFill>
            </a:endParaRPr>
          </a:p>
        </p:txBody>
      </p:sp>
    </p:spTree>
    <p:extLst>
      <p:ext uri="{BB962C8B-B14F-4D97-AF65-F5344CB8AC3E}">
        <p14:creationId xmlns:p14="http://schemas.microsoft.com/office/powerpoint/2010/main" val="1979644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Introduction </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457200" y="1231266"/>
            <a:ext cx="8229600" cy="4894898"/>
          </a:xfrm>
        </p:spPr>
        <p:txBody>
          <a:bodyPr>
            <a:normAutofit/>
          </a:bodyPr>
          <a:lstStyle/>
          <a:p>
            <a:r>
              <a:rPr lang="en-US" altLang="en-US" sz="2600" b="1" dirty="0">
                <a:latin typeface="Arial" panose="020B0604020202020204" pitchFamily="34" charset="0"/>
                <a:ea typeface="ＭＳ Ｐゴシック" pitchFamily="34" charset="-128"/>
                <a:cs typeface="Arial" panose="020B0604020202020204" pitchFamily="34" charset="0"/>
              </a:rPr>
              <a:t>Information security</a:t>
            </a:r>
            <a:endParaRPr lang="en-US" altLang="en-US" sz="2600" dirty="0">
              <a:latin typeface="Arial" panose="020B0604020202020204" pitchFamily="34" charset="0"/>
              <a:ea typeface="ＭＳ Ｐゴシック" pitchFamily="34" charset="-128"/>
              <a:cs typeface="Arial" panose="020B0604020202020204" pitchFamily="34" charset="0"/>
            </a:endParaRPr>
          </a:p>
          <a:p>
            <a:pPr lvl="1"/>
            <a:r>
              <a:rPr lang="en-US" altLang="en-US" sz="2400" dirty="0">
                <a:latin typeface="Arial" panose="020B0604020202020204" pitchFamily="34" charset="0"/>
                <a:ea typeface="ＭＳ Ｐゴシック" pitchFamily="34" charset="-128"/>
                <a:cs typeface="Arial" panose="020B0604020202020204" pitchFamily="34" charset="0"/>
              </a:rPr>
              <a:t>Keep information safe</a:t>
            </a:r>
          </a:p>
          <a:p>
            <a:pPr lvl="1"/>
            <a:r>
              <a:rPr lang="en-US" altLang="en-US" sz="2400" dirty="0">
                <a:latin typeface="Arial" panose="020B0604020202020204" pitchFamily="34" charset="0"/>
                <a:ea typeface="ＭＳ Ｐゴシック" pitchFamily="34" charset="-128"/>
                <a:cs typeface="Arial" panose="020B0604020202020204" pitchFamily="34" charset="0"/>
              </a:rPr>
              <a:t>Control access to authorized people only</a:t>
            </a:r>
          </a:p>
          <a:p>
            <a:r>
              <a:rPr lang="en-US" altLang="en-US" sz="2600" dirty="0">
                <a:latin typeface="Arial" panose="020B0604020202020204" pitchFamily="34" charset="0"/>
                <a:ea typeface="ＭＳ Ｐゴシック" pitchFamily="34" charset="-128"/>
                <a:cs typeface="Arial" panose="020B0604020202020204" pitchFamily="34" charset="0"/>
              </a:rPr>
              <a:t>Physical security</a:t>
            </a:r>
          </a:p>
          <a:p>
            <a:pPr lvl="1"/>
            <a:r>
              <a:rPr lang="en-US" altLang="en-US" sz="2400" dirty="0">
                <a:latin typeface="Arial" panose="020B0604020202020204" pitchFamily="34" charset="0"/>
                <a:ea typeface="ＭＳ Ｐゴシック" pitchFamily="34" charset="-128"/>
                <a:cs typeface="Arial" panose="020B0604020202020204" pitchFamily="34" charset="0"/>
              </a:rPr>
              <a:t>lock doors</a:t>
            </a:r>
          </a:p>
          <a:p>
            <a:pPr lvl="1"/>
            <a:r>
              <a:rPr lang="en-US" altLang="en-US" sz="2400" dirty="0">
                <a:latin typeface="Arial" panose="020B0604020202020204" pitchFamily="34" charset="0"/>
                <a:ea typeface="ＭＳ Ｐゴシック" pitchFamily="34" charset="-128"/>
                <a:cs typeface="Arial" panose="020B0604020202020204" pitchFamily="34" charset="0"/>
              </a:rPr>
              <a:t>maintain control of devices</a:t>
            </a:r>
          </a:p>
          <a:p>
            <a:r>
              <a:rPr lang="en-US" altLang="en-US" sz="2600" dirty="0">
                <a:latin typeface="Arial" panose="020B0604020202020204" pitchFamily="34" charset="0"/>
                <a:ea typeface="ＭＳ Ｐゴシック" pitchFamily="34" charset="-128"/>
                <a:cs typeface="Arial" panose="020B0604020202020204" pitchFamily="34" charset="0"/>
              </a:rPr>
              <a:t>Online security</a:t>
            </a:r>
          </a:p>
          <a:p>
            <a:pPr lvl="1"/>
            <a:r>
              <a:rPr lang="en-US" altLang="en-US" sz="2400" dirty="0">
                <a:latin typeface="Arial" panose="020B0604020202020204" pitchFamily="34" charset="0"/>
                <a:ea typeface="ＭＳ Ｐゴシック" pitchFamily="34" charset="-128"/>
                <a:cs typeface="Arial" panose="020B0604020202020204" pitchFamily="34" charset="0"/>
              </a:rPr>
              <a:t>Secure assembly language</a:t>
            </a:r>
          </a:p>
          <a:p>
            <a:pPr lvl="1"/>
            <a:r>
              <a:rPr lang="en-US" altLang="en-US" sz="2400" dirty="0">
                <a:latin typeface="Arial" panose="020B0604020202020204" pitchFamily="34" charset="0"/>
                <a:ea typeface="ＭＳ Ｐゴシック" pitchFamily="34" charset="-128"/>
                <a:cs typeface="Arial" panose="020B0604020202020204" pitchFamily="34" charset="0"/>
              </a:rPr>
              <a:t>Secure operating system</a:t>
            </a:r>
          </a:p>
          <a:p>
            <a:pPr lvl="1"/>
            <a:r>
              <a:rPr lang="en-US" altLang="en-US" sz="2400" dirty="0">
                <a:latin typeface="Arial" panose="020B0604020202020204" pitchFamily="34" charset="0"/>
                <a:ea typeface="ＭＳ Ｐゴシック" pitchFamily="34" charset="-128"/>
                <a:cs typeface="Arial" panose="020B0604020202020204" pitchFamily="34" charset="0"/>
              </a:rPr>
              <a:t>Secure network</a:t>
            </a:r>
          </a:p>
        </p:txBody>
      </p:sp>
      <p:sp>
        <p:nvSpPr>
          <p:cNvPr id="8" name="TextBox 7">
            <a:extLst>
              <a:ext uri="{FF2B5EF4-FFF2-40B4-BE49-F238E27FC236}">
                <a16:creationId xmlns:a16="http://schemas.microsoft.com/office/drawing/2014/main" id="{6256AFEF-65ED-4175-B4CE-FBF372AB74AA}"/>
              </a:ext>
            </a:extLst>
          </p:cNvPr>
          <p:cNvSpPr txBox="1"/>
          <p:nvPr/>
        </p:nvSpPr>
        <p:spPr>
          <a:xfrm>
            <a:off x="6970735" y="2244140"/>
            <a:ext cx="5718130" cy="369332"/>
          </a:xfrm>
          <a:prstGeom prst="rect">
            <a:avLst/>
          </a:prstGeom>
          <a:noFill/>
        </p:spPr>
        <p:txBody>
          <a:bodyPr wrap="square">
            <a:spAutoFit/>
          </a:bodyPr>
          <a:lstStyle/>
          <a:p>
            <a:r>
              <a:rPr lang="en-US" dirty="0" err="1">
                <a:solidFill>
                  <a:srgbClr val="FF0000"/>
                </a:solidFill>
              </a:rPr>
              <a:t>仅控制对授权人员的访问</a:t>
            </a:r>
            <a:endParaRPr lang="en-US" dirty="0">
              <a:solidFill>
                <a:srgbClr val="FF0000"/>
              </a:solidFill>
            </a:endParaRPr>
          </a:p>
        </p:txBody>
      </p:sp>
      <p:sp>
        <p:nvSpPr>
          <p:cNvPr id="9" name="TextBox 8">
            <a:extLst>
              <a:ext uri="{FF2B5EF4-FFF2-40B4-BE49-F238E27FC236}">
                <a16:creationId xmlns:a16="http://schemas.microsoft.com/office/drawing/2014/main" id="{0A08E911-1615-43B3-9BE2-F81BBF975DC0}"/>
              </a:ext>
            </a:extLst>
          </p:cNvPr>
          <p:cNvSpPr txBox="1"/>
          <p:nvPr/>
        </p:nvSpPr>
        <p:spPr>
          <a:xfrm>
            <a:off x="4988491" y="4426405"/>
            <a:ext cx="1982244" cy="1200329"/>
          </a:xfrm>
          <a:prstGeom prst="rect">
            <a:avLst/>
          </a:prstGeom>
          <a:noFill/>
        </p:spPr>
        <p:txBody>
          <a:bodyPr wrap="square">
            <a:spAutoFit/>
          </a:bodyPr>
          <a:lstStyle/>
          <a:p>
            <a:r>
              <a:rPr lang="en-US" dirty="0" err="1"/>
              <a:t>在线安全</a:t>
            </a:r>
            <a:endParaRPr lang="en-US" dirty="0"/>
          </a:p>
          <a:p>
            <a:r>
              <a:rPr lang="en-US" dirty="0" err="1"/>
              <a:t>安全的汇编语言</a:t>
            </a:r>
            <a:endParaRPr lang="en-US" dirty="0"/>
          </a:p>
          <a:p>
            <a:r>
              <a:rPr lang="en-US" dirty="0" err="1"/>
              <a:t>安全操作系统</a:t>
            </a:r>
            <a:endParaRPr lang="en-US" dirty="0"/>
          </a:p>
          <a:p>
            <a:r>
              <a:rPr lang="en-US" dirty="0" err="1"/>
              <a:t>安全网络</a:t>
            </a:r>
            <a:endParaRPr lang="en-US" dirty="0"/>
          </a:p>
        </p:txBody>
      </p:sp>
      <p:sp>
        <p:nvSpPr>
          <p:cNvPr id="11" name="TextBox 10">
            <a:extLst>
              <a:ext uri="{FF2B5EF4-FFF2-40B4-BE49-F238E27FC236}">
                <a16:creationId xmlns:a16="http://schemas.microsoft.com/office/drawing/2014/main" id="{B12F570E-9C2B-493A-ACCB-072D615A8761}"/>
              </a:ext>
            </a:extLst>
          </p:cNvPr>
          <p:cNvSpPr txBox="1"/>
          <p:nvPr/>
        </p:nvSpPr>
        <p:spPr>
          <a:xfrm>
            <a:off x="3497894" y="2755385"/>
            <a:ext cx="2777646" cy="923330"/>
          </a:xfrm>
          <a:prstGeom prst="rect">
            <a:avLst/>
          </a:prstGeom>
          <a:noFill/>
        </p:spPr>
        <p:txBody>
          <a:bodyPr wrap="square">
            <a:spAutoFit/>
          </a:bodyPr>
          <a:lstStyle/>
          <a:p>
            <a:r>
              <a:rPr lang="en-US" dirty="0" err="1"/>
              <a:t>人身安全</a:t>
            </a:r>
            <a:endParaRPr lang="en-US" dirty="0"/>
          </a:p>
          <a:p>
            <a:r>
              <a:rPr lang="en-US" dirty="0" err="1"/>
              <a:t>锁门</a:t>
            </a:r>
            <a:endParaRPr lang="en-US" dirty="0"/>
          </a:p>
          <a:p>
            <a:r>
              <a:rPr lang="en-US" dirty="0" err="1"/>
              <a:t>保持对设备的控制</a:t>
            </a:r>
            <a:endParaRPr lang="en-US" dirty="0"/>
          </a:p>
        </p:txBody>
      </p:sp>
    </p:spTree>
    <p:extLst>
      <p:ext uri="{BB962C8B-B14F-4D97-AF65-F5344CB8AC3E}">
        <p14:creationId xmlns:p14="http://schemas.microsoft.com/office/powerpoint/2010/main" val="2092573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Threats and Defenses</a:t>
            </a:r>
            <a:endParaRPr lang="en-US" sz="3600" b="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altLang="en-US" sz="2600" dirty="0">
                <a:latin typeface="Arial" panose="020B0604020202020204" pitchFamily="34" charset="0"/>
                <a:ea typeface="ＭＳ Ｐゴシック" pitchFamily="34" charset="-128"/>
                <a:cs typeface="Arial" panose="020B0604020202020204" pitchFamily="34" charset="0"/>
              </a:rPr>
              <a:t>Threats online are often more dangerous than threats to physical items</a:t>
            </a:r>
          </a:p>
          <a:p>
            <a:r>
              <a:rPr lang="en-US" altLang="en-US" sz="2600" dirty="0">
                <a:latin typeface="Arial" panose="020B0604020202020204" pitchFamily="34" charset="0"/>
                <a:ea typeface="ＭＳ Ｐゴシック" pitchFamily="34" charset="-128"/>
                <a:cs typeface="Arial" panose="020B0604020202020204" pitchFamily="34" charset="0"/>
              </a:rPr>
              <a:t>Hackers prefer to attack easily accessible data</a:t>
            </a:r>
          </a:p>
          <a:p>
            <a:r>
              <a:rPr lang="en-US" altLang="en-US" sz="2600" dirty="0">
                <a:latin typeface="Arial" panose="020B0604020202020204" pitchFamily="34" charset="0"/>
                <a:ea typeface="ＭＳ Ｐゴシック" pitchFamily="34" charset="-128"/>
                <a:cs typeface="Arial" panose="020B0604020202020204" pitchFamily="34" charset="0"/>
              </a:rPr>
              <a:t>Multiple deterrents to online attacks</a:t>
            </a:r>
          </a:p>
        </p:txBody>
      </p:sp>
    </p:spTree>
    <p:extLst>
      <p:ext uri="{BB962C8B-B14F-4D97-AF65-F5344CB8AC3E}">
        <p14:creationId xmlns:p14="http://schemas.microsoft.com/office/powerpoint/2010/main" val="1388019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Threats and Defenses</a:t>
            </a:r>
            <a:r>
              <a:rPr lang="en-US" altLang="en-US" sz="3600" b="0" baseline="0" dirty="0">
                <a:latin typeface="Arial" panose="020B0604020202020204" pitchFamily="34" charset="0"/>
                <a:ea typeface="ＭＳ Ｐゴシック" pitchFamily="34" charset="-128"/>
                <a:cs typeface="Arial" panose="020B0604020202020204" pitchFamily="34" charset="0"/>
              </a:rPr>
              <a:t> </a:t>
            </a:r>
            <a:r>
              <a:rPr lang="en-US" altLang="en-US" sz="3600" b="0" dirty="0">
                <a:latin typeface="Arial" panose="020B0604020202020204" pitchFamily="34" charset="0"/>
                <a:ea typeface="ＭＳ Ｐゴシック" pitchFamily="34" charset="-128"/>
                <a:cs typeface="Arial" panose="020B0604020202020204" pitchFamily="34" charset="0"/>
              </a:rPr>
              <a:t>Authentication and Authorization (1 of 8)</a:t>
            </a:r>
            <a:endParaRPr lang="en-US" sz="3600" b="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a:spcBef>
                <a:spcPts val="624"/>
              </a:spcBef>
            </a:pPr>
            <a:r>
              <a:rPr lang="en-US" altLang="en-US" sz="2600" b="1" dirty="0">
                <a:latin typeface="Arial" panose="020B0604020202020204" pitchFamily="34" charset="0"/>
                <a:ea typeface="ＭＳ Ｐゴシック" pitchFamily="34" charset="-128"/>
                <a:cs typeface="Arial" panose="020B0604020202020204" pitchFamily="34" charset="0"/>
              </a:rPr>
              <a:t>Authentication</a:t>
            </a:r>
            <a:r>
              <a:rPr lang="en-US" altLang="en-US" sz="2600" dirty="0">
                <a:latin typeface="Arial" panose="020B0604020202020204" pitchFamily="34" charset="0"/>
                <a:ea typeface="ＭＳ Ｐゴシック" pitchFamily="34" charset="-128"/>
                <a:cs typeface="Arial" panose="020B0604020202020204" pitchFamily="34" charset="0"/>
              </a:rPr>
              <a:t>: establishing identity </a:t>
            </a:r>
          </a:p>
          <a:p>
            <a:pPr>
              <a:spcBef>
                <a:spcPts val="624"/>
              </a:spcBef>
            </a:pPr>
            <a:r>
              <a:rPr lang="en-US" altLang="en-US" sz="2600" dirty="0">
                <a:solidFill>
                  <a:srgbClr val="FF0000"/>
                </a:solidFill>
                <a:latin typeface="Arial" panose="020B0604020202020204" pitchFamily="34" charset="0"/>
                <a:ea typeface="ＭＳ Ｐゴシック" pitchFamily="34" charset="-128"/>
                <a:cs typeface="Arial" panose="020B0604020202020204" pitchFamily="34" charset="0"/>
              </a:rPr>
              <a:t>Require usernames and passwords</a:t>
            </a:r>
          </a:p>
          <a:p>
            <a:pPr>
              <a:spcBef>
                <a:spcPts val="624"/>
              </a:spcBef>
            </a:pPr>
            <a:r>
              <a:rPr lang="en-US" altLang="en-US" sz="2600" dirty="0">
                <a:latin typeface="Arial" panose="020B0604020202020204" pitchFamily="34" charset="0"/>
                <a:ea typeface="ＭＳ Ｐゴシック" pitchFamily="34" charset="-128"/>
                <a:cs typeface="Arial" panose="020B0604020202020204" pitchFamily="34" charset="0"/>
              </a:rPr>
              <a:t>Secure a password file with a </a:t>
            </a:r>
            <a:r>
              <a:rPr lang="en-US" altLang="en-US" sz="2600" b="1" dirty="0">
                <a:latin typeface="Arial" panose="020B0604020202020204" pitchFamily="34" charset="0"/>
                <a:ea typeface="ＭＳ Ｐゴシック" pitchFamily="34" charset="-128"/>
                <a:cs typeface="Arial" panose="020B0604020202020204" pitchFamily="34" charset="0"/>
              </a:rPr>
              <a:t>hash function</a:t>
            </a:r>
            <a:r>
              <a:rPr lang="en-US" altLang="en-US" sz="2600" dirty="0">
                <a:latin typeface="Arial" panose="020B0604020202020204" pitchFamily="34" charset="0"/>
                <a:ea typeface="ＭＳ Ｐゴシック" pitchFamily="34" charset="-128"/>
                <a:cs typeface="Arial" panose="020B0604020202020204" pitchFamily="34" charset="0"/>
              </a:rPr>
              <a:t>; </a:t>
            </a:r>
            <a:br>
              <a:rPr lang="en-US" altLang="en-US" sz="2600" dirty="0">
                <a:latin typeface="Arial" panose="020B0604020202020204" pitchFamily="34" charset="0"/>
                <a:ea typeface="ＭＳ Ｐゴシック" pitchFamily="34" charset="-128"/>
                <a:cs typeface="Arial" panose="020B0604020202020204" pitchFamily="34" charset="0"/>
              </a:rPr>
            </a:br>
            <a:r>
              <a:rPr lang="en-US" altLang="en-US" sz="2600" dirty="0">
                <a:latin typeface="Arial" panose="020B0604020202020204" pitchFamily="34" charset="0"/>
                <a:ea typeface="ＭＳ Ｐゴシック" pitchFamily="34" charset="-128"/>
                <a:cs typeface="Arial" panose="020B0604020202020204" pitchFamily="34" charset="0"/>
              </a:rPr>
              <a:t>one-way encryption</a:t>
            </a:r>
          </a:p>
          <a:p>
            <a:pPr>
              <a:spcBef>
                <a:spcPts val="624"/>
              </a:spcBef>
            </a:pPr>
            <a:r>
              <a:rPr lang="en-US" altLang="en-US" sz="2600" dirty="0">
                <a:latin typeface="Arial" panose="020B0604020202020204" pitchFamily="34" charset="0"/>
                <a:ea typeface="ＭＳ Ｐゴシック" pitchFamily="34" charset="-128"/>
                <a:cs typeface="Arial" panose="020B0604020202020204" pitchFamily="34" charset="0"/>
              </a:rPr>
              <a:t>Example:  password = badboy2</a:t>
            </a:r>
          </a:p>
          <a:p>
            <a:pPr marL="914400" lvl="1" indent="-457200">
              <a:spcBef>
                <a:spcPts val="624"/>
              </a:spcBef>
              <a:buFontTx/>
              <a:buAutoNum type="arabicPeriod"/>
            </a:pPr>
            <a:r>
              <a:rPr lang="en-US" altLang="en-US" sz="2400" dirty="0">
                <a:latin typeface="Arial" panose="020B0604020202020204" pitchFamily="34" charset="0"/>
                <a:ea typeface="ＭＳ Ｐゴシック" pitchFamily="34" charset="-128"/>
                <a:cs typeface="Arial" panose="020B0604020202020204" pitchFamily="34" charset="0"/>
              </a:rPr>
              <a:t>Replace letters by numbers: 2 1 4 2 15 25 2</a:t>
            </a:r>
          </a:p>
          <a:p>
            <a:pPr marL="914400" lvl="1" indent="-457200">
              <a:spcBef>
                <a:spcPts val="624"/>
              </a:spcBef>
              <a:buFontTx/>
              <a:buAutoNum type="arabicPeriod"/>
            </a:pPr>
            <a:r>
              <a:rPr lang="en-US" altLang="en-US" sz="2400" dirty="0">
                <a:latin typeface="Arial" panose="020B0604020202020204" pitchFamily="34" charset="0"/>
                <a:ea typeface="ＭＳ Ｐゴシック" pitchFamily="34" charset="-128"/>
                <a:cs typeface="Arial" panose="020B0604020202020204" pitchFamily="34" charset="0"/>
              </a:rPr>
              <a:t>Add digits: 2 + 1 + 4 + 2 + 15 + 25 + 2 = 51</a:t>
            </a:r>
          </a:p>
          <a:p>
            <a:pPr marL="914400" lvl="1" indent="-457200">
              <a:spcBef>
                <a:spcPts val="624"/>
              </a:spcBef>
              <a:buFontTx/>
              <a:buAutoNum type="arabicPeriod"/>
            </a:pPr>
            <a:r>
              <a:rPr lang="en-US" altLang="en-US" sz="2400" dirty="0">
                <a:latin typeface="Arial" panose="020B0604020202020204" pitchFamily="34" charset="0"/>
                <a:ea typeface="ＭＳ Ｐゴシック" pitchFamily="34" charset="-128"/>
                <a:cs typeface="Arial" panose="020B0604020202020204" pitchFamily="34" charset="0"/>
              </a:rPr>
              <a:t>Remainder of sum/7: 51 mod 7 = 2</a:t>
            </a:r>
          </a:p>
          <a:p>
            <a:pPr marL="914400" lvl="1" indent="-457200">
              <a:spcBef>
                <a:spcPts val="624"/>
              </a:spcBef>
              <a:buFontTx/>
              <a:buAutoNum type="arabicPeriod"/>
            </a:pPr>
            <a:r>
              <a:rPr lang="en-US" altLang="en-US" sz="2400" dirty="0">
                <a:latin typeface="Arial" panose="020B0604020202020204" pitchFamily="34" charset="0"/>
                <a:ea typeface="ＭＳ Ｐゴシック" pitchFamily="34" charset="-128"/>
                <a:cs typeface="Arial" panose="020B0604020202020204" pitchFamily="34" charset="0"/>
              </a:rPr>
              <a:t>Add 1 and multiply by 9: (2 + 1) × 9 = 27</a:t>
            </a:r>
          </a:p>
          <a:p>
            <a:pPr marL="914400" lvl="1" indent="-457200">
              <a:spcBef>
                <a:spcPts val="624"/>
              </a:spcBef>
              <a:buFontTx/>
              <a:buAutoNum type="arabicPeriod"/>
            </a:pPr>
            <a:r>
              <a:rPr lang="en-US" altLang="en-US" sz="2400" dirty="0">
                <a:latin typeface="Arial" panose="020B0604020202020204" pitchFamily="34" charset="0"/>
                <a:ea typeface="ＭＳ Ｐゴシック" pitchFamily="34" charset="-128"/>
                <a:cs typeface="Arial" panose="020B0604020202020204" pitchFamily="34" charset="0"/>
              </a:rPr>
              <a:t>Reverse digits and convert to letters: 72 = gb</a:t>
            </a:r>
          </a:p>
        </p:txBody>
      </p:sp>
      <p:sp>
        <p:nvSpPr>
          <p:cNvPr id="5" name="TextBox 4">
            <a:extLst>
              <a:ext uri="{FF2B5EF4-FFF2-40B4-BE49-F238E27FC236}">
                <a16:creationId xmlns:a16="http://schemas.microsoft.com/office/drawing/2014/main" id="{2283A120-9857-42B5-8D9A-DE034140E7BF}"/>
              </a:ext>
            </a:extLst>
          </p:cNvPr>
          <p:cNvSpPr txBox="1"/>
          <p:nvPr/>
        </p:nvSpPr>
        <p:spPr>
          <a:xfrm>
            <a:off x="1088572" y="1060705"/>
            <a:ext cx="4586514" cy="369332"/>
          </a:xfrm>
          <a:prstGeom prst="rect">
            <a:avLst/>
          </a:prstGeom>
          <a:noFill/>
        </p:spPr>
        <p:txBody>
          <a:bodyPr wrap="square">
            <a:spAutoFit/>
          </a:bodyPr>
          <a:lstStyle/>
          <a:p>
            <a:r>
              <a:rPr lang="zh-CN" altLang="en-US" dirty="0">
                <a:solidFill>
                  <a:srgbClr val="FF0000"/>
                </a:solidFill>
              </a:rPr>
              <a:t>身份验证</a:t>
            </a:r>
            <a:endParaRPr lang="en-US" dirty="0">
              <a:solidFill>
                <a:srgbClr val="FF0000"/>
              </a:solidFill>
            </a:endParaRPr>
          </a:p>
        </p:txBody>
      </p:sp>
    </p:spTree>
    <p:extLst>
      <p:ext uri="{BB962C8B-B14F-4D97-AF65-F5344CB8AC3E}">
        <p14:creationId xmlns:p14="http://schemas.microsoft.com/office/powerpoint/2010/main" val="217238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Threats and Defenses</a:t>
            </a:r>
            <a:r>
              <a:rPr lang="en-US" altLang="en-US" sz="3600" b="0" baseline="0" dirty="0">
                <a:latin typeface="Arial" panose="020B0604020202020204" pitchFamily="34" charset="0"/>
                <a:ea typeface="ＭＳ Ｐゴシック" pitchFamily="34" charset="-128"/>
                <a:cs typeface="Arial" panose="020B0604020202020204" pitchFamily="34" charset="0"/>
              </a:rPr>
              <a:t> </a:t>
            </a:r>
            <a:r>
              <a:rPr lang="en-US" altLang="en-US" sz="3600" b="0" dirty="0">
                <a:latin typeface="Arial" panose="020B0604020202020204" pitchFamily="34" charset="0"/>
                <a:ea typeface="ＭＳ Ｐゴシック" pitchFamily="34" charset="-128"/>
                <a:cs typeface="Arial" panose="020B0604020202020204" pitchFamily="34" charset="0"/>
              </a:rPr>
              <a:t>Authentication and Authorization (2</a:t>
            </a:r>
            <a:r>
              <a:rPr lang="en-US" altLang="en-US" sz="3600" b="0" baseline="0" dirty="0">
                <a:latin typeface="Arial" panose="020B0604020202020204" pitchFamily="34" charset="0"/>
                <a:ea typeface="ＭＳ Ｐゴシック" pitchFamily="34" charset="-128"/>
                <a:cs typeface="Arial" panose="020B0604020202020204" pitchFamily="34" charset="0"/>
              </a:rPr>
              <a:t> of 8)</a:t>
            </a:r>
            <a:endParaRPr lang="en-US" sz="3600" b="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US" altLang="en-US" sz="2600" dirty="0">
                <a:latin typeface="Arial" panose="020B0604020202020204" pitchFamily="34" charset="0"/>
                <a:ea typeface="ＭＳ Ｐゴシック" pitchFamily="34" charset="-128"/>
                <a:cs typeface="Arial" panose="020B0604020202020204" pitchFamily="34" charset="0"/>
              </a:rPr>
              <a:t>Password file security: no plaintext password stored</a:t>
            </a:r>
          </a:p>
          <a:p>
            <a:r>
              <a:rPr lang="en-US" altLang="en-US" sz="2600" dirty="0">
                <a:latin typeface="Arial" panose="020B0604020202020204" pitchFamily="34" charset="0"/>
                <a:ea typeface="ＭＳ Ｐゴシック" pitchFamily="34" charset="-128"/>
                <a:cs typeface="Arial" panose="020B0604020202020204" pitchFamily="34" charset="0"/>
              </a:rPr>
              <a:t>On login </a:t>
            </a:r>
          </a:p>
          <a:p>
            <a:pPr lvl="1"/>
            <a:r>
              <a:rPr lang="en-US" altLang="en-US" sz="2400" dirty="0">
                <a:latin typeface="Arial" panose="020B0604020202020204" pitchFamily="34" charset="0"/>
                <a:ea typeface="ＭＳ Ｐゴシック" pitchFamily="34" charset="-128"/>
                <a:cs typeface="Arial" panose="020B0604020202020204" pitchFamily="34" charset="0"/>
              </a:rPr>
              <a:t>Read username and password</a:t>
            </a:r>
          </a:p>
          <a:p>
            <a:pPr lvl="1"/>
            <a:r>
              <a:rPr lang="en-US" altLang="en-US" sz="2400" dirty="0">
                <a:latin typeface="Arial" panose="020B0604020202020204" pitchFamily="34" charset="0"/>
                <a:ea typeface="ＭＳ Ｐゴシック" pitchFamily="34" charset="-128"/>
                <a:cs typeface="Arial" panose="020B0604020202020204" pitchFamily="34" charset="0"/>
              </a:rPr>
              <a:t>Look up entry for username in a password file</a:t>
            </a:r>
          </a:p>
          <a:p>
            <a:pPr lvl="1"/>
            <a:r>
              <a:rPr lang="en-US" altLang="en-US" sz="2400" dirty="0">
                <a:latin typeface="Arial" panose="020B0604020202020204" pitchFamily="34" charset="0"/>
                <a:ea typeface="ＭＳ Ｐゴシック" pitchFamily="34" charset="-128"/>
                <a:cs typeface="Arial" panose="020B0604020202020204" pitchFamily="34" charset="0"/>
              </a:rPr>
              <a:t>Hash input password and compare</a:t>
            </a:r>
          </a:p>
          <a:p>
            <a:r>
              <a:rPr lang="en-US" altLang="en-US" sz="2600" dirty="0">
                <a:latin typeface="Arial" panose="020B0604020202020204" pitchFamily="34" charset="0"/>
                <a:ea typeface="ＭＳ Ｐゴシック" pitchFamily="34" charset="-128"/>
                <a:cs typeface="Arial" panose="020B0604020202020204" pitchFamily="34" charset="0"/>
              </a:rPr>
              <a:t>More secure method</a:t>
            </a:r>
          </a:p>
          <a:p>
            <a:pPr lvl="1"/>
            <a:r>
              <a:rPr lang="en-US" altLang="en-US" sz="2400" dirty="0">
                <a:latin typeface="Arial" panose="020B0604020202020204" pitchFamily="34" charset="0"/>
                <a:ea typeface="ＭＳ Ｐゴシック" pitchFamily="34" charset="-128"/>
                <a:cs typeface="Arial" panose="020B0604020202020204" pitchFamily="34" charset="0"/>
              </a:rPr>
              <a:t>Keep password creation time</a:t>
            </a:r>
          </a:p>
          <a:p>
            <a:pPr lvl="1"/>
            <a:r>
              <a:rPr lang="en-US" altLang="en-US" sz="2400" dirty="0">
                <a:latin typeface="Arial" panose="020B0604020202020204" pitchFamily="34" charset="0"/>
                <a:ea typeface="ＭＳ Ｐゴシック" pitchFamily="34" charset="-128"/>
                <a:cs typeface="Arial" panose="020B0604020202020204" pitchFamily="34" charset="0"/>
              </a:rPr>
              <a:t>Add creation time to password before hashing</a:t>
            </a:r>
          </a:p>
          <a:p>
            <a:pPr lvl="1"/>
            <a:r>
              <a:rPr lang="en-US" altLang="en-US" sz="2400" dirty="0">
                <a:latin typeface="Arial" panose="020B0604020202020204" pitchFamily="34" charset="0"/>
                <a:ea typeface="ＭＳ Ｐゴシック" pitchFamily="34" charset="-128"/>
                <a:cs typeface="Arial" panose="020B0604020202020204" pitchFamily="34" charset="0"/>
              </a:rPr>
              <a:t>Identical passwords won’t hash to identical values</a:t>
            </a:r>
          </a:p>
        </p:txBody>
      </p:sp>
    </p:spTree>
    <p:extLst>
      <p:ext uri="{BB962C8B-B14F-4D97-AF65-F5344CB8AC3E}">
        <p14:creationId xmlns:p14="http://schemas.microsoft.com/office/powerpoint/2010/main" val="1205823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Threats and Defenses</a:t>
            </a:r>
            <a:r>
              <a:rPr lang="en-US" altLang="en-US" sz="3600" b="0" baseline="0" dirty="0">
                <a:latin typeface="Arial" panose="020B0604020202020204" pitchFamily="34" charset="0"/>
                <a:ea typeface="ＭＳ Ｐゴシック" pitchFamily="34" charset="-128"/>
                <a:cs typeface="Arial" panose="020B0604020202020204" pitchFamily="34" charset="0"/>
              </a:rPr>
              <a:t> </a:t>
            </a:r>
            <a:r>
              <a:rPr lang="en-US" altLang="en-US" sz="3600" b="0" dirty="0">
                <a:latin typeface="Arial" panose="020B0604020202020204" pitchFamily="34" charset="0"/>
                <a:ea typeface="ＭＳ Ｐゴシック" pitchFamily="34" charset="-128"/>
                <a:cs typeface="Arial" panose="020B0604020202020204" pitchFamily="34" charset="0"/>
              </a:rPr>
              <a:t>Authentication and Authorization (3 of 8)</a:t>
            </a:r>
            <a:endParaRPr lang="en-US" sz="3600" b="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fontScale="92500"/>
          </a:bodyPr>
          <a:lstStyle/>
          <a:p>
            <a:pPr>
              <a:buFontTx/>
              <a:buNone/>
            </a:pPr>
            <a:r>
              <a:rPr lang="en-US" altLang="en-US" sz="2800" dirty="0">
                <a:latin typeface="Arial" panose="020B0604020202020204" pitchFamily="34" charset="0"/>
                <a:ea typeface="ＭＳ Ｐゴシック" pitchFamily="34" charset="-128"/>
                <a:cs typeface="Arial" panose="020B0604020202020204" pitchFamily="34" charset="0"/>
              </a:rPr>
              <a:t>Password attacks</a:t>
            </a:r>
          </a:p>
          <a:p>
            <a:r>
              <a:rPr lang="en-US" altLang="en-US" sz="2800" dirty="0">
                <a:latin typeface="Arial" panose="020B0604020202020204" pitchFamily="34" charset="0"/>
                <a:ea typeface="ＭＳ Ｐゴシック" pitchFamily="34" charset="-128"/>
                <a:cs typeface="Arial" panose="020B0604020202020204" pitchFamily="34" charset="0"/>
              </a:rPr>
              <a:t>Guess password, brute force or from knowledge</a:t>
            </a:r>
          </a:p>
          <a:p>
            <a:pPr lvl="1"/>
            <a:r>
              <a:rPr lang="en-US" altLang="en-US" sz="2600" dirty="0">
                <a:latin typeface="Arial" panose="020B0604020202020204" pitchFamily="34" charset="0"/>
                <a:ea typeface="ＭＳ Ｐゴシック" pitchFamily="34" charset="-128"/>
                <a:cs typeface="Arial" panose="020B0604020202020204" pitchFamily="34" charset="0"/>
              </a:rPr>
              <a:t>Try common passwords (e.g,123456)</a:t>
            </a:r>
          </a:p>
          <a:p>
            <a:pPr lvl="1"/>
            <a:r>
              <a:rPr lang="en-US" altLang="en-US" sz="2600" dirty="0">
                <a:latin typeface="Arial" panose="020B0604020202020204" pitchFamily="34" charset="0"/>
                <a:ea typeface="ＭＳ Ｐゴシック" pitchFamily="34" charset="-128"/>
                <a:cs typeface="Arial" panose="020B0604020202020204" pitchFamily="34" charset="0"/>
              </a:rPr>
              <a:t>Try personal references (e.g., pet name)</a:t>
            </a:r>
          </a:p>
          <a:p>
            <a:pPr lvl="1"/>
            <a:r>
              <a:rPr lang="en-US" altLang="en-US" sz="2600" dirty="0">
                <a:latin typeface="Arial" panose="020B0604020202020204" pitchFamily="34" charset="0"/>
                <a:ea typeface="ＭＳ Ｐゴシック" pitchFamily="34" charset="-128"/>
                <a:cs typeface="Arial" panose="020B0604020202020204" pitchFamily="34" charset="0"/>
              </a:rPr>
              <a:t>Try all possible passwords (computationally difficult)</a:t>
            </a:r>
          </a:p>
          <a:p>
            <a:r>
              <a:rPr lang="en-US" altLang="en-US" sz="2800" dirty="0">
                <a:latin typeface="Arial" panose="020B0604020202020204" pitchFamily="34" charset="0"/>
                <a:ea typeface="ＭＳ Ｐゴシック" pitchFamily="34" charset="-128"/>
                <a:cs typeface="Arial" panose="020B0604020202020204" pitchFamily="34" charset="0"/>
              </a:rPr>
              <a:t>Steal password file and use </a:t>
            </a:r>
            <a:r>
              <a:rPr lang="en-US" altLang="en-US" sz="2800" b="1" dirty="0">
                <a:latin typeface="Arial" panose="020B0604020202020204" pitchFamily="34" charset="0"/>
                <a:ea typeface="ＭＳ Ｐゴシック" pitchFamily="34" charset="-128"/>
                <a:cs typeface="Arial" panose="020B0604020202020204" pitchFamily="34" charset="0"/>
              </a:rPr>
              <a:t>password-cracking software</a:t>
            </a:r>
            <a:endParaRPr lang="en-US" altLang="en-US" sz="2800" dirty="0">
              <a:latin typeface="Arial" panose="020B0604020202020204" pitchFamily="34" charset="0"/>
              <a:ea typeface="ＭＳ Ｐゴシック" pitchFamily="34" charset="-128"/>
              <a:cs typeface="Arial" panose="020B0604020202020204" pitchFamily="34" charset="0"/>
            </a:endParaRPr>
          </a:p>
          <a:p>
            <a:pPr lvl="1"/>
            <a:r>
              <a:rPr lang="en-US" altLang="en-US" sz="2600" dirty="0">
                <a:latin typeface="Arial" panose="020B0604020202020204" pitchFamily="34" charset="0"/>
                <a:ea typeface="ＭＳ Ｐゴシック" pitchFamily="34" charset="-128"/>
                <a:cs typeface="Arial" panose="020B0604020202020204" pitchFamily="34" charset="0"/>
              </a:rPr>
              <a:t>Tries words and word combinations, millions of password possibilities per second</a:t>
            </a:r>
          </a:p>
          <a:p>
            <a:r>
              <a:rPr lang="en-US" altLang="en-US" sz="2800" b="1" dirty="0">
                <a:latin typeface="Arial" panose="020B0604020202020204" pitchFamily="34" charset="0"/>
                <a:ea typeface="ＭＳ Ｐゴシック" pitchFamily="34" charset="-128"/>
                <a:cs typeface="Arial" panose="020B0604020202020204" pitchFamily="34" charset="0"/>
              </a:rPr>
              <a:t>Social engineering</a:t>
            </a:r>
            <a:r>
              <a:rPr lang="en-US" altLang="en-US" sz="2800" dirty="0">
                <a:latin typeface="Arial" panose="020B0604020202020204" pitchFamily="34" charset="0"/>
                <a:ea typeface="ＭＳ Ｐゴシック" pitchFamily="34" charset="-128"/>
                <a:cs typeface="Arial" panose="020B0604020202020204" pitchFamily="34" charset="0"/>
              </a:rPr>
              <a:t>: get a person to tell password</a:t>
            </a:r>
            <a:endParaRPr lang="en-US" altLang="en-US" sz="2800" b="1" dirty="0">
              <a:latin typeface="Arial" panose="020B0604020202020204" pitchFamily="34" charset="0"/>
              <a:ea typeface="ＭＳ Ｐゴシック" pitchFamily="34" charset="-128"/>
              <a:cs typeface="Arial" panose="020B0604020202020204" pitchFamily="34" charset="0"/>
            </a:endParaRPr>
          </a:p>
        </p:txBody>
      </p:sp>
    </p:spTree>
    <p:extLst>
      <p:ext uri="{BB962C8B-B14F-4D97-AF65-F5344CB8AC3E}">
        <p14:creationId xmlns:p14="http://schemas.microsoft.com/office/powerpoint/2010/main" val="2215179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Threats and Defenses</a:t>
            </a:r>
            <a:r>
              <a:rPr lang="en-US" altLang="en-US" sz="3600" b="0" baseline="0" dirty="0">
                <a:latin typeface="Arial" panose="020B0604020202020204" pitchFamily="34" charset="0"/>
                <a:ea typeface="ＭＳ Ｐゴシック" pitchFamily="34" charset="-128"/>
                <a:cs typeface="Arial" panose="020B0604020202020204" pitchFamily="34" charset="0"/>
              </a:rPr>
              <a:t> </a:t>
            </a:r>
            <a:r>
              <a:rPr lang="en-US" altLang="en-US" sz="3600" b="0" dirty="0">
                <a:latin typeface="Arial" panose="020B0604020202020204" pitchFamily="34" charset="0"/>
                <a:ea typeface="ＭＳ Ｐゴシック" pitchFamily="34" charset="-128"/>
                <a:cs typeface="Arial" panose="020B0604020202020204" pitchFamily="34" charset="0"/>
              </a:rPr>
              <a:t>Authentication and Authorization (4 of 8)</a:t>
            </a:r>
            <a:endParaRPr lang="en-US" sz="3600" b="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fontScale="92500"/>
          </a:bodyPr>
          <a:lstStyle/>
          <a:p>
            <a:pPr>
              <a:buFontTx/>
              <a:buNone/>
            </a:pPr>
            <a:r>
              <a:rPr lang="en-US" altLang="en-US" sz="2800" dirty="0">
                <a:latin typeface="Arial" panose="020B0604020202020204" pitchFamily="34" charset="0"/>
                <a:ea typeface="ＭＳ Ｐゴシック" pitchFamily="34" charset="-128"/>
                <a:cs typeface="Arial" panose="020B0604020202020204" pitchFamily="34" charset="0"/>
              </a:rPr>
              <a:t>Other authentication methods</a:t>
            </a:r>
          </a:p>
          <a:p>
            <a:r>
              <a:rPr lang="en-US" altLang="en-US" sz="2800" dirty="0">
                <a:latin typeface="Arial" panose="020B0604020202020204" pitchFamily="34" charset="0"/>
                <a:ea typeface="ＭＳ Ｐゴシック" pitchFamily="34" charset="-128"/>
                <a:cs typeface="Arial" panose="020B0604020202020204" pitchFamily="34" charset="0"/>
              </a:rPr>
              <a:t>Answer personal information question</a:t>
            </a:r>
          </a:p>
          <a:p>
            <a:r>
              <a:rPr lang="en-US" altLang="en-US" sz="2800" dirty="0">
                <a:latin typeface="Arial" panose="020B0604020202020204" pitchFamily="34" charset="0"/>
                <a:ea typeface="ＭＳ Ｐゴシック" pitchFamily="34" charset="-128"/>
                <a:cs typeface="Arial" panose="020B0604020202020204" pitchFamily="34" charset="0"/>
              </a:rPr>
              <a:t>Biometric information (fingerprint or retinal scans)</a:t>
            </a:r>
          </a:p>
          <a:p>
            <a:r>
              <a:rPr lang="en-US" altLang="en-US" sz="2800" dirty="0">
                <a:latin typeface="Arial" panose="020B0604020202020204" pitchFamily="34" charset="0"/>
                <a:ea typeface="ＭＳ Ｐゴシック" pitchFamily="34" charset="-128"/>
                <a:cs typeface="Arial" panose="020B0604020202020204" pitchFamily="34" charset="0"/>
              </a:rPr>
              <a:t>One-time password scheme</a:t>
            </a:r>
          </a:p>
          <a:p>
            <a:pPr lvl="1"/>
            <a:r>
              <a:rPr lang="en-US" altLang="en-US" sz="2600" dirty="0">
                <a:latin typeface="Arial" panose="020B0604020202020204" pitchFamily="34" charset="0"/>
                <a:ea typeface="ＭＳ Ｐゴシック" pitchFamily="34" charset="-128"/>
                <a:cs typeface="Arial" panose="020B0604020202020204" pitchFamily="34" charset="0"/>
              </a:rPr>
              <a:t>User enters ID and a partial password</a:t>
            </a:r>
          </a:p>
          <a:p>
            <a:pPr lvl="1"/>
            <a:r>
              <a:rPr lang="en-US" altLang="en-US" sz="2600" dirty="0">
                <a:latin typeface="Arial" panose="020B0604020202020204" pitchFamily="34" charset="0"/>
                <a:ea typeface="ＭＳ Ｐゴシック" pitchFamily="34" charset="-128"/>
                <a:cs typeface="Arial" panose="020B0604020202020204" pitchFamily="34" charset="0"/>
              </a:rPr>
              <a:t>System or user device generates last half of the password</a:t>
            </a:r>
          </a:p>
          <a:p>
            <a:pPr lvl="1"/>
            <a:r>
              <a:rPr lang="en-US" altLang="en-US" sz="2600" dirty="0">
                <a:latin typeface="Arial" panose="020B0604020202020204" pitchFamily="34" charset="0"/>
                <a:ea typeface="ＭＳ Ｐゴシック" pitchFamily="34" charset="-128"/>
                <a:cs typeface="Arial" panose="020B0604020202020204" pitchFamily="34" charset="0"/>
              </a:rPr>
              <a:t>Last half of the password is good for only a few seconds </a:t>
            </a:r>
          </a:p>
          <a:p>
            <a:r>
              <a:rPr lang="en-US" altLang="en-US" sz="2800" b="1" dirty="0">
                <a:latin typeface="Arial" panose="020B0604020202020204" pitchFamily="34" charset="0"/>
                <a:ea typeface="ＭＳ Ｐゴシック" pitchFamily="34" charset="-128"/>
                <a:cs typeface="Arial" panose="020B0604020202020204" pitchFamily="34" charset="0"/>
              </a:rPr>
              <a:t>Dual authentication:</a:t>
            </a:r>
            <a:r>
              <a:rPr lang="en-US" altLang="en-US" sz="2800" dirty="0">
                <a:latin typeface="Arial" panose="020B0604020202020204" pitchFamily="34" charset="0"/>
                <a:ea typeface="ＭＳ Ｐゴシック" pitchFamily="34" charset="-128"/>
                <a:cs typeface="Arial" panose="020B0604020202020204" pitchFamily="34" charset="0"/>
              </a:rPr>
              <a:t> Temporary code or password is sent to a trusted device</a:t>
            </a:r>
          </a:p>
        </p:txBody>
      </p:sp>
    </p:spTree>
    <p:extLst>
      <p:ext uri="{BB962C8B-B14F-4D97-AF65-F5344CB8AC3E}">
        <p14:creationId xmlns:p14="http://schemas.microsoft.com/office/powerpoint/2010/main" val="478731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Threats and Defenses</a:t>
            </a:r>
            <a:r>
              <a:rPr lang="en-US" altLang="en-US" sz="3600" b="0" baseline="0" dirty="0">
                <a:latin typeface="Arial" panose="020B0604020202020204" pitchFamily="34" charset="0"/>
                <a:ea typeface="ＭＳ Ｐゴシック" pitchFamily="34" charset="-128"/>
                <a:cs typeface="Arial" panose="020B0604020202020204" pitchFamily="34" charset="0"/>
              </a:rPr>
              <a:t> </a:t>
            </a:r>
            <a:r>
              <a:rPr lang="en-US" altLang="en-US" sz="3600" b="0" dirty="0">
                <a:latin typeface="Arial" panose="020B0604020202020204" pitchFamily="34" charset="0"/>
                <a:ea typeface="ＭＳ Ｐゴシック" pitchFamily="34" charset="-128"/>
                <a:cs typeface="Arial" panose="020B0604020202020204" pitchFamily="34" charset="0"/>
              </a:rPr>
              <a:t>Authentication and Authorization (5 of 8)</a:t>
            </a:r>
            <a:endParaRPr lang="en-US" sz="3600" b="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US" altLang="en-US" sz="2600" b="1" dirty="0">
                <a:latin typeface="Arial" panose="020B0604020202020204" pitchFamily="34" charset="0"/>
                <a:ea typeface="ＭＳ Ｐゴシック" pitchFamily="34" charset="-128"/>
                <a:cs typeface="Arial" panose="020B0604020202020204" pitchFamily="34" charset="0"/>
              </a:rPr>
              <a:t>Authorization</a:t>
            </a:r>
            <a:r>
              <a:rPr lang="en-US" altLang="en-US" sz="2600" dirty="0">
                <a:latin typeface="Arial" panose="020B0604020202020204" pitchFamily="34" charset="0"/>
                <a:ea typeface="ＭＳ Ｐゴシック" pitchFamily="34" charset="-128"/>
                <a:cs typeface="Arial" panose="020B0604020202020204" pitchFamily="34" charset="0"/>
              </a:rPr>
              <a:t>: set of permitted actions for each authorized person</a:t>
            </a:r>
          </a:p>
          <a:p>
            <a:r>
              <a:rPr lang="en-US" altLang="en-US" sz="2600" dirty="0">
                <a:latin typeface="Arial" panose="020B0604020202020204" pitchFamily="34" charset="0"/>
                <a:ea typeface="ＭＳ Ｐゴシック" pitchFamily="34" charset="-128"/>
                <a:cs typeface="Arial" panose="020B0604020202020204" pitchFamily="34" charset="0"/>
              </a:rPr>
              <a:t>Operating system maintains </a:t>
            </a:r>
            <a:r>
              <a:rPr lang="en-US" altLang="en-US" sz="2600" b="1" dirty="0">
                <a:latin typeface="Arial" panose="020B0604020202020204" pitchFamily="34" charset="0"/>
                <a:ea typeface="ＭＳ Ｐゴシック" pitchFamily="34" charset="-128"/>
                <a:cs typeface="Arial" panose="020B0604020202020204" pitchFamily="34" charset="0"/>
              </a:rPr>
              <a:t>access control lists</a:t>
            </a:r>
          </a:p>
          <a:p>
            <a:pPr lvl="1"/>
            <a:r>
              <a:rPr lang="en-US" altLang="en-US" sz="2400" dirty="0">
                <a:latin typeface="Arial" panose="020B0604020202020204" pitchFamily="34" charset="0"/>
                <a:ea typeface="ＭＳ Ｐゴシック" pitchFamily="34" charset="-128"/>
                <a:cs typeface="Arial" panose="020B0604020202020204" pitchFamily="34" charset="0"/>
              </a:rPr>
              <a:t>Read access (read a file)</a:t>
            </a:r>
          </a:p>
          <a:p>
            <a:pPr lvl="1"/>
            <a:r>
              <a:rPr lang="en-US" altLang="en-US" sz="2400" dirty="0">
                <a:latin typeface="Arial" panose="020B0604020202020204" pitchFamily="34" charset="0"/>
                <a:ea typeface="ＭＳ Ｐゴシック" pitchFamily="34" charset="-128"/>
                <a:cs typeface="Arial" panose="020B0604020202020204" pitchFamily="34" charset="0"/>
              </a:rPr>
              <a:t>Write access (modify a file)</a:t>
            </a:r>
          </a:p>
          <a:p>
            <a:pPr lvl="1"/>
            <a:r>
              <a:rPr lang="en-US" altLang="en-US" sz="2400" dirty="0">
                <a:latin typeface="Arial" panose="020B0604020202020204" pitchFamily="34" charset="0"/>
                <a:ea typeface="ＭＳ Ｐゴシック" pitchFamily="34" charset="-128"/>
                <a:cs typeface="Arial" panose="020B0604020202020204" pitchFamily="34" charset="0"/>
              </a:rPr>
              <a:t>Execute access (run a program)</a:t>
            </a:r>
          </a:p>
          <a:p>
            <a:pPr lvl="1"/>
            <a:r>
              <a:rPr lang="en-US" altLang="en-US" sz="2400" dirty="0">
                <a:latin typeface="Arial" panose="020B0604020202020204" pitchFamily="34" charset="0"/>
                <a:ea typeface="ＭＳ Ｐゴシック" pitchFamily="34" charset="-128"/>
                <a:cs typeface="Arial" panose="020B0604020202020204" pitchFamily="34" charset="0"/>
              </a:rPr>
              <a:t>Delete access (remove a file)</a:t>
            </a:r>
          </a:p>
          <a:p>
            <a:r>
              <a:rPr lang="en-US" altLang="en-US" sz="2600" b="1" dirty="0">
                <a:latin typeface="Arial" panose="020B0604020202020204" pitchFamily="34" charset="0"/>
                <a:ea typeface="ＭＳ Ｐゴシック" pitchFamily="34" charset="-128"/>
                <a:cs typeface="Arial" panose="020B0604020202020204" pitchFamily="34" charset="0"/>
              </a:rPr>
              <a:t>System administrator</a:t>
            </a:r>
            <a:r>
              <a:rPr lang="en-US" altLang="en-US" sz="2600" dirty="0">
                <a:latin typeface="Arial" panose="020B0604020202020204" pitchFamily="34" charset="0"/>
                <a:ea typeface="ＭＳ Ｐゴシック" pitchFamily="34" charset="-128"/>
                <a:cs typeface="Arial" panose="020B0604020202020204" pitchFamily="34" charset="0"/>
              </a:rPr>
              <a:t> or </a:t>
            </a:r>
            <a:r>
              <a:rPr lang="en-US" altLang="en-US" sz="2600" b="1" dirty="0">
                <a:latin typeface="Arial" panose="020B0604020202020204" pitchFamily="34" charset="0"/>
                <a:ea typeface="ＭＳ Ｐゴシック" pitchFamily="34" charset="-128"/>
                <a:cs typeface="Arial" panose="020B0604020202020204" pitchFamily="34" charset="0"/>
              </a:rPr>
              <a:t>superuser</a:t>
            </a:r>
            <a:r>
              <a:rPr lang="en-US" altLang="en-US" sz="2600" dirty="0">
                <a:latin typeface="Arial" panose="020B0604020202020204" pitchFamily="34" charset="0"/>
                <a:ea typeface="ＭＳ Ｐゴシック" pitchFamily="34" charset="-128"/>
                <a:cs typeface="Arial" panose="020B0604020202020204" pitchFamily="34" charset="0"/>
              </a:rPr>
              <a:t> has universal access and sets up authorization</a:t>
            </a:r>
            <a:endParaRPr lang="en-US" altLang="en-US" sz="2600" b="1" dirty="0">
              <a:latin typeface="Arial" panose="020B0604020202020204" pitchFamily="34" charset="0"/>
              <a:ea typeface="ＭＳ Ｐゴシック" pitchFamily="34" charset="-128"/>
              <a:cs typeface="Arial" panose="020B0604020202020204" pitchFamily="34" charset="0"/>
            </a:endParaRPr>
          </a:p>
        </p:txBody>
      </p:sp>
    </p:spTree>
    <p:extLst>
      <p:ext uri="{BB962C8B-B14F-4D97-AF65-F5344CB8AC3E}">
        <p14:creationId xmlns:p14="http://schemas.microsoft.com/office/powerpoint/2010/main" val="2066241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Threats and Defenses</a:t>
            </a:r>
            <a:r>
              <a:rPr lang="en-US" altLang="en-US" sz="3600" b="0" baseline="0" dirty="0">
                <a:latin typeface="Arial" panose="020B0604020202020204" pitchFamily="34" charset="0"/>
                <a:ea typeface="ＭＳ Ｐゴシック" pitchFamily="34" charset="-128"/>
                <a:cs typeface="Arial" panose="020B0604020202020204" pitchFamily="34" charset="0"/>
              </a:rPr>
              <a:t> </a:t>
            </a:r>
            <a:r>
              <a:rPr lang="en-US" altLang="en-US" sz="3600" b="0" dirty="0">
                <a:latin typeface="Arial" panose="020B0604020202020204" pitchFamily="34" charset="0"/>
                <a:ea typeface="ＭＳ Ｐゴシック" pitchFamily="34" charset="-128"/>
                <a:cs typeface="Arial" panose="020B0604020202020204" pitchFamily="34" charset="0"/>
              </a:rPr>
              <a:t>Authentication and Authorization (6 of 8)</a:t>
            </a:r>
            <a:endParaRPr lang="en-US" sz="3600" b="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fontScale="92500"/>
          </a:bodyPr>
          <a:lstStyle/>
          <a:p>
            <a:r>
              <a:rPr lang="en-US" altLang="en-US" sz="2800" b="1" dirty="0">
                <a:latin typeface="Arial" panose="020B0604020202020204" pitchFamily="34" charset="0"/>
                <a:ea typeface="ＭＳ Ｐゴシック" pitchFamily="34" charset="-128"/>
                <a:cs typeface="Arial" panose="020B0604020202020204" pitchFamily="34" charset="0"/>
              </a:rPr>
              <a:t>Malware</a:t>
            </a:r>
            <a:r>
              <a:rPr lang="en-US" altLang="en-US" sz="2800" dirty="0">
                <a:latin typeface="Arial" panose="020B0604020202020204" pitchFamily="34" charset="0"/>
                <a:ea typeface="ＭＳ Ｐゴシック" pitchFamily="34" charset="-128"/>
                <a:cs typeface="Arial" panose="020B0604020202020204" pitchFamily="34" charset="0"/>
              </a:rPr>
              <a:t>: malicious software arriving from the network</a:t>
            </a:r>
          </a:p>
          <a:p>
            <a:pPr lvl="1"/>
            <a:r>
              <a:rPr lang="en-US" altLang="en-US" sz="2600" b="1" dirty="0">
                <a:latin typeface="Arial" panose="020B0604020202020204" pitchFamily="34" charset="0"/>
                <a:ea typeface="ＭＳ Ｐゴシック" pitchFamily="34" charset="-128"/>
                <a:cs typeface="Arial" panose="020B0604020202020204" pitchFamily="34" charset="0"/>
              </a:rPr>
              <a:t>Virus</a:t>
            </a:r>
            <a:r>
              <a:rPr lang="en-US" altLang="en-US" sz="2600" dirty="0">
                <a:latin typeface="Arial" panose="020B0604020202020204" pitchFamily="34" charset="0"/>
                <a:ea typeface="ＭＳ Ｐゴシック" pitchFamily="34" charset="-128"/>
                <a:cs typeface="Arial" panose="020B0604020202020204" pitchFamily="34" charset="0"/>
              </a:rPr>
              <a:t>: </a:t>
            </a:r>
            <a:r>
              <a:rPr lang="en-US" altLang="en-US" sz="2600" dirty="0">
                <a:solidFill>
                  <a:srgbClr val="FF0000"/>
                </a:solidFill>
                <a:latin typeface="Arial" panose="020B0604020202020204" pitchFamily="34" charset="0"/>
                <a:ea typeface="ＭＳ Ｐゴシック" pitchFamily="34" charset="-128"/>
                <a:cs typeface="Arial" panose="020B0604020202020204" pitchFamily="34" charset="0"/>
              </a:rPr>
              <a:t>program embedded within another program or file, replicates itself and attacks other files</a:t>
            </a:r>
          </a:p>
          <a:p>
            <a:pPr lvl="1"/>
            <a:r>
              <a:rPr lang="en-US" altLang="en-US" sz="2600" b="1" dirty="0">
                <a:latin typeface="Arial" panose="020B0604020202020204" pitchFamily="34" charset="0"/>
                <a:ea typeface="ＭＳ Ｐゴシック" pitchFamily="34" charset="-128"/>
                <a:cs typeface="Arial" panose="020B0604020202020204" pitchFamily="34" charset="0"/>
              </a:rPr>
              <a:t>Worm</a:t>
            </a:r>
            <a:r>
              <a:rPr lang="en-US" altLang="en-US" sz="2600" dirty="0">
                <a:latin typeface="Arial" panose="020B0604020202020204" pitchFamily="34" charset="0"/>
                <a:ea typeface="ＭＳ Ｐゴシック" pitchFamily="34" charset="-128"/>
                <a:cs typeface="Arial" panose="020B0604020202020204" pitchFamily="34" charset="0"/>
              </a:rPr>
              <a:t>: </a:t>
            </a:r>
            <a:r>
              <a:rPr lang="en-US" altLang="en-US" sz="2600" dirty="0">
                <a:solidFill>
                  <a:schemeClr val="accent1"/>
                </a:solidFill>
                <a:latin typeface="Arial" panose="020B0604020202020204" pitchFamily="34" charset="0"/>
                <a:ea typeface="ＭＳ Ｐゴシック" pitchFamily="34" charset="-128"/>
                <a:cs typeface="Arial" panose="020B0604020202020204" pitchFamily="34" charset="0"/>
              </a:rPr>
              <a:t>program that can send copies of itself to other nodes on the network</a:t>
            </a:r>
          </a:p>
          <a:p>
            <a:pPr lvl="1"/>
            <a:r>
              <a:rPr lang="en-US" altLang="en-US" sz="2600" b="1" dirty="0">
                <a:latin typeface="Arial" panose="020B0604020202020204" pitchFamily="34" charset="0"/>
                <a:ea typeface="ＭＳ Ｐゴシック" pitchFamily="34" charset="-128"/>
                <a:cs typeface="Arial" panose="020B0604020202020204" pitchFamily="34" charset="0"/>
              </a:rPr>
              <a:t>Trojan horse</a:t>
            </a:r>
            <a:r>
              <a:rPr lang="en-US" altLang="en-US" sz="2600" dirty="0">
                <a:latin typeface="Arial" panose="020B0604020202020204" pitchFamily="34" charset="0"/>
                <a:ea typeface="ＭＳ Ｐゴシック" pitchFamily="34" charset="-128"/>
                <a:cs typeface="Arial" panose="020B0604020202020204" pitchFamily="34" charset="0"/>
              </a:rPr>
              <a:t>: </a:t>
            </a:r>
            <a:r>
              <a:rPr lang="en-US" altLang="en-US" sz="2600" dirty="0">
                <a:solidFill>
                  <a:schemeClr val="accent6">
                    <a:lumMod val="50000"/>
                  </a:schemeClr>
                </a:solidFill>
                <a:latin typeface="Arial" panose="020B0604020202020204" pitchFamily="34" charset="0"/>
                <a:ea typeface="ＭＳ Ｐゴシック" pitchFamily="34" charset="-128"/>
                <a:cs typeface="Arial" panose="020B0604020202020204" pitchFamily="34" charset="0"/>
              </a:rPr>
              <a:t>program that seems beneficial but hides malicious code within it </a:t>
            </a:r>
          </a:p>
          <a:p>
            <a:pPr lvl="2">
              <a:buFont typeface="Wingdings" panose="05000000000000000000" pitchFamily="2" charset="2"/>
              <a:buChar char="§"/>
            </a:pPr>
            <a:r>
              <a:rPr lang="en-US" altLang="en-US" b="1" dirty="0">
                <a:latin typeface="Arial" panose="020B0604020202020204" pitchFamily="34" charset="0"/>
                <a:ea typeface="ＭＳ Ｐゴシック" pitchFamily="34" charset="-128"/>
                <a:cs typeface="Arial" panose="020B0604020202020204" pitchFamily="34" charset="0"/>
              </a:rPr>
              <a:t>Keystroke logger</a:t>
            </a:r>
            <a:r>
              <a:rPr lang="en-US" altLang="en-US" dirty="0">
                <a:latin typeface="Arial" panose="020B0604020202020204" pitchFamily="34" charset="0"/>
                <a:ea typeface="ＭＳ Ｐゴシック" pitchFamily="34" charset="-128"/>
                <a:cs typeface="Arial" panose="020B0604020202020204" pitchFamily="34" charset="0"/>
              </a:rPr>
              <a:t>: records all keys typed </a:t>
            </a:r>
          </a:p>
          <a:p>
            <a:pPr lvl="2">
              <a:buFont typeface="Wingdings" panose="05000000000000000000" pitchFamily="2" charset="2"/>
              <a:buChar char="§"/>
            </a:pPr>
            <a:r>
              <a:rPr lang="en-US" altLang="en-US" b="1" dirty="0">
                <a:latin typeface="Arial" panose="020B0604020202020204" pitchFamily="34" charset="0"/>
                <a:ea typeface="ＭＳ Ｐゴシック" pitchFamily="34" charset="-128"/>
                <a:cs typeface="Arial" panose="020B0604020202020204" pitchFamily="34" charset="0"/>
              </a:rPr>
              <a:t>Drive-by exploit/drive-by download</a:t>
            </a:r>
            <a:r>
              <a:rPr lang="en-US" altLang="en-US" dirty="0">
                <a:latin typeface="Arial" panose="020B0604020202020204" pitchFamily="34" charset="0"/>
                <a:ea typeface="ＭＳ Ｐゴシック" pitchFamily="34" charset="-128"/>
                <a:cs typeface="Arial" panose="020B0604020202020204" pitchFamily="34" charset="0"/>
              </a:rPr>
              <a:t>: Trojan horse downloaded by simply visiting an infected website </a:t>
            </a:r>
            <a:endParaRPr lang="en-US" altLang="en-US" b="1" dirty="0">
              <a:latin typeface="Arial" panose="020B0604020202020204" pitchFamily="34" charset="0"/>
              <a:ea typeface="ＭＳ Ｐゴシック" pitchFamily="34" charset="-128"/>
              <a:cs typeface="Arial" panose="020B0604020202020204" pitchFamily="34" charset="0"/>
            </a:endParaRPr>
          </a:p>
        </p:txBody>
      </p:sp>
      <p:sp>
        <p:nvSpPr>
          <p:cNvPr id="5" name="TextBox 4">
            <a:extLst>
              <a:ext uri="{FF2B5EF4-FFF2-40B4-BE49-F238E27FC236}">
                <a16:creationId xmlns:a16="http://schemas.microsoft.com/office/drawing/2014/main" id="{A7132CBB-6639-4322-AA8F-DF281C68B990}"/>
              </a:ext>
            </a:extLst>
          </p:cNvPr>
          <p:cNvSpPr txBox="1"/>
          <p:nvPr/>
        </p:nvSpPr>
        <p:spPr>
          <a:xfrm>
            <a:off x="2137025" y="1674956"/>
            <a:ext cx="4582274" cy="369332"/>
          </a:xfrm>
          <a:prstGeom prst="rect">
            <a:avLst/>
          </a:prstGeom>
          <a:noFill/>
        </p:spPr>
        <p:txBody>
          <a:bodyPr wrap="square">
            <a:spAutoFit/>
          </a:bodyPr>
          <a:lstStyle/>
          <a:p>
            <a:r>
              <a:rPr lang="zh-CN" altLang="en-US" dirty="0">
                <a:solidFill>
                  <a:srgbClr val="FF0000"/>
                </a:solidFill>
              </a:rPr>
              <a:t>恶意软件：来自网络的恶意软件</a:t>
            </a:r>
          </a:p>
        </p:txBody>
      </p:sp>
    </p:spTree>
    <p:extLst>
      <p:ext uri="{BB962C8B-B14F-4D97-AF65-F5344CB8AC3E}">
        <p14:creationId xmlns:p14="http://schemas.microsoft.com/office/powerpoint/2010/main" val="2339397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Threats and Defenses</a:t>
            </a:r>
            <a:r>
              <a:rPr lang="en-US" altLang="en-US" sz="3600" b="0" baseline="0" dirty="0">
                <a:latin typeface="Arial" panose="020B0604020202020204" pitchFamily="34" charset="0"/>
                <a:ea typeface="ＭＳ Ｐゴシック" pitchFamily="34" charset="-128"/>
                <a:cs typeface="Arial" panose="020B0604020202020204" pitchFamily="34" charset="0"/>
              </a:rPr>
              <a:t> </a:t>
            </a:r>
            <a:r>
              <a:rPr lang="en-US" altLang="en-US" sz="3600" b="0" dirty="0">
                <a:latin typeface="Arial" panose="020B0604020202020204" pitchFamily="34" charset="0"/>
                <a:ea typeface="ＭＳ Ｐゴシック" pitchFamily="34" charset="-128"/>
                <a:cs typeface="Arial" panose="020B0604020202020204" pitchFamily="34" charset="0"/>
              </a:rPr>
              <a:t>Authentication and Authorization (7 of</a:t>
            </a:r>
            <a:r>
              <a:rPr lang="en-US" altLang="en-US" sz="3600" b="0" baseline="0" dirty="0">
                <a:latin typeface="Arial" panose="020B0604020202020204" pitchFamily="34" charset="0"/>
                <a:ea typeface="ＭＳ Ｐゴシック" pitchFamily="34" charset="-128"/>
                <a:cs typeface="Arial" panose="020B0604020202020204" pitchFamily="34" charset="0"/>
              </a:rPr>
              <a:t> 8)</a:t>
            </a:r>
            <a:endParaRPr lang="en-US" sz="3600" b="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US" altLang="en-US" sz="2600" b="1" dirty="0">
                <a:solidFill>
                  <a:srgbClr val="FF0000"/>
                </a:solidFill>
                <a:latin typeface="Arial" panose="020B0604020202020204" pitchFamily="34" charset="0"/>
                <a:ea typeface="ＭＳ Ｐゴシック" pitchFamily="34" charset="-128"/>
                <a:cs typeface="Arial" panose="020B0604020202020204" pitchFamily="34" charset="0"/>
              </a:rPr>
              <a:t>Denial-of-service</a:t>
            </a:r>
            <a:r>
              <a:rPr lang="en-US" altLang="en-US" sz="2600" b="1" dirty="0">
                <a:latin typeface="Arial" panose="020B0604020202020204" pitchFamily="34" charset="0"/>
                <a:ea typeface="ＭＳ Ｐゴシック" pitchFamily="34" charset="-128"/>
                <a:cs typeface="Arial" panose="020B0604020202020204" pitchFamily="34" charset="0"/>
              </a:rPr>
              <a:t> (DoS) attack</a:t>
            </a:r>
            <a:r>
              <a:rPr lang="en-US" altLang="en-US" sz="2600" dirty="0">
                <a:latin typeface="Arial" panose="020B0604020202020204" pitchFamily="34" charset="0"/>
                <a:ea typeface="ＭＳ Ｐゴシック" pitchFamily="34" charset="-128"/>
                <a:cs typeface="Arial" panose="020B0604020202020204" pitchFamily="34" charset="0"/>
              </a:rPr>
              <a:t>: many computers try to access the same URL at the same time</a:t>
            </a:r>
          </a:p>
          <a:p>
            <a:pPr lvl="1"/>
            <a:r>
              <a:rPr lang="en-US" altLang="en-US" sz="2400" dirty="0">
                <a:solidFill>
                  <a:srgbClr val="FF0000"/>
                </a:solidFill>
                <a:latin typeface="Arial" panose="020B0604020202020204" pitchFamily="34" charset="0"/>
                <a:ea typeface="ＭＳ Ｐゴシック" pitchFamily="34" charset="-128"/>
                <a:cs typeface="Arial" panose="020B0604020202020204" pitchFamily="34" charset="0"/>
              </a:rPr>
              <a:t>Clogs the network</a:t>
            </a:r>
            <a:r>
              <a:rPr lang="en-US" altLang="en-US" sz="2400" dirty="0">
                <a:latin typeface="Arial" panose="020B0604020202020204" pitchFamily="34" charset="0"/>
                <a:ea typeface="ＭＳ Ｐゴシック" pitchFamily="34" charset="-128"/>
                <a:cs typeface="Arial" panose="020B0604020202020204" pitchFamily="34" charset="0"/>
              </a:rPr>
              <a:t>, prevents legitimate access, and  causes the server to crash</a:t>
            </a:r>
          </a:p>
          <a:p>
            <a:pPr lvl="1"/>
            <a:r>
              <a:rPr lang="en-US" altLang="en-US" sz="2400" dirty="0">
                <a:latin typeface="Arial" panose="020B0604020202020204" pitchFamily="34" charset="0"/>
                <a:ea typeface="ＭＳ Ｐゴシック" pitchFamily="34" charset="-128"/>
                <a:cs typeface="Arial" panose="020B0604020202020204" pitchFamily="34" charset="0"/>
              </a:rPr>
              <a:t>Distributed DoS uses thousands of computers</a:t>
            </a:r>
          </a:p>
          <a:p>
            <a:pPr lvl="2">
              <a:buFont typeface="Wingdings" panose="05000000000000000000" pitchFamily="2" charset="2"/>
              <a:buChar char="§"/>
            </a:pPr>
            <a:r>
              <a:rPr lang="en-US" altLang="en-US" sz="2200" dirty="0">
                <a:latin typeface="Arial" panose="020B0604020202020204" pitchFamily="34" charset="0"/>
                <a:ea typeface="ＭＳ Ｐゴシック" pitchFamily="34" charset="-128"/>
                <a:cs typeface="Arial" panose="020B0604020202020204" pitchFamily="34" charset="0"/>
              </a:rPr>
              <a:t>Uses a </a:t>
            </a:r>
            <a:r>
              <a:rPr lang="en-US" altLang="en-US" sz="2200" b="1" dirty="0">
                <a:latin typeface="Arial" panose="020B0604020202020204" pitchFamily="34" charset="0"/>
                <a:ea typeface="ＭＳ Ｐゴシック" pitchFamily="34" charset="-128"/>
                <a:cs typeface="Arial" panose="020B0604020202020204" pitchFamily="34" charset="0"/>
              </a:rPr>
              <a:t>zombie army</a:t>
            </a:r>
            <a:r>
              <a:rPr lang="en-US" altLang="en-US" sz="2200" dirty="0">
                <a:latin typeface="Arial" panose="020B0604020202020204" pitchFamily="34" charset="0"/>
                <a:ea typeface="ＭＳ Ｐゴシック" pitchFamily="34" charset="-128"/>
                <a:cs typeface="Arial" panose="020B0604020202020204" pitchFamily="34" charset="0"/>
              </a:rPr>
              <a:t> (</a:t>
            </a:r>
            <a:r>
              <a:rPr lang="en-US" altLang="en-US" sz="2200" b="1" dirty="0">
                <a:latin typeface="Arial" panose="020B0604020202020204" pitchFamily="34" charset="0"/>
                <a:ea typeface="ＭＳ Ｐゴシック" pitchFamily="34" charset="-128"/>
                <a:cs typeface="Arial" panose="020B0604020202020204" pitchFamily="34" charset="0"/>
              </a:rPr>
              <a:t>botnet</a:t>
            </a:r>
            <a:r>
              <a:rPr lang="en-US" altLang="en-US" sz="2200" dirty="0">
                <a:latin typeface="Arial" panose="020B0604020202020204" pitchFamily="34" charset="0"/>
                <a:ea typeface="ＭＳ Ｐゴシック" pitchFamily="34" charset="-128"/>
                <a:cs typeface="Arial" panose="020B0604020202020204" pitchFamily="34" charset="0"/>
              </a:rPr>
              <a:t>): many innocent computers infected with malware</a:t>
            </a:r>
          </a:p>
          <a:p>
            <a:r>
              <a:rPr lang="en-US" altLang="en-US" sz="2600" b="1" dirty="0">
                <a:latin typeface="Arial" panose="020B0604020202020204" pitchFamily="34" charset="0"/>
                <a:ea typeface="ＭＳ Ｐゴシック" pitchFamily="34" charset="-128"/>
                <a:cs typeface="Arial" panose="020B0604020202020204" pitchFamily="34" charset="0"/>
              </a:rPr>
              <a:t>Phishing</a:t>
            </a:r>
            <a:r>
              <a:rPr lang="en-US" altLang="en-US" sz="2600" dirty="0">
                <a:latin typeface="Arial" panose="020B0604020202020204" pitchFamily="34" charset="0"/>
                <a:ea typeface="ＭＳ Ｐゴシック" pitchFamily="34" charset="-128"/>
                <a:cs typeface="Arial" panose="020B0604020202020204" pitchFamily="34" charset="0"/>
              </a:rPr>
              <a:t>: obtain sensitive information by impersonating legitimate sources</a:t>
            </a:r>
          </a:p>
          <a:p>
            <a:pPr lvl="1"/>
            <a:r>
              <a:rPr lang="en-US" altLang="en-US" sz="2400" dirty="0">
                <a:latin typeface="Arial" panose="020B0604020202020204" pitchFamily="34" charset="0"/>
                <a:ea typeface="ＭＳ Ｐゴシック" pitchFamily="34" charset="-128"/>
                <a:cs typeface="Arial" panose="020B0604020202020204" pitchFamily="34" charset="0"/>
              </a:rPr>
              <a:t>Many emails; just a few “bites” are enough </a:t>
            </a:r>
          </a:p>
        </p:txBody>
      </p:sp>
    </p:spTree>
    <p:extLst>
      <p:ext uri="{BB962C8B-B14F-4D97-AF65-F5344CB8AC3E}">
        <p14:creationId xmlns:p14="http://schemas.microsoft.com/office/powerpoint/2010/main" val="3515830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Threats and Defenses</a:t>
            </a:r>
            <a:r>
              <a:rPr lang="en-US" altLang="en-US" sz="3600" b="0" baseline="0" dirty="0">
                <a:latin typeface="Arial" panose="020B0604020202020204" pitchFamily="34" charset="0"/>
                <a:ea typeface="ＭＳ Ｐゴシック" pitchFamily="34" charset="-128"/>
                <a:cs typeface="Arial" panose="020B0604020202020204" pitchFamily="34" charset="0"/>
              </a:rPr>
              <a:t> </a:t>
            </a:r>
            <a:r>
              <a:rPr lang="en-US" altLang="en-US" sz="3600" b="0" dirty="0">
                <a:latin typeface="Arial" panose="020B0604020202020204" pitchFamily="34" charset="0"/>
                <a:ea typeface="ＭＳ Ｐゴシック" pitchFamily="34" charset="-128"/>
                <a:cs typeface="Arial" panose="020B0604020202020204" pitchFamily="34" charset="0"/>
              </a:rPr>
              <a:t>Authentication and Authorization (8 of 8)</a:t>
            </a:r>
            <a:endParaRPr lang="en-US" sz="3600" b="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US" altLang="en-US" sz="2600" dirty="0">
                <a:latin typeface="Arial" panose="020B0604020202020204" pitchFamily="34" charset="0"/>
                <a:ea typeface="ＭＳ Ｐゴシック" pitchFamily="34" charset="-128"/>
                <a:cs typeface="Arial" panose="020B0604020202020204" pitchFamily="34" charset="0"/>
              </a:rPr>
              <a:t>White hats are security experts and those who work to help protect systems from attackers.</a:t>
            </a:r>
          </a:p>
          <a:p>
            <a:r>
              <a:rPr lang="en-US" altLang="en-US" sz="2600" dirty="0">
                <a:latin typeface="Arial" panose="020B0604020202020204" pitchFamily="34" charset="0"/>
                <a:ea typeface="ＭＳ Ｐゴシック" pitchFamily="34" charset="-128"/>
                <a:cs typeface="Arial" panose="020B0604020202020204" pitchFamily="34" charset="0"/>
              </a:rPr>
              <a:t>Black hats are individuals or groups who work toward getting around security to steal information, get money, or do other nefarious, immoral, and illegal acts.</a:t>
            </a:r>
          </a:p>
        </p:txBody>
      </p:sp>
    </p:spTree>
    <p:extLst>
      <p:ext uri="{BB962C8B-B14F-4D97-AF65-F5344CB8AC3E}">
        <p14:creationId xmlns:p14="http://schemas.microsoft.com/office/powerpoint/2010/main" val="764167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478DDC2-47AD-4343-8EA3-37FD3E7600B7}"/>
              </a:ext>
            </a:extLst>
          </p:cNvPr>
          <p:cNvPicPr>
            <a:picLocks noChangeAspect="1"/>
          </p:cNvPicPr>
          <p:nvPr/>
        </p:nvPicPr>
        <p:blipFill>
          <a:blip r:embed="rId2"/>
          <a:stretch>
            <a:fillRect/>
          </a:stretch>
        </p:blipFill>
        <p:spPr>
          <a:xfrm>
            <a:off x="23470" y="0"/>
            <a:ext cx="9097060" cy="6858000"/>
          </a:xfrm>
          <a:prstGeom prst="rect">
            <a:avLst/>
          </a:prstGeom>
        </p:spPr>
      </p:pic>
      <p:sp>
        <p:nvSpPr>
          <p:cNvPr id="6" name="TextBox 5">
            <a:extLst>
              <a:ext uri="{FF2B5EF4-FFF2-40B4-BE49-F238E27FC236}">
                <a16:creationId xmlns:a16="http://schemas.microsoft.com/office/drawing/2014/main" id="{CB119BD7-55E1-451A-8AF0-C8413B2D80CE}"/>
              </a:ext>
            </a:extLst>
          </p:cNvPr>
          <p:cNvSpPr txBox="1"/>
          <p:nvPr/>
        </p:nvSpPr>
        <p:spPr>
          <a:xfrm flipH="1">
            <a:off x="133402" y="463463"/>
            <a:ext cx="3015017" cy="523220"/>
          </a:xfrm>
          <a:prstGeom prst="rect">
            <a:avLst/>
          </a:prstGeom>
          <a:noFill/>
        </p:spPr>
        <p:txBody>
          <a:bodyPr wrap="square" rtlCol="0">
            <a:spAutoFit/>
          </a:bodyPr>
          <a:lstStyle/>
          <a:p>
            <a:r>
              <a:rPr lang="zh-CN" altLang="en-US" sz="2800" dirty="0">
                <a:solidFill>
                  <a:srgbClr val="FF0000"/>
                </a:solidFill>
                <a:highlight>
                  <a:srgbClr val="FFFF00"/>
                </a:highlight>
              </a:rPr>
              <a:t>第一个</a:t>
            </a:r>
            <a:r>
              <a:rPr lang="en-US" altLang="zh-CN" sz="2800" dirty="0">
                <a:solidFill>
                  <a:srgbClr val="FF0000"/>
                </a:solidFill>
                <a:highlight>
                  <a:srgbClr val="FFFF00"/>
                </a:highlight>
              </a:rPr>
              <a:t>worm</a:t>
            </a:r>
            <a:endParaRPr lang="en-US" sz="2800" dirty="0">
              <a:solidFill>
                <a:srgbClr val="FF0000"/>
              </a:solidFill>
              <a:highlight>
                <a:srgbClr val="FFFF00"/>
              </a:highlight>
            </a:endParaRPr>
          </a:p>
        </p:txBody>
      </p:sp>
    </p:spTree>
    <p:extLst>
      <p:ext uri="{BB962C8B-B14F-4D97-AF65-F5344CB8AC3E}">
        <p14:creationId xmlns:p14="http://schemas.microsoft.com/office/powerpoint/2010/main" val="3682781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8B9562-4562-4E2A-A6F9-1D7D6C61099F}"/>
              </a:ext>
            </a:extLst>
          </p:cNvPr>
          <p:cNvPicPr>
            <a:picLocks noChangeAspect="1"/>
          </p:cNvPicPr>
          <p:nvPr/>
        </p:nvPicPr>
        <p:blipFill>
          <a:blip r:embed="rId2"/>
          <a:stretch>
            <a:fillRect/>
          </a:stretch>
        </p:blipFill>
        <p:spPr>
          <a:xfrm>
            <a:off x="37578" y="152670"/>
            <a:ext cx="9144000" cy="5700889"/>
          </a:xfrm>
          <a:prstGeom prst="rect">
            <a:avLst/>
          </a:prstGeom>
        </p:spPr>
      </p:pic>
    </p:spTree>
    <p:extLst>
      <p:ext uri="{BB962C8B-B14F-4D97-AF65-F5344CB8AC3E}">
        <p14:creationId xmlns:p14="http://schemas.microsoft.com/office/powerpoint/2010/main" val="28475630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D5A1D4-5EFF-48ED-A492-4E6A75DD0E32}"/>
              </a:ext>
            </a:extLst>
          </p:cNvPr>
          <p:cNvPicPr>
            <a:picLocks noChangeAspect="1"/>
          </p:cNvPicPr>
          <p:nvPr/>
        </p:nvPicPr>
        <p:blipFill>
          <a:blip r:embed="rId2"/>
          <a:stretch>
            <a:fillRect/>
          </a:stretch>
        </p:blipFill>
        <p:spPr>
          <a:xfrm>
            <a:off x="151487" y="159968"/>
            <a:ext cx="8515350" cy="6362700"/>
          </a:xfrm>
          <a:prstGeom prst="rect">
            <a:avLst/>
          </a:prstGeom>
        </p:spPr>
      </p:pic>
    </p:spTree>
    <p:extLst>
      <p:ext uri="{BB962C8B-B14F-4D97-AF65-F5344CB8AC3E}">
        <p14:creationId xmlns:p14="http://schemas.microsoft.com/office/powerpoint/2010/main" val="32266127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5D9225-6CFE-44D5-9FEC-B98695ACB0BB}"/>
              </a:ext>
            </a:extLst>
          </p:cNvPr>
          <p:cNvPicPr>
            <a:picLocks noChangeAspect="1"/>
          </p:cNvPicPr>
          <p:nvPr/>
        </p:nvPicPr>
        <p:blipFill rotWithShape="1">
          <a:blip r:embed="rId2"/>
          <a:srcRect b="35015"/>
          <a:stretch/>
        </p:blipFill>
        <p:spPr>
          <a:xfrm>
            <a:off x="0" y="163027"/>
            <a:ext cx="9144000" cy="3707516"/>
          </a:xfrm>
          <a:prstGeom prst="rect">
            <a:avLst/>
          </a:prstGeom>
        </p:spPr>
      </p:pic>
      <p:sp>
        <p:nvSpPr>
          <p:cNvPr id="6" name="TextBox 5">
            <a:extLst>
              <a:ext uri="{FF2B5EF4-FFF2-40B4-BE49-F238E27FC236}">
                <a16:creationId xmlns:a16="http://schemas.microsoft.com/office/drawing/2014/main" id="{779C4DBC-A260-4F84-83A9-3998634E2688}"/>
              </a:ext>
            </a:extLst>
          </p:cNvPr>
          <p:cNvSpPr txBox="1"/>
          <p:nvPr/>
        </p:nvSpPr>
        <p:spPr>
          <a:xfrm>
            <a:off x="1121078" y="3547377"/>
            <a:ext cx="6908105" cy="646331"/>
          </a:xfrm>
          <a:prstGeom prst="rect">
            <a:avLst/>
          </a:prstGeom>
          <a:noFill/>
        </p:spPr>
        <p:txBody>
          <a:bodyPr wrap="square">
            <a:spAutoFit/>
          </a:bodyPr>
          <a:lstStyle/>
          <a:p>
            <a:r>
              <a:rPr lang="en-US" altLang="en-US" sz="3600" dirty="0">
                <a:solidFill>
                  <a:srgbClr val="FF0000"/>
                </a:solidFill>
                <a:latin typeface="Arial" panose="020B0604020202020204" pitchFamily="34" charset="0"/>
                <a:ea typeface="ＭＳ Ｐゴシック" pitchFamily="34" charset="-128"/>
                <a:cs typeface="Arial" panose="020B0604020202020204" pitchFamily="34" charset="0"/>
              </a:rPr>
              <a:t>Authentication </a:t>
            </a:r>
            <a:r>
              <a:rPr lang="zh-CN" altLang="en-US" sz="3600" dirty="0">
                <a:solidFill>
                  <a:srgbClr val="FF0000"/>
                </a:solidFill>
                <a:latin typeface="Arial" panose="020B0604020202020204" pitchFamily="34" charset="0"/>
                <a:ea typeface="ＭＳ Ｐゴシック" pitchFamily="34" charset="-128"/>
                <a:cs typeface="Arial" panose="020B0604020202020204" pitchFamily="34" charset="0"/>
              </a:rPr>
              <a:t>身份验证</a:t>
            </a:r>
            <a:endParaRPr lang="en-US" sz="3600" dirty="0"/>
          </a:p>
        </p:txBody>
      </p:sp>
    </p:spTree>
    <p:extLst>
      <p:ext uri="{BB962C8B-B14F-4D97-AF65-F5344CB8AC3E}">
        <p14:creationId xmlns:p14="http://schemas.microsoft.com/office/powerpoint/2010/main" val="3673680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E1D898E-09DE-425C-A0E8-ACD5E59D5CFF}"/>
              </a:ext>
            </a:extLst>
          </p:cNvPr>
          <p:cNvPicPr>
            <a:picLocks noChangeAspect="1"/>
          </p:cNvPicPr>
          <p:nvPr/>
        </p:nvPicPr>
        <p:blipFill>
          <a:blip r:embed="rId2"/>
          <a:stretch>
            <a:fillRect/>
          </a:stretch>
        </p:blipFill>
        <p:spPr>
          <a:xfrm>
            <a:off x="0" y="493842"/>
            <a:ext cx="9144000" cy="5054933"/>
          </a:xfrm>
          <a:prstGeom prst="rect">
            <a:avLst/>
          </a:prstGeom>
        </p:spPr>
      </p:pic>
    </p:spTree>
    <p:extLst>
      <p:ext uri="{BB962C8B-B14F-4D97-AF65-F5344CB8AC3E}">
        <p14:creationId xmlns:p14="http://schemas.microsoft.com/office/powerpoint/2010/main" val="20325612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3823F49-2813-47B5-BB50-6DF75E3DC9F1}"/>
              </a:ext>
            </a:extLst>
          </p:cNvPr>
          <p:cNvPicPr>
            <a:picLocks noChangeAspect="1"/>
          </p:cNvPicPr>
          <p:nvPr/>
        </p:nvPicPr>
        <p:blipFill>
          <a:blip r:embed="rId2"/>
          <a:stretch>
            <a:fillRect/>
          </a:stretch>
        </p:blipFill>
        <p:spPr>
          <a:xfrm>
            <a:off x="0" y="493368"/>
            <a:ext cx="9144000" cy="5871263"/>
          </a:xfrm>
          <a:prstGeom prst="rect">
            <a:avLst/>
          </a:prstGeom>
        </p:spPr>
      </p:pic>
    </p:spTree>
    <p:extLst>
      <p:ext uri="{BB962C8B-B14F-4D97-AF65-F5344CB8AC3E}">
        <p14:creationId xmlns:p14="http://schemas.microsoft.com/office/powerpoint/2010/main" val="37243744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3F4132-BED5-4770-ACE3-1F27F063B401}"/>
              </a:ext>
            </a:extLst>
          </p:cNvPr>
          <p:cNvPicPr>
            <a:picLocks noChangeAspect="1"/>
          </p:cNvPicPr>
          <p:nvPr/>
        </p:nvPicPr>
        <p:blipFill>
          <a:blip r:embed="rId2"/>
          <a:stretch>
            <a:fillRect/>
          </a:stretch>
        </p:blipFill>
        <p:spPr>
          <a:xfrm>
            <a:off x="0" y="775097"/>
            <a:ext cx="9144000" cy="5307806"/>
          </a:xfrm>
          <a:prstGeom prst="rect">
            <a:avLst/>
          </a:prstGeom>
        </p:spPr>
      </p:pic>
      <p:sp>
        <p:nvSpPr>
          <p:cNvPr id="3" name="TextBox 2">
            <a:extLst>
              <a:ext uri="{FF2B5EF4-FFF2-40B4-BE49-F238E27FC236}">
                <a16:creationId xmlns:a16="http://schemas.microsoft.com/office/drawing/2014/main" id="{32F69C01-E5DC-43FA-8B0C-CF06BB6A9435}"/>
              </a:ext>
            </a:extLst>
          </p:cNvPr>
          <p:cNvSpPr txBox="1"/>
          <p:nvPr/>
        </p:nvSpPr>
        <p:spPr>
          <a:xfrm>
            <a:off x="7265095" y="2517732"/>
            <a:ext cx="3006247" cy="461665"/>
          </a:xfrm>
          <a:prstGeom prst="rect">
            <a:avLst/>
          </a:prstGeom>
          <a:noFill/>
        </p:spPr>
        <p:txBody>
          <a:bodyPr wrap="square" rtlCol="0">
            <a:spAutoFit/>
          </a:bodyPr>
          <a:lstStyle/>
          <a:p>
            <a:r>
              <a:rPr lang="en-US" altLang="zh-CN" sz="2400" b="1" dirty="0">
                <a:solidFill>
                  <a:srgbClr val="FF0000"/>
                </a:solidFill>
              </a:rPr>
              <a:t>DDoS</a:t>
            </a:r>
            <a:endParaRPr lang="en-US" sz="2400" b="1" dirty="0">
              <a:solidFill>
                <a:srgbClr val="FF0000"/>
              </a:solidFill>
            </a:endParaRPr>
          </a:p>
        </p:txBody>
      </p:sp>
    </p:spTree>
    <p:extLst>
      <p:ext uri="{BB962C8B-B14F-4D97-AF65-F5344CB8AC3E}">
        <p14:creationId xmlns:p14="http://schemas.microsoft.com/office/powerpoint/2010/main" val="42733037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Encryption</a:t>
            </a:r>
            <a:r>
              <a:rPr lang="en-US" altLang="en-US" sz="3600" b="0" baseline="0" dirty="0">
                <a:latin typeface="Arial" panose="020B0604020202020204" pitchFamily="34" charset="0"/>
                <a:ea typeface="ＭＳ Ｐゴシック" pitchFamily="34" charset="-128"/>
                <a:cs typeface="Arial" panose="020B0604020202020204" pitchFamily="34" charset="0"/>
              </a:rPr>
              <a:t> </a:t>
            </a:r>
            <a:r>
              <a:rPr lang="en-US" altLang="en-US" sz="3600" b="0" dirty="0">
                <a:latin typeface="Arial" panose="020B0604020202020204" pitchFamily="34" charset="0"/>
                <a:ea typeface="ＭＳ Ｐゴシック" pitchFamily="34" charset="-128"/>
                <a:cs typeface="Arial" panose="020B0604020202020204" pitchFamily="34" charset="0"/>
              </a:rPr>
              <a:t>Overview</a:t>
            </a:r>
            <a:endParaRPr lang="en-US" sz="3600" b="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fontScale="85000" lnSpcReduction="10000"/>
          </a:bodyPr>
          <a:lstStyle/>
          <a:p>
            <a:r>
              <a:rPr lang="en-US" altLang="en-US" b="1" dirty="0">
                <a:latin typeface="Arial" panose="020B0604020202020204" pitchFamily="34" charset="0"/>
                <a:ea typeface="ＭＳ Ｐゴシック" pitchFamily="34" charset="-128"/>
                <a:cs typeface="Arial" panose="020B0604020202020204" pitchFamily="34" charset="0"/>
              </a:rPr>
              <a:t>Cryptography</a:t>
            </a:r>
            <a:r>
              <a:rPr lang="en-US" altLang="en-US" dirty="0">
                <a:latin typeface="Arial" panose="020B0604020202020204" pitchFamily="34" charset="0"/>
                <a:ea typeface="ＭＳ Ｐゴシック" pitchFamily="34" charset="-128"/>
                <a:cs typeface="Arial" panose="020B0604020202020204" pitchFamily="34" charset="0"/>
              </a:rPr>
              <a:t>: science of “secret writing”</a:t>
            </a:r>
          </a:p>
          <a:p>
            <a:r>
              <a:rPr lang="en-US" altLang="en-US" b="1" dirty="0">
                <a:latin typeface="Arial" panose="020B0604020202020204" pitchFamily="34" charset="0"/>
                <a:ea typeface="ＭＳ Ｐゴシック" pitchFamily="34" charset="-128"/>
                <a:cs typeface="Arial" panose="020B0604020202020204" pitchFamily="34" charset="0"/>
              </a:rPr>
              <a:t>Encryption</a:t>
            </a:r>
            <a:r>
              <a:rPr lang="en-US" altLang="en-US" dirty="0">
                <a:latin typeface="Arial" panose="020B0604020202020204" pitchFamily="34" charset="0"/>
                <a:ea typeface="ＭＳ Ｐゴシック" pitchFamily="34" charset="-128"/>
                <a:cs typeface="Arial" panose="020B0604020202020204" pitchFamily="34" charset="0"/>
              </a:rPr>
              <a:t> and </a:t>
            </a:r>
            <a:r>
              <a:rPr lang="en-US" altLang="en-US" b="1" dirty="0">
                <a:latin typeface="Arial" panose="020B0604020202020204" pitchFamily="34" charset="0"/>
                <a:ea typeface="ＭＳ Ｐゴシック" pitchFamily="34" charset="-128"/>
                <a:cs typeface="Arial" panose="020B0604020202020204" pitchFamily="34" charset="0"/>
              </a:rPr>
              <a:t>decryption</a:t>
            </a:r>
            <a:r>
              <a:rPr lang="en-US" altLang="en-US" dirty="0">
                <a:latin typeface="Arial" panose="020B0604020202020204" pitchFamily="34" charset="0"/>
                <a:ea typeface="ＭＳ Ｐゴシック" pitchFamily="34" charset="-128"/>
                <a:cs typeface="Arial" panose="020B0604020202020204" pitchFamily="34" charset="0"/>
              </a:rPr>
              <a:t> (inverse operations)</a:t>
            </a:r>
          </a:p>
          <a:p>
            <a:pPr lvl="1"/>
            <a:r>
              <a:rPr lang="en-US" altLang="en-US" dirty="0">
                <a:latin typeface="Arial" panose="020B0604020202020204" pitchFamily="34" charset="0"/>
                <a:ea typeface="ＭＳ Ｐゴシック" pitchFamily="34" charset="-128"/>
                <a:cs typeface="Arial" panose="020B0604020202020204" pitchFamily="34" charset="0"/>
              </a:rPr>
              <a:t>Convert from plaintext to ciphertext and back again</a:t>
            </a:r>
          </a:p>
          <a:p>
            <a:r>
              <a:rPr lang="en-US" altLang="en-US" b="1" dirty="0">
                <a:latin typeface="Arial" panose="020B0604020202020204" pitchFamily="34" charset="0"/>
                <a:ea typeface="ＭＳ Ｐゴシック" pitchFamily="34" charset="-128"/>
                <a:cs typeface="Arial" panose="020B0604020202020204" pitchFamily="34" charset="0"/>
              </a:rPr>
              <a:t>Symmetric encryption algorithm</a:t>
            </a:r>
          </a:p>
          <a:p>
            <a:pPr lvl="1"/>
            <a:r>
              <a:rPr lang="en-US" altLang="en-US" dirty="0">
                <a:latin typeface="Arial" panose="020B0604020202020204" pitchFamily="34" charset="0"/>
                <a:ea typeface="ＭＳ Ｐゴシック" pitchFamily="34" charset="-128"/>
                <a:cs typeface="Arial" panose="020B0604020202020204" pitchFamily="34" charset="0"/>
              </a:rPr>
              <a:t>A secret key shared by the sender and the receiver</a:t>
            </a:r>
          </a:p>
          <a:p>
            <a:pPr lvl="1"/>
            <a:r>
              <a:rPr lang="en-US" altLang="en-US" dirty="0">
                <a:latin typeface="Arial" panose="020B0604020202020204" pitchFamily="34" charset="0"/>
                <a:ea typeface="ＭＳ Ｐゴシック" pitchFamily="34" charset="-128"/>
                <a:cs typeface="Arial" panose="020B0604020202020204" pitchFamily="34" charset="0"/>
              </a:rPr>
              <a:t>Same key is used to encrypt and decrypt</a:t>
            </a:r>
          </a:p>
          <a:p>
            <a:r>
              <a:rPr lang="en-US" altLang="en-US" b="1" dirty="0">
                <a:latin typeface="Arial" panose="020B0604020202020204" pitchFamily="34" charset="0"/>
                <a:ea typeface="ＭＳ Ｐゴシック" pitchFamily="34" charset="-128"/>
                <a:cs typeface="Arial" panose="020B0604020202020204" pitchFamily="34" charset="0"/>
              </a:rPr>
              <a:t>Asymmetric encryption algorithm (public key)</a:t>
            </a:r>
          </a:p>
          <a:p>
            <a:pPr lvl="1"/>
            <a:r>
              <a:rPr lang="en-US" altLang="en-US" dirty="0">
                <a:latin typeface="Arial" panose="020B0604020202020204" pitchFamily="34" charset="0"/>
                <a:ea typeface="ＭＳ Ｐゴシック" pitchFamily="34" charset="-128"/>
                <a:cs typeface="Arial" panose="020B0604020202020204" pitchFamily="34" charset="0"/>
              </a:rPr>
              <a:t>Uses two keys: public and private</a:t>
            </a:r>
          </a:p>
          <a:p>
            <a:pPr lvl="1"/>
            <a:r>
              <a:rPr lang="en-US" altLang="en-US" dirty="0">
                <a:latin typeface="Arial" panose="020B0604020202020204" pitchFamily="34" charset="0"/>
                <a:ea typeface="ＭＳ Ｐゴシック" pitchFamily="34" charset="-128"/>
                <a:cs typeface="Arial" panose="020B0604020202020204" pitchFamily="34" charset="0"/>
              </a:rPr>
              <a:t>Use public key (generally known) to encrypt</a:t>
            </a:r>
          </a:p>
          <a:p>
            <a:pPr lvl="1"/>
            <a:r>
              <a:rPr lang="en-US" altLang="en-US" dirty="0">
                <a:latin typeface="Arial" panose="020B0604020202020204" pitchFamily="34" charset="0"/>
                <a:ea typeface="ＭＳ Ｐゴシック" pitchFamily="34" charset="-128"/>
                <a:cs typeface="Arial" panose="020B0604020202020204" pitchFamily="34" charset="0"/>
              </a:rPr>
              <a:t>Use private key (known only to receiver) to decrypt</a:t>
            </a:r>
          </a:p>
        </p:txBody>
      </p:sp>
      <p:sp>
        <p:nvSpPr>
          <p:cNvPr id="4" name="TextBox 3">
            <a:extLst>
              <a:ext uri="{FF2B5EF4-FFF2-40B4-BE49-F238E27FC236}">
                <a16:creationId xmlns:a16="http://schemas.microsoft.com/office/drawing/2014/main" id="{9E652869-E7BE-4701-928E-08362B413182}"/>
              </a:ext>
            </a:extLst>
          </p:cNvPr>
          <p:cNvSpPr txBox="1"/>
          <p:nvPr/>
        </p:nvSpPr>
        <p:spPr>
          <a:xfrm>
            <a:off x="8217074" y="2120123"/>
            <a:ext cx="4421688" cy="646331"/>
          </a:xfrm>
          <a:prstGeom prst="rect">
            <a:avLst/>
          </a:prstGeom>
          <a:noFill/>
        </p:spPr>
        <p:txBody>
          <a:bodyPr wrap="square" rtlCol="0">
            <a:spAutoFit/>
          </a:bodyPr>
          <a:lstStyle/>
          <a:p>
            <a:r>
              <a:rPr lang="zh-CN" altLang="en-US" dirty="0">
                <a:solidFill>
                  <a:srgbClr val="FF0000"/>
                </a:solidFill>
              </a:rPr>
              <a:t>我们要</a:t>
            </a:r>
            <a:r>
              <a:rPr lang="en-US" altLang="zh-CN" dirty="0">
                <a:solidFill>
                  <a:srgbClr val="FF0000"/>
                </a:solidFill>
              </a:rPr>
              <a:t>encrypt</a:t>
            </a:r>
            <a:r>
              <a:rPr lang="zh-CN" altLang="en-US" dirty="0">
                <a:solidFill>
                  <a:srgbClr val="FF0000"/>
                </a:solidFill>
              </a:rPr>
              <a:t>加密的东西是</a:t>
            </a:r>
            <a:r>
              <a:rPr lang="en-US" altLang="zh-CN" dirty="0">
                <a:solidFill>
                  <a:srgbClr val="FF0000"/>
                </a:solidFill>
              </a:rPr>
              <a:t>plaintext</a:t>
            </a:r>
          </a:p>
          <a:p>
            <a:r>
              <a:rPr lang="zh-CN" altLang="en-US" dirty="0">
                <a:solidFill>
                  <a:srgbClr val="FF0000"/>
                </a:solidFill>
              </a:rPr>
              <a:t>加密之后就变成</a:t>
            </a:r>
            <a:r>
              <a:rPr lang="en-US" altLang="zh-CN" dirty="0">
                <a:solidFill>
                  <a:srgbClr val="FF0000"/>
                </a:solidFill>
              </a:rPr>
              <a:t>ciphertext</a:t>
            </a:r>
            <a:endParaRPr lang="en-US" dirty="0">
              <a:solidFill>
                <a:srgbClr val="FF0000"/>
              </a:solidFill>
            </a:endParaRPr>
          </a:p>
        </p:txBody>
      </p:sp>
    </p:spTree>
    <p:extLst>
      <p:ext uri="{BB962C8B-B14F-4D97-AF65-F5344CB8AC3E}">
        <p14:creationId xmlns:p14="http://schemas.microsoft.com/office/powerpoint/2010/main" val="10414876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37" y="1"/>
            <a:ext cx="8312727"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Encryption</a:t>
            </a:r>
            <a:r>
              <a:rPr lang="en-US" altLang="en-US" sz="3600" b="0" baseline="0" dirty="0">
                <a:latin typeface="Arial" panose="020B0604020202020204" pitchFamily="34" charset="0"/>
                <a:ea typeface="ＭＳ Ｐゴシック" pitchFamily="34" charset="-128"/>
                <a:cs typeface="Arial" panose="020B0604020202020204" pitchFamily="34" charset="0"/>
              </a:rPr>
              <a:t> </a:t>
            </a:r>
            <a:r>
              <a:rPr lang="en-US" altLang="en-US" sz="3600" b="0" dirty="0">
                <a:latin typeface="Arial" panose="020B0604020202020204" pitchFamily="34" charset="0"/>
                <a:ea typeface="ＭＳ Ｐゴシック" pitchFamily="34" charset="-128"/>
                <a:cs typeface="Arial" panose="020B0604020202020204" pitchFamily="34" charset="0"/>
              </a:rPr>
              <a:t>Simple Encryption Algorithms (1 of 5)</a:t>
            </a:r>
            <a:endParaRPr lang="en-US" sz="3600" b="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fontScale="92500"/>
          </a:bodyPr>
          <a:lstStyle/>
          <a:p>
            <a:r>
              <a:rPr lang="en-US" altLang="en-US" sz="2800" b="1" dirty="0">
                <a:latin typeface="Arial" panose="020B0604020202020204" pitchFamily="34" charset="0"/>
                <a:ea typeface="ＭＳ Ｐゴシック" pitchFamily="34" charset="-128"/>
                <a:cs typeface="Arial" panose="020B0604020202020204" pitchFamily="34" charset="0"/>
              </a:rPr>
              <a:t>Caesar cipher</a:t>
            </a:r>
            <a:r>
              <a:rPr lang="en-US" altLang="en-US" sz="2800" dirty="0">
                <a:latin typeface="Arial" panose="020B0604020202020204" pitchFamily="34" charset="0"/>
                <a:ea typeface="ＭＳ Ｐゴシック" pitchFamily="34" charset="-128"/>
                <a:cs typeface="Arial" panose="020B0604020202020204" pitchFamily="34" charset="0"/>
              </a:rPr>
              <a:t> (shift cipher)</a:t>
            </a:r>
          </a:p>
          <a:p>
            <a:pPr lvl="1"/>
            <a:r>
              <a:rPr lang="en-US" altLang="en-US" sz="2600" dirty="0">
                <a:latin typeface="Arial" panose="020B0604020202020204" pitchFamily="34" charset="0"/>
                <a:ea typeface="ＭＳ Ｐゴシック" pitchFamily="34" charset="-128"/>
                <a:cs typeface="Arial" panose="020B0604020202020204" pitchFamily="34" charset="0"/>
              </a:rPr>
              <a:t>Map characters to others a fixed distance away in the alphabet</a:t>
            </a:r>
          </a:p>
          <a:p>
            <a:pPr lvl="1"/>
            <a:r>
              <a:rPr lang="en-US" altLang="en-US" sz="2600" dirty="0">
                <a:latin typeface="Arial" panose="020B0604020202020204" pitchFamily="34" charset="0"/>
                <a:ea typeface="ＭＳ Ｐゴシック" pitchFamily="34" charset="-128"/>
                <a:cs typeface="Arial" panose="020B0604020202020204" pitchFamily="34" charset="0"/>
              </a:rPr>
              <a:t>Example: A</a:t>
            </a:r>
            <a:r>
              <a:rPr lang="en-US" altLang="en-US" sz="2600" dirty="0">
                <a:latin typeface="Arial" panose="020B0604020202020204" pitchFamily="34" charset="0"/>
                <a:ea typeface="ＭＳ Ｐゴシック" pitchFamily="34" charset="-128"/>
                <a:cs typeface="Arial" panose="020B0604020202020204" pitchFamily="34" charset="0"/>
                <a:sym typeface="Wingdings" pitchFamily="2" charset="2"/>
              </a:rPr>
              <a:t></a:t>
            </a:r>
            <a:r>
              <a:rPr lang="en-US" altLang="en-US" sz="2600" dirty="0">
                <a:latin typeface="Arial" panose="020B0604020202020204" pitchFamily="34" charset="0"/>
                <a:ea typeface="ＭＳ Ｐゴシック" pitchFamily="34" charset="-128"/>
                <a:cs typeface="Arial" panose="020B0604020202020204" pitchFamily="34" charset="0"/>
              </a:rPr>
              <a:t>E, B</a:t>
            </a:r>
            <a:r>
              <a:rPr lang="en-US" altLang="en-US" sz="2600" dirty="0">
                <a:latin typeface="Arial" panose="020B0604020202020204" pitchFamily="34" charset="0"/>
                <a:ea typeface="ＭＳ Ｐゴシック" pitchFamily="34" charset="-128"/>
                <a:cs typeface="Arial" panose="020B0604020202020204" pitchFamily="34" charset="0"/>
                <a:sym typeface="Wingdings" pitchFamily="2" charset="2"/>
              </a:rPr>
              <a:t></a:t>
            </a:r>
            <a:r>
              <a:rPr lang="en-US" altLang="en-US" sz="2600" dirty="0">
                <a:latin typeface="Arial" panose="020B0604020202020204" pitchFamily="34" charset="0"/>
                <a:ea typeface="ＭＳ Ｐゴシック" pitchFamily="34" charset="-128"/>
                <a:cs typeface="Arial" panose="020B0604020202020204" pitchFamily="34" charset="0"/>
              </a:rPr>
              <a:t>F, C</a:t>
            </a:r>
            <a:r>
              <a:rPr lang="en-US" altLang="en-US" sz="2600" dirty="0">
                <a:latin typeface="Arial" panose="020B0604020202020204" pitchFamily="34" charset="0"/>
                <a:ea typeface="ＭＳ Ｐゴシック" pitchFamily="34" charset="-128"/>
                <a:cs typeface="Arial" panose="020B0604020202020204" pitchFamily="34" charset="0"/>
                <a:sym typeface="Wingdings" pitchFamily="2" charset="2"/>
              </a:rPr>
              <a:t></a:t>
            </a:r>
            <a:r>
              <a:rPr lang="en-US" altLang="en-US" sz="2600" dirty="0">
                <a:latin typeface="Arial" panose="020B0604020202020204" pitchFamily="34" charset="0"/>
                <a:ea typeface="ＭＳ Ｐゴシック" pitchFamily="34" charset="-128"/>
                <a:cs typeface="Arial" panose="020B0604020202020204" pitchFamily="34" charset="0"/>
              </a:rPr>
              <a:t>G…U</a:t>
            </a:r>
            <a:r>
              <a:rPr lang="en-US" altLang="en-US" sz="2600" dirty="0">
                <a:latin typeface="Arial" panose="020B0604020202020204" pitchFamily="34" charset="0"/>
                <a:ea typeface="ＭＳ Ｐゴシック" pitchFamily="34" charset="-128"/>
                <a:cs typeface="Arial" panose="020B0604020202020204" pitchFamily="34" charset="0"/>
                <a:sym typeface="Wingdings" pitchFamily="2" charset="2"/>
              </a:rPr>
              <a:t></a:t>
            </a:r>
            <a:r>
              <a:rPr lang="en-US" altLang="en-US" sz="2600" dirty="0">
                <a:latin typeface="Arial" panose="020B0604020202020204" pitchFamily="34" charset="0"/>
                <a:ea typeface="ＭＳ Ｐゴシック" pitchFamily="34" charset="-128"/>
                <a:cs typeface="Arial" panose="020B0604020202020204" pitchFamily="34" charset="0"/>
              </a:rPr>
              <a:t>Y, V</a:t>
            </a:r>
            <a:r>
              <a:rPr lang="en-US" altLang="en-US" sz="2600" dirty="0">
                <a:latin typeface="Arial" panose="020B0604020202020204" pitchFamily="34" charset="0"/>
                <a:ea typeface="ＭＳ Ｐゴシック" pitchFamily="34" charset="-128"/>
                <a:cs typeface="Arial" panose="020B0604020202020204" pitchFamily="34" charset="0"/>
                <a:sym typeface="Wingdings" pitchFamily="2" charset="2"/>
              </a:rPr>
              <a:t></a:t>
            </a:r>
            <a:r>
              <a:rPr lang="en-US" altLang="en-US" sz="2600" dirty="0">
                <a:latin typeface="Arial" panose="020B0604020202020204" pitchFamily="34" charset="0"/>
                <a:ea typeface="ＭＳ Ｐゴシック" pitchFamily="34" charset="-128"/>
                <a:cs typeface="Arial" panose="020B0604020202020204" pitchFamily="34" charset="0"/>
              </a:rPr>
              <a:t>Z, W</a:t>
            </a:r>
            <a:r>
              <a:rPr lang="en-US" altLang="en-US" sz="2600" dirty="0">
                <a:latin typeface="Arial" panose="020B0604020202020204" pitchFamily="34" charset="0"/>
                <a:ea typeface="ＭＳ Ｐゴシック" pitchFamily="34" charset="-128"/>
                <a:cs typeface="Arial" panose="020B0604020202020204" pitchFamily="34" charset="0"/>
                <a:sym typeface="Wingdings" pitchFamily="2" charset="2"/>
              </a:rPr>
              <a:t></a:t>
            </a:r>
            <a:r>
              <a:rPr lang="en-US" altLang="en-US" sz="2600" dirty="0">
                <a:latin typeface="Arial" panose="020B0604020202020204" pitchFamily="34" charset="0"/>
                <a:ea typeface="ＭＳ Ｐゴシック" pitchFamily="34" charset="-128"/>
                <a:cs typeface="Arial" panose="020B0604020202020204" pitchFamily="34" charset="0"/>
              </a:rPr>
              <a:t>A</a:t>
            </a:r>
          </a:p>
          <a:p>
            <a:pPr lvl="1"/>
            <a:r>
              <a:rPr lang="en-US" altLang="en-US" sz="2600" b="1" dirty="0">
                <a:solidFill>
                  <a:srgbClr val="FF0000"/>
                </a:solidFill>
                <a:latin typeface="Arial" panose="020B0604020202020204" pitchFamily="34" charset="0"/>
                <a:ea typeface="ＭＳ Ｐゴシック" pitchFamily="34" charset="-128"/>
                <a:cs typeface="Arial" panose="020B0604020202020204" pitchFamily="34" charset="0"/>
              </a:rPr>
              <a:t>Stream cipher</a:t>
            </a:r>
            <a:r>
              <a:rPr lang="en-US" altLang="en-US" sz="2600" dirty="0">
                <a:latin typeface="Arial" panose="020B0604020202020204" pitchFamily="34" charset="0"/>
                <a:ea typeface="ＭＳ Ｐゴシック" pitchFamily="34" charset="-128"/>
                <a:cs typeface="Arial" panose="020B0604020202020204" pitchFamily="34" charset="0"/>
              </a:rPr>
              <a:t>: </a:t>
            </a:r>
            <a:r>
              <a:rPr lang="en-US" altLang="en-US" sz="2600" dirty="0">
                <a:solidFill>
                  <a:srgbClr val="FF0000"/>
                </a:solidFill>
                <a:latin typeface="Arial" panose="020B0604020202020204" pitchFamily="34" charset="0"/>
                <a:ea typeface="ＭＳ Ｐゴシック" pitchFamily="34" charset="-128"/>
                <a:cs typeface="Arial" panose="020B0604020202020204" pitchFamily="34" charset="0"/>
              </a:rPr>
              <a:t>encode each character as it comes</a:t>
            </a:r>
          </a:p>
          <a:p>
            <a:r>
              <a:rPr lang="en-US" altLang="en-US" sz="2800" dirty="0">
                <a:solidFill>
                  <a:srgbClr val="FF0000"/>
                </a:solidFill>
                <a:latin typeface="Arial" panose="020B0604020202020204" pitchFamily="34" charset="0"/>
                <a:ea typeface="ＭＳ Ｐゴシック" pitchFamily="34" charset="-128"/>
                <a:cs typeface="Arial" panose="020B0604020202020204" pitchFamily="34" charset="0"/>
              </a:rPr>
              <a:t>Substitution cipher</a:t>
            </a:r>
            <a:r>
              <a:rPr lang="en-US" altLang="en-US" sz="2800" dirty="0">
                <a:latin typeface="Arial" panose="020B0604020202020204" pitchFamily="34" charset="0"/>
                <a:ea typeface="ＭＳ Ｐゴシック" pitchFamily="34" charset="-128"/>
                <a:cs typeface="Arial" panose="020B0604020202020204" pitchFamily="34" charset="0"/>
              </a:rPr>
              <a:t>: similar, but implement other mappings</a:t>
            </a:r>
          </a:p>
          <a:p>
            <a:r>
              <a:rPr lang="en-US" altLang="en-US" sz="2800" dirty="0">
                <a:latin typeface="Arial" panose="020B0604020202020204" pitchFamily="34" charset="0"/>
                <a:ea typeface="ＭＳ Ｐゴシック" pitchFamily="34" charset="-128"/>
                <a:cs typeface="Arial" panose="020B0604020202020204" pitchFamily="34" charset="0"/>
              </a:rPr>
              <a:t>Pros: easy and fast, can do character by character</a:t>
            </a:r>
          </a:p>
          <a:p>
            <a:r>
              <a:rPr lang="en-US" altLang="en-US" sz="2800" dirty="0">
                <a:latin typeface="Arial" panose="020B0604020202020204" pitchFamily="34" charset="0"/>
                <a:ea typeface="ＭＳ Ｐゴシック" pitchFamily="34" charset="-128"/>
                <a:cs typeface="Arial" panose="020B0604020202020204" pitchFamily="34" charset="0"/>
              </a:rPr>
              <a:t>Cons: letter frequency, double letters, still pertain, make it easy to break</a:t>
            </a:r>
          </a:p>
        </p:txBody>
      </p:sp>
      <p:sp>
        <p:nvSpPr>
          <p:cNvPr id="4" name="TextBox 3">
            <a:extLst>
              <a:ext uri="{FF2B5EF4-FFF2-40B4-BE49-F238E27FC236}">
                <a16:creationId xmlns:a16="http://schemas.microsoft.com/office/drawing/2014/main" id="{45F4AAAC-5DF8-4D59-86B4-15E0AB29B481}"/>
              </a:ext>
            </a:extLst>
          </p:cNvPr>
          <p:cNvSpPr txBox="1"/>
          <p:nvPr/>
        </p:nvSpPr>
        <p:spPr>
          <a:xfrm>
            <a:off x="3844638" y="3833152"/>
            <a:ext cx="2189018" cy="369332"/>
          </a:xfrm>
          <a:prstGeom prst="rect">
            <a:avLst/>
          </a:prstGeom>
          <a:noFill/>
        </p:spPr>
        <p:txBody>
          <a:bodyPr wrap="square" rtlCol="0">
            <a:spAutoFit/>
          </a:bodyPr>
          <a:lstStyle/>
          <a:p>
            <a:r>
              <a:rPr lang="zh-CN" altLang="en-US" dirty="0">
                <a:solidFill>
                  <a:srgbClr val="FF0000"/>
                </a:solidFill>
              </a:rPr>
              <a:t>不需要按顺序</a:t>
            </a:r>
            <a:endParaRPr lang="en-US" dirty="0">
              <a:solidFill>
                <a:srgbClr val="FF0000"/>
              </a:solidFill>
            </a:endParaRPr>
          </a:p>
        </p:txBody>
      </p:sp>
      <p:sp>
        <p:nvSpPr>
          <p:cNvPr id="5" name="TextBox 4">
            <a:extLst>
              <a:ext uri="{FF2B5EF4-FFF2-40B4-BE49-F238E27FC236}">
                <a16:creationId xmlns:a16="http://schemas.microsoft.com/office/drawing/2014/main" id="{D873FFB7-7BDD-4D3E-88D1-CE7E7DFDC101}"/>
              </a:ext>
            </a:extLst>
          </p:cNvPr>
          <p:cNvSpPr txBox="1"/>
          <p:nvPr/>
        </p:nvSpPr>
        <p:spPr>
          <a:xfrm>
            <a:off x="5271656" y="1231266"/>
            <a:ext cx="4516581" cy="461665"/>
          </a:xfrm>
          <a:prstGeom prst="rect">
            <a:avLst/>
          </a:prstGeom>
          <a:noFill/>
        </p:spPr>
        <p:txBody>
          <a:bodyPr wrap="square" rtlCol="0">
            <a:spAutoFit/>
          </a:bodyPr>
          <a:lstStyle/>
          <a:p>
            <a:r>
              <a:rPr lang="en-US" sz="2400" dirty="0">
                <a:solidFill>
                  <a:srgbClr val="FF0000"/>
                </a:solidFill>
              </a:rPr>
              <a:t>One character at the time </a:t>
            </a:r>
          </a:p>
        </p:txBody>
      </p:sp>
    </p:spTree>
    <p:extLst>
      <p:ext uri="{BB962C8B-B14F-4D97-AF65-F5344CB8AC3E}">
        <p14:creationId xmlns:p14="http://schemas.microsoft.com/office/powerpoint/2010/main" val="31290408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37" y="1"/>
            <a:ext cx="8312727"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Encryption</a:t>
            </a:r>
            <a:r>
              <a:rPr lang="en-US" altLang="en-US" sz="3600" b="0" baseline="0" dirty="0">
                <a:latin typeface="Arial" panose="020B0604020202020204" pitchFamily="34" charset="0"/>
                <a:ea typeface="ＭＳ Ｐゴシック" pitchFamily="34" charset="-128"/>
                <a:cs typeface="Arial" panose="020B0604020202020204" pitchFamily="34" charset="0"/>
              </a:rPr>
              <a:t> </a:t>
            </a:r>
            <a:r>
              <a:rPr lang="en-US" altLang="en-US" sz="3600" b="0" dirty="0">
                <a:latin typeface="Arial" panose="020B0604020202020204" pitchFamily="34" charset="0"/>
                <a:ea typeface="ＭＳ Ｐゴシック" pitchFamily="34" charset="-128"/>
                <a:cs typeface="Arial" panose="020B0604020202020204" pitchFamily="34" charset="0"/>
              </a:rPr>
              <a:t>Simple Encryption Algorithms (2 of 5)</a:t>
            </a:r>
            <a:endParaRPr lang="en-US" sz="3600" b="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fontScale="92500"/>
          </a:bodyPr>
          <a:lstStyle/>
          <a:p>
            <a:pPr>
              <a:buFontTx/>
              <a:buNone/>
            </a:pPr>
            <a:r>
              <a:rPr lang="en-US" altLang="en-US" sz="2800" b="1" dirty="0">
                <a:latin typeface="Arial" panose="020B0604020202020204" pitchFamily="34" charset="0"/>
                <a:ea typeface="ＭＳ Ｐゴシック" pitchFamily="34" charset="-128"/>
                <a:cs typeface="Arial" panose="020B0604020202020204" pitchFamily="34" charset="0"/>
              </a:rPr>
              <a:t>Block cipher</a:t>
            </a:r>
            <a:endParaRPr lang="en-US" altLang="en-US" sz="2800" dirty="0">
              <a:latin typeface="Arial" panose="020B0604020202020204" pitchFamily="34" charset="0"/>
              <a:ea typeface="ＭＳ Ｐゴシック" pitchFamily="34" charset="-128"/>
              <a:cs typeface="Arial" panose="020B0604020202020204" pitchFamily="34" charset="0"/>
            </a:endParaRPr>
          </a:p>
          <a:p>
            <a:r>
              <a:rPr lang="en-US" altLang="en-US" sz="2800" dirty="0">
                <a:latin typeface="Arial" panose="020B0604020202020204" pitchFamily="34" charset="0"/>
                <a:ea typeface="ＭＳ Ｐゴシック" pitchFamily="34" charset="-128"/>
                <a:cs typeface="Arial" panose="020B0604020202020204" pitchFamily="34" charset="0"/>
              </a:rPr>
              <a:t>Block of plaintext encoded into a block of ciphertext</a:t>
            </a:r>
          </a:p>
          <a:p>
            <a:r>
              <a:rPr lang="en-US" altLang="en-US" sz="2800" dirty="0">
                <a:latin typeface="Arial" panose="020B0604020202020204" pitchFamily="34" charset="0"/>
                <a:ea typeface="ＭＳ Ｐゴシック" pitchFamily="34" charset="-128"/>
                <a:cs typeface="Arial" panose="020B0604020202020204" pitchFamily="34" charset="0"/>
              </a:rPr>
              <a:t>Each character contributes to multiple characters</a:t>
            </a:r>
          </a:p>
          <a:p>
            <a:r>
              <a:rPr lang="en-US" altLang="en-US" sz="2800" dirty="0">
                <a:latin typeface="Arial" panose="020B0604020202020204" pitchFamily="34" charset="0"/>
                <a:ea typeface="ＭＳ Ｐゴシック" pitchFamily="34" charset="-128"/>
                <a:cs typeface="Arial" panose="020B0604020202020204" pitchFamily="34" charset="0"/>
              </a:rPr>
              <a:t>Matrix-based block cipher </a:t>
            </a:r>
          </a:p>
          <a:p>
            <a:pPr lvl="1"/>
            <a:r>
              <a:rPr lang="en-US" altLang="en-US" sz="2600" dirty="0">
                <a:latin typeface="Arial" panose="020B0604020202020204" pitchFamily="34" charset="0"/>
                <a:ea typeface="ＭＳ Ｐゴシック" pitchFamily="34" charset="-128"/>
                <a:cs typeface="Arial" panose="020B0604020202020204" pitchFamily="34" charset="0"/>
              </a:rPr>
              <a:t>Group characters into blocks n characters long</a:t>
            </a:r>
          </a:p>
          <a:p>
            <a:pPr lvl="1"/>
            <a:r>
              <a:rPr lang="en-US" altLang="en-US" sz="2600" dirty="0">
                <a:latin typeface="Arial" panose="020B0604020202020204" pitchFamily="34" charset="0"/>
                <a:ea typeface="ＭＳ Ｐゴシック" pitchFamily="34" charset="-128"/>
                <a:cs typeface="Arial" panose="020B0604020202020204" pitchFamily="34" charset="0"/>
              </a:rPr>
              <a:t>Find invertible n by n matrix, M, and its inverse, M′ as keys</a:t>
            </a:r>
          </a:p>
          <a:p>
            <a:pPr lvl="1"/>
            <a:r>
              <a:rPr lang="en-US" altLang="en-US" sz="2600" dirty="0">
                <a:latin typeface="Arial" panose="020B0604020202020204" pitchFamily="34" charset="0"/>
                <a:ea typeface="ＭＳ Ｐゴシック" pitchFamily="34" charset="-128"/>
                <a:cs typeface="Arial" panose="020B0604020202020204" pitchFamily="34" charset="0"/>
              </a:rPr>
              <a:t>Map characters to letters A</a:t>
            </a:r>
            <a:r>
              <a:rPr lang="en-US" altLang="en-US" sz="2600" dirty="0">
                <a:latin typeface="Arial" panose="020B0604020202020204" pitchFamily="34" charset="0"/>
                <a:ea typeface="ＭＳ Ｐゴシック" pitchFamily="34" charset="-128"/>
                <a:cs typeface="Arial" panose="020B0604020202020204" pitchFamily="34" charset="0"/>
                <a:sym typeface="Wingdings" pitchFamily="2" charset="2"/>
              </a:rPr>
              <a:t></a:t>
            </a:r>
            <a:r>
              <a:rPr lang="en-US" altLang="en-US" sz="2600" dirty="0">
                <a:latin typeface="Arial" panose="020B0604020202020204" pitchFamily="34" charset="0"/>
                <a:ea typeface="ＭＳ Ｐゴシック" pitchFamily="34" charset="-128"/>
                <a:cs typeface="Arial" panose="020B0604020202020204" pitchFamily="34" charset="0"/>
              </a:rPr>
              <a:t>1, B</a:t>
            </a:r>
            <a:r>
              <a:rPr lang="en-US" altLang="en-US" sz="2600" dirty="0">
                <a:latin typeface="Arial" panose="020B0604020202020204" pitchFamily="34" charset="0"/>
                <a:ea typeface="ＭＳ Ｐゴシック" pitchFamily="34" charset="-128"/>
                <a:cs typeface="Arial" panose="020B0604020202020204" pitchFamily="34" charset="0"/>
                <a:sym typeface="Wingdings" pitchFamily="2" charset="2"/>
              </a:rPr>
              <a:t></a:t>
            </a:r>
            <a:r>
              <a:rPr lang="en-US" altLang="en-US" sz="2600" dirty="0">
                <a:latin typeface="Arial" panose="020B0604020202020204" pitchFamily="34" charset="0"/>
                <a:ea typeface="ＭＳ Ｐゴシック" pitchFamily="34" charset="-128"/>
                <a:cs typeface="Arial" panose="020B0604020202020204" pitchFamily="34" charset="0"/>
              </a:rPr>
              <a:t>2, etc.</a:t>
            </a:r>
          </a:p>
          <a:p>
            <a:pPr lvl="1"/>
            <a:r>
              <a:rPr lang="en-US" altLang="en-US" sz="2600" dirty="0">
                <a:latin typeface="Arial" panose="020B0604020202020204" pitchFamily="34" charset="0"/>
                <a:ea typeface="ＭＳ Ｐゴシック" pitchFamily="34" charset="-128"/>
                <a:cs typeface="Arial" panose="020B0604020202020204" pitchFamily="34" charset="0"/>
              </a:rPr>
              <a:t>Wrap values 26 and above back to zero: 26</a:t>
            </a:r>
            <a:r>
              <a:rPr lang="en-US" altLang="en-US" sz="2600" dirty="0">
                <a:latin typeface="Arial" panose="020B0604020202020204" pitchFamily="34" charset="0"/>
                <a:ea typeface="ＭＳ Ｐゴシック" pitchFamily="34" charset="-128"/>
                <a:cs typeface="Arial" panose="020B0604020202020204" pitchFamily="34" charset="0"/>
                <a:sym typeface="Wingdings" pitchFamily="2" charset="2"/>
              </a:rPr>
              <a:t></a:t>
            </a:r>
            <a:r>
              <a:rPr lang="en-US" altLang="en-US" sz="2600" dirty="0">
                <a:latin typeface="Arial" panose="020B0604020202020204" pitchFamily="34" charset="0"/>
                <a:ea typeface="ＭＳ Ｐゴシック" pitchFamily="34" charset="-128"/>
                <a:cs typeface="Arial" panose="020B0604020202020204" pitchFamily="34" charset="0"/>
              </a:rPr>
              <a:t>0, 27</a:t>
            </a:r>
            <a:r>
              <a:rPr lang="en-US" altLang="en-US" sz="2600" dirty="0">
                <a:latin typeface="Arial" panose="020B0604020202020204" pitchFamily="34" charset="0"/>
                <a:ea typeface="ＭＳ Ｐゴシック" pitchFamily="34" charset="-128"/>
                <a:cs typeface="Arial" panose="020B0604020202020204" pitchFamily="34" charset="0"/>
                <a:sym typeface="Wingdings" pitchFamily="2" charset="2"/>
              </a:rPr>
              <a:t></a:t>
            </a:r>
            <a:r>
              <a:rPr lang="en-US" altLang="en-US" sz="2600" dirty="0">
                <a:latin typeface="Arial" panose="020B0604020202020204" pitchFamily="34" charset="0"/>
                <a:ea typeface="ＭＳ Ｐゴシック" pitchFamily="34" charset="-128"/>
                <a:cs typeface="Arial" panose="020B0604020202020204" pitchFamily="34" charset="0"/>
              </a:rPr>
              <a:t>1, etc.</a:t>
            </a:r>
          </a:p>
        </p:txBody>
      </p:sp>
      <p:sp>
        <p:nvSpPr>
          <p:cNvPr id="5" name="TextBox 4">
            <a:extLst>
              <a:ext uri="{FF2B5EF4-FFF2-40B4-BE49-F238E27FC236}">
                <a16:creationId xmlns:a16="http://schemas.microsoft.com/office/drawing/2014/main" id="{BDE45EC5-465F-45FF-B6BB-94E7E4637725}"/>
              </a:ext>
            </a:extLst>
          </p:cNvPr>
          <p:cNvSpPr txBox="1"/>
          <p:nvPr/>
        </p:nvSpPr>
        <p:spPr>
          <a:xfrm>
            <a:off x="2786840" y="1337796"/>
            <a:ext cx="6564977" cy="369332"/>
          </a:xfrm>
          <a:prstGeom prst="rect">
            <a:avLst/>
          </a:prstGeom>
          <a:noFill/>
        </p:spPr>
        <p:txBody>
          <a:bodyPr wrap="square" rtlCol="0">
            <a:spAutoFit/>
          </a:bodyPr>
          <a:lstStyle/>
          <a:p>
            <a:r>
              <a:rPr lang="en-US" altLang="en-US" b="1" dirty="0">
                <a:solidFill>
                  <a:srgbClr val="FF0000"/>
                </a:solidFill>
                <a:latin typeface="Arial" panose="020B0604020202020204" pitchFamily="34" charset="0"/>
                <a:ea typeface="ＭＳ Ｐゴシック" pitchFamily="34" charset="-128"/>
                <a:cs typeface="Arial" panose="020B0604020202020204" pitchFamily="34" charset="0"/>
              </a:rPr>
              <a:t>Symmetric encryption algorithm</a:t>
            </a:r>
          </a:p>
        </p:txBody>
      </p:sp>
    </p:spTree>
    <p:extLst>
      <p:ext uri="{BB962C8B-B14F-4D97-AF65-F5344CB8AC3E}">
        <p14:creationId xmlns:p14="http://schemas.microsoft.com/office/powerpoint/2010/main" val="1084428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37" y="1"/>
            <a:ext cx="8312727"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Encryption</a:t>
            </a:r>
            <a:r>
              <a:rPr lang="en-US" altLang="en-US" sz="3600" b="0" baseline="0" dirty="0">
                <a:latin typeface="Arial" panose="020B0604020202020204" pitchFamily="34" charset="0"/>
                <a:ea typeface="ＭＳ Ｐゴシック" pitchFamily="34" charset="-128"/>
                <a:cs typeface="Arial" panose="020B0604020202020204" pitchFamily="34" charset="0"/>
              </a:rPr>
              <a:t> </a:t>
            </a:r>
            <a:r>
              <a:rPr lang="en-US" altLang="en-US" sz="3600" b="0" dirty="0">
                <a:latin typeface="Arial" panose="020B0604020202020204" pitchFamily="34" charset="0"/>
                <a:ea typeface="ＭＳ Ｐゴシック" pitchFamily="34" charset="-128"/>
                <a:cs typeface="Arial" panose="020B0604020202020204" pitchFamily="34" charset="0"/>
              </a:rPr>
              <a:t>Simple Encryption Algorithms (3</a:t>
            </a:r>
            <a:r>
              <a:rPr lang="en-US" altLang="en-US" sz="3600" b="0" baseline="0" dirty="0">
                <a:latin typeface="Arial" panose="020B0604020202020204" pitchFamily="34" charset="0"/>
                <a:ea typeface="ＭＳ Ｐゴシック" pitchFamily="34" charset="-128"/>
                <a:cs typeface="Arial" panose="020B0604020202020204" pitchFamily="34" charset="0"/>
              </a:rPr>
              <a:t> of 5)</a:t>
            </a:r>
            <a:endParaRPr lang="en-US" sz="3600" b="0" dirty="0">
              <a:latin typeface="Arial" panose="020B0604020202020204" pitchFamily="34" charset="0"/>
              <a:cs typeface="Arial" panose="020B0604020202020204" pitchFamily="34" charset="0"/>
            </a:endParaRPr>
          </a:p>
        </p:txBody>
      </p:sp>
      <p:sp>
        <p:nvSpPr>
          <p:cNvPr id="4" name="Content Placeholder 3"/>
          <p:cNvSpPr>
            <a:spLocks noGrp="1"/>
          </p:cNvSpPr>
          <p:nvPr>
            <p:ph idx="1"/>
          </p:nvPr>
        </p:nvSpPr>
        <p:spPr>
          <a:xfrm>
            <a:off x="478971" y="1320800"/>
            <a:ext cx="8207832" cy="4805363"/>
          </a:xfrm>
        </p:spPr>
        <p:txBody>
          <a:bodyPr>
            <a:normAutofit/>
          </a:bodyPr>
          <a:lstStyle/>
          <a:p>
            <a:pPr marL="0" indent="0">
              <a:buNone/>
            </a:pPr>
            <a:r>
              <a:rPr lang="en-US" sz="2600" dirty="0">
                <a:latin typeface="Arial" panose="020B0604020202020204" pitchFamily="34" charset="0"/>
                <a:cs typeface="Arial" panose="020B0604020202020204" pitchFamily="34" charset="0"/>
              </a:rPr>
              <a:t>FIGURE 8.1</a:t>
            </a:r>
          </a:p>
          <a:p>
            <a:pPr marL="0" indent="0">
              <a:buNone/>
            </a:pPr>
            <a:r>
              <a:rPr lang="en-US" sz="2600" dirty="0">
                <a:latin typeface="Arial" panose="020B0604020202020204" pitchFamily="34" charset="0"/>
                <a:cs typeface="Arial" panose="020B0604020202020204" pitchFamily="34" charset="0"/>
              </a:rPr>
              <a:t>Encoding</a:t>
            </a:r>
          </a:p>
          <a:p>
            <a:pPr marL="457200" indent="-457200">
              <a:buAutoNum type="arabicPeriod"/>
            </a:pPr>
            <a:r>
              <a:rPr lang="en-US" sz="2400" dirty="0">
                <a:latin typeface="Arial" panose="020B0604020202020204" pitchFamily="34" charset="0"/>
                <a:cs typeface="Arial" panose="020B0604020202020204" pitchFamily="34" charset="0"/>
              </a:rPr>
              <a:t>Apply S mapping to plaintext block.</a:t>
            </a:r>
          </a:p>
          <a:p>
            <a:pPr marL="457200" indent="-457200">
              <a:buAutoNum type="arabicPeriod"/>
            </a:pPr>
            <a:r>
              <a:rPr lang="en-US" sz="2400" dirty="0">
                <a:latin typeface="Arial" panose="020B0604020202020204" pitchFamily="34" charset="0"/>
                <a:cs typeface="Arial" panose="020B0604020202020204" pitchFamily="34" charset="0"/>
              </a:rPr>
              <a:t>Multiply result times M, applying wraparound.</a:t>
            </a:r>
          </a:p>
          <a:p>
            <a:pPr marL="457200" indent="-457200">
              <a:buAutoNum type="arabicPeriod"/>
            </a:pPr>
            <a:r>
              <a:rPr lang="en-US" sz="2400" dirty="0">
                <a:latin typeface="Arial" panose="020B0604020202020204" pitchFamily="34" charset="0"/>
                <a:cs typeface="Arial" panose="020B0604020202020204" pitchFamily="34" charset="0"/>
              </a:rPr>
              <a:t>Apply S’ to the result.</a:t>
            </a:r>
          </a:p>
          <a:p>
            <a:pPr marL="0" indent="0">
              <a:buNone/>
            </a:pPr>
            <a:r>
              <a:rPr lang="en-US" sz="2600" dirty="0">
                <a:latin typeface="Arial" panose="020B0604020202020204" pitchFamily="34" charset="0"/>
                <a:cs typeface="Arial" panose="020B0604020202020204" pitchFamily="34" charset="0"/>
              </a:rPr>
              <a:t>Decoding</a:t>
            </a:r>
          </a:p>
          <a:p>
            <a:pPr marL="457200" indent="-457200">
              <a:buFont typeface="+mj-lt"/>
              <a:buAutoNum type="arabicPeriod"/>
            </a:pPr>
            <a:r>
              <a:rPr lang="en-US" sz="2400" dirty="0">
                <a:latin typeface="Arial" panose="020B0604020202020204" pitchFamily="34" charset="0"/>
                <a:cs typeface="Arial" panose="020B0604020202020204" pitchFamily="34" charset="0"/>
              </a:rPr>
              <a:t>Apply S mapping to ciphertext block.</a:t>
            </a:r>
          </a:p>
          <a:p>
            <a:pPr marL="457200" indent="-457200">
              <a:buFont typeface="+mj-lt"/>
              <a:buAutoNum type="arabicPeriod"/>
            </a:pPr>
            <a:r>
              <a:rPr lang="en-US" sz="2400" dirty="0">
                <a:latin typeface="Arial" panose="020B0604020202020204" pitchFamily="34" charset="0"/>
                <a:cs typeface="Arial" panose="020B0604020202020204" pitchFamily="34" charset="0"/>
              </a:rPr>
              <a:t>Multiply result times M’, applying wraparound.</a:t>
            </a:r>
          </a:p>
          <a:p>
            <a:pPr marL="457200" indent="-457200">
              <a:buFont typeface="+mj-lt"/>
              <a:buAutoNum type="arabicPeriod"/>
            </a:pPr>
            <a:r>
              <a:rPr lang="en-US" sz="2400" dirty="0">
                <a:latin typeface="Arial" panose="020B0604020202020204" pitchFamily="34" charset="0"/>
                <a:cs typeface="Arial" panose="020B0604020202020204" pitchFamily="34" charset="0"/>
              </a:rPr>
              <a:t>Apply S’ to the result.</a:t>
            </a:r>
          </a:p>
          <a:p>
            <a:pPr marL="0" indent="0">
              <a:buNone/>
            </a:pPr>
            <a:r>
              <a:rPr lang="en-US" sz="2600" dirty="0">
                <a:latin typeface="Arial" panose="020B0604020202020204" pitchFamily="34" charset="0"/>
                <a:cs typeface="Arial" panose="020B0604020202020204" pitchFamily="34" charset="0"/>
              </a:rPr>
              <a:t>Steps in encoding and decoding for a block cipher.</a:t>
            </a:r>
          </a:p>
        </p:txBody>
      </p:sp>
    </p:spTree>
    <p:extLst>
      <p:ext uri="{BB962C8B-B14F-4D97-AF65-F5344CB8AC3E}">
        <p14:creationId xmlns:p14="http://schemas.microsoft.com/office/powerpoint/2010/main" val="19897939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37" y="1"/>
            <a:ext cx="8312727"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Encryption</a:t>
            </a:r>
            <a:r>
              <a:rPr lang="en-US" altLang="en-US" sz="3600" b="0" baseline="0" dirty="0">
                <a:latin typeface="Arial" panose="020B0604020202020204" pitchFamily="34" charset="0"/>
                <a:ea typeface="ＭＳ Ｐゴシック" pitchFamily="34" charset="-128"/>
                <a:cs typeface="Arial" panose="020B0604020202020204" pitchFamily="34" charset="0"/>
              </a:rPr>
              <a:t> </a:t>
            </a:r>
            <a:r>
              <a:rPr lang="en-US" altLang="en-US" sz="3600" b="0" dirty="0">
                <a:latin typeface="Arial" panose="020B0604020202020204" pitchFamily="34" charset="0"/>
                <a:ea typeface="ＭＳ Ｐゴシック" pitchFamily="34" charset="-128"/>
                <a:cs typeface="Arial" panose="020B0604020202020204" pitchFamily="34" charset="0"/>
              </a:rPr>
              <a:t>Simple Encryption Algorithms (4 of 5)</a:t>
            </a:r>
            <a:endParaRPr lang="en-US" sz="3600" b="0" dirty="0">
              <a:latin typeface="Arial" panose="020B0604020202020204" pitchFamily="34" charset="0"/>
              <a:cs typeface="Arial" panose="020B0604020202020204" pitchFamily="34" charset="0"/>
            </a:endParaRPr>
          </a:p>
        </p:txBody>
      </p:sp>
      <p:sp>
        <p:nvSpPr>
          <p:cNvPr id="4" name="Content Placeholder 3"/>
          <p:cNvSpPr>
            <a:spLocks noGrp="1"/>
          </p:cNvSpPr>
          <p:nvPr>
            <p:ph idx="1"/>
          </p:nvPr>
        </p:nvSpPr>
        <p:spPr>
          <a:xfrm>
            <a:off x="478970" y="1320800"/>
            <a:ext cx="8244115" cy="478971"/>
          </a:xfrm>
        </p:spPr>
        <p:txBody>
          <a:bodyPr>
            <a:normAutofit lnSpcReduction="10000"/>
          </a:bodyPr>
          <a:lstStyle/>
          <a:p>
            <a:pPr marL="0" indent="0">
              <a:buNone/>
            </a:pPr>
            <a:r>
              <a:rPr lang="en-US" altLang="en-US" sz="2600" dirty="0">
                <a:latin typeface="Arial" panose="020B0604020202020204" pitchFamily="34" charset="0"/>
                <a:ea typeface="ＭＳ Ｐゴシック" pitchFamily="34" charset="-128"/>
                <a:cs typeface="Arial" panose="020B0604020202020204" pitchFamily="34" charset="0"/>
              </a:rPr>
              <a:t>Example: use 2 by 2 matrices:</a:t>
            </a:r>
          </a:p>
        </p:txBody>
      </p:sp>
      <p:graphicFrame>
        <p:nvGraphicFramePr>
          <p:cNvPr id="5" name="Object 4"/>
          <p:cNvGraphicFramePr>
            <a:graphicFrameLocks noChangeAspect="1"/>
          </p:cNvGraphicFramePr>
          <p:nvPr>
            <p:extLst>
              <p:ext uri="{D42A27DB-BD31-4B8C-83A1-F6EECF244321}">
                <p14:modId xmlns:p14="http://schemas.microsoft.com/office/powerpoint/2010/main" val="1723100163"/>
              </p:ext>
            </p:extLst>
          </p:nvPr>
        </p:nvGraphicFramePr>
        <p:xfrm>
          <a:off x="572109" y="2043116"/>
          <a:ext cx="5118035" cy="3947420"/>
        </p:xfrm>
        <a:graphic>
          <a:graphicData uri="http://schemas.openxmlformats.org/presentationml/2006/ole">
            <mc:AlternateContent xmlns:mc="http://schemas.openxmlformats.org/markup-compatibility/2006">
              <mc:Choice xmlns:v="urn:schemas-microsoft-com:vml" Requires="v">
                <p:oleObj spid="_x0000_s1092" name="Equation" r:id="rId3" imgW="2387520" imgH="1841400" progId="Equation.3">
                  <p:embed/>
                </p:oleObj>
              </mc:Choice>
              <mc:Fallback>
                <p:oleObj name="Equation" r:id="rId3" imgW="2387520" imgH="1841400" progId="Equation.3">
                  <p:embed/>
                  <p:pic>
                    <p:nvPicPr>
                      <p:cNvPr id="0" name=""/>
                      <p:cNvPicPr/>
                      <p:nvPr/>
                    </p:nvPicPr>
                    <p:blipFill>
                      <a:blip r:embed="rId4"/>
                      <a:stretch>
                        <a:fillRect/>
                      </a:stretch>
                    </p:blipFill>
                    <p:spPr>
                      <a:xfrm>
                        <a:off x="572109" y="2043116"/>
                        <a:ext cx="5118035" cy="3947420"/>
                      </a:xfrm>
                      <a:prstGeom prst="rect">
                        <a:avLst/>
                      </a:prstGeom>
                    </p:spPr>
                  </p:pic>
                </p:oleObj>
              </mc:Fallback>
            </mc:AlternateContent>
          </a:graphicData>
        </a:graphic>
      </p:graphicFrame>
    </p:spTree>
    <p:extLst>
      <p:ext uri="{BB962C8B-B14F-4D97-AF65-F5344CB8AC3E}">
        <p14:creationId xmlns:p14="http://schemas.microsoft.com/office/powerpoint/2010/main" val="36109884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37" y="1"/>
            <a:ext cx="8312727"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Encryption</a:t>
            </a:r>
            <a:r>
              <a:rPr lang="en-US" altLang="en-US" sz="3600" b="0" baseline="0" dirty="0">
                <a:latin typeface="Arial" panose="020B0604020202020204" pitchFamily="34" charset="0"/>
                <a:ea typeface="ＭＳ Ｐゴシック" pitchFamily="34" charset="-128"/>
                <a:cs typeface="Arial" panose="020B0604020202020204" pitchFamily="34" charset="0"/>
              </a:rPr>
              <a:t> </a:t>
            </a:r>
            <a:r>
              <a:rPr lang="en-US" altLang="en-US" sz="3600" b="0" dirty="0">
                <a:latin typeface="Arial" panose="020B0604020202020204" pitchFamily="34" charset="0"/>
                <a:ea typeface="ＭＳ Ｐゴシック" pitchFamily="34" charset="-128"/>
                <a:cs typeface="Arial" panose="020B0604020202020204" pitchFamily="34" charset="0"/>
              </a:rPr>
              <a:t>Simple Encryption Algorithms (5 of 5)</a:t>
            </a:r>
            <a:endParaRPr lang="en-US" sz="3600" b="0" dirty="0">
              <a:latin typeface="Arial" panose="020B0604020202020204" pitchFamily="34" charset="0"/>
              <a:cs typeface="Arial" panose="020B0604020202020204" pitchFamily="34" charset="0"/>
            </a:endParaRPr>
          </a:p>
        </p:txBody>
      </p:sp>
      <p:sp>
        <p:nvSpPr>
          <p:cNvPr id="4" name="Content Placeholder 3"/>
          <p:cNvSpPr>
            <a:spLocks noGrp="1"/>
          </p:cNvSpPr>
          <p:nvPr>
            <p:ph idx="1"/>
          </p:nvPr>
        </p:nvSpPr>
        <p:spPr>
          <a:xfrm>
            <a:off x="169089" y="1190175"/>
            <a:ext cx="8733247" cy="493486"/>
          </a:xfrm>
        </p:spPr>
        <p:txBody>
          <a:bodyPr>
            <a:normAutofit/>
          </a:bodyPr>
          <a:lstStyle/>
          <a:p>
            <a:pPr marL="0" indent="0">
              <a:buNone/>
            </a:pPr>
            <a:r>
              <a:rPr lang="en-US" altLang="en-US" sz="2600" dirty="0">
                <a:latin typeface="Arial" panose="020B0604020202020204" pitchFamily="34" charset="0"/>
                <a:ea typeface="ＭＳ Ｐゴシック" pitchFamily="34" charset="-128"/>
                <a:cs typeface="Arial" panose="020B0604020202020204" pitchFamily="34" charset="0"/>
              </a:rPr>
              <a:t>Example: use 2 by 2 matrices:</a:t>
            </a:r>
          </a:p>
        </p:txBody>
      </p:sp>
      <p:graphicFrame>
        <p:nvGraphicFramePr>
          <p:cNvPr id="5" name="Object 4"/>
          <p:cNvGraphicFramePr>
            <a:graphicFrameLocks noChangeAspect="1"/>
          </p:cNvGraphicFramePr>
          <p:nvPr>
            <p:extLst>
              <p:ext uri="{D42A27DB-BD31-4B8C-83A1-F6EECF244321}">
                <p14:modId xmlns:p14="http://schemas.microsoft.com/office/powerpoint/2010/main" val="2885227591"/>
              </p:ext>
            </p:extLst>
          </p:nvPr>
        </p:nvGraphicFramePr>
        <p:xfrm>
          <a:off x="450850" y="2117725"/>
          <a:ext cx="5716588" cy="3946525"/>
        </p:xfrm>
        <a:graphic>
          <a:graphicData uri="http://schemas.openxmlformats.org/presentationml/2006/ole">
            <mc:AlternateContent xmlns:mc="http://schemas.openxmlformats.org/markup-compatibility/2006">
              <mc:Choice xmlns:v="urn:schemas-microsoft-com:vml" Requires="v">
                <p:oleObj spid="_x0000_s2107" name="Equation" r:id="rId3" imgW="2666880" imgH="1841400" progId="Equation.3">
                  <p:embed/>
                </p:oleObj>
              </mc:Choice>
              <mc:Fallback>
                <p:oleObj name="Equation" r:id="rId3" imgW="2666880" imgH="1841400" progId="Equation.3">
                  <p:embed/>
                  <p:pic>
                    <p:nvPicPr>
                      <p:cNvPr id="0" name=""/>
                      <p:cNvPicPr/>
                      <p:nvPr/>
                    </p:nvPicPr>
                    <p:blipFill>
                      <a:blip r:embed="rId4"/>
                      <a:stretch>
                        <a:fillRect/>
                      </a:stretch>
                    </p:blipFill>
                    <p:spPr>
                      <a:xfrm>
                        <a:off x="450850" y="2117725"/>
                        <a:ext cx="5716588" cy="3946525"/>
                      </a:xfrm>
                      <a:prstGeom prst="rect">
                        <a:avLst/>
                      </a:prstGeom>
                    </p:spPr>
                  </p:pic>
                </p:oleObj>
              </mc:Fallback>
            </mc:AlternateContent>
          </a:graphicData>
        </a:graphic>
      </p:graphicFrame>
    </p:spTree>
    <p:extLst>
      <p:ext uri="{BB962C8B-B14F-4D97-AF65-F5344CB8AC3E}">
        <p14:creationId xmlns:p14="http://schemas.microsoft.com/office/powerpoint/2010/main" val="6085254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Encryption</a:t>
            </a:r>
            <a:r>
              <a:rPr lang="en-US" altLang="en-US" sz="3600" b="0" baseline="0" dirty="0">
                <a:latin typeface="Arial" panose="020B0604020202020204" pitchFamily="34" charset="0"/>
                <a:ea typeface="ＭＳ Ｐゴシック" pitchFamily="34" charset="-128"/>
                <a:cs typeface="Arial" panose="020B0604020202020204" pitchFamily="34" charset="0"/>
              </a:rPr>
              <a:t> </a:t>
            </a:r>
            <a:r>
              <a:rPr lang="en-US" altLang="en-US" sz="3600" b="0" dirty="0">
                <a:latin typeface="Arial" panose="020B0604020202020204" pitchFamily="34" charset="0"/>
                <a:ea typeface="ＭＳ Ｐゴシック" pitchFamily="34" charset="-128"/>
                <a:cs typeface="Arial" panose="020B0604020202020204" pitchFamily="34" charset="0"/>
              </a:rPr>
              <a:t>(DES) Data Encryption Standard (1 of 3)</a:t>
            </a:r>
            <a:endParaRPr lang="en-US" sz="3600" b="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fontScale="92500"/>
          </a:bodyPr>
          <a:lstStyle/>
          <a:p>
            <a:r>
              <a:rPr lang="en-US" altLang="en-US" sz="2800" dirty="0">
                <a:latin typeface="Arial" panose="020B0604020202020204" pitchFamily="34" charset="0"/>
                <a:ea typeface="ＭＳ Ｐゴシック" pitchFamily="34" charset="-128"/>
                <a:cs typeface="Arial" panose="020B0604020202020204" pitchFamily="34" charset="0"/>
              </a:rPr>
              <a:t>Symmetric encryption algorithm</a:t>
            </a:r>
          </a:p>
          <a:p>
            <a:r>
              <a:rPr lang="en-US" altLang="en-US" sz="2800" dirty="0">
                <a:latin typeface="Arial" panose="020B0604020202020204" pitchFamily="34" charset="0"/>
                <a:ea typeface="ＭＳ Ｐゴシック" pitchFamily="34" charset="-128"/>
                <a:cs typeface="Arial" panose="020B0604020202020204" pitchFamily="34" charset="0"/>
              </a:rPr>
              <a:t>Designed for digital data; plaintext is a binary string</a:t>
            </a:r>
          </a:p>
          <a:p>
            <a:r>
              <a:rPr lang="en-US" altLang="en-US" sz="2800" dirty="0">
                <a:latin typeface="Arial" panose="020B0604020202020204" pitchFamily="34" charset="0"/>
                <a:ea typeface="ＭＳ Ｐゴシック" pitchFamily="34" charset="-128"/>
                <a:cs typeface="Arial" panose="020B0604020202020204" pitchFamily="34" charset="0"/>
              </a:rPr>
              <a:t>Uses 64-bit binary key (56 bits actually used)</a:t>
            </a:r>
          </a:p>
          <a:p>
            <a:r>
              <a:rPr lang="en-US" altLang="en-US" sz="2800" dirty="0">
                <a:latin typeface="Arial" panose="020B0604020202020204" pitchFamily="34" charset="0"/>
                <a:ea typeface="ＭＳ Ｐゴシック" pitchFamily="34" charset="-128"/>
                <a:cs typeface="Arial" panose="020B0604020202020204" pitchFamily="34" charset="0"/>
              </a:rPr>
              <a:t>Sixteen rounds of the same series of manipulations</a:t>
            </a:r>
          </a:p>
          <a:p>
            <a:r>
              <a:rPr lang="en-US" altLang="en-US" sz="2800" dirty="0">
                <a:latin typeface="Arial" panose="020B0604020202020204" pitchFamily="34" charset="0"/>
                <a:ea typeface="ＭＳ Ｐゴシック" pitchFamily="34" charset="-128"/>
                <a:cs typeface="Arial" panose="020B0604020202020204" pitchFamily="34" charset="0"/>
              </a:rPr>
              <a:t>Decryption uses the same algorithm; keys in reverse</a:t>
            </a:r>
          </a:p>
          <a:p>
            <a:r>
              <a:rPr lang="en-US" altLang="en-US" sz="2800" dirty="0">
                <a:latin typeface="Arial" panose="020B0604020202020204" pitchFamily="34" charset="0"/>
                <a:ea typeface="ＭＳ Ｐゴシック" pitchFamily="34" charset="-128"/>
                <a:cs typeface="Arial" panose="020B0604020202020204" pitchFamily="34" charset="0"/>
              </a:rPr>
              <a:t>Fast and effective but requires shared key</a:t>
            </a:r>
          </a:p>
          <a:p>
            <a:pPr lvl="1"/>
            <a:r>
              <a:rPr lang="en-US" altLang="en-US" sz="2600" dirty="0">
                <a:latin typeface="Arial" panose="020B0604020202020204" pitchFamily="34" charset="0"/>
                <a:ea typeface="ＭＳ Ｐゴシック" pitchFamily="34" charset="-128"/>
                <a:cs typeface="Arial" panose="020B0604020202020204" pitchFamily="34" charset="0"/>
              </a:rPr>
              <a:t>56 bits is too small for modern technology</a:t>
            </a:r>
          </a:p>
          <a:p>
            <a:r>
              <a:rPr lang="en-US" altLang="en-US" sz="2800" b="1" dirty="0">
                <a:latin typeface="Arial" panose="020B0604020202020204" pitchFamily="34" charset="0"/>
                <a:ea typeface="ＭＳ Ｐゴシック" pitchFamily="34" charset="-128"/>
                <a:cs typeface="Arial" panose="020B0604020202020204" pitchFamily="34" charset="0"/>
              </a:rPr>
              <a:t>AES (</a:t>
            </a:r>
            <a:r>
              <a:rPr lang="en-US" altLang="en-US" sz="2800" b="1" dirty="0">
                <a:solidFill>
                  <a:srgbClr val="FF0000"/>
                </a:solidFill>
                <a:latin typeface="Arial" panose="020B0604020202020204" pitchFamily="34" charset="0"/>
                <a:ea typeface="ＭＳ Ｐゴシック" pitchFamily="34" charset="-128"/>
                <a:cs typeface="Arial" panose="020B0604020202020204" pitchFamily="34" charset="0"/>
              </a:rPr>
              <a:t>Advanced Encryption Standard</a:t>
            </a:r>
            <a:r>
              <a:rPr lang="en-US" altLang="en-US" sz="2800" b="1" dirty="0">
                <a:latin typeface="Arial" panose="020B0604020202020204" pitchFamily="34" charset="0"/>
                <a:ea typeface="ＭＳ Ｐゴシック" pitchFamily="34" charset="-128"/>
                <a:cs typeface="Arial" panose="020B0604020202020204" pitchFamily="34" charset="0"/>
              </a:rPr>
              <a:t>)</a:t>
            </a:r>
            <a:r>
              <a:rPr lang="en-US" altLang="en-US" sz="2800" dirty="0">
                <a:latin typeface="Arial" panose="020B0604020202020204" pitchFamily="34" charset="0"/>
                <a:ea typeface="ＭＳ Ｐゴシック" pitchFamily="34" charset="-128"/>
                <a:cs typeface="Arial" panose="020B0604020202020204" pitchFamily="34" charset="0"/>
              </a:rPr>
              <a:t> uses a similar approach; longer keys </a:t>
            </a:r>
          </a:p>
        </p:txBody>
      </p:sp>
    </p:spTree>
    <p:extLst>
      <p:ext uri="{BB962C8B-B14F-4D97-AF65-F5344CB8AC3E}">
        <p14:creationId xmlns:p14="http://schemas.microsoft.com/office/powerpoint/2010/main" val="21582610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Encryption</a:t>
            </a:r>
            <a:r>
              <a:rPr lang="en-US" altLang="en-US" sz="3600" b="0" baseline="0" dirty="0">
                <a:latin typeface="Arial" panose="020B0604020202020204" pitchFamily="34" charset="0"/>
                <a:ea typeface="ＭＳ Ｐゴシック" pitchFamily="34" charset="-128"/>
                <a:cs typeface="Arial" panose="020B0604020202020204" pitchFamily="34" charset="0"/>
              </a:rPr>
              <a:t> </a:t>
            </a:r>
            <a:r>
              <a:rPr lang="en-US" altLang="en-US" sz="3600" b="0" dirty="0">
                <a:latin typeface="Arial" panose="020B0604020202020204" pitchFamily="34" charset="0"/>
                <a:ea typeface="ＭＳ Ｐゴシック" pitchFamily="34" charset="-128"/>
                <a:cs typeface="Arial" panose="020B0604020202020204" pitchFamily="34" charset="0"/>
              </a:rPr>
              <a:t>(</a:t>
            </a:r>
            <a:r>
              <a:rPr lang="en-US" altLang="en-US" sz="3600" b="0" dirty="0">
                <a:solidFill>
                  <a:srgbClr val="FF0000"/>
                </a:solidFill>
                <a:latin typeface="Arial" panose="020B0604020202020204" pitchFamily="34" charset="0"/>
                <a:ea typeface="ＭＳ Ｐゴシック" pitchFamily="34" charset="-128"/>
                <a:cs typeface="Arial" panose="020B0604020202020204" pitchFamily="34" charset="0"/>
              </a:rPr>
              <a:t>DES</a:t>
            </a:r>
            <a:r>
              <a:rPr lang="en-US" altLang="en-US" sz="3600" b="0" dirty="0">
                <a:latin typeface="Arial" panose="020B0604020202020204" pitchFamily="34" charset="0"/>
                <a:ea typeface="ＭＳ Ｐゴシック" pitchFamily="34" charset="-128"/>
                <a:cs typeface="Arial" panose="020B0604020202020204" pitchFamily="34" charset="0"/>
              </a:rPr>
              <a:t>) Data Encryption Standard (2</a:t>
            </a:r>
            <a:r>
              <a:rPr lang="en-US" altLang="en-US" sz="3600" b="0" baseline="0" dirty="0">
                <a:latin typeface="Arial" panose="020B0604020202020204" pitchFamily="34" charset="0"/>
                <a:ea typeface="ＭＳ Ｐゴシック" pitchFamily="34" charset="-128"/>
                <a:cs typeface="Arial" panose="020B0604020202020204" pitchFamily="34" charset="0"/>
              </a:rPr>
              <a:t> of 3)</a:t>
            </a:r>
            <a:endParaRPr lang="en-US" sz="3600" b="0" dirty="0">
              <a:latin typeface="Arial" panose="020B0604020202020204" pitchFamily="34" charset="0"/>
              <a:cs typeface="Arial" panose="020B0604020202020204" pitchFamily="34" charset="0"/>
            </a:endParaRPr>
          </a:p>
        </p:txBody>
      </p:sp>
      <p:sp>
        <p:nvSpPr>
          <p:cNvPr id="4" name="Content Placeholder 3"/>
          <p:cNvSpPr>
            <a:spLocks noGrp="1"/>
          </p:cNvSpPr>
          <p:nvPr>
            <p:ph idx="1"/>
          </p:nvPr>
        </p:nvSpPr>
        <p:spPr>
          <a:xfrm>
            <a:off x="360218" y="1274618"/>
            <a:ext cx="4488873" cy="4851545"/>
          </a:xfrm>
        </p:spPr>
        <p:txBody>
          <a:bodyPr>
            <a:normAutofit/>
          </a:bodyPr>
          <a:lstStyle/>
          <a:p>
            <a:pPr>
              <a:buFontTx/>
              <a:buNone/>
            </a:pPr>
            <a:r>
              <a:rPr lang="en-US" altLang="en-US" sz="2600" dirty="0">
                <a:solidFill>
                  <a:srgbClr val="FF0000"/>
                </a:solidFill>
                <a:latin typeface="Arial" panose="020B0604020202020204" pitchFamily="34" charset="0"/>
                <a:ea typeface="ＭＳ Ｐゴシック" pitchFamily="34" charset="-128"/>
                <a:cs typeface="Arial" panose="020B0604020202020204" pitchFamily="34" charset="0"/>
              </a:rPr>
              <a:t>DES</a:t>
            </a:r>
            <a:r>
              <a:rPr lang="en-US" altLang="en-US" sz="2600" dirty="0">
                <a:latin typeface="Arial" panose="020B0604020202020204" pitchFamily="34" charset="0"/>
                <a:ea typeface="ＭＳ Ｐゴシック" pitchFamily="34" charset="-128"/>
                <a:cs typeface="Arial" panose="020B0604020202020204" pitchFamily="34" charset="0"/>
              </a:rPr>
              <a:t> manipulations</a:t>
            </a:r>
          </a:p>
          <a:p>
            <a:r>
              <a:rPr lang="en-US" altLang="en-US" sz="2600" dirty="0">
                <a:latin typeface="Arial" panose="020B0604020202020204" pitchFamily="34" charset="0"/>
                <a:ea typeface="ＭＳ Ｐゴシック" pitchFamily="34" charset="-128"/>
                <a:cs typeface="Arial" panose="020B0604020202020204" pitchFamily="34" charset="0"/>
              </a:rPr>
              <a:t>Split string</a:t>
            </a:r>
          </a:p>
          <a:p>
            <a:r>
              <a:rPr lang="en-US" altLang="en-US" sz="2600" dirty="0">
                <a:latin typeface="Arial" panose="020B0604020202020204" pitchFamily="34" charset="0"/>
                <a:ea typeface="ＭＳ Ｐゴシック" pitchFamily="34" charset="-128"/>
                <a:cs typeface="Arial" panose="020B0604020202020204" pitchFamily="34" charset="0"/>
              </a:rPr>
              <a:t>Duplicating some bits</a:t>
            </a:r>
          </a:p>
          <a:p>
            <a:r>
              <a:rPr lang="en-US" altLang="en-US" sz="2600" dirty="0">
                <a:latin typeface="Arial" panose="020B0604020202020204" pitchFamily="34" charset="0"/>
                <a:ea typeface="ＭＳ Ｐゴシック" pitchFamily="34" charset="-128"/>
                <a:cs typeface="Arial" panose="020B0604020202020204" pitchFamily="34" charset="0"/>
              </a:rPr>
              <a:t>Omit some bits</a:t>
            </a:r>
          </a:p>
          <a:p>
            <a:r>
              <a:rPr lang="en-US" altLang="en-US" sz="2600" dirty="0">
                <a:solidFill>
                  <a:srgbClr val="FF0000"/>
                </a:solidFill>
                <a:latin typeface="Arial" panose="020B0604020202020204" pitchFamily="34" charset="0"/>
                <a:ea typeface="ＭＳ Ｐゴシック" pitchFamily="34" charset="-128"/>
                <a:cs typeface="Arial" panose="020B0604020202020204" pitchFamily="34" charset="0"/>
              </a:rPr>
              <a:t>Permute bit order</a:t>
            </a:r>
          </a:p>
          <a:p>
            <a:r>
              <a:rPr lang="en-US" altLang="en-US" sz="2600" dirty="0">
                <a:latin typeface="Arial" panose="020B0604020202020204" pitchFamily="34" charset="0"/>
                <a:ea typeface="ＭＳ Ｐゴシック" pitchFamily="34" charset="-128"/>
                <a:cs typeface="Arial" panose="020B0604020202020204" pitchFamily="34" charset="0"/>
              </a:rPr>
              <a:t>Combine bit strings with XOR (</a:t>
            </a:r>
            <a:r>
              <a:rPr lang="en-US" altLang="en-US" sz="2600" dirty="0">
                <a:solidFill>
                  <a:srgbClr val="FF0000"/>
                </a:solidFill>
                <a:latin typeface="Arial" panose="020B0604020202020204" pitchFamily="34" charset="0"/>
                <a:ea typeface="ＭＳ Ｐゴシック" pitchFamily="34" charset="-128"/>
                <a:cs typeface="Arial" panose="020B0604020202020204" pitchFamily="34" charset="0"/>
              </a:rPr>
              <a:t>exclusive OR</a:t>
            </a:r>
            <a:r>
              <a:rPr lang="en-US" altLang="en-US" sz="2600" dirty="0">
                <a:latin typeface="Arial" panose="020B0604020202020204" pitchFamily="34" charset="0"/>
                <a:ea typeface="ＭＳ Ｐゴシック" pitchFamily="34" charset="-128"/>
                <a:cs typeface="Arial" panose="020B0604020202020204" pitchFamily="34" charset="0"/>
              </a:rPr>
              <a:t>)</a:t>
            </a:r>
          </a:p>
        </p:txBody>
      </p:sp>
      <p:pic>
        <p:nvPicPr>
          <p:cNvPr id="5" name="Picture 7" descr="X O R truth table. Ay, 0; b, 0. Ay, X O R, b = 0. Ay, 0; b, 1. Ay, X O R, b = 1. Ay, 1; b, 1. Ay, X O R, b = 0. Ay, 1; b, 1. Ay, X O R, b =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2994" y="1405197"/>
            <a:ext cx="3513455" cy="4442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8C5DCB73-4BC4-46C3-90AA-A56EB4EBCC94}"/>
              </a:ext>
            </a:extLst>
          </p:cNvPr>
          <p:cNvSpPr txBox="1"/>
          <p:nvPr/>
        </p:nvSpPr>
        <p:spPr>
          <a:xfrm>
            <a:off x="817418" y="4641273"/>
            <a:ext cx="4425576" cy="707886"/>
          </a:xfrm>
          <a:prstGeom prst="rect">
            <a:avLst/>
          </a:prstGeom>
          <a:noFill/>
        </p:spPr>
        <p:txBody>
          <a:bodyPr wrap="square" rtlCol="0">
            <a:spAutoFit/>
          </a:bodyPr>
          <a:lstStyle/>
          <a:p>
            <a:r>
              <a:rPr lang="zh-CN" altLang="en-US" sz="2000" dirty="0">
                <a:solidFill>
                  <a:srgbClr val="FF0000"/>
                </a:solidFill>
              </a:rPr>
              <a:t>异或：两个都一样</a:t>
            </a:r>
            <a:r>
              <a:rPr lang="en-US" altLang="zh-CN" sz="2000" dirty="0">
                <a:solidFill>
                  <a:srgbClr val="FF0000"/>
                </a:solidFill>
              </a:rPr>
              <a:t>output false</a:t>
            </a:r>
          </a:p>
          <a:p>
            <a:r>
              <a:rPr lang="en-US" sz="2000" dirty="0">
                <a:solidFill>
                  <a:srgbClr val="FF0000"/>
                </a:solidFill>
              </a:rPr>
              <a:t>		</a:t>
            </a:r>
            <a:r>
              <a:rPr lang="zh-CN" altLang="en-US" sz="2000" dirty="0">
                <a:solidFill>
                  <a:srgbClr val="FF0000"/>
                </a:solidFill>
              </a:rPr>
              <a:t>不一样 </a:t>
            </a:r>
            <a:r>
              <a:rPr lang="en-US" altLang="zh-CN" sz="2000" dirty="0">
                <a:solidFill>
                  <a:srgbClr val="FF0000"/>
                </a:solidFill>
              </a:rPr>
              <a:t>output true</a:t>
            </a:r>
            <a:endParaRPr lang="en-US" sz="2000" dirty="0">
              <a:solidFill>
                <a:srgbClr val="FF0000"/>
              </a:solidFill>
            </a:endParaRPr>
          </a:p>
        </p:txBody>
      </p:sp>
      <p:sp>
        <p:nvSpPr>
          <p:cNvPr id="7" name="TextBox 6">
            <a:extLst>
              <a:ext uri="{FF2B5EF4-FFF2-40B4-BE49-F238E27FC236}">
                <a16:creationId xmlns:a16="http://schemas.microsoft.com/office/drawing/2014/main" id="{8368AC97-28FE-4C48-9B3E-218E7D516EAA}"/>
              </a:ext>
            </a:extLst>
          </p:cNvPr>
          <p:cNvSpPr txBox="1"/>
          <p:nvPr/>
        </p:nvSpPr>
        <p:spPr>
          <a:xfrm>
            <a:off x="211498" y="1089952"/>
            <a:ext cx="4786312" cy="369332"/>
          </a:xfrm>
          <a:prstGeom prst="rect">
            <a:avLst/>
          </a:prstGeom>
          <a:noFill/>
        </p:spPr>
        <p:txBody>
          <a:bodyPr wrap="square">
            <a:spAutoFit/>
          </a:bodyPr>
          <a:lstStyle/>
          <a:p>
            <a:r>
              <a:rPr lang="en-US" altLang="en-US" sz="1800" b="0" dirty="0">
                <a:solidFill>
                  <a:srgbClr val="FF0000"/>
                </a:solidFill>
                <a:latin typeface="Arial" panose="020B0604020202020204" pitchFamily="34" charset="0"/>
                <a:ea typeface="ＭＳ Ｐゴシック" pitchFamily="34" charset="-128"/>
                <a:cs typeface="Arial" panose="020B0604020202020204" pitchFamily="34" charset="0"/>
              </a:rPr>
              <a:t>Data Encryption Standard </a:t>
            </a:r>
            <a:endParaRPr lang="en-US" dirty="0">
              <a:solidFill>
                <a:srgbClr val="FF0000"/>
              </a:solidFill>
            </a:endParaRPr>
          </a:p>
        </p:txBody>
      </p:sp>
      <p:sp>
        <p:nvSpPr>
          <p:cNvPr id="9" name="TextBox 8">
            <a:extLst>
              <a:ext uri="{FF2B5EF4-FFF2-40B4-BE49-F238E27FC236}">
                <a16:creationId xmlns:a16="http://schemas.microsoft.com/office/drawing/2014/main" id="{7467A10C-DEC8-4CD4-87C5-3833D66BE1F7}"/>
              </a:ext>
            </a:extLst>
          </p:cNvPr>
          <p:cNvSpPr txBox="1"/>
          <p:nvPr/>
        </p:nvSpPr>
        <p:spPr>
          <a:xfrm>
            <a:off x="618518" y="5662991"/>
            <a:ext cx="6564977" cy="369332"/>
          </a:xfrm>
          <a:prstGeom prst="rect">
            <a:avLst/>
          </a:prstGeom>
          <a:noFill/>
        </p:spPr>
        <p:txBody>
          <a:bodyPr wrap="square" rtlCol="0">
            <a:spAutoFit/>
          </a:bodyPr>
          <a:lstStyle/>
          <a:p>
            <a:r>
              <a:rPr lang="en-US" altLang="en-US" b="1" dirty="0">
                <a:solidFill>
                  <a:srgbClr val="FF0000"/>
                </a:solidFill>
                <a:latin typeface="Arial" panose="020B0604020202020204" pitchFamily="34" charset="0"/>
                <a:ea typeface="ＭＳ Ｐゴシック" pitchFamily="34" charset="-128"/>
                <a:cs typeface="Arial" panose="020B0604020202020204" pitchFamily="34" charset="0"/>
              </a:rPr>
              <a:t>Symmetric encryption algorithm</a:t>
            </a:r>
          </a:p>
        </p:txBody>
      </p:sp>
      <p:sp>
        <p:nvSpPr>
          <p:cNvPr id="11" name="TextBox 10">
            <a:extLst>
              <a:ext uri="{FF2B5EF4-FFF2-40B4-BE49-F238E27FC236}">
                <a16:creationId xmlns:a16="http://schemas.microsoft.com/office/drawing/2014/main" id="{190CE7C0-B3FB-4C6A-B450-F7B161DACE02}"/>
              </a:ext>
            </a:extLst>
          </p:cNvPr>
          <p:cNvSpPr txBox="1"/>
          <p:nvPr/>
        </p:nvSpPr>
        <p:spPr>
          <a:xfrm>
            <a:off x="1078706" y="3462196"/>
            <a:ext cx="4786312" cy="400110"/>
          </a:xfrm>
          <a:prstGeom prst="rect">
            <a:avLst/>
          </a:prstGeom>
          <a:noFill/>
        </p:spPr>
        <p:txBody>
          <a:bodyPr wrap="square">
            <a:spAutoFit/>
          </a:bodyPr>
          <a:lstStyle/>
          <a:p>
            <a:r>
              <a:rPr lang="en-US" sz="2000" b="1" dirty="0">
                <a:solidFill>
                  <a:srgbClr val="FF0000"/>
                </a:solidFill>
              </a:rPr>
              <a:t>Perm</a:t>
            </a:r>
            <a:r>
              <a:rPr lang="en-US" altLang="zh-CN" sz="2000" b="1" dirty="0">
                <a:solidFill>
                  <a:srgbClr val="FF0000"/>
                </a:solidFill>
              </a:rPr>
              <a:t>utation</a:t>
            </a:r>
            <a:endParaRPr lang="en-US" sz="2000" b="1" dirty="0">
              <a:solidFill>
                <a:srgbClr val="FF0000"/>
              </a:solidFill>
            </a:endParaRPr>
          </a:p>
        </p:txBody>
      </p:sp>
    </p:spTree>
    <p:extLst>
      <p:ext uri="{BB962C8B-B14F-4D97-AF65-F5344CB8AC3E}">
        <p14:creationId xmlns:p14="http://schemas.microsoft.com/office/powerpoint/2010/main" val="25967633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Encryption</a:t>
            </a:r>
            <a:r>
              <a:rPr lang="en-US" altLang="en-US" sz="3600" b="0" baseline="0" dirty="0">
                <a:latin typeface="Arial" panose="020B0604020202020204" pitchFamily="34" charset="0"/>
                <a:ea typeface="ＭＳ Ｐゴシック" pitchFamily="34" charset="-128"/>
                <a:cs typeface="Arial" panose="020B0604020202020204" pitchFamily="34" charset="0"/>
              </a:rPr>
              <a:t> </a:t>
            </a:r>
            <a:r>
              <a:rPr lang="en-US" altLang="en-US" sz="3600" b="0" dirty="0">
                <a:solidFill>
                  <a:srgbClr val="FF0000"/>
                </a:solidFill>
                <a:latin typeface="Arial" panose="020B0604020202020204" pitchFamily="34" charset="0"/>
                <a:ea typeface="ＭＳ Ｐゴシック" pitchFamily="34" charset="-128"/>
                <a:cs typeface="Arial" panose="020B0604020202020204" pitchFamily="34" charset="0"/>
              </a:rPr>
              <a:t>(DES) Data Encryption Standard </a:t>
            </a:r>
            <a:r>
              <a:rPr lang="en-US" altLang="en-US" sz="3600" b="0" dirty="0">
                <a:latin typeface="Arial" panose="020B0604020202020204" pitchFamily="34" charset="0"/>
                <a:ea typeface="ＭＳ Ｐゴシック" pitchFamily="34" charset="-128"/>
                <a:cs typeface="Arial" panose="020B0604020202020204" pitchFamily="34" charset="0"/>
              </a:rPr>
              <a:t>(3 of 3)</a:t>
            </a:r>
            <a:endParaRPr lang="en-US" sz="3600" b="0" dirty="0">
              <a:latin typeface="Arial" panose="020B0604020202020204" pitchFamily="34" charset="0"/>
              <a:cs typeface="Arial" panose="020B0604020202020204" pitchFamily="34" charset="0"/>
            </a:endParaRPr>
          </a:p>
        </p:txBody>
      </p:sp>
      <p:pic>
        <p:nvPicPr>
          <p:cNvPr id="6" name="Picture 3" descr="An illustration shows the DES encryption algorithm. 64-bit plaintext and 56-bit key follow an encryption to give a final permutation of 64-bit ciphertext. 64-bit plaintext passes through Initial permutation in round 1. After Round 1, it follows three different processes. In process 1, it follows the following path: Permutation; Expansion to 48 bits; Bitwise XOR; Substitution and reduction to 32 bits; Permutation. It then passes Bitwise XOR in Round 2. The second process L subscript 1from 64-bit plaintext passes Bitwise XOR in Round 2. The 56-bit key passes Round 1 and follows the following process: Permutation; reduction to 48 bits; Bitwise XOR; Substitution and reduction to 32 bits; Permutation; and then passes Bitwise XOR in Round 2. A second process labeled as Next key from 56-bit key passes to Round 2 directly from Permutation. The third process from 64-bit plaintext labeled as L subscript 2, the first and second process from 64-bit plaintext, and the processes from 56-bit key pass through till Round 16 to Final Permutation: 64-bit ciphertex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2580" y="1226210"/>
            <a:ext cx="3683000" cy="495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110382F9-8A06-4269-BEAF-D4716998FA94}"/>
              </a:ext>
            </a:extLst>
          </p:cNvPr>
          <p:cNvSpPr txBox="1"/>
          <p:nvPr/>
        </p:nvSpPr>
        <p:spPr>
          <a:xfrm>
            <a:off x="61611" y="2295232"/>
            <a:ext cx="2740969" cy="1477328"/>
          </a:xfrm>
          <a:prstGeom prst="rect">
            <a:avLst/>
          </a:prstGeom>
          <a:noFill/>
        </p:spPr>
        <p:txBody>
          <a:bodyPr wrap="square" rtlCol="0">
            <a:spAutoFit/>
          </a:bodyPr>
          <a:lstStyle/>
          <a:p>
            <a:r>
              <a:rPr lang="en-US" dirty="0"/>
              <a:t>Perm</a:t>
            </a:r>
            <a:r>
              <a:rPr lang="en-US" altLang="zh-CN" dirty="0"/>
              <a:t>utation</a:t>
            </a:r>
            <a:r>
              <a:rPr lang="zh-CN" altLang="en-US" dirty="0"/>
              <a:t>：不改变数字，但重新排列数学顺序</a:t>
            </a:r>
            <a:endParaRPr lang="en-US" altLang="zh-CN" dirty="0"/>
          </a:p>
          <a:p>
            <a:r>
              <a:rPr lang="en-US" altLang="zh-CN" dirty="0" err="1"/>
              <a:t>Eg.</a:t>
            </a:r>
            <a:endParaRPr lang="en-US" altLang="zh-CN" dirty="0"/>
          </a:p>
          <a:p>
            <a:r>
              <a:rPr lang="en-US" dirty="0"/>
              <a:t>12345</a:t>
            </a:r>
            <a:r>
              <a:rPr lang="zh-CN" altLang="en-US" dirty="0"/>
              <a:t>变成</a:t>
            </a:r>
            <a:endParaRPr lang="en-US" altLang="zh-CN" dirty="0"/>
          </a:p>
          <a:p>
            <a:r>
              <a:rPr lang="en-US" dirty="0"/>
              <a:t>14532</a:t>
            </a:r>
          </a:p>
        </p:txBody>
      </p:sp>
      <p:sp>
        <p:nvSpPr>
          <p:cNvPr id="4" name="TextBox 3">
            <a:extLst>
              <a:ext uri="{FF2B5EF4-FFF2-40B4-BE49-F238E27FC236}">
                <a16:creationId xmlns:a16="http://schemas.microsoft.com/office/drawing/2014/main" id="{BF54D25F-2FDB-488C-B8CC-7397B46AFC19}"/>
              </a:ext>
            </a:extLst>
          </p:cNvPr>
          <p:cNvSpPr txBox="1"/>
          <p:nvPr/>
        </p:nvSpPr>
        <p:spPr>
          <a:xfrm>
            <a:off x="200025" y="4055730"/>
            <a:ext cx="2476500" cy="646331"/>
          </a:xfrm>
          <a:prstGeom prst="rect">
            <a:avLst/>
          </a:prstGeom>
          <a:noFill/>
        </p:spPr>
        <p:txBody>
          <a:bodyPr wrap="square" rtlCol="0">
            <a:spAutoFit/>
          </a:bodyPr>
          <a:lstStyle/>
          <a:p>
            <a:r>
              <a:rPr lang="fr-CA" dirty="0"/>
              <a:t>Permutation </a:t>
            </a:r>
            <a:r>
              <a:rPr lang="fr-CA" dirty="0" err="1"/>
              <a:t>is</a:t>
            </a:r>
            <a:r>
              <a:rPr lang="fr-CA" dirty="0"/>
              <a:t> a part of </a:t>
            </a:r>
            <a:r>
              <a:rPr lang="fr-CA" dirty="0" err="1"/>
              <a:t>encryption</a:t>
            </a:r>
            <a:r>
              <a:rPr lang="fr-CA" dirty="0"/>
              <a:t> standard</a:t>
            </a:r>
            <a:endParaRPr lang="en-US" dirty="0"/>
          </a:p>
        </p:txBody>
      </p:sp>
    </p:spTree>
    <p:extLst>
      <p:ext uri="{BB962C8B-B14F-4D97-AF65-F5344CB8AC3E}">
        <p14:creationId xmlns:p14="http://schemas.microsoft.com/office/powerpoint/2010/main" val="2063876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Encryption Public-Key Systems (1 of 4)</a:t>
            </a:r>
            <a:endParaRPr lang="en-US" sz="3600" b="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21689" y="1260764"/>
            <a:ext cx="8465130" cy="4865400"/>
          </a:xfrm>
        </p:spPr>
        <p:txBody>
          <a:bodyPr>
            <a:normAutofit/>
          </a:bodyPr>
          <a:lstStyle/>
          <a:p>
            <a:pPr>
              <a:buFontTx/>
              <a:buNone/>
              <a:defRPr/>
            </a:pPr>
            <a:r>
              <a:rPr lang="en-US" altLang="en-US" sz="2600" b="1"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RSA</a:t>
            </a:r>
            <a:r>
              <a:rPr lang="en-US" altLang="en-US" sz="2600" b="1" dirty="0">
                <a:latin typeface="Arial" panose="020B0604020202020204" pitchFamily="34" charset="0"/>
                <a:ea typeface="ＭＳ Ｐゴシック" panose="020B0600070205080204" pitchFamily="34" charset="-128"/>
                <a:cs typeface="Arial" panose="020B0604020202020204" pitchFamily="34" charset="0"/>
              </a:rPr>
              <a:t> </a:t>
            </a:r>
            <a:r>
              <a:rPr lang="en-US" altLang="en-US" sz="2600" dirty="0">
                <a:latin typeface="Arial" panose="020B0604020202020204" pitchFamily="34" charset="0"/>
                <a:ea typeface="ＭＳ Ｐゴシック" panose="020B0600070205080204" pitchFamily="34" charset="-128"/>
                <a:cs typeface="Arial" panose="020B0604020202020204" pitchFamily="34" charset="0"/>
              </a:rPr>
              <a:t>key creation</a:t>
            </a:r>
          </a:p>
          <a:p>
            <a:pPr>
              <a:defRPr/>
            </a:pPr>
            <a:r>
              <a:rPr lang="en-US" altLang="en-US" sz="2600"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Pick 2 large prime numbers</a:t>
            </a:r>
            <a:r>
              <a:rPr lang="en-US" altLang="en-US" sz="2600" dirty="0">
                <a:latin typeface="Arial" panose="020B0604020202020204" pitchFamily="34" charset="0"/>
                <a:ea typeface="ＭＳ Ｐゴシック" panose="020B0600070205080204" pitchFamily="34" charset="-128"/>
                <a:cs typeface="Arial" panose="020B0604020202020204" pitchFamily="34" charset="0"/>
              </a:rPr>
              <a:t>: </a:t>
            </a:r>
            <a:r>
              <a:rPr lang="en-US" altLang="en-US" sz="2600" i="1" dirty="0">
                <a:latin typeface="Arial" panose="020B0604020202020204" pitchFamily="34" charset="0"/>
                <a:ea typeface="ＭＳ Ｐゴシック" panose="020B0600070205080204" pitchFamily="34" charset="-128"/>
                <a:cs typeface="Arial" panose="020B0604020202020204" pitchFamily="34" charset="0"/>
              </a:rPr>
              <a:t>p</a:t>
            </a:r>
            <a:r>
              <a:rPr lang="en-US" altLang="en-US" sz="2600" dirty="0">
                <a:latin typeface="Arial" panose="020B0604020202020204" pitchFamily="34" charset="0"/>
                <a:ea typeface="ＭＳ Ｐゴシック" panose="020B0600070205080204" pitchFamily="34" charset="-128"/>
                <a:cs typeface="Arial" panose="020B0604020202020204" pitchFamily="34" charset="0"/>
              </a:rPr>
              <a:t> and </a:t>
            </a:r>
            <a:r>
              <a:rPr lang="en-US" altLang="en-US" sz="2600" i="1" dirty="0">
                <a:latin typeface="Arial" panose="020B0604020202020204" pitchFamily="34" charset="0"/>
                <a:ea typeface="ＭＳ Ｐゴシック" panose="020B0600070205080204" pitchFamily="34" charset="-128"/>
                <a:cs typeface="Arial" panose="020B0604020202020204" pitchFamily="34" charset="0"/>
              </a:rPr>
              <a:t>q</a:t>
            </a:r>
          </a:p>
          <a:p>
            <a:pPr>
              <a:defRPr/>
            </a:pPr>
            <a:r>
              <a:rPr lang="en-US" altLang="en-US" sz="2600" dirty="0">
                <a:latin typeface="Arial" panose="020B0604020202020204" pitchFamily="34" charset="0"/>
                <a:ea typeface="ＭＳ Ｐゴシック" panose="020B0600070205080204" pitchFamily="34" charset="-128"/>
                <a:cs typeface="Arial" panose="020B0604020202020204" pitchFamily="34" charset="0"/>
              </a:rPr>
              <a:t>Compute </a:t>
            </a:r>
            <a:r>
              <a:rPr lang="en-US" altLang="en-US" sz="2600" i="1" dirty="0">
                <a:latin typeface="Arial" panose="020B0604020202020204" pitchFamily="34" charset="0"/>
                <a:ea typeface="ＭＳ Ｐゴシック" panose="020B0600070205080204" pitchFamily="34" charset="-128"/>
                <a:cs typeface="Arial" panose="020B0604020202020204" pitchFamily="34" charset="0"/>
              </a:rPr>
              <a:t>n = p</a:t>
            </a:r>
            <a:r>
              <a:rPr lang="en-US" altLang="en-US" sz="2600" dirty="0">
                <a:latin typeface="Arial" panose="020B0604020202020204" pitchFamily="34" charset="0"/>
                <a:ea typeface="ＭＳ Ｐゴシック" panose="020B0600070205080204" pitchFamily="34" charset="-128"/>
                <a:cs typeface="Arial" panose="020B0604020202020204" pitchFamily="34" charset="0"/>
              </a:rPr>
              <a:t>×</a:t>
            </a:r>
            <a:r>
              <a:rPr lang="en-US" altLang="en-US" sz="2600" i="1" dirty="0">
                <a:latin typeface="Arial" panose="020B0604020202020204" pitchFamily="34" charset="0"/>
                <a:ea typeface="ＭＳ Ｐゴシック" panose="020B0600070205080204" pitchFamily="34" charset="-128"/>
                <a:cs typeface="Arial" panose="020B0604020202020204" pitchFamily="34" charset="0"/>
              </a:rPr>
              <a:t> q</a:t>
            </a:r>
            <a:r>
              <a:rPr lang="en-US" altLang="en-US" sz="2600" dirty="0">
                <a:latin typeface="Arial" panose="020B0604020202020204" pitchFamily="34" charset="0"/>
                <a:ea typeface="ＭＳ Ｐゴシック" panose="020B0600070205080204" pitchFamily="34" charset="-128"/>
                <a:cs typeface="Arial" panose="020B0604020202020204" pitchFamily="34" charset="0"/>
              </a:rPr>
              <a:t>, and </a:t>
            </a:r>
            <a:r>
              <a:rPr lang="en-US" altLang="en-US" sz="2600" i="1" dirty="0">
                <a:latin typeface="Arial" panose="020B0604020202020204" pitchFamily="34" charset="0"/>
                <a:ea typeface="ＭＳ Ｐゴシック" panose="020B0600070205080204" pitchFamily="34" charset="-128"/>
                <a:cs typeface="Arial" panose="020B0604020202020204" pitchFamily="34" charset="0"/>
              </a:rPr>
              <a:t>m = (p - 1)× (q - 1)</a:t>
            </a:r>
          </a:p>
          <a:p>
            <a:pPr>
              <a:defRPr/>
            </a:pPr>
            <a:r>
              <a:rPr lang="en-US" altLang="en-US" sz="2600" dirty="0">
                <a:latin typeface="Arial" panose="020B0604020202020204" pitchFamily="34" charset="0"/>
                <a:ea typeface="ＭＳ Ｐゴシック" panose="020B0600070205080204" pitchFamily="34" charset="-128"/>
                <a:cs typeface="Arial" panose="020B0604020202020204" pitchFamily="34" charset="0"/>
              </a:rPr>
              <a:t>Choose large number </a:t>
            </a:r>
            <a:r>
              <a:rPr lang="en-US" altLang="en-US" sz="2600" i="1" dirty="0">
                <a:latin typeface="Arial" panose="020B0604020202020204" pitchFamily="34" charset="0"/>
                <a:ea typeface="ＭＳ Ｐゴシック" panose="020B0600070205080204" pitchFamily="34" charset="-128"/>
                <a:cs typeface="Arial" panose="020B0604020202020204" pitchFamily="34" charset="0"/>
              </a:rPr>
              <a:t>e </a:t>
            </a:r>
            <a:r>
              <a:rPr lang="en-US" altLang="en-US" sz="2600" dirty="0">
                <a:latin typeface="Arial" panose="020B0604020202020204" pitchFamily="34" charset="0"/>
                <a:ea typeface="ＭＳ Ｐゴシック" panose="020B0600070205080204" pitchFamily="34" charset="-128"/>
                <a:cs typeface="Arial" panose="020B0604020202020204" pitchFamily="34" charset="0"/>
              </a:rPr>
              <a:t>at random so that </a:t>
            </a:r>
            <a:r>
              <a:rPr lang="en-US" altLang="en-US" sz="2600" i="1" dirty="0">
                <a:latin typeface="Arial" panose="020B0604020202020204" pitchFamily="34" charset="0"/>
                <a:ea typeface="ＭＳ Ｐゴシック" panose="020B0600070205080204" pitchFamily="34" charset="-128"/>
                <a:cs typeface="Arial" panose="020B0604020202020204" pitchFamily="34" charset="0"/>
              </a:rPr>
              <a:t>e</a:t>
            </a:r>
            <a:r>
              <a:rPr lang="en-US" altLang="en-US" sz="2600" dirty="0">
                <a:latin typeface="Arial" panose="020B0604020202020204" pitchFamily="34" charset="0"/>
                <a:ea typeface="ＭＳ Ｐゴシック" panose="020B0600070205080204" pitchFamily="34" charset="-128"/>
                <a:cs typeface="Arial" panose="020B0604020202020204" pitchFamily="34" charset="0"/>
              </a:rPr>
              <a:t> and </a:t>
            </a:r>
            <a:r>
              <a:rPr lang="en-US" altLang="en-US" sz="2600" i="1" dirty="0">
                <a:latin typeface="Arial" panose="020B0604020202020204" pitchFamily="34" charset="0"/>
                <a:ea typeface="ＭＳ Ｐゴシック" panose="020B0600070205080204" pitchFamily="34" charset="-128"/>
                <a:cs typeface="Arial" panose="020B0604020202020204" pitchFamily="34" charset="0"/>
              </a:rPr>
              <a:t>m</a:t>
            </a:r>
            <a:r>
              <a:rPr lang="en-US" altLang="en-US" sz="2600" dirty="0">
                <a:latin typeface="Arial" panose="020B0604020202020204" pitchFamily="34" charset="0"/>
                <a:ea typeface="ＭＳ Ｐゴシック" panose="020B0600070205080204" pitchFamily="34" charset="-128"/>
                <a:cs typeface="Arial" panose="020B0604020202020204" pitchFamily="34" charset="0"/>
              </a:rPr>
              <a:t> are relatively prime (no common factors except 1)</a:t>
            </a:r>
          </a:p>
          <a:p>
            <a:pPr>
              <a:defRPr/>
            </a:pPr>
            <a:r>
              <a:rPr lang="en-US" altLang="en-US" sz="2600" dirty="0">
                <a:latin typeface="Arial" panose="020B0604020202020204" pitchFamily="34" charset="0"/>
                <a:ea typeface="ＭＳ Ｐゴシック" panose="020B0600070205080204" pitchFamily="34" charset="-128"/>
                <a:cs typeface="Arial" panose="020B0604020202020204" pitchFamily="34" charset="0"/>
              </a:rPr>
              <a:t>Find unique value </a:t>
            </a:r>
            <a:r>
              <a:rPr lang="en-US" altLang="en-US" sz="2600" i="1" dirty="0">
                <a:latin typeface="Arial" panose="020B0604020202020204" pitchFamily="34" charset="0"/>
                <a:ea typeface="ＭＳ Ｐゴシック" panose="020B0600070205080204" pitchFamily="34" charset="-128"/>
                <a:cs typeface="Arial" panose="020B0604020202020204" pitchFamily="34" charset="0"/>
              </a:rPr>
              <a:t>d</a:t>
            </a:r>
            <a:r>
              <a:rPr lang="en-US" altLang="en-US" sz="2600" dirty="0">
                <a:latin typeface="Arial" panose="020B0604020202020204" pitchFamily="34" charset="0"/>
                <a:ea typeface="ＭＳ Ｐゴシック" panose="020B0600070205080204" pitchFamily="34" charset="-128"/>
                <a:cs typeface="Arial" panose="020B0604020202020204" pitchFamily="34" charset="0"/>
              </a:rPr>
              <a:t>, between 0 and </a:t>
            </a:r>
            <a:r>
              <a:rPr lang="en-US" altLang="en-US" sz="2600" i="1" dirty="0">
                <a:latin typeface="Arial" panose="020B0604020202020204" pitchFamily="34" charset="0"/>
                <a:ea typeface="ＭＳ Ｐゴシック" panose="020B0600070205080204" pitchFamily="34" charset="-128"/>
                <a:cs typeface="Arial" panose="020B0604020202020204" pitchFamily="34" charset="0"/>
              </a:rPr>
              <a:t>m</a:t>
            </a:r>
            <a:r>
              <a:rPr lang="en-US" altLang="en-US" sz="2600" dirty="0">
                <a:latin typeface="Arial" panose="020B0604020202020204" pitchFamily="34" charset="0"/>
                <a:ea typeface="ＭＳ Ｐゴシック" panose="020B0600070205080204" pitchFamily="34" charset="-128"/>
                <a:cs typeface="Arial" panose="020B0604020202020204" pitchFamily="34" charset="0"/>
              </a:rPr>
              <a:t>, such that </a:t>
            </a:r>
          </a:p>
          <a:p>
            <a:pPr marL="339725" indent="0">
              <a:buFontTx/>
              <a:buNone/>
              <a:defRPr/>
            </a:pPr>
            <a:r>
              <a:rPr lang="en-US" altLang="en-US" sz="2600" dirty="0">
                <a:latin typeface="Arial" panose="020B0604020202020204" pitchFamily="34" charset="0"/>
                <a:ea typeface="ＭＳ Ｐゴシック" panose="020B0600070205080204" pitchFamily="34" charset="-128"/>
                <a:cs typeface="Arial" panose="020B0604020202020204" pitchFamily="34" charset="0"/>
              </a:rPr>
              <a:t>(</a:t>
            </a:r>
            <a:r>
              <a:rPr lang="en-US" altLang="en-US" sz="2600" i="1" dirty="0">
                <a:latin typeface="Arial" panose="020B0604020202020204" pitchFamily="34" charset="0"/>
                <a:ea typeface="ＭＳ Ｐゴシック" panose="020B0600070205080204" pitchFamily="34" charset="-128"/>
                <a:cs typeface="Arial" panose="020B0604020202020204" pitchFamily="34" charset="0"/>
              </a:rPr>
              <a:t>e </a:t>
            </a:r>
            <a:r>
              <a:rPr lang="en-US" altLang="en-US" sz="2600" dirty="0">
                <a:latin typeface="Arial" panose="020B0604020202020204" pitchFamily="34" charset="0"/>
                <a:ea typeface="ＭＳ Ｐゴシック" panose="020B0600070205080204" pitchFamily="34" charset="-128"/>
                <a:cs typeface="Arial" panose="020B0604020202020204" pitchFamily="34" charset="0"/>
              </a:rPr>
              <a:t>× </a:t>
            </a:r>
            <a:r>
              <a:rPr lang="en-US" altLang="en-US" sz="2600" i="1" dirty="0">
                <a:latin typeface="Arial" panose="020B0604020202020204" pitchFamily="34" charset="0"/>
                <a:ea typeface="ＭＳ Ｐゴシック" panose="020B0600070205080204" pitchFamily="34" charset="-128"/>
                <a:cs typeface="Arial" panose="020B0604020202020204" pitchFamily="34" charset="0"/>
              </a:rPr>
              <a:t>d</a:t>
            </a:r>
            <a:r>
              <a:rPr lang="en-US" altLang="en-US" sz="2600" dirty="0">
                <a:latin typeface="Arial" panose="020B0604020202020204" pitchFamily="34" charset="0"/>
                <a:ea typeface="ＭＳ Ｐゴシック" panose="020B0600070205080204" pitchFamily="34" charset="-128"/>
                <a:cs typeface="Arial" panose="020B0604020202020204" pitchFamily="34" charset="0"/>
              </a:rPr>
              <a:t>) modulo </a:t>
            </a:r>
            <a:r>
              <a:rPr lang="en-US" altLang="en-US" sz="2600" i="1" dirty="0">
                <a:latin typeface="Arial" panose="020B0604020202020204" pitchFamily="34" charset="0"/>
                <a:ea typeface="ＭＳ Ｐゴシック" panose="020B0600070205080204" pitchFamily="34" charset="-128"/>
                <a:cs typeface="Arial" panose="020B0604020202020204" pitchFamily="34" charset="0"/>
              </a:rPr>
              <a:t>m</a:t>
            </a:r>
            <a:r>
              <a:rPr lang="en-US" altLang="en-US" sz="2600" dirty="0">
                <a:latin typeface="Arial" panose="020B0604020202020204" pitchFamily="34" charset="0"/>
                <a:ea typeface="ＭＳ Ｐゴシック" panose="020B0600070205080204" pitchFamily="34" charset="-128"/>
                <a:cs typeface="Arial" panose="020B0604020202020204" pitchFamily="34" charset="0"/>
              </a:rPr>
              <a:t> = 1 </a:t>
            </a:r>
          </a:p>
          <a:p>
            <a:pPr>
              <a:defRPr/>
            </a:pPr>
            <a:r>
              <a:rPr lang="en-US" altLang="en-US" sz="2600" dirty="0">
                <a:latin typeface="Arial" panose="020B0604020202020204" pitchFamily="34" charset="0"/>
                <a:ea typeface="ＭＳ Ｐゴシック" panose="020B0600070205080204" pitchFamily="34" charset="-128"/>
                <a:cs typeface="Arial" panose="020B0604020202020204" pitchFamily="34" charset="0"/>
              </a:rPr>
              <a:t>Public key = (n, e); Private key = d</a:t>
            </a:r>
          </a:p>
        </p:txBody>
      </p:sp>
      <p:sp>
        <p:nvSpPr>
          <p:cNvPr id="4" name="TextBox 3">
            <a:extLst>
              <a:ext uri="{FF2B5EF4-FFF2-40B4-BE49-F238E27FC236}">
                <a16:creationId xmlns:a16="http://schemas.microsoft.com/office/drawing/2014/main" id="{382C6ED0-59DD-4E39-86A4-DBE1E87AF23E}"/>
              </a:ext>
            </a:extLst>
          </p:cNvPr>
          <p:cNvSpPr txBox="1"/>
          <p:nvPr/>
        </p:nvSpPr>
        <p:spPr>
          <a:xfrm>
            <a:off x="0" y="960680"/>
            <a:ext cx="2876550" cy="400110"/>
          </a:xfrm>
          <a:prstGeom prst="rect">
            <a:avLst/>
          </a:prstGeom>
          <a:noFill/>
        </p:spPr>
        <p:txBody>
          <a:bodyPr wrap="square" rtlCol="0">
            <a:spAutoFit/>
          </a:bodyPr>
          <a:lstStyle/>
          <a:p>
            <a:r>
              <a:rPr lang="fr-CA" sz="2000" dirty="0" err="1">
                <a:solidFill>
                  <a:srgbClr val="FF0000"/>
                </a:solidFill>
              </a:rPr>
              <a:t>Belong</a:t>
            </a:r>
            <a:r>
              <a:rPr lang="fr-CA" sz="2000" dirty="0">
                <a:solidFill>
                  <a:srgbClr val="FF0000"/>
                </a:solidFill>
              </a:rPr>
              <a:t> to </a:t>
            </a:r>
            <a:r>
              <a:rPr lang="en-US" sz="2000" dirty="0">
                <a:solidFill>
                  <a:srgbClr val="FF0000"/>
                </a:solidFill>
                <a:ea typeface="ＭＳ Ｐゴシック" pitchFamily="34" charset="-128"/>
                <a:cs typeface="Arial" panose="020B0604020202020204" pitchFamily="34" charset="0"/>
              </a:rPr>
              <a:t>as</a:t>
            </a:r>
            <a:r>
              <a:rPr lang="en-US" altLang="en-US" sz="2000" dirty="0">
                <a:solidFill>
                  <a:srgbClr val="FF0000"/>
                </a:solidFill>
                <a:ea typeface="ＭＳ Ｐゴシック" pitchFamily="34" charset="-128"/>
                <a:cs typeface="Arial" panose="020B0604020202020204" pitchFamily="34" charset="0"/>
              </a:rPr>
              <a:t>ymmetric</a:t>
            </a:r>
            <a:endParaRPr lang="en-US" sz="2000" dirty="0">
              <a:solidFill>
                <a:srgbClr val="FF0000"/>
              </a:solidFill>
            </a:endParaRPr>
          </a:p>
        </p:txBody>
      </p:sp>
      <p:sp>
        <p:nvSpPr>
          <p:cNvPr id="5" name="TextBox 4">
            <a:extLst>
              <a:ext uri="{FF2B5EF4-FFF2-40B4-BE49-F238E27FC236}">
                <a16:creationId xmlns:a16="http://schemas.microsoft.com/office/drawing/2014/main" id="{09F529E1-BC6D-460D-A4B7-1A69F6643166}"/>
              </a:ext>
            </a:extLst>
          </p:cNvPr>
          <p:cNvSpPr txBox="1"/>
          <p:nvPr/>
        </p:nvSpPr>
        <p:spPr>
          <a:xfrm>
            <a:off x="8315325" y="2066925"/>
            <a:ext cx="2085975" cy="369332"/>
          </a:xfrm>
          <a:prstGeom prst="rect">
            <a:avLst/>
          </a:prstGeom>
          <a:noFill/>
        </p:spPr>
        <p:txBody>
          <a:bodyPr wrap="square" rtlCol="0">
            <a:spAutoFit/>
          </a:bodyPr>
          <a:lstStyle/>
          <a:p>
            <a:r>
              <a:rPr lang="fr-CA" dirty="0"/>
              <a:t> </a:t>
            </a:r>
            <a:endParaRPr lang="en-US" dirty="0"/>
          </a:p>
        </p:txBody>
      </p:sp>
      <p:sp>
        <p:nvSpPr>
          <p:cNvPr id="6" name="TextBox 5">
            <a:extLst>
              <a:ext uri="{FF2B5EF4-FFF2-40B4-BE49-F238E27FC236}">
                <a16:creationId xmlns:a16="http://schemas.microsoft.com/office/drawing/2014/main" id="{97E9C6CF-9E6F-487A-9BAE-457786DCFB8C}"/>
              </a:ext>
            </a:extLst>
          </p:cNvPr>
          <p:cNvSpPr txBox="1"/>
          <p:nvPr/>
        </p:nvSpPr>
        <p:spPr>
          <a:xfrm>
            <a:off x="8458200" y="3019425"/>
            <a:ext cx="2209800" cy="2031325"/>
          </a:xfrm>
          <a:prstGeom prst="rect">
            <a:avLst/>
          </a:prstGeom>
          <a:noFill/>
        </p:spPr>
        <p:txBody>
          <a:bodyPr wrap="square" rtlCol="0">
            <a:spAutoFit/>
          </a:bodyPr>
          <a:lstStyle/>
          <a:p>
            <a:r>
              <a:rPr lang="en-US" dirty="0"/>
              <a:t>We start use RSA to communicate. We just use that to share some random number. Then we will use them for symmetric</a:t>
            </a:r>
          </a:p>
        </p:txBody>
      </p:sp>
    </p:spTree>
    <p:extLst>
      <p:ext uri="{BB962C8B-B14F-4D97-AF65-F5344CB8AC3E}">
        <p14:creationId xmlns:p14="http://schemas.microsoft.com/office/powerpoint/2010/main" val="9386866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Encryption Public-Key Systems (2 of 4)</a:t>
            </a:r>
            <a:endParaRPr lang="en-US" sz="3600" b="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64553" y="1260764"/>
            <a:ext cx="8465130" cy="4865400"/>
          </a:xfrm>
        </p:spPr>
        <p:txBody>
          <a:bodyPr>
            <a:normAutofit/>
          </a:bodyPr>
          <a:lstStyle/>
          <a:p>
            <a:pPr>
              <a:buFontTx/>
              <a:buNone/>
            </a:pPr>
            <a:r>
              <a:rPr lang="en-US" altLang="en-US" sz="2600" dirty="0">
                <a:latin typeface="Arial" panose="020B0604020202020204" pitchFamily="34" charset="0"/>
                <a:ea typeface="ＭＳ Ｐゴシック" pitchFamily="34" charset="-128"/>
                <a:cs typeface="Arial" panose="020B0604020202020204" pitchFamily="34" charset="0"/>
              </a:rPr>
              <a:t>RSA key creation, example</a:t>
            </a:r>
          </a:p>
          <a:p>
            <a:r>
              <a:rPr lang="en-US" altLang="en-US" sz="2600" i="1" dirty="0">
                <a:latin typeface="Arial" panose="020B0604020202020204" pitchFamily="34" charset="0"/>
                <a:ea typeface="ＭＳ Ｐゴシック" pitchFamily="34" charset="-128"/>
                <a:cs typeface="Arial" panose="020B0604020202020204" pitchFamily="34" charset="0"/>
              </a:rPr>
              <a:t>p</a:t>
            </a:r>
            <a:r>
              <a:rPr lang="en-US" altLang="en-US" sz="2600" dirty="0">
                <a:latin typeface="Arial" panose="020B0604020202020204" pitchFamily="34" charset="0"/>
                <a:ea typeface="ＭＳ Ｐゴシック" pitchFamily="34" charset="-128"/>
                <a:cs typeface="Arial" panose="020B0604020202020204" pitchFamily="34" charset="0"/>
              </a:rPr>
              <a:t> = 7, </a:t>
            </a:r>
            <a:r>
              <a:rPr lang="en-US" altLang="en-US" sz="2600" i="1" dirty="0">
                <a:latin typeface="Arial" panose="020B0604020202020204" pitchFamily="34" charset="0"/>
                <a:ea typeface="ＭＳ Ｐゴシック" pitchFamily="34" charset="-128"/>
                <a:cs typeface="Arial" panose="020B0604020202020204" pitchFamily="34" charset="0"/>
              </a:rPr>
              <a:t>q</a:t>
            </a:r>
            <a:r>
              <a:rPr lang="en-US" altLang="en-US" sz="2600" dirty="0">
                <a:latin typeface="Arial" panose="020B0604020202020204" pitchFamily="34" charset="0"/>
                <a:ea typeface="ＭＳ Ｐゴシック" pitchFamily="34" charset="-128"/>
                <a:cs typeface="Arial" panose="020B0604020202020204" pitchFamily="34" charset="0"/>
              </a:rPr>
              <a:t> = 13</a:t>
            </a:r>
          </a:p>
          <a:p>
            <a:r>
              <a:rPr lang="en-US" altLang="en-US" sz="2600" i="1" dirty="0">
                <a:latin typeface="Arial" panose="020B0604020202020204" pitchFamily="34" charset="0"/>
                <a:ea typeface="ＭＳ Ｐゴシック" pitchFamily="34" charset="-128"/>
                <a:cs typeface="Arial" panose="020B0604020202020204" pitchFamily="34" charset="0"/>
              </a:rPr>
              <a:t>n</a:t>
            </a:r>
            <a:r>
              <a:rPr lang="en-US" altLang="en-US" sz="2600" dirty="0">
                <a:latin typeface="Arial" panose="020B0604020202020204" pitchFamily="34" charset="0"/>
                <a:ea typeface="ＭＳ Ｐゴシック" pitchFamily="34" charset="-128"/>
                <a:cs typeface="Arial" panose="020B0604020202020204" pitchFamily="34" charset="0"/>
              </a:rPr>
              <a:t> = 7 × 13 = 91, and </a:t>
            </a:r>
            <a:r>
              <a:rPr lang="en-US" altLang="en-US" sz="2600" i="1" dirty="0">
                <a:latin typeface="Arial" panose="020B0604020202020204" pitchFamily="34" charset="0"/>
                <a:ea typeface="ＭＳ Ｐゴシック" pitchFamily="34" charset="-128"/>
                <a:cs typeface="Arial" panose="020B0604020202020204" pitchFamily="34" charset="0"/>
              </a:rPr>
              <a:t>m = 6 </a:t>
            </a:r>
            <a:r>
              <a:rPr lang="en-US" altLang="en-US" sz="2600" dirty="0">
                <a:latin typeface="Arial" panose="020B0604020202020204" pitchFamily="34" charset="0"/>
                <a:ea typeface="ＭＳ Ｐゴシック" pitchFamily="34" charset="-128"/>
                <a:cs typeface="Arial" panose="020B0604020202020204" pitchFamily="34" charset="0"/>
              </a:rPr>
              <a:t>× 12 = 72</a:t>
            </a:r>
          </a:p>
          <a:p>
            <a:r>
              <a:rPr lang="en-US" altLang="en-US" sz="2600" dirty="0">
                <a:latin typeface="Arial" panose="020B0604020202020204" pitchFamily="34" charset="0"/>
                <a:ea typeface="ＭＳ Ｐゴシック" pitchFamily="34" charset="-128"/>
                <a:cs typeface="Arial" panose="020B0604020202020204" pitchFamily="34" charset="0"/>
              </a:rPr>
              <a:t>Let </a:t>
            </a:r>
            <a:r>
              <a:rPr lang="en-US" altLang="en-US" sz="2600" i="1" dirty="0">
                <a:latin typeface="Arial" panose="020B0604020202020204" pitchFamily="34" charset="0"/>
                <a:ea typeface="ＭＳ Ｐゴシック" pitchFamily="34" charset="-128"/>
                <a:cs typeface="Arial" panose="020B0604020202020204" pitchFamily="34" charset="0"/>
              </a:rPr>
              <a:t>e = 77</a:t>
            </a:r>
            <a:r>
              <a:rPr lang="en-US" altLang="en-US" sz="2600" dirty="0">
                <a:latin typeface="Arial" panose="020B0604020202020204" pitchFamily="34" charset="0"/>
                <a:ea typeface="ＭＳ Ｐゴシック" pitchFamily="34" charset="-128"/>
                <a:cs typeface="Arial" panose="020B0604020202020204" pitchFamily="34" charset="0"/>
              </a:rPr>
              <a:t>   (72 = 2 * 2 * 2 * 3 * 3, 77 = 7 * 11)</a:t>
            </a:r>
          </a:p>
          <a:p>
            <a:r>
              <a:rPr lang="en-US" altLang="en-US" sz="2600" i="1" dirty="0">
                <a:latin typeface="Arial" panose="020B0604020202020204" pitchFamily="34" charset="0"/>
                <a:ea typeface="ＭＳ Ｐゴシック" pitchFamily="34" charset="-128"/>
                <a:cs typeface="Arial" panose="020B0604020202020204" pitchFamily="34" charset="0"/>
              </a:rPr>
              <a:t>d</a:t>
            </a:r>
            <a:r>
              <a:rPr lang="en-US" altLang="en-US" sz="2600" dirty="0">
                <a:latin typeface="Arial" panose="020B0604020202020204" pitchFamily="34" charset="0"/>
                <a:ea typeface="ＭＳ Ｐゴシック" pitchFamily="34" charset="-128"/>
                <a:cs typeface="Arial" panose="020B0604020202020204" pitchFamily="34" charset="0"/>
              </a:rPr>
              <a:t> = 29</a:t>
            </a:r>
          </a:p>
          <a:p>
            <a:r>
              <a:rPr lang="en-US" altLang="en-US" sz="2600" dirty="0">
                <a:latin typeface="Arial" panose="020B0604020202020204" pitchFamily="34" charset="0"/>
                <a:ea typeface="ＭＳ Ｐゴシック" pitchFamily="34" charset="-128"/>
                <a:cs typeface="Arial" panose="020B0604020202020204" pitchFamily="34" charset="0"/>
              </a:rPr>
              <a:t>Public key = (91, 25); Private key = 29</a:t>
            </a:r>
          </a:p>
        </p:txBody>
      </p:sp>
    </p:spTree>
    <p:extLst>
      <p:ext uri="{BB962C8B-B14F-4D97-AF65-F5344CB8AC3E}">
        <p14:creationId xmlns:p14="http://schemas.microsoft.com/office/powerpoint/2010/main" val="232704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Encryption Public-Key Systems (3 of 4)</a:t>
            </a:r>
            <a:endParaRPr lang="en-US" sz="3600" b="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64553" y="1260764"/>
            <a:ext cx="8465130" cy="4865400"/>
          </a:xfrm>
        </p:spPr>
        <p:txBody>
          <a:bodyPr>
            <a:normAutofit/>
          </a:bodyPr>
          <a:lstStyle/>
          <a:p>
            <a:pPr>
              <a:buFontTx/>
              <a:buNone/>
            </a:pPr>
            <a:r>
              <a:rPr lang="en-US" altLang="en-US" sz="2600" dirty="0">
                <a:latin typeface="Arial" panose="020B0604020202020204" pitchFamily="34" charset="0"/>
                <a:ea typeface="ＭＳ Ｐゴシック" pitchFamily="34" charset="-128"/>
                <a:cs typeface="Arial" panose="020B0604020202020204" pitchFamily="34" charset="0"/>
              </a:rPr>
              <a:t>RSA encryption</a:t>
            </a:r>
          </a:p>
          <a:p>
            <a:pPr>
              <a:buFontTx/>
              <a:buNone/>
            </a:pPr>
            <a:r>
              <a:rPr lang="en-US" altLang="en-US" sz="2600" dirty="0">
                <a:latin typeface="Arial" panose="020B0604020202020204" pitchFamily="34" charset="0"/>
                <a:ea typeface="ＭＳ Ｐゴシック" pitchFamily="34" charset="-128"/>
                <a:cs typeface="Arial" panose="020B0604020202020204" pitchFamily="34" charset="0"/>
              </a:rPr>
              <a:t>Given public key (</a:t>
            </a:r>
            <a:r>
              <a:rPr lang="en-US" altLang="en-US" sz="2600" i="1" dirty="0">
                <a:latin typeface="Arial" panose="020B0604020202020204" pitchFamily="34" charset="0"/>
                <a:ea typeface="ＭＳ Ｐゴシック" pitchFamily="34" charset="-128"/>
                <a:cs typeface="Arial" panose="020B0604020202020204" pitchFamily="34" charset="0"/>
              </a:rPr>
              <a:t>n</a:t>
            </a:r>
            <a:r>
              <a:rPr lang="en-US" altLang="en-US" sz="2600" dirty="0">
                <a:latin typeface="Arial" panose="020B0604020202020204" pitchFamily="34" charset="0"/>
                <a:ea typeface="ＭＳ Ｐゴシック" pitchFamily="34" charset="-128"/>
                <a:cs typeface="Arial" panose="020B0604020202020204" pitchFamily="34" charset="0"/>
              </a:rPr>
              <a:t>, </a:t>
            </a:r>
            <a:r>
              <a:rPr lang="en-US" altLang="en-US" sz="2600" i="1" dirty="0">
                <a:latin typeface="Arial" panose="020B0604020202020204" pitchFamily="34" charset="0"/>
                <a:ea typeface="ＭＳ Ｐゴシック" pitchFamily="34" charset="-128"/>
                <a:cs typeface="Arial" panose="020B0604020202020204" pitchFamily="34" charset="0"/>
              </a:rPr>
              <a:t>e</a:t>
            </a:r>
            <a:r>
              <a:rPr lang="en-US" altLang="en-US" sz="2600" dirty="0">
                <a:latin typeface="Arial" panose="020B0604020202020204" pitchFamily="34" charset="0"/>
                <a:ea typeface="ＭＳ Ｐゴシック" pitchFamily="34" charset="-128"/>
                <a:cs typeface="Arial" panose="020B0604020202020204" pitchFamily="34" charset="0"/>
              </a:rPr>
              <a:t>)</a:t>
            </a:r>
          </a:p>
          <a:p>
            <a:r>
              <a:rPr lang="en-US" altLang="en-US" sz="2600" dirty="0">
                <a:latin typeface="Arial" panose="020B0604020202020204" pitchFamily="34" charset="0"/>
                <a:ea typeface="ＭＳ Ｐゴシック" pitchFamily="34" charset="-128"/>
                <a:cs typeface="Arial" panose="020B0604020202020204" pitchFamily="34" charset="0"/>
              </a:rPr>
              <a:t>Convert message to integer P</a:t>
            </a:r>
          </a:p>
          <a:p>
            <a:r>
              <a:rPr lang="en-US" altLang="en-US" sz="2600" dirty="0">
                <a:latin typeface="Arial" panose="020B0604020202020204" pitchFamily="34" charset="0"/>
                <a:ea typeface="ＭＳ Ｐゴシック" pitchFamily="34" charset="-128"/>
                <a:cs typeface="Arial" panose="020B0604020202020204" pitchFamily="34" charset="0"/>
              </a:rPr>
              <a:t>Calculate C = P</a:t>
            </a:r>
            <a:r>
              <a:rPr lang="en-US" altLang="en-US" sz="2600" i="1" baseline="30000" dirty="0">
                <a:latin typeface="Arial" panose="020B0604020202020204" pitchFamily="34" charset="0"/>
                <a:ea typeface="ＭＳ Ｐゴシック" pitchFamily="34" charset="-128"/>
                <a:cs typeface="Arial" panose="020B0604020202020204" pitchFamily="34" charset="0"/>
              </a:rPr>
              <a:t>e</a:t>
            </a:r>
            <a:r>
              <a:rPr lang="en-US" altLang="en-US" sz="2600" dirty="0">
                <a:latin typeface="Arial" panose="020B0604020202020204" pitchFamily="34" charset="0"/>
                <a:ea typeface="ＭＳ Ｐゴシック" pitchFamily="34" charset="-128"/>
                <a:cs typeface="Arial" panose="020B0604020202020204" pitchFamily="34" charset="0"/>
              </a:rPr>
              <a:t> modulo </a:t>
            </a:r>
            <a:r>
              <a:rPr lang="en-US" altLang="en-US" sz="2600" i="1" dirty="0">
                <a:latin typeface="Arial" panose="020B0604020202020204" pitchFamily="34" charset="0"/>
                <a:ea typeface="ＭＳ Ｐゴシック" pitchFamily="34" charset="-128"/>
                <a:cs typeface="Arial" panose="020B0604020202020204" pitchFamily="34" charset="0"/>
              </a:rPr>
              <a:t>n</a:t>
            </a:r>
            <a:endParaRPr lang="en-US" altLang="en-US" sz="2600" dirty="0">
              <a:latin typeface="Arial" panose="020B0604020202020204" pitchFamily="34" charset="0"/>
              <a:ea typeface="ＭＳ Ｐゴシック" pitchFamily="34" charset="-128"/>
              <a:cs typeface="Arial" panose="020B0604020202020204" pitchFamily="34" charset="0"/>
            </a:endParaRPr>
          </a:p>
          <a:p>
            <a:pPr>
              <a:buFontTx/>
              <a:buNone/>
            </a:pPr>
            <a:r>
              <a:rPr lang="en-US" altLang="en-US" sz="2600" dirty="0">
                <a:latin typeface="Arial" panose="020B0604020202020204" pitchFamily="34" charset="0"/>
                <a:ea typeface="ＭＳ Ｐゴシック" pitchFamily="34" charset="-128"/>
                <a:cs typeface="Arial" panose="020B0604020202020204" pitchFamily="34" charset="0"/>
              </a:rPr>
              <a:t>RSA decryption</a:t>
            </a:r>
          </a:p>
          <a:p>
            <a:pPr>
              <a:buFontTx/>
              <a:buNone/>
            </a:pPr>
            <a:r>
              <a:rPr lang="en-US" altLang="en-US" sz="2600" dirty="0">
                <a:latin typeface="Arial" panose="020B0604020202020204" pitchFamily="34" charset="0"/>
                <a:ea typeface="ＭＳ Ｐゴシック" pitchFamily="34" charset="-128"/>
                <a:cs typeface="Arial" panose="020B0604020202020204" pitchFamily="34" charset="0"/>
              </a:rPr>
              <a:t>Given private key </a:t>
            </a:r>
            <a:r>
              <a:rPr lang="en-US" altLang="en-US" sz="2600" i="1" dirty="0">
                <a:latin typeface="Arial" panose="020B0604020202020204" pitchFamily="34" charset="0"/>
                <a:ea typeface="ＭＳ Ｐゴシック" pitchFamily="34" charset="-128"/>
                <a:cs typeface="Arial" panose="020B0604020202020204" pitchFamily="34" charset="0"/>
              </a:rPr>
              <a:t>d</a:t>
            </a:r>
          </a:p>
          <a:p>
            <a:r>
              <a:rPr lang="en-US" altLang="en-US" sz="2600" dirty="0">
                <a:latin typeface="Arial" panose="020B0604020202020204" pitchFamily="34" charset="0"/>
                <a:ea typeface="ＭＳ Ｐゴシック" pitchFamily="34" charset="-128"/>
                <a:cs typeface="Arial" panose="020B0604020202020204" pitchFamily="34" charset="0"/>
              </a:rPr>
              <a:t>Calculate C</a:t>
            </a:r>
            <a:r>
              <a:rPr lang="en-US" altLang="en-US" sz="2600" i="1" baseline="30000" dirty="0">
                <a:latin typeface="Arial" panose="020B0604020202020204" pitchFamily="34" charset="0"/>
                <a:ea typeface="ＭＳ Ｐゴシック" pitchFamily="34" charset="-128"/>
                <a:cs typeface="Arial" panose="020B0604020202020204" pitchFamily="34" charset="0"/>
              </a:rPr>
              <a:t>d</a:t>
            </a:r>
            <a:r>
              <a:rPr lang="en-US" altLang="en-US" sz="2600" dirty="0">
                <a:latin typeface="Arial" panose="020B0604020202020204" pitchFamily="34" charset="0"/>
                <a:ea typeface="ＭＳ Ｐゴシック" pitchFamily="34" charset="-128"/>
                <a:cs typeface="Arial" panose="020B0604020202020204" pitchFamily="34" charset="0"/>
              </a:rPr>
              <a:t> modulo </a:t>
            </a:r>
            <a:r>
              <a:rPr lang="en-US" altLang="en-US" sz="2600" i="1" dirty="0">
                <a:latin typeface="Arial" panose="020B0604020202020204" pitchFamily="34" charset="0"/>
                <a:ea typeface="ＭＳ Ｐゴシック" pitchFamily="34" charset="-128"/>
                <a:cs typeface="Arial" panose="020B0604020202020204" pitchFamily="34" charset="0"/>
              </a:rPr>
              <a:t>n</a:t>
            </a:r>
          </a:p>
        </p:txBody>
      </p:sp>
    </p:spTree>
    <p:extLst>
      <p:ext uri="{BB962C8B-B14F-4D97-AF65-F5344CB8AC3E}">
        <p14:creationId xmlns:p14="http://schemas.microsoft.com/office/powerpoint/2010/main" val="26628416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Encryption Public-Key Systems (4</a:t>
            </a:r>
            <a:r>
              <a:rPr lang="en-US" altLang="en-US" sz="3600" b="0" baseline="0" dirty="0">
                <a:latin typeface="Arial" panose="020B0604020202020204" pitchFamily="34" charset="0"/>
                <a:ea typeface="ＭＳ Ｐゴシック" pitchFamily="34" charset="-128"/>
                <a:cs typeface="Arial" panose="020B0604020202020204" pitchFamily="34" charset="0"/>
              </a:rPr>
              <a:t> of 4)</a:t>
            </a:r>
            <a:endParaRPr lang="en-US" sz="3600" b="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64553" y="1260764"/>
            <a:ext cx="8465130" cy="4865400"/>
          </a:xfrm>
        </p:spPr>
        <p:txBody>
          <a:bodyPr>
            <a:normAutofit/>
          </a:bodyPr>
          <a:lstStyle/>
          <a:p>
            <a:pPr>
              <a:buFontTx/>
              <a:buNone/>
            </a:pPr>
            <a:r>
              <a:rPr lang="en-US" altLang="en-US" sz="2600" dirty="0">
                <a:latin typeface="Arial" panose="020B0604020202020204" pitchFamily="34" charset="0"/>
                <a:ea typeface="ＭＳ Ｐゴシック" pitchFamily="34" charset="-128"/>
                <a:cs typeface="Arial" panose="020B0604020202020204" pitchFamily="34" charset="0"/>
              </a:rPr>
              <a:t>RSA encryption, example</a:t>
            </a:r>
          </a:p>
          <a:p>
            <a:pPr>
              <a:buFontTx/>
              <a:buNone/>
            </a:pPr>
            <a:r>
              <a:rPr lang="en-US" altLang="en-US" sz="2600" dirty="0">
                <a:latin typeface="Arial" panose="020B0604020202020204" pitchFamily="34" charset="0"/>
                <a:ea typeface="ＭＳ Ｐゴシック" pitchFamily="34" charset="-128"/>
                <a:cs typeface="Arial" panose="020B0604020202020204" pitchFamily="34" charset="0"/>
              </a:rPr>
              <a:t>Given public key (91, 25)</a:t>
            </a:r>
          </a:p>
          <a:p>
            <a:r>
              <a:rPr lang="en-US" altLang="en-US" sz="2600" dirty="0">
                <a:latin typeface="Arial" panose="020B0604020202020204" pitchFamily="34" charset="0"/>
                <a:ea typeface="ＭＳ Ｐゴシック" pitchFamily="34" charset="-128"/>
                <a:cs typeface="Arial" panose="020B0604020202020204" pitchFamily="34" charset="0"/>
              </a:rPr>
              <a:t>Convert message to integer P = 37</a:t>
            </a:r>
          </a:p>
          <a:p>
            <a:r>
              <a:rPr lang="en-US" altLang="en-US" sz="2600" dirty="0">
                <a:latin typeface="Arial" panose="020B0604020202020204" pitchFamily="34" charset="0"/>
                <a:ea typeface="ＭＳ Ｐゴシック" pitchFamily="34" charset="-128"/>
                <a:cs typeface="Arial" panose="020B0604020202020204" pitchFamily="34" charset="0"/>
              </a:rPr>
              <a:t>Calculate C = 37</a:t>
            </a:r>
            <a:r>
              <a:rPr lang="en-US" altLang="en-US" sz="2600" baseline="30000" dirty="0">
                <a:latin typeface="Arial" panose="020B0604020202020204" pitchFamily="34" charset="0"/>
                <a:ea typeface="ＭＳ Ｐゴシック" pitchFamily="34" charset="-128"/>
                <a:cs typeface="Arial" panose="020B0604020202020204" pitchFamily="34" charset="0"/>
              </a:rPr>
              <a:t>25</a:t>
            </a:r>
            <a:r>
              <a:rPr lang="en-US" altLang="en-US" sz="2600" dirty="0">
                <a:latin typeface="Arial" panose="020B0604020202020204" pitchFamily="34" charset="0"/>
                <a:ea typeface="ＭＳ Ｐゴシック" pitchFamily="34" charset="-128"/>
                <a:cs typeface="Arial" panose="020B0604020202020204" pitchFamily="34" charset="0"/>
              </a:rPr>
              <a:t> modulo 91 = 46</a:t>
            </a:r>
          </a:p>
          <a:p>
            <a:pPr>
              <a:buFontTx/>
              <a:buNone/>
            </a:pPr>
            <a:r>
              <a:rPr lang="en-US" altLang="en-US" sz="2600" dirty="0">
                <a:latin typeface="Arial" panose="020B0604020202020204" pitchFamily="34" charset="0"/>
                <a:ea typeface="ＭＳ Ｐゴシック" pitchFamily="34" charset="-128"/>
                <a:cs typeface="Arial" panose="020B0604020202020204" pitchFamily="34" charset="0"/>
              </a:rPr>
              <a:t>RSA decryption</a:t>
            </a:r>
          </a:p>
          <a:p>
            <a:pPr>
              <a:buFontTx/>
              <a:buNone/>
            </a:pPr>
            <a:r>
              <a:rPr lang="en-US" altLang="en-US" sz="2600" dirty="0">
                <a:latin typeface="Arial" panose="020B0604020202020204" pitchFamily="34" charset="0"/>
                <a:ea typeface="ＭＳ Ｐゴシック" pitchFamily="34" charset="-128"/>
                <a:cs typeface="Arial" panose="020B0604020202020204" pitchFamily="34" charset="0"/>
              </a:rPr>
              <a:t>Given private key 29</a:t>
            </a:r>
          </a:p>
          <a:p>
            <a:r>
              <a:rPr lang="en-US" altLang="en-US" sz="2600" dirty="0">
                <a:latin typeface="Arial" panose="020B0604020202020204" pitchFamily="34" charset="0"/>
                <a:ea typeface="ＭＳ Ｐゴシック" pitchFamily="34" charset="-128"/>
                <a:cs typeface="Arial" panose="020B0604020202020204" pitchFamily="34" charset="0"/>
              </a:rPr>
              <a:t>Calculate 46</a:t>
            </a:r>
            <a:r>
              <a:rPr lang="en-US" altLang="en-US" sz="2600" baseline="30000" dirty="0">
                <a:latin typeface="Arial" panose="020B0604020202020204" pitchFamily="34" charset="0"/>
                <a:ea typeface="ＭＳ Ｐゴシック" pitchFamily="34" charset="-128"/>
                <a:cs typeface="Arial" panose="020B0604020202020204" pitchFamily="34" charset="0"/>
              </a:rPr>
              <a:t>29</a:t>
            </a:r>
            <a:r>
              <a:rPr lang="en-US" altLang="en-US" sz="2600" dirty="0">
                <a:latin typeface="Arial" panose="020B0604020202020204" pitchFamily="34" charset="0"/>
                <a:ea typeface="ＭＳ Ｐゴシック" pitchFamily="34" charset="-128"/>
                <a:cs typeface="Arial" panose="020B0604020202020204" pitchFamily="34" charset="0"/>
              </a:rPr>
              <a:t> modulo 91 = 37</a:t>
            </a:r>
            <a:endParaRPr lang="en-US" altLang="en-US" sz="2600" baseline="30000" dirty="0">
              <a:latin typeface="Arial" panose="020B0604020202020204" pitchFamily="34" charset="0"/>
              <a:ea typeface="ＭＳ Ｐゴシック" pitchFamily="34" charset="-128"/>
              <a:cs typeface="Arial" panose="020B0604020202020204" pitchFamily="34" charset="0"/>
            </a:endParaRPr>
          </a:p>
        </p:txBody>
      </p:sp>
    </p:spTree>
    <p:extLst>
      <p:ext uri="{BB962C8B-B14F-4D97-AF65-F5344CB8AC3E}">
        <p14:creationId xmlns:p14="http://schemas.microsoft.com/office/powerpoint/2010/main" val="563295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12C942F-F24D-4BCD-8AED-7A85B083B0A7}"/>
              </a:ext>
            </a:extLst>
          </p:cNvPr>
          <p:cNvPicPr>
            <a:picLocks noChangeAspect="1"/>
          </p:cNvPicPr>
          <p:nvPr/>
        </p:nvPicPr>
        <p:blipFill>
          <a:blip r:embed="rId2"/>
          <a:stretch>
            <a:fillRect/>
          </a:stretch>
        </p:blipFill>
        <p:spPr>
          <a:xfrm>
            <a:off x="0" y="606652"/>
            <a:ext cx="9144000" cy="5377995"/>
          </a:xfrm>
          <a:prstGeom prst="rect">
            <a:avLst/>
          </a:prstGeom>
        </p:spPr>
      </p:pic>
    </p:spTree>
    <p:extLst>
      <p:ext uri="{BB962C8B-B14F-4D97-AF65-F5344CB8AC3E}">
        <p14:creationId xmlns:p14="http://schemas.microsoft.com/office/powerpoint/2010/main" val="19649830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285928C-9BEF-46BB-B5F2-5F2BEBEB83B2}"/>
              </a:ext>
            </a:extLst>
          </p:cNvPr>
          <p:cNvPicPr>
            <a:picLocks noChangeAspect="1"/>
          </p:cNvPicPr>
          <p:nvPr/>
        </p:nvPicPr>
        <p:blipFill>
          <a:blip r:embed="rId2"/>
          <a:stretch>
            <a:fillRect/>
          </a:stretch>
        </p:blipFill>
        <p:spPr>
          <a:xfrm>
            <a:off x="0" y="914956"/>
            <a:ext cx="9144000" cy="5028088"/>
          </a:xfrm>
          <a:prstGeom prst="rect">
            <a:avLst/>
          </a:prstGeom>
        </p:spPr>
      </p:pic>
    </p:spTree>
    <p:extLst>
      <p:ext uri="{BB962C8B-B14F-4D97-AF65-F5344CB8AC3E}">
        <p14:creationId xmlns:p14="http://schemas.microsoft.com/office/powerpoint/2010/main" val="10687049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0790E2A-BD09-4942-9D36-7A15E8DA9479}"/>
              </a:ext>
            </a:extLst>
          </p:cNvPr>
          <p:cNvPicPr>
            <a:picLocks noChangeAspect="1"/>
          </p:cNvPicPr>
          <p:nvPr/>
        </p:nvPicPr>
        <p:blipFill>
          <a:blip r:embed="rId2"/>
          <a:stretch>
            <a:fillRect/>
          </a:stretch>
        </p:blipFill>
        <p:spPr>
          <a:xfrm>
            <a:off x="0" y="833307"/>
            <a:ext cx="9144000" cy="5191386"/>
          </a:xfrm>
          <a:prstGeom prst="rect">
            <a:avLst/>
          </a:prstGeom>
        </p:spPr>
      </p:pic>
    </p:spTree>
    <p:extLst>
      <p:ext uri="{BB962C8B-B14F-4D97-AF65-F5344CB8AC3E}">
        <p14:creationId xmlns:p14="http://schemas.microsoft.com/office/powerpoint/2010/main" val="25201060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Web Transmission Security (1 of 2)</a:t>
            </a:r>
            <a:endParaRPr lang="en-US" sz="3600" b="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21673" y="1260764"/>
            <a:ext cx="8465130" cy="4865400"/>
          </a:xfrm>
        </p:spPr>
        <p:txBody>
          <a:bodyPr>
            <a:normAutofit/>
          </a:bodyPr>
          <a:lstStyle/>
          <a:p>
            <a:r>
              <a:rPr lang="en-US" altLang="en-US" sz="2600" dirty="0">
                <a:latin typeface="Arial" panose="020B0604020202020204" pitchFamily="34" charset="0"/>
                <a:ea typeface="ＭＳ Ｐゴシック" pitchFamily="34" charset="-128"/>
                <a:cs typeface="Arial" panose="020B0604020202020204" pitchFamily="34" charset="0"/>
              </a:rPr>
              <a:t>Ecommerce requires secure transmission of names, passwords, and credit card numbers</a:t>
            </a:r>
          </a:p>
          <a:p>
            <a:r>
              <a:rPr lang="en-US" altLang="en-US" sz="2600" dirty="0">
                <a:latin typeface="Arial" panose="020B0604020202020204" pitchFamily="34" charset="0"/>
                <a:ea typeface="ＭＳ Ｐゴシック" pitchFamily="34" charset="-128"/>
                <a:cs typeface="Arial" panose="020B0604020202020204" pitchFamily="34" charset="0"/>
              </a:rPr>
              <a:t>Web protocols: </a:t>
            </a:r>
            <a:r>
              <a:rPr lang="en-US" altLang="en-US" sz="2600" b="1" dirty="0">
                <a:latin typeface="Arial" panose="020B0604020202020204" pitchFamily="34" charset="0"/>
                <a:ea typeface="ＭＳ Ｐゴシック" pitchFamily="34" charset="-128"/>
                <a:cs typeface="Arial" panose="020B0604020202020204" pitchFamily="34" charset="0"/>
              </a:rPr>
              <a:t>SSL (Secure Sockets Layer)</a:t>
            </a:r>
            <a:r>
              <a:rPr lang="en-US" altLang="en-US" sz="2600" dirty="0">
                <a:latin typeface="Arial" panose="020B0604020202020204" pitchFamily="34" charset="0"/>
                <a:ea typeface="ＭＳ Ｐゴシック" pitchFamily="34" charset="-128"/>
                <a:cs typeface="Arial" panose="020B0604020202020204" pitchFamily="34" charset="0"/>
              </a:rPr>
              <a:t> and </a:t>
            </a:r>
            <a:r>
              <a:rPr lang="en-US" altLang="en-US" sz="2600" b="1" dirty="0">
                <a:latin typeface="Arial" panose="020B0604020202020204" pitchFamily="34" charset="0"/>
                <a:ea typeface="ＭＳ Ｐゴシック" pitchFamily="34" charset="-128"/>
                <a:cs typeface="Arial" panose="020B0604020202020204" pitchFamily="34" charset="0"/>
              </a:rPr>
              <a:t>TLS (Transport Layer Security)</a:t>
            </a:r>
            <a:endParaRPr lang="en-US" altLang="en-US" sz="2600" dirty="0">
              <a:latin typeface="Arial" panose="020B0604020202020204" pitchFamily="34" charset="0"/>
              <a:ea typeface="ＭＳ Ｐゴシック" pitchFamily="34" charset="-128"/>
              <a:cs typeface="Arial" panose="020B0604020202020204" pitchFamily="34" charset="0"/>
            </a:endParaRPr>
          </a:p>
          <a:p>
            <a:pPr lvl="1"/>
            <a:r>
              <a:rPr lang="en-US" altLang="en-US" sz="2400" dirty="0">
                <a:latin typeface="Arial" panose="020B0604020202020204" pitchFamily="34" charset="0"/>
                <a:ea typeface="ＭＳ Ｐゴシック" pitchFamily="34" charset="-128"/>
                <a:cs typeface="Arial" panose="020B0604020202020204" pitchFamily="34" charset="0"/>
              </a:rPr>
              <a:t>Client-server applications</a:t>
            </a:r>
          </a:p>
          <a:p>
            <a:pPr lvl="1"/>
            <a:r>
              <a:rPr lang="en-US" altLang="en-US" sz="2400" dirty="0">
                <a:latin typeface="Arial" panose="020B0604020202020204" pitchFamily="34" charset="0"/>
                <a:ea typeface="ＭＳ Ｐゴシック" pitchFamily="34" charset="-128"/>
                <a:cs typeface="Arial" panose="020B0604020202020204" pitchFamily="34" charset="0"/>
              </a:rPr>
              <a:t>Server provides certificate of authentication and server’s public key</a:t>
            </a:r>
          </a:p>
          <a:p>
            <a:pPr lvl="1"/>
            <a:r>
              <a:rPr lang="en-US" altLang="en-US" sz="2400" dirty="0">
                <a:solidFill>
                  <a:srgbClr val="FF0000"/>
                </a:solidFill>
                <a:latin typeface="Arial" panose="020B0604020202020204" pitchFamily="34" charset="0"/>
                <a:ea typeface="ＭＳ Ｐゴシック" pitchFamily="34" charset="-128"/>
                <a:cs typeface="Arial" panose="020B0604020202020204" pitchFamily="34" charset="0"/>
              </a:rPr>
              <a:t>Client sends its DES key, encrypted using RSA</a:t>
            </a:r>
          </a:p>
          <a:p>
            <a:pPr lvl="1"/>
            <a:r>
              <a:rPr lang="en-US" altLang="en-US" sz="2400" dirty="0">
                <a:solidFill>
                  <a:srgbClr val="FF0000"/>
                </a:solidFill>
                <a:latin typeface="Arial" panose="020B0604020202020204" pitchFamily="34" charset="0"/>
                <a:ea typeface="ＭＳ Ｐゴシック" pitchFamily="34" charset="-128"/>
                <a:cs typeface="Arial" panose="020B0604020202020204" pitchFamily="34" charset="0"/>
              </a:rPr>
              <a:t>Data is sent encrypted by the (now shared) DES key</a:t>
            </a:r>
          </a:p>
        </p:txBody>
      </p:sp>
      <p:sp>
        <p:nvSpPr>
          <p:cNvPr id="5" name="TextBox 4">
            <a:extLst>
              <a:ext uri="{FF2B5EF4-FFF2-40B4-BE49-F238E27FC236}">
                <a16:creationId xmlns:a16="http://schemas.microsoft.com/office/drawing/2014/main" id="{894EE07C-3850-49B3-B89B-7F76E0BC1527}"/>
              </a:ext>
            </a:extLst>
          </p:cNvPr>
          <p:cNvSpPr txBox="1"/>
          <p:nvPr/>
        </p:nvSpPr>
        <p:spPr>
          <a:xfrm>
            <a:off x="1168400" y="5048935"/>
            <a:ext cx="4572000" cy="646331"/>
          </a:xfrm>
          <a:prstGeom prst="rect">
            <a:avLst/>
          </a:prstGeom>
          <a:noFill/>
        </p:spPr>
        <p:txBody>
          <a:bodyPr wrap="square">
            <a:spAutoFit/>
          </a:bodyPr>
          <a:lstStyle/>
          <a:p>
            <a:r>
              <a:rPr lang="zh-CN" altLang="en-US" dirty="0"/>
              <a:t>客户端发送使用</a:t>
            </a:r>
            <a:r>
              <a:rPr lang="en-US" altLang="zh-CN" dirty="0"/>
              <a:t>RSA</a:t>
            </a:r>
            <a:r>
              <a:rPr lang="zh-CN" altLang="en-US" dirty="0"/>
              <a:t>加密的</a:t>
            </a:r>
            <a:r>
              <a:rPr lang="en-US" altLang="zh-CN" dirty="0"/>
              <a:t>DES</a:t>
            </a:r>
            <a:r>
              <a:rPr lang="zh-CN" altLang="en-US" dirty="0"/>
              <a:t>密钥</a:t>
            </a:r>
          </a:p>
          <a:p>
            <a:r>
              <a:rPr lang="zh-CN" altLang="en-US" dirty="0"/>
              <a:t>通过（现在共享的）</a:t>
            </a:r>
            <a:r>
              <a:rPr lang="en-US" altLang="zh-CN" dirty="0"/>
              <a:t>DES</a:t>
            </a:r>
            <a:r>
              <a:rPr lang="zh-CN" altLang="en-US" dirty="0"/>
              <a:t>密钥加密发送数据</a:t>
            </a:r>
            <a:endParaRPr lang="en-US" dirty="0"/>
          </a:p>
        </p:txBody>
      </p:sp>
      <p:sp>
        <p:nvSpPr>
          <p:cNvPr id="6" name="TextBox 5">
            <a:extLst>
              <a:ext uri="{FF2B5EF4-FFF2-40B4-BE49-F238E27FC236}">
                <a16:creationId xmlns:a16="http://schemas.microsoft.com/office/drawing/2014/main" id="{B7050C09-A892-464F-96CE-89DC72511C25}"/>
              </a:ext>
            </a:extLst>
          </p:cNvPr>
          <p:cNvSpPr txBox="1"/>
          <p:nvPr/>
        </p:nvSpPr>
        <p:spPr>
          <a:xfrm>
            <a:off x="7213600" y="2717800"/>
            <a:ext cx="2578100" cy="584775"/>
          </a:xfrm>
          <a:prstGeom prst="rect">
            <a:avLst/>
          </a:prstGeom>
          <a:noFill/>
        </p:spPr>
        <p:txBody>
          <a:bodyPr wrap="square" rtlCol="0">
            <a:spAutoFit/>
          </a:bodyPr>
          <a:lstStyle/>
          <a:p>
            <a:r>
              <a:rPr lang="en-US" sz="3200" dirty="0" err="1">
                <a:solidFill>
                  <a:srgbClr val="FF0000"/>
                </a:solidFill>
              </a:rPr>
              <a:t>eg.hppts</a:t>
            </a:r>
            <a:endParaRPr lang="en-US" sz="3200" dirty="0">
              <a:solidFill>
                <a:srgbClr val="FF0000"/>
              </a:solidFill>
            </a:endParaRPr>
          </a:p>
        </p:txBody>
      </p:sp>
    </p:spTree>
    <p:extLst>
      <p:ext uri="{BB962C8B-B14F-4D97-AF65-F5344CB8AC3E}">
        <p14:creationId xmlns:p14="http://schemas.microsoft.com/office/powerpoint/2010/main" val="35285666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Web Transmission Security (2 of 2)</a:t>
            </a:r>
            <a:endParaRPr lang="en-US" sz="3600" b="0" dirty="0">
              <a:latin typeface="Arial" panose="020B0604020202020204" pitchFamily="34" charset="0"/>
              <a:cs typeface="Arial" panose="020B0604020202020204" pitchFamily="34" charset="0"/>
            </a:endParaRPr>
          </a:p>
        </p:txBody>
      </p:sp>
      <p:pic>
        <p:nvPicPr>
          <p:cNvPr id="6" name="Picture 5" descr="In a typical t l s or s s l session, the client initiates t l s or s s l, request r s ay or d e s encryption with the web server. The web server sends an authentication certificate, acknowledges r s ay or d e s, server public key. The client uses d e s key, encrypted with server’s public key. The web server sends an acknowledgment encrypted with d e s key. There is a secure data exchange between the client and the web server.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6363" y="1246236"/>
            <a:ext cx="6391275" cy="489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456859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pPr algn="ctr"/>
            <a:r>
              <a:rPr lang="en-US" altLang="en-US" sz="3600" b="0" kern="0" dirty="0">
                <a:latin typeface="Arial" panose="020B0604020202020204" pitchFamily="34" charset="0"/>
                <a:cs typeface="Arial" panose="020B0604020202020204" pitchFamily="34" charset="0"/>
              </a:rPr>
              <a:t>Embedded Computing</a:t>
            </a:r>
            <a:endParaRPr lang="en-US" sz="3600" b="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US" altLang="en-US" sz="2600" b="1" dirty="0">
                <a:latin typeface="Arial" panose="020B0604020202020204" pitchFamily="34" charset="0"/>
                <a:ea typeface="ＭＳ Ｐゴシック" pitchFamily="34" charset="-128"/>
                <a:cs typeface="Arial" panose="020B0604020202020204" pitchFamily="34" charset="0"/>
              </a:rPr>
              <a:t>Embedded computers</a:t>
            </a:r>
            <a:r>
              <a:rPr lang="en-US" altLang="en-US" sz="2600" dirty="0">
                <a:latin typeface="Arial" panose="020B0604020202020204" pitchFamily="34" charset="0"/>
                <a:ea typeface="ＭＳ Ｐゴシック" pitchFamily="34" charset="-128"/>
                <a:cs typeface="Arial" panose="020B0604020202020204" pitchFamily="34" charset="0"/>
              </a:rPr>
              <a:t>: special-purpose, limited computers in other systems</a:t>
            </a:r>
          </a:p>
          <a:p>
            <a:r>
              <a:rPr lang="en-US" altLang="en-US" sz="2600" dirty="0">
                <a:latin typeface="Arial" panose="020B0604020202020204" pitchFamily="34" charset="0"/>
                <a:ea typeface="ＭＳ Ｐゴシック" pitchFamily="34" charset="-128"/>
                <a:cs typeface="Arial" panose="020B0604020202020204" pitchFamily="34" charset="0"/>
              </a:rPr>
              <a:t>Examples: automobiles, smart appliances, remote  controls, and patient monitoring systems</a:t>
            </a:r>
          </a:p>
          <a:p>
            <a:r>
              <a:rPr lang="en-US" altLang="en-US" sz="2600" dirty="0">
                <a:latin typeface="Arial" panose="020B0604020202020204" pitchFamily="34" charset="0"/>
                <a:ea typeface="ＭＳ Ｐゴシック" pitchFamily="34" charset="-128"/>
                <a:cs typeface="Arial" panose="020B0604020202020204" pitchFamily="34" charset="0"/>
              </a:rPr>
              <a:t>New trend: connect embedded computers to a network</a:t>
            </a:r>
          </a:p>
          <a:p>
            <a:pPr lvl="1"/>
            <a:r>
              <a:rPr lang="en-US" altLang="en-US" sz="2400" dirty="0">
                <a:latin typeface="Arial" panose="020B0604020202020204" pitchFamily="34" charset="0"/>
                <a:ea typeface="ＭＳ Ｐゴシック" pitchFamily="34" charset="-128"/>
                <a:cs typeface="Arial" panose="020B0604020202020204" pitchFamily="34" charset="0"/>
              </a:rPr>
              <a:t>Transmit data, receive updates</a:t>
            </a:r>
          </a:p>
          <a:p>
            <a:r>
              <a:rPr lang="en-US" altLang="en-US" sz="2600" dirty="0">
                <a:latin typeface="Arial" panose="020B0604020202020204" pitchFamily="34" charset="0"/>
                <a:ea typeface="ＭＳ Ｐゴシック" pitchFamily="34" charset="-128"/>
                <a:cs typeface="Arial" panose="020B0604020202020204" pitchFamily="34" charset="0"/>
              </a:rPr>
              <a:t>Targeting embedded systems could cause chaos</a:t>
            </a:r>
          </a:p>
          <a:p>
            <a:pPr lvl="1"/>
            <a:r>
              <a:rPr lang="en-US" altLang="en-US" sz="2400" dirty="0">
                <a:latin typeface="Arial" panose="020B0604020202020204" pitchFamily="34" charset="0"/>
                <a:ea typeface="ＭＳ Ｐゴシック" pitchFamily="34" charset="-128"/>
                <a:cs typeface="Arial" panose="020B0604020202020204" pitchFamily="34" charset="0"/>
              </a:rPr>
              <a:t>Change thermostats, disrupt patient care, or disable aircraft or automobiles</a:t>
            </a:r>
          </a:p>
        </p:txBody>
      </p:sp>
    </p:spTree>
    <p:extLst>
      <p:ext uri="{BB962C8B-B14F-4D97-AF65-F5344CB8AC3E}">
        <p14:creationId xmlns:p14="http://schemas.microsoft.com/office/powerpoint/2010/main" val="23228580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Summary (1 of 2)</a:t>
            </a:r>
            <a:endParaRPr lang="en-US" sz="3600" b="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fontScale="92500"/>
          </a:bodyPr>
          <a:lstStyle/>
          <a:p>
            <a:r>
              <a:rPr lang="en-US" altLang="en-US" sz="2800" dirty="0">
                <a:latin typeface="Arial" panose="020B0604020202020204" pitchFamily="34" charset="0"/>
                <a:ea typeface="ＭＳ Ｐゴシック" pitchFamily="34" charset="-128"/>
                <a:cs typeface="Arial" panose="020B0604020202020204" pitchFamily="34" charset="0"/>
              </a:rPr>
              <a:t>Internet and web are meant to promote information exchange, so information security is hard.</a:t>
            </a:r>
          </a:p>
          <a:p>
            <a:r>
              <a:rPr lang="en-US" altLang="en-US" sz="2800" dirty="0">
                <a:latin typeface="Arial" panose="020B0604020202020204" pitchFamily="34" charset="0"/>
                <a:ea typeface="ＭＳ Ｐゴシック" pitchFamily="34" charset="-128"/>
                <a:cs typeface="Arial" panose="020B0604020202020204" pitchFamily="34" charset="0"/>
              </a:rPr>
              <a:t>Online attacks include viruses, worms, Trojan horses, DoS attacks, and phishing, among others.</a:t>
            </a:r>
          </a:p>
          <a:p>
            <a:r>
              <a:rPr lang="en-US" altLang="en-US" sz="2800" dirty="0">
                <a:latin typeface="Arial" panose="020B0604020202020204" pitchFamily="34" charset="0"/>
                <a:ea typeface="ＭＳ Ｐゴシック" pitchFamily="34" charset="-128"/>
                <a:cs typeface="Arial" panose="020B0604020202020204" pitchFamily="34" charset="0"/>
              </a:rPr>
              <a:t>Data security involves encrypting sensitive data before transmitting or storing in unsecured location.</a:t>
            </a:r>
          </a:p>
          <a:p>
            <a:r>
              <a:rPr lang="en-US" altLang="en-US" sz="2800" dirty="0">
                <a:latin typeface="Arial" panose="020B0604020202020204" pitchFamily="34" charset="0"/>
                <a:ea typeface="ＭＳ Ｐゴシック" pitchFamily="34" charset="-128"/>
                <a:cs typeface="Arial" panose="020B0604020202020204" pitchFamily="34" charset="0"/>
              </a:rPr>
              <a:t>Symmetric encryption requires a shared key.</a:t>
            </a:r>
          </a:p>
          <a:p>
            <a:r>
              <a:rPr lang="en-US" altLang="en-US" sz="2800" dirty="0">
                <a:latin typeface="Arial" panose="020B0604020202020204" pitchFamily="34" charset="0"/>
                <a:ea typeface="ＭＳ Ｐゴシック" pitchFamily="34" charset="-128"/>
                <a:cs typeface="Arial" panose="020B0604020202020204" pitchFamily="34" charset="0"/>
              </a:rPr>
              <a:t>Asymmetric encryption uses public and private keys.</a:t>
            </a:r>
          </a:p>
        </p:txBody>
      </p:sp>
    </p:spTree>
    <p:extLst>
      <p:ext uri="{BB962C8B-B14F-4D97-AF65-F5344CB8AC3E}">
        <p14:creationId xmlns:p14="http://schemas.microsoft.com/office/powerpoint/2010/main" val="24503941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Summary (2 of 2)</a:t>
            </a:r>
            <a:endParaRPr lang="en-US" sz="3600" b="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US" altLang="en-US" sz="2600" dirty="0">
                <a:latin typeface="Arial" panose="020B0604020202020204" pitchFamily="34" charset="0"/>
                <a:ea typeface="ＭＳ Ｐゴシック" pitchFamily="34" charset="-128"/>
                <a:cs typeface="Arial" panose="020B0604020202020204" pitchFamily="34" charset="0"/>
              </a:rPr>
              <a:t>Caesar cipher is a simple symmetric encryption; substitution ciphers are similar.</a:t>
            </a:r>
          </a:p>
          <a:p>
            <a:r>
              <a:rPr lang="en-US" altLang="en-US" sz="2600" dirty="0">
                <a:latin typeface="Arial" panose="020B0604020202020204" pitchFamily="34" charset="0"/>
                <a:ea typeface="ＭＳ Ｐゴシック" pitchFamily="34" charset="-128"/>
                <a:cs typeface="Arial" panose="020B0604020202020204" pitchFamily="34" charset="0"/>
              </a:rPr>
              <a:t>Block ciphers combine blocks of plaintext symbols into blocks of ciphertext.</a:t>
            </a:r>
          </a:p>
          <a:p>
            <a:r>
              <a:rPr lang="en-US" altLang="en-US" sz="2600" dirty="0">
                <a:latin typeface="Arial" panose="020B0604020202020204" pitchFamily="34" charset="0"/>
                <a:ea typeface="ＭＳ Ｐゴシック" pitchFamily="34" charset="-128"/>
                <a:cs typeface="Arial" panose="020B0604020202020204" pitchFamily="34" charset="0"/>
              </a:rPr>
              <a:t>DES and AES are strong </a:t>
            </a:r>
            <a:r>
              <a:rPr lang="en-US" altLang="en-US" sz="2600" dirty="0">
                <a:solidFill>
                  <a:srgbClr val="FF0000"/>
                </a:solidFill>
                <a:latin typeface="Arial" panose="020B0604020202020204" pitchFamily="34" charset="0"/>
                <a:ea typeface="ＭＳ Ｐゴシック" pitchFamily="34" charset="-128"/>
                <a:cs typeface="Arial" panose="020B0604020202020204" pitchFamily="34" charset="0"/>
              </a:rPr>
              <a:t>symmetric encryption algorithms.</a:t>
            </a:r>
          </a:p>
          <a:p>
            <a:r>
              <a:rPr lang="en-US" altLang="en-US" sz="2600" dirty="0">
                <a:solidFill>
                  <a:srgbClr val="FF0000"/>
                </a:solidFill>
                <a:latin typeface="Arial" panose="020B0604020202020204" pitchFamily="34" charset="0"/>
                <a:ea typeface="ＭＳ Ｐゴシック" pitchFamily="34" charset="-128"/>
                <a:cs typeface="Arial" panose="020B0604020202020204" pitchFamily="34" charset="0"/>
              </a:rPr>
              <a:t>RSA is the most common asymmetric </a:t>
            </a:r>
            <a:r>
              <a:rPr lang="en-US" altLang="en-US" sz="2600" dirty="0">
                <a:latin typeface="Arial" panose="020B0604020202020204" pitchFamily="34" charset="0"/>
                <a:ea typeface="ＭＳ Ｐゴシック" pitchFamily="34" charset="-128"/>
                <a:cs typeface="Arial" panose="020B0604020202020204" pitchFamily="34" charset="0"/>
              </a:rPr>
              <a:t>algorithm.</a:t>
            </a:r>
          </a:p>
          <a:p>
            <a:r>
              <a:rPr lang="en-US" altLang="en-US" sz="2600" dirty="0">
                <a:latin typeface="Arial" panose="020B0604020202020204" pitchFamily="34" charset="0"/>
                <a:ea typeface="ＭＳ Ｐゴシック" pitchFamily="34" charset="-128"/>
                <a:cs typeface="Arial" panose="020B0604020202020204" pitchFamily="34" charset="0"/>
              </a:rPr>
              <a:t>Secure web transmission requires protocols: SSL/TLS.</a:t>
            </a:r>
          </a:p>
          <a:p>
            <a:r>
              <a:rPr lang="en-US" altLang="en-US" sz="2600" dirty="0">
                <a:latin typeface="Arial" panose="020B0604020202020204" pitchFamily="34" charset="0"/>
                <a:ea typeface="ＭＳ Ｐゴシック" pitchFamily="34" charset="-128"/>
                <a:cs typeface="Arial" panose="020B0604020202020204" pitchFamily="34" charset="0"/>
              </a:rPr>
              <a:t>Embedded systems are the next problem to solve.</a:t>
            </a:r>
          </a:p>
        </p:txBody>
      </p:sp>
    </p:spTree>
    <p:extLst>
      <p:ext uri="{BB962C8B-B14F-4D97-AF65-F5344CB8AC3E}">
        <p14:creationId xmlns:p14="http://schemas.microsoft.com/office/powerpoint/2010/main" val="26381407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3190</TotalTime>
  <Words>3412</Words>
  <Application>Microsoft Office PowerPoint</Application>
  <PresentationFormat>On-screen Show (4:3)</PresentationFormat>
  <Paragraphs>438</Paragraphs>
  <Slides>41</Slides>
  <Notes>25</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41</vt:i4>
      </vt:variant>
    </vt:vector>
  </HeadingPairs>
  <TitlesOfParts>
    <vt:vector size="46" baseType="lpstr">
      <vt:lpstr>Arial</vt:lpstr>
      <vt:lpstr>Calibri</vt:lpstr>
      <vt:lpstr>Wingdings</vt:lpstr>
      <vt:lpstr>Office Theme</vt:lpstr>
      <vt:lpstr>Equation</vt:lpstr>
      <vt:lpstr>Chapter 8</vt:lpstr>
      <vt:lpstr>Learning Objectives (1 of 2)</vt:lpstr>
      <vt:lpstr>Learning Objectives (2 of 2)</vt:lpstr>
      <vt:lpstr>Introduction </vt:lpstr>
      <vt:lpstr>Threats and Defenses</vt:lpstr>
      <vt:lpstr>Threats and Defenses Authentication and Authorization (1 of 8)</vt:lpstr>
      <vt:lpstr>Threats and Defenses Authentication and Authorization (2 of 8)</vt:lpstr>
      <vt:lpstr>Threats and Defenses Authentication and Authorization (3 of 8)</vt:lpstr>
      <vt:lpstr>Threats and Defenses Authentication and Authorization (4 of 8)</vt:lpstr>
      <vt:lpstr>Threats and Defenses Authentication and Authorization (5 of 8)</vt:lpstr>
      <vt:lpstr>Threats and Defenses Authentication and Authorization (6 of 8)</vt:lpstr>
      <vt:lpstr>Threats and Defenses Authentication and Authorization (7 of 8)</vt:lpstr>
      <vt:lpstr>Threats and Defenses Authentication and Authorization (8 of 8)</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Encryption Overview</vt:lpstr>
      <vt:lpstr>Encryption Simple Encryption Algorithms (1 of 5)</vt:lpstr>
      <vt:lpstr>Encryption Simple Encryption Algorithms (2 of 5)</vt:lpstr>
      <vt:lpstr>Encryption Simple Encryption Algorithms (3 of 5)</vt:lpstr>
      <vt:lpstr>Encryption Simple Encryption Algorithms (4 of 5)</vt:lpstr>
      <vt:lpstr>Encryption Simple Encryption Algorithms (5 of 5)</vt:lpstr>
      <vt:lpstr>Encryption (DES) Data Encryption Standard (1 of 3)</vt:lpstr>
      <vt:lpstr>Encryption (DES) Data Encryption Standard (2 of 3)</vt:lpstr>
      <vt:lpstr>Encryption (DES) Data Encryption Standard (3 of 3)</vt:lpstr>
      <vt:lpstr>Encryption Public-Key Systems (1 of 4)</vt:lpstr>
      <vt:lpstr>Encryption Public-Key Systems (2 of 4)</vt:lpstr>
      <vt:lpstr>Encryption Public-Key Systems (3 of 4)</vt:lpstr>
      <vt:lpstr>Encryption Public-Key Systems (4 of 4)</vt:lpstr>
      <vt:lpstr>PowerPoint Presentation</vt:lpstr>
      <vt:lpstr>PowerPoint Presentation</vt:lpstr>
      <vt:lpstr>PowerPoint Presentation</vt:lpstr>
      <vt:lpstr>Web Transmission Security (1 of 2)</vt:lpstr>
      <vt:lpstr>Web Transmission Security (2 of 2)</vt:lpstr>
      <vt:lpstr>Embedded Computing</vt:lpstr>
      <vt:lpstr>Summary (1 of 2)</vt:lpstr>
      <vt:lpstr>Summary (2 of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08 Information Security</dc:title>
  <dc:creator>Schneider</dc:creator>
  <cp:lastModifiedBy>Jiahui Xia</cp:lastModifiedBy>
  <cp:revision>201</cp:revision>
  <dcterms:created xsi:type="dcterms:W3CDTF">2015-05-05T09:30:46Z</dcterms:created>
  <dcterms:modified xsi:type="dcterms:W3CDTF">2020-11-07T02:23:02Z</dcterms:modified>
</cp:coreProperties>
</file>