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handoutMasterIdLst>
    <p:handoutMasterId r:id="rId44"/>
  </p:handoutMasterIdLst>
  <p:sldIdLst>
    <p:sldId id="321" r:id="rId2"/>
    <p:sldId id="257" r:id="rId3"/>
    <p:sldId id="290" r:id="rId4"/>
    <p:sldId id="258" r:id="rId5"/>
    <p:sldId id="291" r:id="rId6"/>
    <p:sldId id="292" r:id="rId7"/>
    <p:sldId id="293" r:id="rId8"/>
    <p:sldId id="294" r:id="rId9"/>
    <p:sldId id="295" r:id="rId10"/>
    <p:sldId id="296" r:id="rId11"/>
    <p:sldId id="297" r:id="rId12"/>
    <p:sldId id="298" r:id="rId13"/>
    <p:sldId id="299" r:id="rId14"/>
    <p:sldId id="300" r:id="rId15"/>
    <p:sldId id="301" r:id="rId16"/>
    <p:sldId id="302" r:id="rId17"/>
    <p:sldId id="303" r:id="rId18"/>
    <p:sldId id="304" r:id="rId19"/>
    <p:sldId id="305" r:id="rId20"/>
    <p:sldId id="306" r:id="rId21"/>
    <p:sldId id="308" r:id="rId22"/>
    <p:sldId id="309" r:id="rId23"/>
    <p:sldId id="310" r:id="rId24"/>
    <p:sldId id="322" r:id="rId25"/>
    <p:sldId id="323" r:id="rId26"/>
    <p:sldId id="324" r:id="rId27"/>
    <p:sldId id="325" r:id="rId28"/>
    <p:sldId id="311" r:id="rId29"/>
    <p:sldId id="317" r:id="rId30"/>
    <p:sldId id="312" r:id="rId31"/>
    <p:sldId id="313" r:id="rId32"/>
    <p:sldId id="326" r:id="rId33"/>
    <p:sldId id="327" r:id="rId34"/>
    <p:sldId id="328" r:id="rId35"/>
    <p:sldId id="329" r:id="rId36"/>
    <p:sldId id="314" r:id="rId37"/>
    <p:sldId id="316" r:id="rId38"/>
    <p:sldId id="318" r:id="rId39"/>
    <p:sldId id="315" r:id="rId40"/>
    <p:sldId id="319" r:id="rId41"/>
    <p:sldId id="320" r:id="rId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5">
          <p15:clr>
            <a:srgbClr val="A4A3A4"/>
          </p15:clr>
        </p15:guide>
        <p15:guide id="2" pos="5612">
          <p15:clr>
            <a:srgbClr val="A4A3A4"/>
          </p15:clr>
        </p15:guide>
        <p15:guide id="3" pos="4085">
          <p15:clr>
            <a:srgbClr val="A4A3A4"/>
          </p15:clr>
        </p15:guide>
        <p15:guide id="4" pos="288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B14B"/>
    <a:srgbClr val="5FC3DA"/>
    <a:srgbClr val="536E75"/>
    <a:srgbClr val="D2D927"/>
    <a:srgbClr val="1F3668"/>
    <a:srgbClr val="D72229"/>
    <a:srgbClr val="5A7B36"/>
    <a:srgbClr val="2C3C22"/>
    <a:srgbClr val="A2D35D"/>
    <a:srgbClr val="F3702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212" autoAdjust="0"/>
    <p:restoredTop sz="65857" autoAdjust="0"/>
  </p:normalViewPr>
  <p:slideViewPr>
    <p:cSldViewPr snapToGrid="0">
      <p:cViewPr varScale="1">
        <p:scale>
          <a:sx n="44" d="100"/>
          <a:sy n="44" d="100"/>
        </p:scale>
        <p:origin x="1704" y="32"/>
      </p:cViewPr>
      <p:guideLst>
        <p:guide orient="horz" pos="705"/>
        <p:guide pos="5612"/>
        <p:guide pos="4085"/>
        <p:guide pos="288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114" d="100"/>
          <a:sy n="114" d="100"/>
        </p:scale>
        <p:origin x="-503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A65FDED-9808-2145-B21E-E47DA86996FE}" type="datetimeFigureOut">
              <a:rPr lang="en-US" smtClean="0"/>
              <a:t>11/21/2020</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F5C2110-F9BA-5949-A42B-CE3DC41F2361}" type="slidenum">
              <a:rPr lang="en-US" smtClean="0"/>
              <a:t>‹#›</a:t>
            </a:fld>
            <a:endParaRPr lang="en-US" dirty="0"/>
          </a:p>
        </p:txBody>
      </p:sp>
    </p:spTree>
    <p:extLst>
      <p:ext uri="{BB962C8B-B14F-4D97-AF65-F5344CB8AC3E}">
        <p14:creationId xmlns:p14="http://schemas.microsoft.com/office/powerpoint/2010/main" val="293419997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82B3269-F868-1148-8D0F-00224D62984F}" type="datetimeFigureOut">
              <a:rPr lang="en-US" smtClean="0"/>
              <a:t>11/21/2020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9483670-0D61-9349-97AC-A9731AA75D95}" type="slidenum">
              <a:rPr lang="en-US" smtClean="0"/>
              <a:t>‹#›</a:t>
            </a:fld>
            <a:endParaRPr lang="en-US" dirty="0"/>
          </a:p>
        </p:txBody>
      </p:sp>
    </p:spTree>
    <p:extLst>
      <p:ext uri="{BB962C8B-B14F-4D97-AF65-F5344CB8AC3E}">
        <p14:creationId xmlns:p14="http://schemas.microsoft.com/office/powerpoint/2010/main" val="392382414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9483670-0D61-9349-97AC-A9731AA75D95}" type="slidenum">
              <a:rPr lang="en-US" smtClean="0"/>
              <a:t>1</a:t>
            </a:fld>
            <a:endParaRPr lang="en-US" dirty="0"/>
          </a:p>
        </p:txBody>
      </p:sp>
    </p:spTree>
    <p:extLst>
      <p:ext uri="{BB962C8B-B14F-4D97-AF65-F5344CB8AC3E}">
        <p14:creationId xmlns:p14="http://schemas.microsoft.com/office/powerpoint/2010/main" val="3968861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描述由计算机生成的图像（</a:t>
            </a:r>
            <a:r>
              <a:rPr lang="en-US" altLang="zh-CN" dirty="0"/>
              <a:t>CGI</a:t>
            </a:r>
            <a:r>
              <a:rPr lang="zh-CN" altLang="en-US" dirty="0"/>
              <a:t>）引起的电影动画技术的变化</a:t>
            </a:r>
          </a:p>
          <a:p>
            <a:r>
              <a:rPr lang="zh-CN" altLang="en-US" dirty="0"/>
              <a:t>列出图形管道中的步骤</a:t>
            </a:r>
          </a:p>
          <a:p>
            <a:r>
              <a:rPr lang="zh-CN" altLang="en-US" dirty="0"/>
              <a:t>说明如何创建</a:t>
            </a:r>
            <a:r>
              <a:rPr lang="en-US" altLang="zh-CN" dirty="0"/>
              <a:t>3D</a:t>
            </a:r>
            <a:r>
              <a:rPr lang="zh-CN" altLang="en-US" dirty="0"/>
              <a:t>对象的计算机模型</a:t>
            </a:r>
          </a:p>
          <a:p>
            <a:r>
              <a:rPr lang="zh-CN" altLang="en-US" dirty="0"/>
              <a:t>了解转换矩阵如何模拟对象的运动</a:t>
            </a:r>
          </a:p>
          <a:p>
            <a:r>
              <a:rPr lang="zh-CN" altLang="en-US" dirty="0"/>
              <a:t>列出渲染视觉对象涉及的三个挑战</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a:t>
            </a:fld>
            <a:endParaRPr lang="en-US" dirty="0"/>
          </a:p>
        </p:txBody>
      </p:sp>
    </p:spTree>
    <p:extLst>
      <p:ext uri="{BB962C8B-B14F-4D97-AF65-F5344CB8AC3E}">
        <p14:creationId xmlns:p14="http://schemas.microsoft.com/office/powerpoint/2010/main" val="8476238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说明图形处理单元（</a:t>
            </a:r>
            <a:r>
              <a:rPr lang="en-US" altLang="zh-CN" dirty="0"/>
              <a:t>GPU</a:t>
            </a:r>
            <a:r>
              <a:rPr lang="zh-CN" altLang="en-US" dirty="0"/>
              <a:t>）的目的和功能</a:t>
            </a:r>
          </a:p>
          <a:p>
            <a:r>
              <a:rPr lang="zh-CN" altLang="en-US" dirty="0"/>
              <a:t>列出并说明实现视频游戏动画（而不是电影动画）所需的实时图形的两种技术</a:t>
            </a:r>
          </a:p>
          <a:p>
            <a:r>
              <a:rPr lang="zh-CN" altLang="en-US" dirty="0"/>
              <a:t>描述大型虚拟社区的工作方式以及面临的特殊挑战</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a:t>
            </a:fld>
            <a:endParaRPr lang="en-US" dirty="0"/>
          </a:p>
        </p:txBody>
      </p:sp>
    </p:spTree>
    <p:extLst>
      <p:ext uri="{BB962C8B-B14F-4D97-AF65-F5344CB8AC3E}">
        <p14:creationId xmlns:p14="http://schemas.microsoft.com/office/powerpoint/2010/main" val="13876989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过去的电影动画</a:t>
            </a:r>
          </a:p>
          <a:p>
            <a:r>
              <a:rPr lang="zh-CN" altLang="en-US" dirty="0"/>
              <a:t>手绘（例如</a:t>
            </a:r>
            <a:r>
              <a:rPr lang="en-US" altLang="zh-CN" dirty="0"/>
              <a:t>Walt Disney</a:t>
            </a:r>
            <a:r>
              <a:rPr lang="zh-CN" altLang="en-US" dirty="0"/>
              <a:t>）</a:t>
            </a:r>
          </a:p>
          <a:p>
            <a:r>
              <a:rPr lang="zh-CN" altLang="en-US" dirty="0"/>
              <a:t>定格动画</a:t>
            </a:r>
          </a:p>
          <a:p>
            <a:r>
              <a:rPr lang="zh-CN" altLang="en-US" dirty="0"/>
              <a:t>黏土人像摆姿势，拍照，然后在一系列帧中反复轻微移动</a:t>
            </a:r>
          </a:p>
          <a:p>
            <a:r>
              <a:rPr lang="en-US" altLang="zh-CN" dirty="0"/>
              <a:t>1980</a:t>
            </a:r>
            <a:r>
              <a:rPr lang="zh-CN" altLang="en-US" dirty="0"/>
              <a:t>年代和</a:t>
            </a:r>
            <a:r>
              <a:rPr lang="en-US" altLang="zh-CN" dirty="0"/>
              <a:t>1990</a:t>
            </a:r>
            <a:r>
              <a:rPr lang="zh-CN" altLang="en-US" dirty="0"/>
              <a:t>年代开发的计算机动画</a:t>
            </a:r>
          </a:p>
          <a:p>
            <a:r>
              <a:rPr lang="zh-CN" altLang="en-US" dirty="0"/>
              <a:t>终结者</a:t>
            </a:r>
            <a:r>
              <a:rPr lang="en-US" altLang="zh-CN" dirty="0"/>
              <a:t>2</a:t>
            </a:r>
            <a:r>
              <a:rPr lang="zh-CN" altLang="en-US" dirty="0"/>
              <a:t>：审判日</a:t>
            </a:r>
          </a:p>
          <a:p>
            <a:r>
              <a:rPr lang="zh-CN" altLang="en-US" dirty="0"/>
              <a:t>侏罗纪公园</a:t>
            </a:r>
          </a:p>
          <a:p>
            <a:r>
              <a:rPr lang="zh-CN" altLang="en-US" dirty="0"/>
              <a:t>计算机生成的图像（</a:t>
            </a:r>
            <a:r>
              <a:rPr lang="en-US" altLang="zh-CN" dirty="0"/>
              <a:t>CGI</a:t>
            </a:r>
            <a:r>
              <a:rPr lang="zh-CN" altLang="en-US" dirty="0"/>
              <a:t>）产生逼真的动画</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6</a:t>
            </a:fld>
            <a:endParaRPr lang="en-US" dirty="0"/>
          </a:p>
        </p:txBody>
      </p:sp>
    </p:spTree>
    <p:extLst>
      <p:ext uri="{BB962C8B-B14F-4D97-AF65-F5344CB8AC3E}">
        <p14:creationId xmlns:p14="http://schemas.microsoft.com/office/powerpoint/2010/main" val="35880570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图形管道：生成</a:t>
            </a:r>
            <a:r>
              <a:rPr lang="en-US" altLang="zh-CN" dirty="0"/>
              <a:t>CGI</a:t>
            </a:r>
            <a:r>
              <a:rPr lang="zh-CN" altLang="en-US" dirty="0"/>
              <a:t>图像</a:t>
            </a:r>
            <a:r>
              <a:rPr lang="en-US" altLang="zh-CN" dirty="0"/>
              <a:t>/</a:t>
            </a:r>
            <a:r>
              <a:rPr lang="zh-CN" altLang="en-US" dirty="0"/>
              <a:t>电影的任务序列</a:t>
            </a:r>
          </a:p>
          <a:p>
            <a:r>
              <a:rPr lang="zh-CN" altLang="en-US" dirty="0"/>
              <a:t>对象建模：创建</a:t>
            </a:r>
            <a:r>
              <a:rPr lang="en-US" altLang="zh-CN" dirty="0"/>
              <a:t>3D</a:t>
            </a:r>
            <a:r>
              <a:rPr lang="zh-CN" altLang="en-US" dirty="0"/>
              <a:t>对象模型</a:t>
            </a:r>
          </a:p>
          <a:p>
            <a:r>
              <a:rPr lang="zh-CN" altLang="en-US" dirty="0"/>
              <a:t>对象运动：应用变换来移动对象</a:t>
            </a:r>
          </a:p>
          <a:p>
            <a:r>
              <a:rPr lang="zh-CN" altLang="en-US" dirty="0"/>
              <a:t>渲染和显示：合并照明，阴影和纹理</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7</a:t>
            </a:fld>
            <a:endParaRPr lang="en-US" dirty="0"/>
          </a:p>
        </p:txBody>
      </p:sp>
    </p:spTree>
    <p:extLst>
      <p:ext uri="{BB962C8B-B14F-4D97-AF65-F5344CB8AC3E}">
        <p14:creationId xmlns:p14="http://schemas.microsoft.com/office/powerpoint/2010/main" val="35899969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线框建模是对象建模的常用方法</a:t>
            </a:r>
          </a:p>
          <a:p>
            <a:r>
              <a:rPr lang="zh-CN" altLang="en-US" dirty="0"/>
              <a:t>拍摄图像并创建镶嵌</a:t>
            </a:r>
          </a:p>
          <a:p>
            <a:r>
              <a:rPr lang="zh-CN" altLang="en-US" dirty="0"/>
              <a:t>将物体表面划分为平面多边形</a:t>
            </a:r>
          </a:p>
          <a:p>
            <a:r>
              <a:rPr lang="zh-CN" altLang="en-US" dirty="0"/>
              <a:t>多边形共享边和顶点</a:t>
            </a:r>
          </a:p>
          <a:p>
            <a:r>
              <a:rPr lang="zh-CN" altLang="en-US" dirty="0"/>
              <a:t>多边形完全覆盖对象表面</a:t>
            </a:r>
          </a:p>
          <a:p>
            <a:r>
              <a:rPr lang="zh-CN" altLang="en-US" dirty="0"/>
              <a:t>多边形网格：结果看起来像导线模型</a:t>
            </a:r>
          </a:p>
          <a:p>
            <a:r>
              <a:rPr lang="zh-CN" altLang="en-US" dirty="0"/>
              <a:t>转换为三维</a:t>
            </a:r>
          </a:p>
          <a:p>
            <a:r>
              <a:rPr lang="zh-CN" altLang="en-US" dirty="0"/>
              <a:t>生成顶点列表，所有顶点的表及其</a:t>
            </a:r>
            <a:r>
              <a:rPr lang="en-US" altLang="zh-CN" dirty="0"/>
              <a:t>3D</a:t>
            </a:r>
            <a:r>
              <a:rPr lang="zh-CN" altLang="en-US" dirty="0"/>
              <a:t>位置</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9</a:t>
            </a:fld>
            <a:endParaRPr lang="en-US" dirty="0"/>
          </a:p>
        </p:txBody>
      </p:sp>
    </p:spTree>
    <p:extLst>
      <p:ext uri="{BB962C8B-B14F-4D97-AF65-F5344CB8AC3E}">
        <p14:creationId xmlns:p14="http://schemas.microsoft.com/office/powerpoint/2010/main" val="2367207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物体运动：刚性或变形</a:t>
            </a:r>
          </a:p>
          <a:p>
            <a:r>
              <a:rPr lang="zh-CN" altLang="en-US" dirty="0"/>
              <a:t>刚性运动：不改变物体形状的运动</a:t>
            </a:r>
          </a:p>
          <a:p>
            <a:r>
              <a:rPr lang="zh-CN" altLang="en-US" dirty="0"/>
              <a:t>平移：横向运动，每个点在三个维度上的变化相同</a:t>
            </a:r>
          </a:p>
          <a:p>
            <a:r>
              <a:rPr lang="zh-CN" altLang="en-US" dirty="0"/>
              <a:t>旋转：绕固定点</a:t>
            </a:r>
            <a:r>
              <a:rPr lang="en-US" altLang="zh-CN" dirty="0"/>
              <a:t>/</a:t>
            </a:r>
            <a:r>
              <a:rPr lang="zh-CN" altLang="en-US" dirty="0"/>
              <a:t>轴的圆周运动</a:t>
            </a:r>
          </a:p>
          <a:p>
            <a:r>
              <a:rPr lang="zh-CN" altLang="en-US" dirty="0"/>
              <a:t>反射：物体的镜像</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12</a:t>
            </a:fld>
            <a:endParaRPr lang="en-US" dirty="0"/>
          </a:p>
        </p:txBody>
      </p:sp>
    </p:spTree>
    <p:extLst>
      <p:ext uri="{BB962C8B-B14F-4D97-AF65-F5344CB8AC3E}">
        <p14:creationId xmlns:p14="http://schemas.microsoft.com/office/powerpoint/2010/main" val="2920332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使用矩阵乘法实现运动</a:t>
            </a:r>
          </a:p>
          <a:p>
            <a:r>
              <a:rPr lang="zh-CN" altLang="en-US" dirty="0"/>
              <a:t>转换矩阵</a:t>
            </a:r>
          </a:p>
          <a:p>
            <a:r>
              <a:rPr lang="zh-CN" altLang="en-US" dirty="0"/>
              <a:t>定义一个特定的动作</a:t>
            </a:r>
          </a:p>
          <a:p>
            <a:r>
              <a:rPr lang="zh-CN" altLang="en-US" dirty="0"/>
              <a:t>顶点矩阵（</a:t>
            </a:r>
            <a:r>
              <a:rPr lang="en-US" altLang="zh-CN" dirty="0"/>
              <a:t>x</a:t>
            </a:r>
            <a:r>
              <a:rPr lang="zh-CN" altLang="en-US" dirty="0"/>
              <a:t>，</a:t>
            </a:r>
            <a:r>
              <a:rPr lang="en-US" altLang="zh-CN" dirty="0"/>
              <a:t>y</a:t>
            </a:r>
            <a:r>
              <a:rPr lang="zh-CN" altLang="en-US" dirty="0"/>
              <a:t>，</a:t>
            </a:r>
            <a:r>
              <a:rPr lang="en-US" altLang="zh-CN" dirty="0"/>
              <a:t>z</a:t>
            </a:r>
            <a:r>
              <a:rPr lang="zh-CN" altLang="en-US" dirty="0"/>
              <a:t>）的矢量乘以变换矩阵</a:t>
            </a:r>
          </a:p>
          <a:p>
            <a:r>
              <a:rPr lang="zh-CN" altLang="en-US" dirty="0"/>
              <a:t>结果是作为矢量的该点的新位置</a:t>
            </a:r>
          </a:p>
          <a:p>
            <a:r>
              <a:rPr lang="zh-CN" altLang="en-US" dirty="0"/>
              <a:t>示例：将（</a:t>
            </a:r>
            <a:r>
              <a:rPr lang="en-US" altLang="zh-CN" dirty="0"/>
              <a:t>x</a:t>
            </a:r>
            <a:r>
              <a:rPr lang="zh-CN" altLang="en-US" dirty="0"/>
              <a:t>，</a:t>
            </a:r>
            <a:r>
              <a:rPr lang="en-US" altLang="zh-CN" dirty="0"/>
              <a:t>y</a:t>
            </a:r>
            <a:r>
              <a:rPr lang="zh-CN" altLang="en-US" dirty="0"/>
              <a:t>，</a:t>
            </a:r>
            <a:r>
              <a:rPr lang="en-US" altLang="zh-CN" dirty="0"/>
              <a:t>z</a:t>
            </a:r>
            <a:r>
              <a:rPr lang="zh-CN" altLang="en-US" dirty="0"/>
              <a:t>）处的点移动到（</a:t>
            </a:r>
            <a:r>
              <a:rPr lang="en-US" altLang="zh-CN" dirty="0"/>
              <a:t>x + a</a:t>
            </a:r>
            <a:r>
              <a:rPr lang="zh-CN" altLang="en-US" dirty="0"/>
              <a:t>，</a:t>
            </a:r>
            <a:r>
              <a:rPr lang="en-US" altLang="zh-CN" dirty="0"/>
              <a:t>y + b</a:t>
            </a:r>
            <a:r>
              <a:rPr lang="zh-CN" altLang="en-US" dirty="0"/>
              <a:t>，</a:t>
            </a:r>
            <a:r>
              <a:rPr lang="en-US" altLang="zh-CN" dirty="0"/>
              <a:t>z + c</a:t>
            </a:r>
            <a:r>
              <a:rPr lang="zh-CN" altLang="en-US" dirty="0"/>
              <a:t>）</a:t>
            </a:r>
          </a:p>
          <a:p>
            <a:r>
              <a:rPr lang="zh-CN" altLang="en-US" dirty="0"/>
              <a:t>通过重复小</a:t>
            </a:r>
            <a:r>
              <a:rPr lang="en-US" altLang="zh-CN" dirty="0"/>
              <a:t>a</a:t>
            </a:r>
            <a:r>
              <a:rPr lang="zh-CN" altLang="en-US" dirty="0"/>
              <a:t>，</a:t>
            </a:r>
            <a:r>
              <a:rPr lang="en-US" altLang="zh-CN" dirty="0"/>
              <a:t>b</a:t>
            </a:r>
            <a:r>
              <a:rPr lang="zh-CN" altLang="en-US" dirty="0"/>
              <a:t>，</a:t>
            </a:r>
            <a:r>
              <a:rPr lang="en-US" altLang="zh-CN" dirty="0"/>
              <a:t>c</a:t>
            </a:r>
            <a:r>
              <a:rPr lang="zh-CN" altLang="en-US" dirty="0"/>
              <a:t>来创建运动</a:t>
            </a:r>
          </a:p>
          <a:p>
            <a:r>
              <a:rPr lang="zh-CN" altLang="en-US" dirty="0"/>
              <a:t>关键帧：用户指定开始和结束位置，计算机生成中间动作</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14</a:t>
            </a:fld>
            <a:endParaRPr lang="en-US" dirty="0"/>
          </a:p>
        </p:txBody>
      </p:sp>
    </p:spTree>
    <p:extLst>
      <p:ext uri="{BB962C8B-B14F-4D97-AF65-F5344CB8AC3E}">
        <p14:creationId xmlns:p14="http://schemas.microsoft.com/office/powerpoint/2010/main" val="777800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控制点（动画变量）：用于控制运动的点或轴</a:t>
            </a:r>
          </a:p>
          <a:p>
            <a:r>
              <a:rPr lang="zh-CN" altLang="en-US" dirty="0"/>
              <a:t>多个控制点允许移动物体的一部分</a:t>
            </a:r>
          </a:p>
          <a:p>
            <a:r>
              <a:rPr lang="zh-CN" altLang="en-US" dirty="0"/>
              <a:t>示例：两个旋转轴</a:t>
            </a:r>
          </a:p>
          <a:p>
            <a:r>
              <a:rPr lang="zh-CN" altLang="en-US" dirty="0"/>
              <a:t>一个绕中心点向右旋转</a:t>
            </a:r>
          </a:p>
          <a:p>
            <a:r>
              <a:rPr lang="zh-CN" altLang="en-US" dirty="0"/>
              <a:t>一个围绕外部点旋转两个圆圈</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17</a:t>
            </a:fld>
            <a:endParaRPr lang="en-US" dirty="0"/>
          </a:p>
        </p:txBody>
      </p:sp>
    </p:spTree>
    <p:extLst>
      <p:ext uri="{BB962C8B-B14F-4D97-AF65-F5344CB8AC3E}">
        <p14:creationId xmlns:p14="http://schemas.microsoft.com/office/powerpoint/2010/main" val="24880919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渲染将模型转换为完整的</a:t>
            </a:r>
            <a:r>
              <a:rPr lang="en-US" altLang="zh-CN" dirty="0"/>
              <a:t>3D</a:t>
            </a:r>
            <a:r>
              <a:rPr lang="zh-CN" altLang="en-US" dirty="0"/>
              <a:t>图像</a:t>
            </a:r>
          </a:p>
          <a:p>
            <a:r>
              <a:rPr lang="zh-CN" altLang="en-US" dirty="0"/>
              <a:t>灯光</a:t>
            </a:r>
          </a:p>
          <a:p>
            <a:r>
              <a:rPr lang="zh-CN" altLang="en-US" dirty="0"/>
              <a:t>固定所有光源的位置和强度</a:t>
            </a:r>
          </a:p>
          <a:p>
            <a:r>
              <a:rPr lang="zh-CN" altLang="en-US" dirty="0"/>
              <a:t>确定对对象的影响</a:t>
            </a:r>
          </a:p>
          <a:p>
            <a:r>
              <a:rPr lang="zh-CN" altLang="en-US" dirty="0"/>
              <a:t>颜色底纹</a:t>
            </a:r>
          </a:p>
          <a:p>
            <a:r>
              <a:rPr lang="zh-CN" altLang="en-US" dirty="0"/>
              <a:t>为顶点分配颜色； 跨多边形融合</a:t>
            </a:r>
          </a:p>
          <a:p>
            <a:r>
              <a:rPr lang="zh-CN" altLang="en-US" dirty="0"/>
              <a:t>暗影</a:t>
            </a:r>
          </a:p>
          <a:p>
            <a:r>
              <a:rPr lang="zh-CN" altLang="en-US" dirty="0"/>
              <a:t>考虑其他物体的阴影</a:t>
            </a:r>
          </a:p>
          <a:p>
            <a:r>
              <a:rPr lang="zh-CN" altLang="en-US" dirty="0"/>
              <a:t>纹理贴图</a:t>
            </a:r>
          </a:p>
          <a:p>
            <a:r>
              <a:rPr lang="zh-CN" altLang="en-US" dirty="0"/>
              <a:t>将可变表面应用于多边形</a:t>
            </a:r>
          </a:p>
          <a:p>
            <a:r>
              <a:rPr lang="zh-CN" altLang="en-US" dirty="0"/>
              <a:t>模糊以显示运动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19</a:t>
            </a:fld>
            <a:endParaRPr lang="en-US" dirty="0"/>
          </a:p>
        </p:txBody>
      </p:sp>
    </p:spTree>
    <p:extLst>
      <p:ext uri="{BB962C8B-B14F-4D97-AF65-F5344CB8AC3E}">
        <p14:creationId xmlns:p14="http://schemas.microsoft.com/office/powerpoint/2010/main" val="2854780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光线追踪是最常见的渲染算法</a:t>
            </a:r>
          </a:p>
          <a:p>
            <a:r>
              <a:rPr lang="zh-CN" altLang="en-US" dirty="0"/>
              <a:t>对对象中的每个多边形重复</a:t>
            </a:r>
          </a:p>
          <a:p>
            <a:r>
              <a:rPr lang="zh-CN" altLang="en-US" dirty="0"/>
              <a:t>对于每个光源，确定来自该光源的光量和方向</a:t>
            </a:r>
          </a:p>
          <a:p>
            <a:r>
              <a:rPr lang="zh-CN" altLang="en-US" dirty="0"/>
              <a:t>组合光源并确定强度，颜色阴影，亮度</a:t>
            </a:r>
          </a:p>
          <a:p>
            <a:r>
              <a:rPr lang="zh-CN" altLang="en-US" dirty="0"/>
              <a:t>最后一步：将</a:t>
            </a:r>
            <a:r>
              <a:rPr lang="en-US" altLang="zh-CN" dirty="0"/>
              <a:t>3D</a:t>
            </a:r>
            <a:r>
              <a:rPr lang="zh-CN" altLang="en-US" dirty="0"/>
              <a:t>对象转换为</a:t>
            </a:r>
            <a:r>
              <a:rPr lang="en-US" altLang="zh-CN" dirty="0"/>
              <a:t>2D</a:t>
            </a:r>
            <a:r>
              <a:rPr lang="zh-CN" altLang="en-US" dirty="0"/>
              <a:t>图像</a:t>
            </a:r>
          </a:p>
          <a:p>
            <a:r>
              <a:rPr lang="zh-CN" altLang="en-US" dirty="0"/>
              <a:t>找到查看器； 使用几何来确定视图</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21</a:t>
            </a:fld>
            <a:endParaRPr lang="en-US" dirty="0"/>
          </a:p>
        </p:txBody>
      </p:sp>
    </p:spTree>
    <p:extLst>
      <p:ext uri="{BB962C8B-B14F-4D97-AF65-F5344CB8AC3E}">
        <p14:creationId xmlns:p14="http://schemas.microsoft.com/office/powerpoint/2010/main" val="3709920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电子游戏图像类似于</a:t>
            </a:r>
            <a:r>
              <a:rPr lang="en-US" altLang="zh-CN" dirty="0"/>
              <a:t>CGI</a:t>
            </a:r>
          </a:p>
          <a:p>
            <a:r>
              <a:rPr lang="en-US" altLang="zh-CN" dirty="0"/>
              <a:t>CGI</a:t>
            </a:r>
            <a:r>
              <a:rPr lang="zh-CN" altLang="en-US" dirty="0"/>
              <a:t>假定为静态环境</a:t>
            </a:r>
          </a:p>
          <a:p>
            <a:r>
              <a:rPr lang="zh-CN" altLang="en-US" dirty="0"/>
              <a:t>无限时间生成图像</a:t>
            </a:r>
          </a:p>
          <a:p>
            <a:r>
              <a:rPr lang="zh-CN" altLang="en-US" dirty="0"/>
              <a:t>创建一次并显示多次</a:t>
            </a:r>
          </a:p>
          <a:p>
            <a:r>
              <a:rPr lang="zh-CN" altLang="en-US" dirty="0"/>
              <a:t>电子游戏是一个动态的环境</a:t>
            </a:r>
          </a:p>
          <a:p>
            <a:r>
              <a:rPr lang="zh-CN" altLang="en-US" dirty="0"/>
              <a:t>用户选择更改了必须显示的内容</a:t>
            </a:r>
          </a:p>
          <a:p>
            <a:r>
              <a:rPr lang="zh-CN" altLang="en-US" dirty="0"/>
              <a:t>必须实时渲染图像：实时图形</a:t>
            </a:r>
          </a:p>
          <a:p>
            <a:r>
              <a:rPr lang="zh-CN" altLang="en-US" dirty="0"/>
              <a:t>“如有必要，牺牲图像质量</a:t>
            </a:r>
          </a:p>
          <a:p>
            <a:r>
              <a:rPr lang="zh-CN" altLang="en-US" dirty="0"/>
              <a:t>显示速度”</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28</a:t>
            </a:fld>
            <a:endParaRPr lang="en-US" dirty="0"/>
          </a:p>
        </p:txBody>
      </p:sp>
    </p:spTree>
    <p:extLst>
      <p:ext uri="{BB962C8B-B14F-4D97-AF65-F5344CB8AC3E}">
        <p14:creationId xmlns:p14="http://schemas.microsoft.com/office/powerpoint/2010/main" val="2805260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帧速率是图像生成的速度</a:t>
            </a:r>
          </a:p>
          <a:p>
            <a:r>
              <a:rPr lang="zh-CN" altLang="en-US" dirty="0"/>
              <a:t>计算机使用专用</a:t>
            </a:r>
            <a:r>
              <a:rPr lang="en-US" altLang="zh-CN" dirty="0"/>
              <a:t>GPU</a:t>
            </a:r>
            <a:r>
              <a:rPr lang="zh-CN" altLang="en-US" dirty="0"/>
              <a:t>提高帧速率</a:t>
            </a:r>
          </a:p>
          <a:p>
            <a:r>
              <a:rPr lang="zh-CN" altLang="en-US" dirty="0"/>
              <a:t>图形处理单元（</a:t>
            </a:r>
            <a:r>
              <a:rPr lang="en-US" altLang="zh-CN" dirty="0"/>
              <a:t>GPU</a:t>
            </a:r>
            <a:r>
              <a:rPr lang="zh-CN" altLang="en-US" dirty="0"/>
              <a:t>）</a:t>
            </a:r>
          </a:p>
          <a:p>
            <a:r>
              <a:rPr lang="zh-CN" altLang="en-US" dirty="0"/>
              <a:t>针对</a:t>
            </a:r>
            <a:r>
              <a:rPr lang="en-US" altLang="zh-CN" dirty="0"/>
              <a:t>CGI</a:t>
            </a:r>
            <a:r>
              <a:rPr lang="zh-CN" altLang="en-US" dirty="0"/>
              <a:t>优化的独立处理器</a:t>
            </a:r>
          </a:p>
          <a:p>
            <a:r>
              <a:rPr lang="zh-CN" altLang="en-US" dirty="0"/>
              <a:t>显卡（图形卡）上的专用视频内存</a:t>
            </a:r>
          </a:p>
          <a:p>
            <a:r>
              <a:rPr lang="zh-CN" altLang="en-US" dirty="0"/>
              <a:t>大多数当代计算机都具有</a:t>
            </a:r>
            <a:r>
              <a:rPr lang="en-US" altLang="zh-CN" dirty="0"/>
              <a:t>GPU</a:t>
            </a:r>
          </a:p>
          <a:p>
            <a:r>
              <a:rPr lang="zh-CN" altLang="en-US" dirty="0"/>
              <a:t>有些具有多个</a:t>
            </a:r>
            <a:r>
              <a:rPr lang="en-US" altLang="zh-CN" dirty="0"/>
              <a:t>GPU</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29</a:t>
            </a:fld>
            <a:endParaRPr lang="en-US" dirty="0"/>
          </a:p>
        </p:txBody>
      </p:sp>
    </p:spTree>
    <p:extLst>
      <p:ext uri="{BB962C8B-B14F-4D97-AF65-F5344CB8AC3E}">
        <p14:creationId xmlns:p14="http://schemas.microsoft.com/office/powerpoint/2010/main" val="15200165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其他实现实时图形的方法</a:t>
            </a:r>
          </a:p>
          <a:p>
            <a:r>
              <a:rPr lang="zh-CN" altLang="en-US" dirty="0"/>
              <a:t>避免使用费时的算法（例如光线跟踪）</a:t>
            </a:r>
          </a:p>
          <a:p>
            <a:r>
              <a:rPr lang="zh-CN" altLang="en-US" dirty="0"/>
              <a:t>使用固定的颜色，没有阴影或阴影</a:t>
            </a:r>
          </a:p>
          <a:p>
            <a:r>
              <a:rPr lang="zh-CN" altLang="en-US" dirty="0"/>
              <a:t>剔除：首先确定可见的内容，然后仅渲染可见的元素</a:t>
            </a:r>
          </a:p>
          <a:p>
            <a:r>
              <a:rPr lang="zh-CN" altLang="en-US" dirty="0"/>
              <a:t>切入：预先计算的完全渲染对象</a:t>
            </a:r>
          </a:p>
          <a:p>
            <a:r>
              <a:rPr lang="zh-CN" altLang="en-US" dirty="0"/>
              <a:t>存储在视频库中</a:t>
            </a:r>
          </a:p>
          <a:p>
            <a:r>
              <a:rPr lang="zh-CN" altLang="en-US" dirty="0"/>
              <a:t>根据需要放入框架</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31</a:t>
            </a:fld>
            <a:endParaRPr lang="en-US" dirty="0"/>
          </a:p>
        </p:txBody>
      </p:sp>
    </p:spTree>
    <p:extLst>
      <p:ext uri="{BB962C8B-B14F-4D97-AF65-F5344CB8AC3E}">
        <p14:creationId xmlns:p14="http://schemas.microsoft.com/office/powerpoint/2010/main" val="36976963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MMOG</a:t>
            </a:r>
            <a:r>
              <a:rPr lang="zh-CN" altLang="en-US" dirty="0"/>
              <a:t>游戏设计师必须执行：</a:t>
            </a:r>
          </a:p>
          <a:p>
            <a:r>
              <a:rPr lang="zh-CN" altLang="en-US" dirty="0"/>
              <a:t>游戏管理</a:t>
            </a:r>
          </a:p>
          <a:p>
            <a:r>
              <a:rPr lang="zh-CN" altLang="en-US" dirty="0"/>
              <a:t>控制游戏动作并渲染游戏图像</a:t>
            </a:r>
          </a:p>
          <a:p>
            <a:r>
              <a:rPr lang="zh-CN" altLang="en-US" dirty="0"/>
              <a:t>注册管理</a:t>
            </a:r>
          </a:p>
          <a:p>
            <a:r>
              <a:rPr lang="zh-CN" altLang="en-US" dirty="0"/>
              <a:t>控制用户帐户，新用户和回头用户</a:t>
            </a:r>
          </a:p>
          <a:p>
            <a:r>
              <a:rPr lang="zh-CN" altLang="en-US" dirty="0"/>
              <a:t>多个服务器和数千个客户端的客户端</a:t>
            </a:r>
            <a:r>
              <a:rPr lang="en-US" altLang="zh-CN" dirty="0"/>
              <a:t>/</a:t>
            </a:r>
            <a:r>
              <a:rPr lang="zh-CN" altLang="en-US" dirty="0"/>
              <a:t>服务器协议</a:t>
            </a:r>
          </a:p>
          <a:p>
            <a:r>
              <a:rPr lang="zh-CN" altLang="en-US" dirty="0"/>
              <a:t>安全性确保仅授权访问</a:t>
            </a:r>
          </a:p>
          <a:p>
            <a:r>
              <a:rPr lang="zh-CN" altLang="en-US" dirty="0"/>
              <a:t>数据库存储和检索</a:t>
            </a:r>
          </a:p>
          <a:p>
            <a:r>
              <a:rPr lang="zh-CN" altLang="en-US" dirty="0"/>
              <a:t>存储大量数据，快速检索</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38</a:t>
            </a:fld>
            <a:endParaRPr lang="en-US" dirty="0"/>
          </a:p>
        </p:txBody>
      </p:sp>
    </p:spTree>
    <p:extLst>
      <p:ext uri="{BB962C8B-B14F-4D97-AF65-F5344CB8AC3E}">
        <p14:creationId xmlns:p14="http://schemas.microsoft.com/office/powerpoint/2010/main" val="19244501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虚拟社区：</a:t>
            </a:r>
          </a:p>
          <a:p>
            <a:r>
              <a:rPr lang="zh-CN" altLang="en-US" dirty="0"/>
              <a:t>非竞争性</a:t>
            </a:r>
            <a:r>
              <a:rPr lang="en-US" altLang="zh-CN" dirty="0"/>
              <a:t>MMOG</a:t>
            </a:r>
            <a:r>
              <a:rPr lang="zh-CN" altLang="en-US" dirty="0"/>
              <a:t>或</a:t>
            </a:r>
            <a:r>
              <a:rPr lang="en-US" altLang="zh-CN" dirty="0"/>
              <a:t>metaverse</a:t>
            </a:r>
          </a:p>
          <a:p>
            <a:r>
              <a:rPr lang="zh-CN" altLang="en-US" dirty="0"/>
              <a:t>目标不是获得分数或胜利，而是探索和互动，创建和从事虚拟商务</a:t>
            </a:r>
          </a:p>
          <a:p>
            <a:r>
              <a:rPr lang="zh-CN" altLang="en-US" dirty="0"/>
              <a:t>示例：</a:t>
            </a:r>
            <a:r>
              <a:rPr lang="en-US" altLang="zh-CN" dirty="0"/>
              <a:t>Linden Labs</a:t>
            </a:r>
            <a:r>
              <a:rPr lang="zh-CN" altLang="en-US" dirty="0"/>
              <a:t>撰写的</a:t>
            </a:r>
            <a:r>
              <a:rPr lang="en-US" altLang="zh-CN" dirty="0"/>
              <a:t>《</a:t>
            </a:r>
            <a:r>
              <a:rPr lang="zh-CN" altLang="en-US" dirty="0"/>
              <a:t>第二人生</a:t>
            </a:r>
            <a:r>
              <a:rPr lang="en-US" altLang="zh-CN" dirty="0"/>
              <a:t>》</a:t>
            </a:r>
          </a:p>
          <a:p>
            <a:r>
              <a:rPr lang="zh-CN" altLang="en-US" dirty="0"/>
              <a:t>几千台服务器</a:t>
            </a:r>
          </a:p>
          <a:p>
            <a:r>
              <a:rPr lang="en-US" altLang="zh-CN" dirty="0"/>
              <a:t>100</a:t>
            </a:r>
            <a:r>
              <a:rPr lang="zh-CN" altLang="en-US" dirty="0"/>
              <a:t>万亿字节数据</a:t>
            </a:r>
          </a:p>
          <a:p>
            <a:r>
              <a:rPr lang="zh-CN" altLang="en-US" dirty="0"/>
              <a:t>一百万活跃的“居民”</a:t>
            </a:r>
          </a:p>
          <a:p>
            <a:r>
              <a:rPr lang="zh-CN" altLang="en-US" dirty="0"/>
              <a:t>一次约有</a:t>
            </a:r>
            <a:r>
              <a:rPr lang="en-US" altLang="zh-CN" dirty="0"/>
              <a:t>50,000</a:t>
            </a:r>
            <a:r>
              <a:rPr lang="zh-CN" altLang="en-US" dirty="0"/>
              <a:t>个在线</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39</a:t>
            </a:fld>
            <a:endParaRPr lang="en-US" dirty="0"/>
          </a:p>
        </p:txBody>
      </p:sp>
    </p:spTree>
    <p:extLst>
      <p:ext uri="{BB962C8B-B14F-4D97-AF65-F5344CB8AC3E}">
        <p14:creationId xmlns:p14="http://schemas.microsoft.com/office/powerpoint/2010/main" val="788642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随着计算机功能的增强，娱乐行业对计算机和计算机动画的使用也在增长</a:t>
            </a:r>
          </a:p>
          <a:p>
            <a:r>
              <a:rPr lang="en-US" altLang="zh-CN" dirty="0"/>
              <a:t>CGI</a:t>
            </a:r>
            <a:r>
              <a:rPr lang="zh-CN" altLang="en-US" dirty="0"/>
              <a:t>可实现逼真的动画</a:t>
            </a:r>
          </a:p>
          <a:p>
            <a:r>
              <a:rPr lang="zh-CN" altLang="en-US" dirty="0"/>
              <a:t>图形管道包括对象建模，对象运动以及渲染和显示</a:t>
            </a:r>
          </a:p>
          <a:p>
            <a:r>
              <a:rPr lang="zh-CN" altLang="en-US" dirty="0"/>
              <a:t>通常将对象建模为三维的多边形镶嵌</a:t>
            </a:r>
          </a:p>
          <a:p>
            <a:r>
              <a:rPr lang="zh-CN" altLang="en-US" dirty="0"/>
              <a:t>通过将变换矩阵与对象的顶点进行矩阵乘法来创建运动</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40</a:t>
            </a:fld>
            <a:endParaRPr lang="en-US" dirty="0"/>
          </a:p>
        </p:txBody>
      </p:sp>
    </p:spTree>
    <p:extLst>
      <p:ext uri="{BB962C8B-B14F-4D97-AF65-F5344CB8AC3E}">
        <p14:creationId xmlns:p14="http://schemas.microsoft.com/office/powerpoint/2010/main" val="42481491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渲染必须为图像应用颜色，阴影和纹理</a:t>
            </a:r>
          </a:p>
          <a:p>
            <a:r>
              <a:rPr lang="zh-CN" altLang="en-US" dirty="0"/>
              <a:t>光线追踪是渲染的常用技术</a:t>
            </a:r>
          </a:p>
          <a:p>
            <a:r>
              <a:rPr lang="zh-CN" altLang="en-US" dirty="0"/>
              <a:t>电子游戏必须实时渲染图像</a:t>
            </a:r>
          </a:p>
          <a:p>
            <a:r>
              <a:rPr lang="en-US" altLang="zh-CN" dirty="0"/>
              <a:t>GPU</a:t>
            </a:r>
            <a:r>
              <a:rPr lang="zh-CN" altLang="en-US" dirty="0"/>
              <a:t>执行视频操作以加快渲染时间</a:t>
            </a:r>
          </a:p>
          <a:p>
            <a:r>
              <a:rPr lang="en-US" altLang="zh-CN" dirty="0"/>
              <a:t>MMOG</a:t>
            </a:r>
            <a:r>
              <a:rPr lang="zh-CN" altLang="en-US" dirty="0"/>
              <a:t>是在线游戏，大规模计算</a:t>
            </a:r>
          </a:p>
          <a:p>
            <a:r>
              <a:rPr lang="zh-CN" altLang="en-US" dirty="0"/>
              <a:t>虚拟人生（例如</a:t>
            </a:r>
            <a:r>
              <a:rPr lang="en-US" altLang="zh-CN" dirty="0"/>
              <a:t>Second Life</a:t>
            </a:r>
            <a:r>
              <a:rPr lang="zh-CN" altLang="en-US" dirty="0"/>
              <a:t>）是非竞争性</a:t>
            </a:r>
            <a:r>
              <a:rPr lang="en-US" altLang="zh-CN" dirty="0"/>
              <a:t>MMOG</a:t>
            </a:r>
            <a:endParaRPr lang="en-US" dirty="0"/>
          </a:p>
        </p:txBody>
      </p:sp>
      <p:sp>
        <p:nvSpPr>
          <p:cNvPr id="4" name="Slide Number Placeholder 3"/>
          <p:cNvSpPr>
            <a:spLocks noGrp="1"/>
          </p:cNvSpPr>
          <p:nvPr>
            <p:ph type="sldNum" sz="quarter" idx="5"/>
          </p:nvPr>
        </p:nvSpPr>
        <p:spPr/>
        <p:txBody>
          <a:bodyPr/>
          <a:lstStyle/>
          <a:p>
            <a:fld id="{D9483670-0D61-9349-97AC-A9731AA75D95}" type="slidenum">
              <a:rPr lang="en-US" smtClean="0"/>
              <a:t>41</a:t>
            </a:fld>
            <a:endParaRPr lang="en-US" dirty="0"/>
          </a:p>
        </p:txBody>
      </p:sp>
    </p:spTree>
    <p:extLst>
      <p:ext uri="{BB962C8B-B14F-4D97-AF65-F5344CB8AC3E}">
        <p14:creationId xmlns:p14="http://schemas.microsoft.com/office/powerpoint/2010/main" val="38800375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Tree>
    <p:extLst>
      <p:ext uri="{BB962C8B-B14F-4D97-AF65-F5344CB8AC3E}">
        <p14:creationId xmlns:p14="http://schemas.microsoft.com/office/powerpoint/2010/main" val="2945547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4" name="Picture 3"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0" y="1"/>
            <a:ext cx="9144000" cy="1060704"/>
          </a:xfrm>
          <a:noFill/>
          <a:ln>
            <a:noFill/>
          </a:ln>
        </p:spPr>
        <p:txBody>
          <a:bodyPr anchor="ctr" anchorCtr="0">
            <a:normAutofit/>
          </a:bodyPr>
          <a:lstStyle>
            <a:lvl1pPr algn="ctr">
              <a:lnSpc>
                <a:spcPct val="100000"/>
              </a:lnSpc>
              <a:defRPr sz="3600" b="0" i="0">
                <a:solidFill>
                  <a:schemeClr val="bg1"/>
                </a:solidFill>
                <a:latin typeface="Arial"/>
                <a:cs typeface="Arial"/>
              </a:defRPr>
            </a:lvl1pPr>
          </a:lstStyle>
          <a:p>
            <a:r>
              <a:rPr lang="en-US" dirty="0"/>
              <a:t>Click to edit Master title style</a:t>
            </a:r>
          </a:p>
        </p:txBody>
      </p:sp>
      <p:sp>
        <p:nvSpPr>
          <p:cNvPr id="3" name="Content Placeholder 2"/>
          <p:cNvSpPr>
            <a:spLocks noGrp="1"/>
          </p:cNvSpPr>
          <p:nvPr>
            <p:ph idx="1"/>
          </p:nvPr>
        </p:nvSpPr>
        <p:spPr>
          <a:xfrm>
            <a:off x="457203" y="1231266"/>
            <a:ext cx="8229600" cy="4894898"/>
          </a:xfrm>
        </p:spPr>
        <p:txBody>
          <a:bodyPr/>
          <a:lstStyle>
            <a:lvl1pPr marL="457200" indent="-457200">
              <a:buClr>
                <a:srgbClr val="34B14B"/>
              </a:buClr>
              <a:defRPr sz="2600" b="0" i="0">
                <a:latin typeface="Arial"/>
                <a:cs typeface="Arial"/>
              </a:defRPr>
            </a:lvl1pPr>
            <a:lvl2pPr marL="914400" indent="-457200">
              <a:buClr>
                <a:srgbClr val="34B14B"/>
              </a:buClr>
              <a:defRPr sz="2400" b="0" i="0">
                <a:latin typeface="Arial"/>
                <a:cs typeface="Arial"/>
              </a:defRPr>
            </a:lvl2pPr>
            <a:lvl3pPr marL="1371600" indent="-457200">
              <a:buClr>
                <a:srgbClr val="34B14B"/>
              </a:buClr>
              <a:buFont typeface="Wingdings" pitchFamily="2" charset="2"/>
              <a:buChar char="§"/>
              <a:defRPr sz="2200" b="0" i="0">
                <a:latin typeface="Arial"/>
                <a:cs typeface="Arial"/>
              </a:defRPr>
            </a:lvl3pPr>
            <a:lvl4pPr marL="1828800" indent="-457200">
              <a:buClr>
                <a:srgbClr val="34B14B"/>
              </a:buClr>
              <a:buFont typeface="Courier New" pitchFamily="49" charset="0"/>
              <a:buChar char="o"/>
              <a:defRPr b="0" i="0">
                <a:latin typeface="Arial"/>
                <a:cs typeface="Arial"/>
              </a:defRPr>
            </a:lvl4pPr>
            <a:lvl5pPr marL="2286000" indent="-457200">
              <a:buClr>
                <a:srgbClr val="34B14B"/>
              </a:buClr>
              <a:defRPr sz="1800" b="0" i="0">
                <a:latin typeface="Arial"/>
                <a:cs typeface="Aria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79375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3" name="Picture 2" descr="Article_PPT_Template-2.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2" name="Content Placeholder 2"/>
          <p:cNvSpPr>
            <a:spLocks noGrp="1"/>
          </p:cNvSpPr>
          <p:nvPr>
            <p:ph sz="half" idx="1"/>
          </p:nvPr>
        </p:nvSpPr>
        <p:spPr>
          <a:xfrm>
            <a:off x="457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3"/>
          <p:cNvSpPr>
            <a:spLocks noGrp="1"/>
          </p:cNvSpPr>
          <p:nvPr>
            <p:ph sz="half" idx="2"/>
          </p:nvPr>
        </p:nvSpPr>
        <p:spPr>
          <a:xfrm>
            <a:off x="4648200" y="1234440"/>
            <a:ext cx="4038600" cy="4892040"/>
          </a:xfrm>
        </p:spPr>
        <p:txBody>
          <a:bodyPr/>
          <a:lstStyle>
            <a:lvl1pPr>
              <a:buClr>
                <a:srgbClr val="34B14B"/>
              </a:buClr>
              <a:defRPr sz="3000">
                <a:latin typeface="Arial"/>
                <a:cs typeface="Arial"/>
              </a:defRPr>
            </a:lvl1pPr>
            <a:lvl2pPr>
              <a:buClr>
                <a:srgbClr val="34B14B"/>
              </a:buClr>
              <a:defRPr sz="2800">
                <a:latin typeface="Arial"/>
                <a:cs typeface="Arial"/>
              </a:defRPr>
            </a:lvl2pPr>
            <a:lvl3pPr>
              <a:buClr>
                <a:srgbClr val="34B14B"/>
              </a:buClr>
              <a:defRPr sz="2400">
                <a:latin typeface="Arial"/>
                <a:cs typeface="Arial"/>
              </a:defRPr>
            </a:lvl3pPr>
            <a:lvl4pPr>
              <a:buClr>
                <a:srgbClr val="34B14B"/>
              </a:buClr>
              <a:defRPr sz="2000">
                <a:latin typeface="Arial"/>
                <a:cs typeface="Arial"/>
              </a:defRPr>
            </a:lvl4pPr>
            <a:lvl5pPr>
              <a:buClr>
                <a:srgbClr val="34B14B"/>
              </a:buClr>
              <a:defRPr sz="2000">
                <a:latin typeface="Arial"/>
                <a:cs typeface="Arial"/>
              </a:defRPr>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1"/>
          <p:cNvSpPr>
            <a:spLocks noGrp="1"/>
          </p:cNvSpPr>
          <p:nvPr>
            <p:ph type="title"/>
          </p:nvPr>
        </p:nvSpPr>
        <p:spPr>
          <a:xfrm>
            <a:off x="0" y="1"/>
            <a:ext cx="9144000" cy="1060704"/>
          </a:xfrm>
          <a:ln>
            <a:noFill/>
          </a:ln>
        </p:spPr>
        <p:txBody>
          <a:bodyPr anchor="t" anchorCtr="0">
            <a:normAutofit/>
          </a:bodyPr>
          <a:lstStyle>
            <a:lvl1pPr algn="l">
              <a:lnSpc>
                <a:spcPct val="100000"/>
              </a:lnSpc>
              <a:defRPr sz="2500" b="1" i="0">
                <a:solidFill>
                  <a:srgbClr val="FFFFFF"/>
                </a:solidFill>
                <a:latin typeface="Arial"/>
                <a:cs typeface="Arial"/>
              </a:defRPr>
            </a:lvl1pPr>
          </a:lstStyle>
          <a:p>
            <a:r>
              <a:rPr lang="en-US" dirty="0"/>
              <a:t>Click to edit Master title style</a:t>
            </a:r>
          </a:p>
        </p:txBody>
      </p:sp>
    </p:spTree>
    <p:extLst>
      <p:ext uri="{BB962C8B-B14F-4D97-AF65-F5344CB8AC3E}">
        <p14:creationId xmlns:p14="http://schemas.microsoft.com/office/powerpoint/2010/main" val="2302061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5" y="4406901"/>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5" y="2906716"/>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
        <p:nvSpPr>
          <p:cNvPr id="7" name="Text Placeholder 5"/>
          <p:cNvSpPr>
            <a:spLocks noGrp="1"/>
          </p:cNvSpPr>
          <p:nvPr>
            <p:ph type="body" sz="quarter" idx="13"/>
          </p:nvPr>
        </p:nvSpPr>
        <p:spPr>
          <a:xfrm>
            <a:off x="2833433" y="6313295"/>
            <a:ext cx="3477134" cy="379413"/>
          </a:xfrm>
        </p:spPr>
        <p:txBody>
          <a:bodyPr/>
          <a:lstStyle>
            <a:lvl1pPr marL="0" indent="0" algn="ctr">
              <a:buNone/>
              <a:defRPr sz="1800" b="1">
                <a:solidFill>
                  <a:schemeClr val="bg1"/>
                </a:solidFill>
                <a:latin typeface="Arial"/>
                <a:cs typeface="Aria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Click to edit Master text styles</a:t>
            </a:r>
          </a:p>
        </p:txBody>
      </p:sp>
    </p:spTree>
    <p:extLst>
      <p:ext uri="{BB962C8B-B14F-4D97-AF65-F5344CB8AC3E}">
        <p14:creationId xmlns:p14="http://schemas.microsoft.com/office/powerpoint/2010/main" val="2347261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012840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2" y="1535117"/>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2" y="2174879"/>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6" y="1535117"/>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9"/>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968310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933993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8567072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4"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448239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90" y="4800604"/>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90"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90" y="5367342"/>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1433191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380909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2"/>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2" y="274642"/>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315F8B6-4AEF-1F4D-AC2D-D10919A1A67B}" type="slidenum">
              <a:rPr lang="en-US" smtClean="0"/>
              <a:t>‹#›</a:t>
            </a:fld>
            <a:endParaRPr lang="en-US" dirty="0"/>
          </a:p>
        </p:txBody>
      </p:sp>
    </p:spTree>
    <p:extLst>
      <p:ext uri="{BB962C8B-B14F-4D97-AF65-F5344CB8AC3E}">
        <p14:creationId xmlns:p14="http://schemas.microsoft.com/office/powerpoint/2010/main" val="25180352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4" name="Picture 3" descr="Article_PPT_Template-1.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Subtitle 2"/>
          <p:cNvSpPr>
            <a:spLocks noGrp="1"/>
          </p:cNvSpPr>
          <p:nvPr>
            <p:ph type="subTitle" idx="1"/>
          </p:nvPr>
        </p:nvSpPr>
        <p:spPr>
          <a:xfrm>
            <a:off x="5438414" y="3422664"/>
            <a:ext cx="3709317" cy="1982154"/>
          </a:xfrm>
        </p:spPr>
        <p:txBody>
          <a:bodyPr>
            <a:noAutofit/>
          </a:bodyPr>
          <a:lstStyle>
            <a:lvl1pPr marL="0" indent="0" algn="l">
              <a:buNone/>
              <a:defRPr sz="4000" b="1">
                <a:solidFill>
                  <a:srgbClr val="536E75"/>
                </a:solidFill>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24" name="Text Placeholder 23"/>
          <p:cNvSpPr>
            <a:spLocks noGrp="1"/>
          </p:cNvSpPr>
          <p:nvPr>
            <p:ph type="body" sz="quarter" idx="12"/>
          </p:nvPr>
        </p:nvSpPr>
        <p:spPr>
          <a:xfrm>
            <a:off x="5438415" y="1465263"/>
            <a:ext cx="3705585" cy="1708160"/>
          </a:xfrm>
        </p:spPr>
        <p:txBody>
          <a:bodyPr>
            <a:noAutofit/>
          </a:bodyPr>
          <a:lstStyle>
            <a:lvl1pPr marL="0" indent="0">
              <a:buNone/>
              <a:defRPr sz="3500" b="1" baseline="0">
                <a:solidFill>
                  <a:srgbClr val="34B14B"/>
                </a:solidFill>
                <a:latin typeface="Arial"/>
                <a:cs typeface="Arial"/>
              </a:defRPr>
            </a:lvl1pPr>
          </a:lstStyle>
          <a:p>
            <a:pPr lvl="0"/>
            <a:r>
              <a:rPr lang="en-US" dirty="0"/>
              <a:t>Click to edit Master text styles</a:t>
            </a:r>
          </a:p>
        </p:txBody>
      </p:sp>
      <p:sp>
        <p:nvSpPr>
          <p:cNvPr id="2" name="Title 1"/>
          <p:cNvSpPr>
            <a:spLocks noGrp="1"/>
          </p:cNvSpPr>
          <p:nvPr>
            <p:ph type="title"/>
          </p:nvPr>
        </p:nvSpPr>
        <p:spPr>
          <a:xfrm>
            <a:off x="457200" y="209550"/>
            <a:ext cx="8229600" cy="1143000"/>
          </a:xfrm>
        </p:spPr>
        <p:txBody>
          <a:bodyPr>
            <a:normAutofit/>
          </a:bodyPr>
          <a:lstStyle>
            <a:lvl1pPr>
              <a:defRPr lang="en-US" sz="3500" b="1" kern="1200" baseline="0" dirty="0">
                <a:solidFill>
                  <a:srgbClr val="34B14B"/>
                </a:solidFill>
                <a:latin typeface="Arial"/>
                <a:ea typeface="+mn-ea"/>
                <a:cs typeface="Arial"/>
              </a:defRPr>
            </a:lvl1pPr>
          </a:lstStyle>
          <a:p>
            <a:pPr marL="0" lvl="0" indent="0" algn="l" defTabSz="457200" rtl="0" eaLnBrk="1" latinLnBrk="0" hangingPunct="1">
              <a:spcBef>
                <a:spcPct val="20000"/>
              </a:spcBef>
              <a:buClr>
                <a:srgbClr val="3C5AA8"/>
              </a:buClr>
              <a:buFont typeface="Arial"/>
              <a:buNone/>
            </a:pPr>
            <a:r>
              <a:rPr lang="en-US" dirty="0"/>
              <a:t>Click to edit Master title style</a:t>
            </a:r>
          </a:p>
        </p:txBody>
      </p:sp>
    </p:spTree>
    <p:extLst>
      <p:ext uri="{BB962C8B-B14F-4D97-AF65-F5344CB8AC3E}">
        <p14:creationId xmlns:p14="http://schemas.microsoft.com/office/powerpoint/2010/main" val="3558325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 y="0"/>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3"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3" y="6356354"/>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3124202" y="6356354"/>
            <a:ext cx="2895601"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3" y="6356354"/>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15F8B6-4AEF-1F4D-AC2D-D10919A1A67B}" type="slidenum">
              <a:rPr lang="en-US" smtClean="0"/>
              <a:t>‹#›</a:t>
            </a:fld>
            <a:endParaRPr lang="en-US" dirty="0"/>
          </a:p>
        </p:txBody>
      </p:sp>
    </p:spTree>
    <p:extLst>
      <p:ext uri="{BB962C8B-B14F-4D97-AF65-F5344CB8AC3E}">
        <p14:creationId xmlns:p14="http://schemas.microsoft.com/office/powerpoint/2010/main" val="764846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1" r:id="rId13"/>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Clr>
          <a:srgbClr val="3C5AA8"/>
        </a:buClr>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Clr>
          <a:srgbClr val="3C5AA8"/>
        </a:buClr>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Clr>
          <a:srgbClr val="3C5AA8"/>
        </a:buClr>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Clr>
          <a:srgbClr val="3C5AA8"/>
        </a:buClr>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6753" y="1630680"/>
            <a:ext cx="3490154" cy="1143000"/>
          </a:xfrm>
        </p:spPr>
        <p:txBody>
          <a:bodyPr>
            <a:normAutofit/>
          </a:bodyPr>
          <a:lstStyle/>
          <a:p>
            <a:pPr lvl="1" algn="ctr" defTabSz="457200" rtl="0">
              <a:spcBef>
                <a:spcPct val="0"/>
              </a:spcBef>
            </a:pPr>
            <a:r>
              <a:rPr lang="en-US" sz="4000" b="1" dirty="0">
                <a:latin typeface="Arial" pitchFamily="34" charset="0"/>
                <a:cs typeface="Arial" pitchFamily="34" charset="0"/>
              </a:rPr>
              <a:t>Chapter 16</a:t>
            </a:r>
            <a:endParaRPr lang="en-US" sz="4000" dirty="0">
              <a:solidFill>
                <a:schemeClr val="tx1"/>
              </a:solidFill>
              <a:latin typeface="Arial" pitchFamily="34" charset="0"/>
              <a:cs typeface="Arial" pitchFamily="34" charset="0"/>
            </a:endParaRPr>
          </a:p>
        </p:txBody>
      </p:sp>
      <p:sp>
        <p:nvSpPr>
          <p:cNvPr id="17" name="Subtitle 16"/>
          <p:cNvSpPr>
            <a:spLocks noGrp="1"/>
          </p:cNvSpPr>
          <p:nvPr>
            <p:ph type="subTitle" idx="1"/>
          </p:nvPr>
        </p:nvSpPr>
        <p:spPr>
          <a:xfrm>
            <a:off x="5263365" y="2733936"/>
            <a:ext cx="3768042" cy="3408235"/>
          </a:xfrm>
        </p:spPr>
        <p:txBody>
          <a:bodyPr anchor="ctr"/>
          <a:lstStyle/>
          <a:p>
            <a:pPr marL="0" lvl="1"/>
            <a:r>
              <a:rPr lang="en-US" sz="3600" dirty="0">
                <a:solidFill>
                  <a:schemeClr val="tx1"/>
                </a:solidFill>
                <a:latin typeface="Arial" panose="020B0604020202020204" pitchFamily="34" charset="0"/>
                <a:cs typeface="Arial" panose="020B0604020202020204" pitchFamily="34" charset="0"/>
              </a:rPr>
              <a:t>Computer Graphics and Entertainment: Movies, Games, and Virtual Communities</a:t>
            </a:r>
          </a:p>
        </p:txBody>
      </p:sp>
      <p:sp>
        <p:nvSpPr>
          <p:cNvPr id="5" name="TextBox 4">
            <a:extLst>
              <a:ext uri="{FF2B5EF4-FFF2-40B4-BE49-F238E27FC236}">
                <a16:creationId xmlns:a16="http://schemas.microsoft.com/office/drawing/2014/main" id="{70A58238-4ABF-47BB-9300-1F7F67D8883C}"/>
              </a:ext>
            </a:extLst>
          </p:cNvPr>
          <p:cNvSpPr txBox="1"/>
          <p:nvPr/>
        </p:nvSpPr>
        <p:spPr>
          <a:xfrm>
            <a:off x="5876568" y="467528"/>
            <a:ext cx="2541636" cy="1200329"/>
          </a:xfrm>
          <a:prstGeom prst="rect">
            <a:avLst/>
          </a:prstGeom>
          <a:noFill/>
        </p:spPr>
        <p:txBody>
          <a:bodyPr wrap="square">
            <a:spAutoFit/>
          </a:bodyPr>
          <a:lstStyle/>
          <a:p>
            <a:r>
              <a:rPr lang="en-US" sz="2400" dirty="0" err="1">
                <a:solidFill>
                  <a:srgbClr val="FF0000"/>
                </a:solidFill>
              </a:rPr>
              <a:t>计算机图形学和娱乐：电影，游戏和虚拟社区</a:t>
            </a:r>
            <a:endParaRPr lang="en-US" sz="2400" dirty="0">
              <a:solidFill>
                <a:srgbClr val="FF0000"/>
              </a:solidFill>
            </a:endParaRPr>
          </a:p>
        </p:txBody>
      </p:sp>
    </p:spTree>
    <p:extLst>
      <p:ext uri="{BB962C8B-B14F-4D97-AF65-F5344CB8AC3E}">
        <p14:creationId xmlns:p14="http://schemas.microsoft.com/office/powerpoint/2010/main" val="757090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Learning Objectives (1 of 2)</a:t>
            </a:r>
            <a:endParaRPr lang="en-US" sz="3600" b="0" dirty="0">
              <a:latin typeface="Arial" pitchFamily="34" charset="0"/>
              <a:cs typeface="Arial" pitchFamily="34" charset="0"/>
            </a:endParaRPr>
          </a:p>
        </p:txBody>
      </p:sp>
      <p:sp>
        <p:nvSpPr>
          <p:cNvPr id="7" name="Content Placeholder 6"/>
          <p:cNvSpPr>
            <a:spLocks noGrp="1"/>
          </p:cNvSpPr>
          <p:nvPr>
            <p:ph idx="1"/>
          </p:nvPr>
        </p:nvSpPr>
        <p:spPr/>
        <p:txBody>
          <a:bodyPr>
            <a:normAutofit/>
          </a:bodyPr>
          <a:lstStyle/>
          <a:p>
            <a:r>
              <a:rPr lang="en-US" altLang="en-US" dirty="0">
                <a:latin typeface="Arial" pitchFamily="34" charset="0"/>
                <a:ea typeface="ＭＳ Ｐゴシック" pitchFamily="34" charset="-128"/>
                <a:cs typeface="Arial" pitchFamily="34" charset="0"/>
              </a:rPr>
              <a:t>Describe the changes in movie animation techniques caused by computer generated imagery (CGI) </a:t>
            </a:r>
          </a:p>
          <a:p>
            <a:r>
              <a:rPr lang="en-US" altLang="en-US" dirty="0">
                <a:latin typeface="Arial" pitchFamily="34" charset="0"/>
                <a:ea typeface="ＭＳ Ｐゴシック" pitchFamily="34" charset="-128"/>
                <a:cs typeface="Arial" pitchFamily="34" charset="0"/>
              </a:rPr>
              <a:t>List the steps in the graphics pipeline </a:t>
            </a:r>
          </a:p>
          <a:p>
            <a:r>
              <a:rPr lang="en-US" altLang="en-US" dirty="0">
                <a:latin typeface="Arial" pitchFamily="34" charset="0"/>
                <a:ea typeface="ＭＳ Ｐゴシック" pitchFamily="34" charset="-128"/>
                <a:cs typeface="Arial" pitchFamily="34" charset="0"/>
              </a:rPr>
              <a:t>Explain how to create a computer model of a 3D object </a:t>
            </a:r>
          </a:p>
          <a:p>
            <a:r>
              <a:rPr lang="en-US" altLang="en-US" dirty="0">
                <a:latin typeface="Arial" pitchFamily="34" charset="0"/>
                <a:ea typeface="ＭＳ Ｐゴシック" pitchFamily="34" charset="-128"/>
                <a:cs typeface="Arial" pitchFamily="34" charset="0"/>
              </a:rPr>
              <a:t>Understand how a transformation matrix can model the movement of an object </a:t>
            </a:r>
          </a:p>
          <a:p>
            <a:r>
              <a:rPr lang="en-US" altLang="en-US" dirty="0">
                <a:latin typeface="Arial" pitchFamily="34" charset="0"/>
                <a:ea typeface="ＭＳ Ｐゴシック" pitchFamily="34" charset="-128"/>
                <a:cs typeface="Arial" pitchFamily="34" charset="0"/>
              </a:rPr>
              <a:t>Name three challenges involved in rendering a visual object</a:t>
            </a:r>
          </a:p>
        </p:txBody>
      </p:sp>
    </p:spTree>
    <p:extLst>
      <p:ext uri="{BB962C8B-B14F-4D97-AF65-F5344CB8AC3E}">
        <p14:creationId xmlns:p14="http://schemas.microsoft.com/office/powerpoint/2010/main" val="2077823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itchFamily="34" charset="0"/>
                <a:ea typeface="ＭＳ Ｐゴシック" pitchFamily="34" charset="-128"/>
                <a:cs typeface="Arial" pitchFamily="34" charset="0"/>
              </a:rPr>
              <a:t>Learning Objectives (2 of 2)</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normAutofit/>
          </a:bodyPr>
          <a:lstStyle/>
          <a:p>
            <a:r>
              <a:rPr lang="en-US" altLang="en-US" dirty="0">
                <a:latin typeface="Arial" pitchFamily="34" charset="0"/>
                <a:ea typeface="ＭＳ Ｐゴシック" pitchFamily="34" charset="-128"/>
                <a:cs typeface="Arial" pitchFamily="34" charset="0"/>
              </a:rPr>
              <a:t>Explain the purpose and function of a graphics processing unit (GPU)</a:t>
            </a:r>
          </a:p>
          <a:p>
            <a:r>
              <a:rPr lang="en-US" altLang="en-US" dirty="0">
                <a:latin typeface="Arial" pitchFamily="34" charset="0"/>
                <a:ea typeface="ＭＳ Ｐゴシック" pitchFamily="34" charset="-128"/>
                <a:cs typeface="Arial" pitchFamily="34" charset="0"/>
              </a:rPr>
              <a:t>List and explain two techniques for achieving the real-time graphics required for video-game animation as opposed to movie animation </a:t>
            </a:r>
          </a:p>
          <a:p>
            <a:r>
              <a:rPr lang="en-US" altLang="en-US" dirty="0">
                <a:latin typeface="Arial" pitchFamily="34" charset="0"/>
                <a:ea typeface="ＭＳ Ｐゴシック" pitchFamily="34" charset="-128"/>
                <a:cs typeface="Arial" pitchFamily="34" charset="0"/>
              </a:rPr>
              <a:t>Describe how large virtual communities work, and the particular challenges they face</a:t>
            </a:r>
          </a:p>
        </p:txBody>
      </p:sp>
    </p:spTree>
    <p:extLst>
      <p:ext uri="{BB962C8B-B14F-4D97-AF65-F5344CB8AC3E}">
        <p14:creationId xmlns:p14="http://schemas.microsoft.com/office/powerpoint/2010/main" val="25586807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nchor="ctr">
            <a:normAutofit/>
          </a:bodyPr>
          <a:lstStyle/>
          <a:p>
            <a:pPr algn="ctr"/>
            <a:r>
              <a:rPr lang="en-US" altLang="en-US" sz="3600" b="0" dirty="0">
                <a:latin typeface="Arial" pitchFamily="34" charset="0"/>
                <a:cs typeface="Arial" pitchFamily="34" charset="0"/>
              </a:rPr>
              <a:t> Introduction (1 of 2) </a:t>
            </a:r>
            <a:endParaRPr lang="en-US" sz="3600" b="0" dirty="0">
              <a:latin typeface="Arial" pitchFamily="34" charset="0"/>
              <a:cs typeface="Arial" pitchFamily="34" charset="0"/>
            </a:endParaRPr>
          </a:p>
        </p:txBody>
      </p:sp>
      <p:sp>
        <p:nvSpPr>
          <p:cNvPr id="7" name="Content Placeholder 6"/>
          <p:cNvSpPr>
            <a:spLocks noGrp="1"/>
          </p:cNvSpPr>
          <p:nvPr>
            <p:ph idx="1"/>
          </p:nvPr>
        </p:nvSpPr>
        <p:spPr/>
        <p:txBody>
          <a:bodyPr>
            <a:normAutofit/>
          </a:bodyPr>
          <a:lstStyle/>
          <a:p>
            <a:r>
              <a:rPr lang="en-US" altLang="en-US" dirty="0">
                <a:latin typeface="Arial" pitchFamily="34" charset="0"/>
                <a:ea typeface="ＭＳ Ｐゴシック" pitchFamily="34" charset="-128"/>
                <a:cs typeface="Arial" pitchFamily="34" charset="0"/>
              </a:rPr>
              <a:t>Early computers were too expensive and rare for use as entertainment (1950s–1960s)</a:t>
            </a:r>
          </a:p>
          <a:p>
            <a:r>
              <a:rPr lang="en-US" altLang="en-US" dirty="0">
                <a:latin typeface="Arial" pitchFamily="34" charset="0"/>
                <a:ea typeface="ＭＳ Ｐゴシック" pitchFamily="34" charset="-128"/>
                <a:cs typeface="Arial" pitchFamily="34" charset="0"/>
              </a:rPr>
              <a:t>When </a:t>
            </a:r>
            <a:r>
              <a:rPr lang="en-US" altLang="en-US" b="1" dirty="0">
                <a:latin typeface="Arial" pitchFamily="34" charset="0"/>
                <a:ea typeface="ＭＳ Ｐゴシック" pitchFamily="34" charset="-128"/>
                <a:cs typeface="Arial" pitchFamily="34" charset="0"/>
              </a:rPr>
              <a:t>minicomputers</a:t>
            </a:r>
            <a:r>
              <a:rPr lang="en-US" altLang="en-US" dirty="0">
                <a:latin typeface="Arial" pitchFamily="34" charset="0"/>
                <a:ea typeface="ＭＳ Ｐゴシック" pitchFamily="34" charset="-128"/>
                <a:cs typeface="Arial" pitchFamily="34" charset="0"/>
              </a:rPr>
              <a:t> arrived, college students began writing games for them (1970s)</a:t>
            </a:r>
          </a:p>
          <a:p>
            <a:r>
              <a:rPr lang="en-US" altLang="en-US" dirty="0">
                <a:latin typeface="Arial" pitchFamily="34" charset="0"/>
                <a:ea typeface="ＭＳ Ｐゴシック" pitchFamily="34" charset="-128"/>
                <a:cs typeface="Arial" pitchFamily="34" charset="0"/>
              </a:rPr>
              <a:t>Atari created Pong, first commercial game (1975)</a:t>
            </a:r>
          </a:p>
          <a:p>
            <a:r>
              <a:rPr lang="en-US" altLang="en-US" dirty="0">
                <a:latin typeface="Arial" pitchFamily="34" charset="0"/>
                <a:ea typeface="ＭＳ Ｐゴシック" pitchFamily="34" charset="-128"/>
                <a:cs typeface="Arial" pitchFamily="34" charset="0"/>
              </a:rPr>
              <a:t>Use in movies grew in early 1990s (Terminator 2, Jurassic Park)</a:t>
            </a:r>
          </a:p>
          <a:p>
            <a:r>
              <a:rPr lang="en-US" altLang="en-US" dirty="0">
                <a:latin typeface="Arial" pitchFamily="34" charset="0"/>
                <a:ea typeface="ＭＳ Ｐゴシック" pitchFamily="34" charset="-128"/>
                <a:cs typeface="Arial" pitchFamily="34" charset="0"/>
              </a:rPr>
              <a:t>Now entertainment is a huge, multi-billion dollar segment of the industry</a:t>
            </a:r>
          </a:p>
        </p:txBody>
      </p:sp>
    </p:spTree>
    <p:extLst>
      <p:ext uri="{BB962C8B-B14F-4D97-AF65-F5344CB8AC3E}">
        <p14:creationId xmlns:p14="http://schemas.microsoft.com/office/powerpoint/2010/main" val="2793489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ctr"/>
            <a:r>
              <a:rPr lang="en-US" sz="3600" b="0" kern="0" dirty="0">
                <a:latin typeface="Arial" panose="020B0604020202020204" pitchFamily="34" charset="0"/>
                <a:cs typeface="Arial" panose="020B0604020202020204" pitchFamily="34" charset="0"/>
              </a:rPr>
              <a:t>Introduction (2 of 2)</a:t>
            </a:r>
            <a:endParaRPr lang="en-US" sz="3600" b="0" dirty="0">
              <a:latin typeface="Arial" panose="020B0604020202020204" pitchFamily="34" charset="0"/>
              <a:cs typeface="Arial" panose="020B0604020202020204" pitchFamily="34" charset="0"/>
            </a:endParaRPr>
          </a:p>
        </p:txBody>
      </p:sp>
      <p:pic>
        <p:nvPicPr>
          <p:cNvPr id="8" name="Picture 6" descr="Row 1: W sub 1, 0.6; W sub 2, 0.1; theta, 0.5; X sub 1, 0; X sub 2, 0; Y, 0; T, 0; α times, t minus y, 0; w sub 1 prime, 0.6; w sub 2 prime, 0.1; theta prime, 0.5. Row 2: W sub 1, 0.6; W sub 2, 0.1; theta, 0.5; X sub 1, 0; X sub 2, 1; Y, 0; T, 0; α times, t minus y, 0; w sub 1 prime, 0.6; w sub 2 prime, 0.1; theta prime, 0.5. Row 3: W sub 1, 0.6; W sub 2, 0.1; theta, 0.5; X sub 1, 1; X sub 2, 0; Y, 0; T, 0; α times, t minus y, negative 0.2; w sub 1 prime, 0.4; w sub 2 prime, 0.1; theta prime, 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8479" y="1557559"/>
            <a:ext cx="4885210" cy="3487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p:cNvSpPr/>
          <p:nvPr/>
        </p:nvSpPr>
        <p:spPr>
          <a:xfrm>
            <a:off x="1086389" y="5251721"/>
            <a:ext cx="7153981" cy="892552"/>
          </a:xfrm>
          <a:prstGeom prst="rect">
            <a:avLst/>
          </a:prstGeom>
        </p:spPr>
        <p:txBody>
          <a:bodyPr wrap="square">
            <a:spAutoFit/>
          </a:bodyPr>
          <a:lstStyle/>
          <a:p>
            <a:pPr>
              <a:buSzTx/>
            </a:pPr>
            <a:r>
              <a:rPr lang="en-US" altLang="en-US" sz="2600" dirty="0">
                <a:solidFill>
                  <a:srgbClr val="222222"/>
                </a:solidFill>
                <a:latin typeface="Arial" charset="0"/>
              </a:rPr>
              <a:t>Invitation to Computer Science, 8th Edition © 2019 Cengage. All rights reserved.</a:t>
            </a:r>
          </a:p>
        </p:txBody>
      </p:sp>
    </p:spTree>
    <p:extLst>
      <p:ext uri="{BB962C8B-B14F-4D97-AF65-F5344CB8AC3E}">
        <p14:creationId xmlns:p14="http://schemas.microsoft.com/office/powerpoint/2010/main" val="14648769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755" y="1"/>
            <a:ext cx="8034491" cy="1060704"/>
          </a:xfrm>
        </p:spPr>
        <p:txBody>
          <a:bodyPr>
            <a:noAutofit/>
          </a:bodyPr>
          <a:lstStyle/>
          <a:p>
            <a:r>
              <a:rPr lang="en-US" altLang="en-US" dirty="0">
                <a:latin typeface="Arial" pitchFamily="34" charset="0"/>
                <a:ea typeface="ＭＳ Ｐゴシック" pitchFamily="34" charset="-128"/>
                <a:cs typeface="Arial" pitchFamily="34" charset="0"/>
              </a:rPr>
              <a:t>Computer-Generated Imagery (CGI)</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(1 of 18)</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dirty="0">
                <a:latin typeface="Arial" pitchFamily="34" charset="0"/>
                <a:ea typeface="ＭＳ Ｐゴシック" pitchFamily="34" charset="-128"/>
                <a:cs typeface="Arial" pitchFamily="34" charset="0"/>
              </a:rPr>
              <a:t>Movie animation in the past </a:t>
            </a:r>
          </a:p>
          <a:p>
            <a:pPr lvl="1"/>
            <a:r>
              <a:rPr lang="en-US" altLang="en-US" dirty="0">
                <a:latin typeface="Arial" pitchFamily="34" charset="0"/>
                <a:ea typeface="ＭＳ Ｐゴシック" pitchFamily="34" charset="-128"/>
                <a:cs typeface="Arial" pitchFamily="34" charset="0"/>
              </a:rPr>
              <a:t>Hand-drawn (e.g., Walt Disney)</a:t>
            </a:r>
          </a:p>
          <a:p>
            <a:pPr lvl="1"/>
            <a:r>
              <a:rPr lang="en-US" altLang="en-US" b="1" dirty="0">
                <a:latin typeface="Arial" pitchFamily="34" charset="0"/>
                <a:ea typeface="ＭＳ Ｐゴシック" pitchFamily="34" charset="-128"/>
                <a:cs typeface="Arial" pitchFamily="34" charset="0"/>
              </a:rPr>
              <a:t>Stop-motion animation</a:t>
            </a:r>
            <a:endParaRPr lang="en-US" altLang="en-US" dirty="0">
              <a:latin typeface="Arial" pitchFamily="34" charset="0"/>
              <a:ea typeface="ＭＳ Ｐゴシック" pitchFamily="34" charset="-128"/>
              <a:cs typeface="Arial" pitchFamily="34" charset="0"/>
            </a:endParaRPr>
          </a:p>
          <a:p>
            <a:pPr lvl="2"/>
            <a:r>
              <a:rPr lang="en-US" altLang="en-US" dirty="0">
                <a:latin typeface="Arial" pitchFamily="34" charset="0"/>
                <a:ea typeface="ＭＳ Ｐゴシック" pitchFamily="34" charset="-128"/>
                <a:cs typeface="Arial" pitchFamily="34" charset="0"/>
              </a:rPr>
              <a:t>Clay figures posed, photographed, then moved slightly repeatedly in a series of </a:t>
            </a:r>
            <a:r>
              <a:rPr lang="en-US" altLang="en-US" b="1" dirty="0">
                <a:latin typeface="Arial" pitchFamily="34" charset="0"/>
                <a:ea typeface="ＭＳ Ｐゴシック" pitchFamily="34" charset="-128"/>
                <a:cs typeface="Arial" pitchFamily="34" charset="0"/>
              </a:rPr>
              <a:t>frames</a:t>
            </a:r>
            <a:endParaRPr lang="en-US" altLang="en-US" dirty="0">
              <a:latin typeface="Arial" pitchFamily="34" charset="0"/>
              <a:ea typeface="ＭＳ Ｐゴシック" pitchFamily="34" charset="-128"/>
              <a:cs typeface="Arial" pitchFamily="34" charset="0"/>
            </a:endParaRPr>
          </a:p>
          <a:p>
            <a:r>
              <a:rPr lang="en-US" altLang="en-US" dirty="0">
                <a:latin typeface="Arial" pitchFamily="34" charset="0"/>
                <a:ea typeface="ＭＳ Ｐゴシック" pitchFamily="34" charset="-128"/>
                <a:cs typeface="Arial" pitchFamily="34" charset="0"/>
              </a:rPr>
              <a:t>Computer animation developed in the 1980s and 1990s</a:t>
            </a:r>
          </a:p>
          <a:p>
            <a:pPr lvl="1"/>
            <a:r>
              <a:rPr lang="en-US" altLang="en-US" dirty="0">
                <a:latin typeface="Arial" pitchFamily="34" charset="0"/>
                <a:ea typeface="ＭＳ Ｐゴシック" pitchFamily="34" charset="-128"/>
                <a:cs typeface="Arial" pitchFamily="34" charset="0"/>
              </a:rPr>
              <a:t>Terminator 2: Judgment Day</a:t>
            </a:r>
          </a:p>
          <a:p>
            <a:pPr lvl="1"/>
            <a:r>
              <a:rPr lang="en-US" altLang="en-US" dirty="0">
                <a:latin typeface="Arial" pitchFamily="34" charset="0"/>
                <a:ea typeface="ＭＳ Ｐゴシック" pitchFamily="34" charset="-128"/>
                <a:cs typeface="Arial" pitchFamily="34" charset="0"/>
              </a:rPr>
              <a:t>Jurassic Park</a:t>
            </a:r>
          </a:p>
          <a:p>
            <a:r>
              <a:rPr lang="en-US" altLang="en-US" b="1" dirty="0">
                <a:latin typeface="Arial" pitchFamily="34" charset="0"/>
                <a:ea typeface="ＭＳ Ｐゴシック" pitchFamily="34" charset="-128"/>
                <a:cs typeface="Arial" pitchFamily="34" charset="0"/>
              </a:rPr>
              <a:t>Computer-generated imagery (CGI)</a:t>
            </a:r>
            <a:r>
              <a:rPr lang="en-US" altLang="en-US" dirty="0">
                <a:latin typeface="Arial" pitchFamily="34" charset="0"/>
                <a:ea typeface="ＭＳ Ｐゴシック" pitchFamily="34" charset="-128"/>
                <a:cs typeface="Arial" pitchFamily="34" charset="0"/>
              </a:rPr>
              <a:t> produces </a:t>
            </a:r>
            <a:r>
              <a:rPr lang="en-US" altLang="en-US" b="1" dirty="0">
                <a:latin typeface="Arial" pitchFamily="34" charset="0"/>
                <a:ea typeface="ＭＳ Ｐゴシック" pitchFamily="34" charset="-128"/>
                <a:cs typeface="Arial" pitchFamily="34" charset="0"/>
              </a:rPr>
              <a:t>photorealistic animation</a:t>
            </a:r>
          </a:p>
        </p:txBody>
      </p:sp>
    </p:spTree>
    <p:extLst>
      <p:ext uri="{BB962C8B-B14F-4D97-AF65-F5344CB8AC3E}">
        <p14:creationId xmlns:p14="http://schemas.microsoft.com/office/powerpoint/2010/main" val="1894089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755" y="1"/>
            <a:ext cx="8034491" cy="1060704"/>
          </a:xfrm>
        </p:spPr>
        <p:txBody>
          <a:bodyPr>
            <a:noAutofit/>
          </a:bodyPr>
          <a:lstStyle/>
          <a:p>
            <a:r>
              <a:rPr lang="en-US" altLang="en-US" dirty="0">
                <a:latin typeface="Arial" pitchFamily="34" charset="0"/>
                <a:ea typeface="ＭＳ Ｐゴシック" pitchFamily="34" charset="-128"/>
                <a:cs typeface="Arial" pitchFamily="34" charset="0"/>
              </a:rPr>
              <a:t>Computer-Generated Imagery (CGI)</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(2 of 18)</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dirty="0">
                <a:latin typeface="Arial" pitchFamily="34" charset="0"/>
                <a:ea typeface="ＭＳ Ｐゴシック" pitchFamily="34" charset="-128"/>
                <a:cs typeface="Arial" pitchFamily="34" charset="0"/>
              </a:rPr>
              <a:t>The </a:t>
            </a:r>
            <a:r>
              <a:rPr lang="en-US" altLang="en-US" b="1" dirty="0">
                <a:latin typeface="Arial" pitchFamily="34" charset="0"/>
                <a:ea typeface="ＭＳ Ｐゴシック" pitchFamily="34" charset="-128"/>
                <a:cs typeface="Arial" pitchFamily="34" charset="0"/>
              </a:rPr>
              <a:t>graphics pipeline</a:t>
            </a:r>
            <a:r>
              <a:rPr lang="en-US" altLang="en-US" dirty="0">
                <a:latin typeface="Arial" pitchFamily="34" charset="0"/>
                <a:ea typeface="ＭＳ Ｐゴシック" pitchFamily="34" charset="-128"/>
                <a:cs typeface="Arial" pitchFamily="34" charset="0"/>
              </a:rPr>
              <a:t>: sequence of tasks to generate CGI images/movies</a:t>
            </a:r>
          </a:p>
          <a:p>
            <a:r>
              <a:rPr lang="en-US" altLang="en-US" b="1" dirty="0">
                <a:latin typeface="Arial" pitchFamily="34" charset="0"/>
                <a:ea typeface="ＭＳ Ｐゴシック" pitchFamily="34" charset="-128"/>
                <a:cs typeface="Arial" pitchFamily="34" charset="0"/>
              </a:rPr>
              <a:t>Object modeling</a:t>
            </a:r>
            <a:r>
              <a:rPr lang="en-US" altLang="en-US" dirty="0">
                <a:latin typeface="Arial" pitchFamily="34" charset="0"/>
                <a:ea typeface="ＭＳ Ｐゴシック" pitchFamily="34" charset="-128"/>
                <a:cs typeface="Arial" pitchFamily="34" charset="0"/>
              </a:rPr>
              <a:t>: create model of 3D object</a:t>
            </a:r>
          </a:p>
          <a:p>
            <a:r>
              <a:rPr lang="en-US" altLang="en-US" b="1" dirty="0">
                <a:latin typeface="Arial" pitchFamily="34" charset="0"/>
                <a:ea typeface="ＭＳ Ｐゴシック" pitchFamily="34" charset="-128"/>
                <a:cs typeface="Arial" pitchFamily="34" charset="0"/>
              </a:rPr>
              <a:t>Object motion</a:t>
            </a:r>
            <a:r>
              <a:rPr lang="en-US" altLang="en-US" dirty="0">
                <a:latin typeface="Arial" pitchFamily="34" charset="0"/>
                <a:ea typeface="ＭＳ Ｐゴシック" pitchFamily="34" charset="-128"/>
                <a:cs typeface="Arial" pitchFamily="34" charset="0"/>
              </a:rPr>
              <a:t>: apply transformations to move objects</a:t>
            </a:r>
          </a:p>
          <a:p>
            <a:r>
              <a:rPr lang="en-US" altLang="en-US" b="1" dirty="0">
                <a:latin typeface="Arial" pitchFamily="34" charset="0"/>
                <a:ea typeface="ＭＳ Ｐゴシック" pitchFamily="34" charset="-128"/>
                <a:cs typeface="Arial" pitchFamily="34" charset="0"/>
              </a:rPr>
              <a:t>Rendering and display</a:t>
            </a:r>
            <a:r>
              <a:rPr lang="en-US" altLang="en-US" dirty="0">
                <a:latin typeface="Arial" pitchFamily="34" charset="0"/>
                <a:ea typeface="ＭＳ Ｐゴシック" pitchFamily="34" charset="-128"/>
                <a:cs typeface="Arial" pitchFamily="34" charset="0"/>
              </a:rPr>
              <a:t>: incorporate lighting, shadows, and textures</a:t>
            </a:r>
          </a:p>
        </p:txBody>
      </p:sp>
    </p:spTree>
    <p:extLst>
      <p:ext uri="{BB962C8B-B14F-4D97-AF65-F5344CB8AC3E}">
        <p14:creationId xmlns:p14="http://schemas.microsoft.com/office/powerpoint/2010/main" val="1154726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554755" y="1"/>
            <a:ext cx="8034491" cy="1060704"/>
          </a:xfrm>
        </p:spPr>
        <p:txBody>
          <a:bodyPr>
            <a:noAutofit/>
          </a:bodyPr>
          <a:lstStyle/>
          <a:p>
            <a:pPr algn="ctr"/>
            <a:r>
              <a:rPr lang="en-US" altLang="en-US" sz="3600" b="0" kern="0" dirty="0">
                <a:latin typeface="Arial" panose="020B0604020202020204" pitchFamily="34" charset="0"/>
                <a:cs typeface="Arial" panose="020B0604020202020204" pitchFamily="34" charset="0"/>
              </a:rPr>
              <a:t>Computer-Generated</a:t>
            </a:r>
            <a:r>
              <a:rPr lang="en-US" altLang="en-US" sz="3600" kern="0" dirty="0">
                <a:latin typeface="Arial" panose="020B0604020202020204" pitchFamily="34" charset="0"/>
                <a:cs typeface="Arial" panose="020B0604020202020204" pitchFamily="34" charset="0"/>
              </a:rPr>
              <a:t> </a:t>
            </a:r>
            <a:r>
              <a:rPr lang="en-US" altLang="en-US" sz="3600" b="0" kern="0" dirty="0">
                <a:latin typeface="Arial" panose="020B0604020202020204" pitchFamily="34" charset="0"/>
                <a:cs typeface="Arial" panose="020B0604020202020204" pitchFamily="34" charset="0"/>
              </a:rPr>
              <a:t>Imagery</a:t>
            </a:r>
            <a:r>
              <a:rPr lang="en-US" altLang="en-US" sz="3600" kern="0" dirty="0">
                <a:latin typeface="Arial" panose="020B0604020202020204" pitchFamily="34" charset="0"/>
                <a:cs typeface="Arial" panose="020B0604020202020204" pitchFamily="34" charset="0"/>
              </a:rPr>
              <a:t> (</a:t>
            </a:r>
            <a:r>
              <a:rPr lang="en-US" altLang="en-US" sz="3600" b="0" kern="0" dirty="0">
                <a:latin typeface="Arial" panose="020B0604020202020204" pitchFamily="34" charset="0"/>
                <a:cs typeface="Arial" panose="020B0604020202020204" pitchFamily="34" charset="0"/>
              </a:rPr>
              <a:t>CGI</a:t>
            </a:r>
            <a:r>
              <a:rPr lang="en-US" altLang="en-US" sz="3600" kern="0" dirty="0">
                <a:latin typeface="Arial" panose="020B0604020202020204" pitchFamily="34" charset="0"/>
                <a:cs typeface="Arial" panose="020B0604020202020204" pitchFamily="34" charset="0"/>
              </a:rPr>
              <a:t>)</a:t>
            </a:r>
            <a:r>
              <a:rPr lang="en-US" altLang="en-US" sz="3600" kern="0" baseline="0" dirty="0">
                <a:latin typeface="Arial" panose="020B0604020202020204" pitchFamily="34" charset="0"/>
                <a:cs typeface="Arial" panose="020B0604020202020204" pitchFamily="34" charset="0"/>
              </a:rPr>
              <a:t> </a:t>
            </a:r>
            <a:r>
              <a:rPr lang="en-US" altLang="en-US" sz="3600" kern="0" dirty="0">
                <a:latin typeface="Arial" panose="020B0604020202020204" pitchFamily="34" charset="0"/>
                <a:cs typeface="Arial" panose="020B0604020202020204" pitchFamily="34" charset="0"/>
              </a:rPr>
              <a:t>(</a:t>
            </a:r>
            <a:r>
              <a:rPr lang="en-US" altLang="en-US" sz="3600" b="0" kern="0" dirty="0">
                <a:latin typeface="Arial" panose="020B0604020202020204" pitchFamily="34" charset="0"/>
                <a:cs typeface="Arial" panose="020B0604020202020204" pitchFamily="34" charset="0"/>
              </a:rPr>
              <a:t>3 of 18</a:t>
            </a:r>
            <a:r>
              <a:rPr lang="en-US" altLang="en-US" sz="3600" kern="0" dirty="0">
                <a:latin typeface="Arial" panose="020B0604020202020204" pitchFamily="34" charset="0"/>
                <a:cs typeface="Arial" panose="020B0604020202020204" pitchFamily="34" charset="0"/>
              </a:rPr>
              <a:t>)</a:t>
            </a:r>
            <a:endParaRPr lang="en-US" sz="3600" dirty="0">
              <a:latin typeface="Arial" panose="020B0604020202020204" pitchFamily="34" charset="0"/>
              <a:cs typeface="Arial" panose="020B0604020202020204" pitchFamily="34" charset="0"/>
            </a:endParaRPr>
          </a:p>
        </p:txBody>
      </p:sp>
      <p:pic>
        <p:nvPicPr>
          <p:cNvPr id="10" name="Picture 5" descr="A flowchart shows a simplified three-stage graphics pipeline between system input and output as follows: object modeling leads to object motion which leads to rendering and displa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4148" y="1427748"/>
            <a:ext cx="3240506" cy="3689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Content Placeholder 10"/>
          <p:cNvSpPr/>
          <p:nvPr/>
        </p:nvSpPr>
        <p:spPr>
          <a:xfrm>
            <a:off x="417096" y="5241338"/>
            <a:ext cx="8614610" cy="892552"/>
          </a:xfrm>
          <a:prstGeom prst="rect">
            <a:avLst/>
          </a:prstGeom>
        </p:spPr>
        <p:txBody>
          <a:bodyPr wrap="square">
            <a:spAutoFit/>
          </a:bodyPr>
          <a:lstStyle/>
          <a:p>
            <a:pPr>
              <a:buSzTx/>
            </a:pPr>
            <a:r>
              <a:rPr lang="en-US" altLang="en-US" sz="2600" dirty="0">
                <a:solidFill>
                  <a:srgbClr val="222222"/>
                </a:solidFill>
                <a:latin typeface="Arial" charset="0"/>
              </a:rPr>
              <a:t>Invitation to Computer Science, 8th Edition © 2019 Cengage. All rights reserved.</a:t>
            </a:r>
          </a:p>
        </p:txBody>
      </p:sp>
    </p:spTree>
    <p:extLst>
      <p:ext uri="{BB962C8B-B14F-4D97-AF65-F5344CB8AC3E}">
        <p14:creationId xmlns:p14="http://schemas.microsoft.com/office/powerpoint/2010/main" val="31294144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755" y="1"/>
            <a:ext cx="8034491" cy="1060704"/>
          </a:xfrm>
        </p:spPr>
        <p:txBody>
          <a:bodyPr>
            <a:noAutofit/>
          </a:bodyPr>
          <a:lstStyle/>
          <a:p>
            <a:r>
              <a:rPr lang="en-US" altLang="en-US" dirty="0">
                <a:latin typeface="Arial" pitchFamily="34" charset="0"/>
                <a:ea typeface="ＭＳ Ｐゴシック" pitchFamily="34" charset="-128"/>
                <a:cs typeface="Arial" pitchFamily="34" charset="0"/>
              </a:rPr>
              <a:t>Computer-Generated Imagery (CGI) (4 of 18)</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b="1" dirty="0">
                <a:solidFill>
                  <a:srgbClr val="FF0000"/>
                </a:solidFill>
                <a:latin typeface="Arial" pitchFamily="34" charset="0"/>
                <a:ea typeface="ＭＳ Ｐゴシック" pitchFamily="34" charset="-128"/>
                <a:cs typeface="Arial" pitchFamily="34" charset="0"/>
              </a:rPr>
              <a:t>Wireframe modeling</a:t>
            </a:r>
            <a:r>
              <a:rPr lang="en-US" altLang="en-US" dirty="0">
                <a:latin typeface="Arial" pitchFamily="34" charset="0"/>
                <a:ea typeface="ＭＳ Ｐゴシック" pitchFamily="34" charset="-128"/>
                <a:cs typeface="Arial" pitchFamily="34" charset="0"/>
              </a:rPr>
              <a:t> is a common approach to object modeling</a:t>
            </a:r>
          </a:p>
          <a:p>
            <a:r>
              <a:rPr lang="en-US" altLang="en-US" dirty="0">
                <a:latin typeface="Arial" pitchFamily="34" charset="0"/>
                <a:ea typeface="ＭＳ Ｐゴシック" pitchFamily="34" charset="-128"/>
                <a:cs typeface="Arial" pitchFamily="34" charset="0"/>
              </a:rPr>
              <a:t>Take an image and create a </a:t>
            </a:r>
            <a:r>
              <a:rPr lang="en-US" altLang="en-US" b="1" dirty="0">
                <a:solidFill>
                  <a:srgbClr val="FF0000"/>
                </a:solidFill>
                <a:latin typeface="Arial" pitchFamily="34" charset="0"/>
                <a:ea typeface="ＭＳ Ｐゴシック" pitchFamily="34" charset="-128"/>
                <a:cs typeface="Arial" pitchFamily="34" charset="0"/>
              </a:rPr>
              <a:t>tessellation</a:t>
            </a:r>
            <a:endParaRPr lang="en-US" altLang="en-US" dirty="0">
              <a:solidFill>
                <a:srgbClr val="FF0000"/>
              </a:solidFill>
              <a:latin typeface="Arial" pitchFamily="34" charset="0"/>
              <a:ea typeface="ＭＳ Ｐゴシック" pitchFamily="34" charset="-128"/>
              <a:cs typeface="Arial" pitchFamily="34" charset="0"/>
            </a:endParaRPr>
          </a:p>
          <a:p>
            <a:pPr lvl="1"/>
            <a:r>
              <a:rPr lang="en-US" altLang="en-US" dirty="0">
                <a:latin typeface="Arial" pitchFamily="34" charset="0"/>
                <a:ea typeface="ＭＳ Ｐゴシック" pitchFamily="34" charset="-128"/>
                <a:cs typeface="Arial" pitchFamily="34" charset="0"/>
              </a:rPr>
              <a:t>Divide object surface into planar polygons </a:t>
            </a:r>
          </a:p>
          <a:p>
            <a:pPr lvl="2"/>
            <a:r>
              <a:rPr lang="en-US" altLang="en-US" dirty="0">
                <a:latin typeface="Arial" pitchFamily="34" charset="0"/>
                <a:ea typeface="ＭＳ Ｐゴシック" pitchFamily="34" charset="-128"/>
                <a:cs typeface="Arial" pitchFamily="34" charset="0"/>
              </a:rPr>
              <a:t>Polygons share edges and vertices</a:t>
            </a:r>
          </a:p>
          <a:p>
            <a:pPr lvl="2"/>
            <a:r>
              <a:rPr lang="en-US" altLang="en-US" dirty="0">
                <a:latin typeface="Arial" pitchFamily="34" charset="0"/>
                <a:ea typeface="ＭＳ Ｐゴシック" pitchFamily="34" charset="-128"/>
                <a:cs typeface="Arial" pitchFamily="34" charset="0"/>
              </a:rPr>
              <a:t>Polygons completely cover object surface</a:t>
            </a:r>
          </a:p>
          <a:p>
            <a:pPr lvl="2"/>
            <a:r>
              <a:rPr lang="en-US" altLang="en-US" dirty="0">
                <a:latin typeface="Arial" pitchFamily="34" charset="0"/>
                <a:ea typeface="ＭＳ Ｐゴシック" pitchFamily="34" charset="-128"/>
                <a:cs typeface="Arial" pitchFamily="34" charset="0"/>
              </a:rPr>
              <a:t>Polygon mesh: result looks like a wire model</a:t>
            </a:r>
          </a:p>
          <a:p>
            <a:pPr lvl="1"/>
            <a:r>
              <a:rPr lang="en-US" altLang="en-US" dirty="0">
                <a:latin typeface="Arial" pitchFamily="34" charset="0"/>
                <a:ea typeface="ＭＳ Ｐゴシック" pitchFamily="34" charset="-128"/>
                <a:cs typeface="Arial" pitchFamily="34" charset="0"/>
              </a:rPr>
              <a:t>Convert to three dimensions</a:t>
            </a:r>
          </a:p>
          <a:p>
            <a:pPr lvl="1"/>
            <a:r>
              <a:rPr lang="en-US" altLang="en-US" dirty="0">
                <a:latin typeface="Arial" pitchFamily="34" charset="0"/>
                <a:ea typeface="ＭＳ Ｐゴシック" pitchFamily="34" charset="-128"/>
                <a:cs typeface="Arial" pitchFamily="34" charset="0"/>
              </a:rPr>
              <a:t>Generate a </a:t>
            </a:r>
            <a:r>
              <a:rPr lang="en-US" altLang="en-US" b="1" dirty="0">
                <a:latin typeface="Arial" pitchFamily="34" charset="0"/>
                <a:ea typeface="ＭＳ Ｐゴシック" pitchFamily="34" charset="-128"/>
                <a:cs typeface="Arial" pitchFamily="34" charset="0"/>
              </a:rPr>
              <a:t>vertex list</a:t>
            </a:r>
            <a:r>
              <a:rPr lang="en-US" altLang="en-US" dirty="0">
                <a:latin typeface="Arial" pitchFamily="34" charset="0"/>
                <a:ea typeface="ＭＳ Ｐゴシック" pitchFamily="34" charset="-128"/>
                <a:cs typeface="Arial" pitchFamily="34" charset="0"/>
              </a:rPr>
              <a:t>, a table of all vertices and their 3D position</a:t>
            </a:r>
          </a:p>
        </p:txBody>
      </p:sp>
      <p:sp>
        <p:nvSpPr>
          <p:cNvPr id="5" name="TextBox 4">
            <a:extLst>
              <a:ext uri="{FF2B5EF4-FFF2-40B4-BE49-F238E27FC236}">
                <a16:creationId xmlns:a16="http://schemas.microsoft.com/office/drawing/2014/main" id="{0CA157E8-1192-4FDD-9409-3C8A5B059F06}"/>
              </a:ext>
            </a:extLst>
          </p:cNvPr>
          <p:cNvSpPr txBox="1"/>
          <p:nvPr/>
        </p:nvSpPr>
        <p:spPr>
          <a:xfrm>
            <a:off x="1229097" y="1008820"/>
            <a:ext cx="1466603" cy="369332"/>
          </a:xfrm>
          <a:prstGeom prst="rect">
            <a:avLst/>
          </a:prstGeom>
          <a:noFill/>
        </p:spPr>
        <p:txBody>
          <a:bodyPr wrap="square">
            <a:spAutoFit/>
          </a:bodyPr>
          <a:lstStyle/>
          <a:p>
            <a:r>
              <a:rPr lang="zh-CN" altLang="en-US" dirty="0">
                <a:solidFill>
                  <a:srgbClr val="FF0000"/>
                </a:solidFill>
              </a:rPr>
              <a:t>线框建模</a:t>
            </a:r>
            <a:endParaRPr lang="en-US" dirty="0">
              <a:solidFill>
                <a:srgbClr val="FF0000"/>
              </a:solidFill>
            </a:endParaRPr>
          </a:p>
        </p:txBody>
      </p:sp>
      <p:sp>
        <p:nvSpPr>
          <p:cNvPr id="7" name="TextBox 6">
            <a:extLst>
              <a:ext uri="{FF2B5EF4-FFF2-40B4-BE49-F238E27FC236}">
                <a16:creationId xmlns:a16="http://schemas.microsoft.com/office/drawing/2014/main" id="{412C2F73-C442-410E-9ACD-2E9305B8DE96}"/>
              </a:ext>
            </a:extLst>
          </p:cNvPr>
          <p:cNvSpPr txBox="1"/>
          <p:nvPr/>
        </p:nvSpPr>
        <p:spPr>
          <a:xfrm>
            <a:off x="5599216" y="1905391"/>
            <a:ext cx="4572000" cy="369332"/>
          </a:xfrm>
          <a:prstGeom prst="rect">
            <a:avLst/>
          </a:prstGeom>
          <a:noFill/>
        </p:spPr>
        <p:txBody>
          <a:bodyPr wrap="square">
            <a:spAutoFit/>
          </a:bodyPr>
          <a:lstStyle/>
          <a:p>
            <a:r>
              <a:rPr lang="zh-CN" altLang="en-US" dirty="0">
                <a:solidFill>
                  <a:srgbClr val="FF0000"/>
                </a:solidFill>
              </a:rPr>
              <a:t>镶嵌</a:t>
            </a:r>
            <a:endParaRPr lang="en-US" dirty="0">
              <a:solidFill>
                <a:srgbClr val="FF0000"/>
              </a:solidFill>
            </a:endParaRPr>
          </a:p>
        </p:txBody>
      </p:sp>
    </p:spTree>
    <p:extLst>
      <p:ext uri="{BB962C8B-B14F-4D97-AF65-F5344CB8AC3E}">
        <p14:creationId xmlns:p14="http://schemas.microsoft.com/office/powerpoint/2010/main" val="32757441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p:cNvSpPr>
            <a:spLocks noGrp="1"/>
          </p:cNvSpPr>
          <p:nvPr>
            <p:ph type="title"/>
          </p:nvPr>
        </p:nvSpPr>
        <p:spPr>
          <a:xfrm>
            <a:off x="554755" y="1"/>
            <a:ext cx="8034491"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(5 of 18)</a:t>
            </a:r>
            <a:endParaRPr lang="en-US" dirty="0">
              <a:latin typeface="Arial" pitchFamily="34" charset="0"/>
              <a:cs typeface="Arial" pitchFamily="34" charset="0"/>
            </a:endParaRPr>
          </a:p>
        </p:txBody>
      </p:sp>
      <p:pic>
        <p:nvPicPr>
          <p:cNvPr id="5" name="Picture 6" descr="An illustration shows a wireframe model of a dolphin with polygon shapes highlighted on its body.&#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5701" y="1592012"/>
            <a:ext cx="5972175" cy="34549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12"/>
          <p:cNvSpPr/>
          <p:nvPr/>
        </p:nvSpPr>
        <p:spPr>
          <a:xfrm>
            <a:off x="497305" y="5303604"/>
            <a:ext cx="8197516" cy="892552"/>
          </a:xfrm>
          <a:prstGeom prst="rect">
            <a:avLst/>
          </a:prstGeom>
        </p:spPr>
        <p:txBody>
          <a:bodyPr wrap="square">
            <a:spAutoFit/>
          </a:bodyPr>
          <a:lstStyle/>
          <a:p>
            <a:pPr>
              <a:buSzTx/>
            </a:pPr>
            <a:r>
              <a:rPr lang="en-US" altLang="en-US" sz="2600" dirty="0">
                <a:solidFill>
                  <a:srgbClr val="222222"/>
                </a:solidFill>
                <a:latin typeface="Arial" charset="0"/>
              </a:rPr>
              <a:t>Invitation to Computer Science, 8th Edition © 2019 Cengage. All rights reserved.</a:t>
            </a:r>
          </a:p>
        </p:txBody>
      </p:sp>
    </p:spTree>
    <p:extLst>
      <p:ext uri="{BB962C8B-B14F-4D97-AF65-F5344CB8AC3E}">
        <p14:creationId xmlns:p14="http://schemas.microsoft.com/office/powerpoint/2010/main" val="3981201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755" y="1"/>
            <a:ext cx="8034491"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(6 of 18)</a:t>
            </a:r>
            <a:endParaRPr lang="en-US" dirty="0">
              <a:latin typeface="Arial" pitchFamily="34" charset="0"/>
              <a:cs typeface="Arial" pitchFamily="34" charset="0"/>
            </a:endParaRPr>
          </a:p>
        </p:txBody>
      </p:sp>
      <p:pic>
        <p:nvPicPr>
          <p:cNvPr id="4" name="Picture 5" descr="Two illustrations are shown. First illustration shows a parallelogram in which each vertex is joined to other vertices; edges from all vertices join at vertex v4; vertex are named from upper left to upper right as v2, v1, v3, v5.&#10;Second illustration shows three columns; first column displays (origin); In second column, the column header is vertex and the entries are as follows: v1, v2, v3, v4, v5; In third column, the column headers are x, y, z, connected to and the entries are as follows:&#10;0: 0: 0: v2, v3, v4&#10;0: 1.0: 0: v1, v4, v5&#10;1.6: 0: 0: v1, v4, v5&#10;0.7: 0.5: 0.5: v1, v2, v3, v5&#10;1.4: 1.1: 0: v2, v3, v4&#10;"/>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9221" y="1379621"/>
            <a:ext cx="5358063" cy="3513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p:nvPr/>
        </p:nvSpPr>
        <p:spPr>
          <a:xfrm>
            <a:off x="513347" y="5175267"/>
            <a:ext cx="8630653" cy="892552"/>
          </a:xfrm>
          <a:prstGeom prst="rect">
            <a:avLst/>
          </a:prstGeom>
        </p:spPr>
        <p:txBody>
          <a:bodyPr wrap="square">
            <a:spAutoFit/>
          </a:bodyPr>
          <a:lstStyle/>
          <a:p>
            <a:pPr>
              <a:buSzTx/>
            </a:pPr>
            <a:r>
              <a:rPr lang="en-US" altLang="en-US" sz="2600" dirty="0">
                <a:solidFill>
                  <a:srgbClr val="222222"/>
                </a:solidFill>
                <a:latin typeface="Arial" charset="0"/>
              </a:rPr>
              <a:t>Invitation to Computer Science, 8th Edition © 2019 Cengage. All rights reserved.</a:t>
            </a:r>
          </a:p>
        </p:txBody>
      </p:sp>
    </p:spTree>
    <p:extLst>
      <p:ext uri="{BB962C8B-B14F-4D97-AF65-F5344CB8AC3E}">
        <p14:creationId xmlns:p14="http://schemas.microsoft.com/office/powerpoint/2010/main" val="3491214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755" y="1"/>
            <a:ext cx="8034491"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(7 of 18)</a:t>
            </a:r>
            <a:endParaRPr lang="en-US" dirty="0">
              <a:latin typeface="Arial" pitchFamily="34" charset="0"/>
              <a:cs typeface="Arial" pitchFamily="34" charset="0"/>
            </a:endParaRPr>
          </a:p>
        </p:txBody>
      </p:sp>
      <p:sp>
        <p:nvSpPr>
          <p:cNvPr id="3" name="Content Placeholder 2"/>
          <p:cNvSpPr>
            <a:spLocks noGrp="1"/>
          </p:cNvSpPr>
          <p:nvPr>
            <p:ph idx="1"/>
          </p:nvPr>
        </p:nvSpPr>
        <p:spPr>
          <a:xfrm>
            <a:off x="457203" y="1251285"/>
            <a:ext cx="8229600" cy="4874880"/>
          </a:xfrm>
        </p:spPr>
        <p:txBody>
          <a:bodyPr/>
          <a:lstStyle/>
          <a:p>
            <a:r>
              <a:rPr lang="en-US" altLang="en-US" dirty="0">
                <a:latin typeface="Arial" pitchFamily="34" charset="0"/>
                <a:ea typeface="ＭＳ Ｐゴシック" pitchFamily="34" charset="-128"/>
                <a:cs typeface="Arial" pitchFamily="34" charset="0"/>
              </a:rPr>
              <a:t>Object motion: rigid or deforming</a:t>
            </a:r>
          </a:p>
          <a:p>
            <a:r>
              <a:rPr lang="en-US" altLang="en-US" b="1" dirty="0">
                <a:latin typeface="Arial" pitchFamily="34" charset="0"/>
                <a:ea typeface="ＭＳ Ｐゴシック" pitchFamily="34" charset="-128"/>
                <a:cs typeface="Arial" pitchFamily="34" charset="0"/>
              </a:rPr>
              <a:t>Rigid motion</a:t>
            </a:r>
            <a:r>
              <a:rPr lang="en-US" altLang="en-US" dirty="0">
                <a:latin typeface="Arial" pitchFamily="34" charset="0"/>
                <a:ea typeface="ＭＳ Ｐゴシック" pitchFamily="34" charset="-128"/>
                <a:cs typeface="Arial" pitchFamily="34" charset="0"/>
              </a:rPr>
              <a:t>: movement that does not change object’s shape</a:t>
            </a:r>
          </a:p>
          <a:p>
            <a:pPr lvl="1"/>
            <a:r>
              <a:rPr lang="en-US" altLang="en-US" b="1" dirty="0">
                <a:latin typeface="Arial" pitchFamily="34" charset="0"/>
                <a:ea typeface="ＭＳ Ｐゴシック" pitchFamily="34" charset="-128"/>
                <a:cs typeface="Arial" pitchFamily="34" charset="0"/>
              </a:rPr>
              <a:t>Translation</a:t>
            </a:r>
            <a:r>
              <a:rPr lang="en-US" altLang="en-US" dirty="0">
                <a:latin typeface="Arial" pitchFamily="34" charset="0"/>
                <a:ea typeface="ＭＳ Ｐゴシック" pitchFamily="34" charset="-128"/>
                <a:cs typeface="Arial" pitchFamily="34" charset="0"/>
              </a:rPr>
              <a:t>: lateral movement, every point changes by the same amount in all three dimensions</a:t>
            </a:r>
          </a:p>
          <a:p>
            <a:pPr lvl="1"/>
            <a:r>
              <a:rPr lang="en-US" altLang="en-US" b="1" dirty="0">
                <a:latin typeface="Arial" pitchFamily="34" charset="0"/>
                <a:ea typeface="ＭＳ Ｐゴシック" pitchFamily="34" charset="-128"/>
                <a:cs typeface="Arial" pitchFamily="34" charset="0"/>
              </a:rPr>
              <a:t>Rotation</a:t>
            </a:r>
            <a:r>
              <a:rPr lang="en-US" altLang="en-US" dirty="0">
                <a:latin typeface="Arial" pitchFamily="34" charset="0"/>
                <a:ea typeface="ＭＳ Ｐゴシック" pitchFamily="34" charset="-128"/>
                <a:cs typeface="Arial" pitchFamily="34" charset="0"/>
              </a:rPr>
              <a:t>: circular movement around a fixed point/axis</a:t>
            </a:r>
          </a:p>
          <a:p>
            <a:pPr lvl="1"/>
            <a:r>
              <a:rPr lang="en-US" altLang="en-US" b="1" dirty="0">
                <a:latin typeface="Arial" pitchFamily="34" charset="0"/>
                <a:ea typeface="ＭＳ Ｐゴシック" pitchFamily="34" charset="-128"/>
                <a:cs typeface="Arial" pitchFamily="34" charset="0"/>
              </a:rPr>
              <a:t>Reflection</a:t>
            </a:r>
            <a:r>
              <a:rPr lang="en-US" altLang="en-US" dirty="0">
                <a:latin typeface="Arial" pitchFamily="34" charset="0"/>
                <a:ea typeface="ＭＳ Ｐゴシック" pitchFamily="34" charset="-128"/>
                <a:cs typeface="Arial" pitchFamily="34" charset="0"/>
              </a:rPr>
              <a:t>: mirror image of object</a:t>
            </a:r>
          </a:p>
        </p:txBody>
      </p:sp>
    </p:spTree>
    <p:extLst>
      <p:ext uri="{BB962C8B-B14F-4D97-AF65-F5344CB8AC3E}">
        <p14:creationId xmlns:p14="http://schemas.microsoft.com/office/powerpoint/2010/main" val="1829562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755" y="1"/>
            <a:ext cx="8034491"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(8 of 18)</a:t>
            </a:r>
            <a:endParaRPr lang="en-US" dirty="0">
              <a:latin typeface="Arial" pitchFamily="34" charset="0"/>
              <a:cs typeface="Arial" pitchFamily="34" charset="0"/>
            </a:endParaRPr>
          </a:p>
        </p:txBody>
      </p:sp>
      <p:pic>
        <p:nvPicPr>
          <p:cNvPr id="4" name="Picture 4" descr="An illustration shows simple tessellation, ay and its corresponding vertex list b. Ay. A pyramid with base vertices v sub 1, v sub 2, v sub 3, and v sub 5 and the top vertex v sub 4. B. A table lists the vertices, their coordinates, and the other vertices they are connected to. The table has the following column headings: vertex, x, y, z, connected to. Data in the table is as follows. Row 1: vertex, v sub 1, origin; X, 0; Y, 0; Z, 0; Connected to, v sub 2, v sub 3, v sub 4. Row 2: Vertex, v sub 2; X, 0; Y, 1.0; Z, 0; Connected to, v sub 1, v sub 4, v sub 5. Row 3: Vertex, v sub 3; X, 1.6; Y, 0; Z, 0; Connected to, v sub 1, v sub 4, v sub 5. Row 4: Vertex, v sub 4; X, 0.7; Y, 0.5; Z, 0.5; Connected to, v sub 1, v sub 2, v sub 3, v sub 5. Row 5: Vertex, v sub 5; X, 1.4; Y, 1.1; Z, 0; Connected to, v sub 2, v sub 3, v sub 4."/>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977896" y="1315454"/>
            <a:ext cx="3188208" cy="3705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p:nvPr/>
        </p:nvSpPr>
        <p:spPr>
          <a:xfrm>
            <a:off x="368968" y="5225716"/>
            <a:ext cx="8454190" cy="892552"/>
          </a:xfrm>
          <a:prstGeom prst="rect">
            <a:avLst/>
          </a:prstGeom>
        </p:spPr>
        <p:txBody>
          <a:bodyPr wrap="square">
            <a:spAutoFit/>
          </a:bodyPr>
          <a:lstStyle/>
          <a:p>
            <a:pPr>
              <a:defRPr/>
            </a:pPr>
            <a:r>
              <a:rPr lang="en-US" sz="2600" dirty="0">
                <a:latin typeface="Arial" panose="020B0604020202020204" pitchFamily="34" charset="0"/>
                <a:cs typeface="Arial" panose="020B0604020202020204" pitchFamily="34" charset="0"/>
              </a:rPr>
              <a:t>Invitation to Computer Science, 8th Edition © 2019 Cengage. All rights reserved.</a:t>
            </a:r>
          </a:p>
        </p:txBody>
      </p:sp>
    </p:spTree>
    <p:extLst>
      <p:ext uri="{BB962C8B-B14F-4D97-AF65-F5344CB8AC3E}">
        <p14:creationId xmlns:p14="http://schemas.microsoft.com/office/powerpoint/2010/main" val="41367309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4755" y="1"/>
            <a:ext cx="8034491"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(9 of 18)</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dirty="0">
                <a:latin typeface="Arial" pitchFamily="34" charset="0"/>
                <a:ea typeface="ＭＳ Ｐゴシック" pitchFamily="34" charset="-128"/>
                <a:cs typeface="Arial" pitchFamily="34" charset="0"/>
              </a:rPr>
              <a:t>Implement movements using matrix multiplication</a:t>
            </a:r>
          </a:p>
          <a:p>
            <a:r>
              <a:rPr lang="en-US" altLang="en-US" b="1" dirty="0">
                <a:latin typeface="Arial" pitchFamily="34" charset="0"/>
                <a:ea typeface="ＭＳ Ｐゴシック" pitchFamily="34" charset="-128"/>
                <a:cs typeface="Arial" pitchFamily="34" charset="0"/>
              </a:rPr>
              <a:t>Transformation matrix</a:t>
            </a:r>
            <a:r>
              <a:rPr lang="en-US" altLang="en-US" dirty="0">
                <a:latin typeface="Arial" pitchFamily="34" charset="0"/>
                <a:ea typeface="ＭＳ Ｐゴシック" pitchFamily="34" charset="-128"/>
                <a:cs typeface="Arial" pitchFamily="34" charset="0"/>
              </a:rPr>
              <a:t> </a:t>
            </a:r>
          </a:p>
          <a:p>
            <a:pPr lvl="1"/>
            <a:r>
              <a:rPr lang="en-US" altLang="en-US" dirty="0">
                <a:latin typeface="Arial" pitchFamily="34" charset="0"/>
                <a:ea typeface="ＭＳ Ｐゴシック" pitchFamily="34" charset="-128"/>
                <a:cs typeface="Arial" pitchFamily="34" charset="0"/>
              </a:rPr>
              <a:t>Defines a particular motion</a:t>
            </a:r>
            <a:endParaRPr lang="en-US" altLang="en-US" b="1" dirty="0">
              <a:latin typeface="Arial" pitchFamily="34" charset="0"/>
              <a:ea typeface="ＭＳ Ｐゴシック" pitchFamily="34" charset="-128"/>
              <a:cs typeface="Arial" pitchFamily="34" charset="0"/>
            </a:endParaRPr>
          </a:p>
          <a:p>
            <a:pPr lvl="1"/>
            <a:r>
              <a:rPr lang="en-US" altLang="en-US" dirty="0">
                <a:latin typeface="Arial" pitchFamily="34" charset="0"/>
                <a:ea typeface="ＭＳ Ｐゴシック" pitchFamily="34" charset="-128"/>
                <a:cs typeface="Arial" pitchFamily="34" charset="0"/>
              </a:rPr>
              <a:t>Multiply vector for vertex position (x, y, z) by transformation matrix</a:t>
            </a:r>
          </a:p>
          <a:p>
            <a:pPr lvl="1"/>
            <a:r>
              <a:rPr lang="en-US" altLang="en-US" dirty="0">
                <a:latin typeface="Arial" pitchFamily="34" charset="0"/>
                <a:ea typeface="ＭＳ Ｐゴシック" pitchFamily="34" charset="-128"/>
                <a:cs typeface="Arial" pitchFamily="34" charset="0"/>
              </a:rPr>
              <a:t>Result is a new location for that point, as a vector</a:t>
            </a:r>
          </a:p>
          <a:p>
            <a:r>
              <a:rPr lang="en-US" altLang="en-US" dirty="0">
                <a:latin typeface="Arial" pitchFamily="34" charset="0"/>
                <a:ea typeface="ＭＳ Ｐゴシック" pitchFamily="34" charset="-128"/>
                <a:cs typeface="Arial" pitchFamily="34" charset="0"/>
              </a:rPr>
              <a:t>Example: move point at (x, y, z) to (x+a, y+b, z+c)</a:t>
            </a:r>
          </a:p>
          <a:p>
            <a:r>
              <a:rPr lang="en-US" altLang="en-US" dirty="0">
                <a:latin typeface="Arial" pitchFamily="34" charset="0"/>
                <a:ea typeface="ＭＳ Ｐゴシック" pitchFamily="34" charset="-128"/>
                <a:cs typeface="Arial" pitchFamily="34" charset="0"/>
              </a:rPr>
              <a:t>Create motion by repeating for small a, b, c</a:t>
            </a:r>
          </a:p>
          <a:p>
            <a:r>
              <a:rPr lang="en-US" altLang="en-US" b="1" dirty="0">
                <a:latin typeface="Arial" pitchFamily="34" charset="0"/>
                <a:ea typeface="ＭＳ Ｐゴシック" pitchFamily="34" charset="-128"/>
                <a:cs typeface="Arial" pitchFamily="34" charset="0"/>
              </a:rPr>
              <a:t>Keyframing</a:t>
            </a:r>
            <a:r>
              <a:rPr lang="en-US" altLang="en-US" dirty="0">
                <a:latin typeface="Arial" pitchFamily="34" charset="0"/>
                <a:ea typeface="ＭＳ Ｐゴシック" pitchFamily="34" charset="-128"/>
                <a:cs typeface="Arial" pitchFamily="34" charset="0"/>
              </a:rPr>
              <a:t>: user gives start and end positions, computer generates the intermediate movements</a:t>
            </a:r>
            <a:endParaRPr lang="en-US" altLang="en-US" b="1" dirty="0">
              <a:latin typeface="Arial" pitchFamily="34" charset="0"/>
              <a:ea typeface="ＭＳ Ｐゴシック" pitchFamily="34" charset="-128"/>
              <a:cs typeface="Arial" pitchFamily="34" charset="0"/>
            </a:endParaRPr>
          </a:p>
        </p:txBody>
      </p:sp>
    </p:spTree>
    <p:extLst>
      <p:ext uri="{BB962C8B-B14F-4D97-AF65-F5344CB8AC3E}">
        <p14:creationId xmlns:p14="http://schemas.microsoft.com/office/powerpoint/2010/main" val="13855127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(10 of 18)</a:t>
            </a:r>
            <a:endParaRPr lang="en-US" dirty="0">
              <a:latin typeface="Arial" pitchFamily="34" charset="0"/>
              <a:cs typeface="Arial" pitchFamily="34" charset="0"/>
            </a:endParaRPr>
          </a:p>
        </p:txBody>
      </p:sp>
      <p:pic>
        <p:nvPicPr>
          <p:cNvPr id="4" name="Picture 6" descr="An illustration exhibits three types of rigid motion using two triangles placed side by side and sharing a vertex. Translation: the shape moves from one position to another. Rotation about a point: the shape is rotated 90 degrees in counterclockwise direction, with the common vertex as the rotation point. Reflection: a line labeled mirror is along one side of each triangle. After reflection, the shape is flippe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8003" y="1363578"/>
            <a:ext cx="5930900" cy="3545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p:nvPr/>
        </p:nvSpPr>
        <p:spPr>
          <a:xfrm>
            <a:off x="417095" y="5159225"/>
            <a:ext cx="8518358" cy="892552"/>
          </a:xfrm>
          <a:prstGeom prst="rect">
            <a:avLst/>
          </a:prstGeom>
        </p:spPr>
        <p:txBody>
          <a:bodyPr wrap="square">
            <a:spAutoFit/>
          </a:bodyPr>
          <a:lstStyle/>
          <a:p>
            <a:pPr>
              <a:buSzTx/>
            </a:pPr>
            <a:r>
              <a:rPr lang="en-US" altLang="en-US" sz="2600" dirty="0">
                <a:solidFill>
                  <a:srgbClr val="222222"/>
                </a:solidFill>
                <a:latin typeface="Arial" charset="0"/>
              </a:rPr>
              <a:t>Invitation to Computer Science, 8th Edition © 2019 Cengage. All rights reserved.</a:t>
            </a:r>
          </a:p>
        </p:txBody>
      </p:sp>
    </p:spTree>
    <p:extLst>
      <p:ext uri="{BB962C8B-B14F-4D97-AF65-F5344CB8AC3E}">
        <p14:creationId xmlns:p14="http://schemas.microsoft.com/office/powerpoint/2010/main" val="828900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(11 of 18)</a:t>
            </a:r>
            <a:endParaRPr lang="en-US" dirty="0">
              <a:latin typeface="Arial" pitchFamily="34" charset="0"/>
              <a:cs typeface="Arial" pitchFamily="34" charset="0"/>
            </a:endParaRPr>
          </a:p>
        </p:txBody>
      </p:sp>
      <p:pic>
        <p:nvPicPr>
          <p:cNvPr id="4" name="Picture 6" descr="A matrix multiplication shows implementation of object translation. Translation matrix times current vertex coordinates = new coordinates. Translation matrix is a 4 by 4 matrix with the following elements. Row 1: 1, 0, 0, ay. Row 2: 0, 1, 0, b. Row 3: 0, 0, 1, c. Row 4: 0, 0, 0, 1. Current vertex coordinates matrix is a 4 by 1 matrix with the following elements in its column: X, Y, Z, and 1. New coordinates matrix is a 4 by 1 matrix with the following elements in its column: X + ay, Y + b, Z + c, and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8363" y="1295400"/>
            <a:ext cx="4867275" cy="37418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p:nvPr/>
        </p:nvSpPr>
        <p:spPr>
          <a:xfrm>
            <a:off x="352926" y="5239436"/>
            <a:ext cx="8438147" cy="892552"/>
          </a:xfrm>
          <a:prstGeom prst="rect">
            <a:avLst/>
          </a:prstGeom>
        </p:spPr>
        <p:txBody>
          <a:bodyPr wrap="square">
            <a:spAutoFit/>
          </a:bodyPr>
          <a:lstStyle/>
          <a:p>
            <a:pPr>
              <a:buSzTx/>
            </a:pPr>
            <a:r>
              <a:rPr lang="en-US" altLang="en-US" sz="2600" dirty="0">
                <a:solidFill>
                  <a:srgbClr val="222222"/>
                </a:solidFill>
                <a:latin typeface="Arial" charset="0"/>
              </a:rPr>
              <a:t>Invitation to Computer Science, 8th Edition © 2019 Cengage. All rights reserved.</a:t>
            </a:r>
          </a:p>
        </p:txBody>
      </p:sp>
    </p:spTree>
    <p:extLst>
      <p:ext uri="{BB962C8B-B14F-4D97-AF65-F5344CB8AC3E}">
        <p14:creationId xmlns:p14="http://schemas.microsoft.com/office/powerpoint/2010/main" val="1283675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(12 of 18)</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b="1" dirty="0">
                <a:latin typeface="Arial" pitchFamily="34" charset="0"/>
                <a:ea typeface="ＭＳ Ｐゴシック" pitchFamily="34" charset="-128"/>
                <a:cs typeface="Arial" pitchFamily="34" charset="0"/>
              </a:rPr>
              <a:t>Control point (animation variable)</a:t>
            </a:r>
            <a:r>
              <a:rPr lang="en-US" altLang="en-US" dirty="0">
                <a:latin typeface="Arial" pitchFamily="34" charset="0"/>
                <a:ea typeface="ＭＳ Ｐゴシック" pitchFamily="34" charset="-128"/>
                <a:cs typeface="Arial" pitchFamily="34" charset="0"/>
              </a:rPr>
              <a:t>: a point or axis used to control motion</a:t>
            </a:r>
          </a:p>
          <a:p>
            <a:r>
              <a:rPr lang="en-US" altLang="en-US" dirty="0">
                <a:latin typeface="Arial" pitchFamily="34" charset="0"/>
                <a:ea typeface="ＭＳ Ｐゴシック" pitchFamily="34" charset="-128"/>
                <a:cs typeface="Arial" pitchFamily="34" charset="0"/>
              </a:rPr>
              <a:t>Multiple control points allow movement of parts of an object</a:t>
            </a:r>
          </a:p>
          <a:p>
            <a:r>
              <a:rPr lang="en-US" altLang="en-US" dirty="0">
                <a:latin typeface="Arial" pitchFamily="34" charset="0"/>
                <a:ea typeface="ＭＳ Ｐゴシック" pitchFamily="34" charset="-128"/>
                <a:cs typeface="Arial" pitchFamily="34" charset="0"/>
              </a:rPr>
              <a:t>Example: two rotation axes</a:t>
            </a:r>
          </a:p>
          <a:p>
            <a:pPr lvl="1"/>
            <a:r>
              <a:rPr lang="en-US" altLang="en-US" dirty="0">
                <a:latin typeface="Arial" pitchFamily="34" charset="0"/>
                <a:ea typeface="ＭＳ Ｐゴシック" pitchFamily="34" charset="-128"/>
                <a:cs typeface="Arial" pitchFamily="34" charset="0"/>
              </a:rPr>
              <a:t>One rotates right circle around center point</a:t>
            </a:r>
          </a:p>
          <a:p>
            <a:pPr lvl="1"/>
            <a:r>
              <a:rPr lang="en-US" altLang="en-US" dirty="0">
                <a:latin typeface="Arial" pitchFamily="34" charset="0"/>
                <a:ea typeface="ＭＳ Ｐゴシック" pitchFamily="34" charset="-128"/>
                <a:cs typeface="Arial" pitchFamily="34" charset="0"/>
              </a:rPr>
              <a:t>One rotates both circles around external point</a:t>
            </a:r>
          </a:p>
        </p:txBody>
      </p:sp>
    </p:spTree>
    <p:extLst>
      <p:ext uri="{BB962C8B-B14F-4D97-AF65-F5344CB8AC3E}">
        <p14:creationId xmlns:p14="http://schemas.microsoft.com/office/powerpoint/2010/main" val="33704863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(13 of 18)</a:t>
            </a:r>
            <a:endParaRPr lang="en-US" dirty="0">
              <a:latin typeface="Arial" pitchFamily="34" charset="0"/>
              <a:cs typeface="Arial" pitchFamily="34" charset="0"/>
            </a:endParaRPr>
          </a:p>
        </p:txBody>
      </p:sp>
      <p:pic>
        <p:nvPicPr>
          <p:cNvPr id="4" name="Picture 6" descr="A graph shows a pyramid with base vertices v sub 1 (x, y), v sub 2, v sub 3, and v sub 5, and the top vertex v sub 4. After translation, the coordinates of v sub 1 are (x + a, y + b). Translation by a vector results in a new pyramid where the coordinates of V sub 1 prime are (x + a, y + b). "/>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89221" y="1844842"/>
            <a:ext cx="5293895" cy="3160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p:nvPr/>
        </p:nvSpPr>
        <p:spPr>
          <a:xfrm>
            <a:off x="481263" y="5223394"/>
            <a:ext cx="8422105" cy="892552"/>
          </a:xfrm>
          <a:prstGeom prst="rect">
            <a:avLst/>
          </a:prstGeom>
        </p:spPr>
        <p:txBody>
          <a:bodyPr wrap="square">
            <a:spAutoFit/>
          </a:bodyPr>
          <a:lstStyle/>
          <a:p>
            <a:pPr>
              <a:buSzTx/>
            </a:pPr>
            <a:r>
              <a:rPr lang="en-US" altLang="en-US" sz="2600" dirty="0">
                <a:solidFill>
                  <a:srgbClr val="222222"/>
                </a:solidFill>
                <a:latin typeface="Arial" charset="0"/>
              </a:rPr>
              <a:t>Invitation to Computer Science, 8th Edition © 2019 Cengage. All rights reserved.</a:t>
            </a:r>
          </a:p>
        </p:txBody>
      </p:sp>
    </p:spTree>
    <p:extLst>
      <p:ext uri="{BB962C8B-B14F-4D97-AF65-F5344CB8AC3E}">
        <p14:creationId xmlns:p14="http://schemas.microsoft.com/office/powerpoint/2010/main" val="27112697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(14 of 18)</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b="1" dirty="0">
                <a:latin typeface="Arial" pitchFamily="34" charset="0"/>
                <a:ea typeface="ＭＳ Ｐゴシック" pitchFamily="34" charset="-128"/>
                <a:cs typeface="Arial" pitchFamily="34" charset="0"/>
              </a:rPr>
              <a:t>Rendering</a:t>
            </a:r>
            <a:r>
              <a:rPr lang="en-US" altLang="en-US" dirty="0">
                <a:latin typeface="Arial" pitchFamily="34" charset="0"/>
                <a:ea typeface="ＭＳ Ｐゴシック" pitchFamily="34" charset="-128"/>
                <a:cs typeface="Arial" pitchFamily="34" charset="0"/>
              </a:rPr>
              <a:t> converts a model to a full 3D image</a:t>
            </a:r>
          </a:p>
          <a:p>
            <a:pPr lvl="1"/>
            <a:r>
              <a:rPr lang="en-US" altLang="en-US" dirty="0">
                <a:latin typeface="Arial" pitchFamily="34" charset="0"/>
                <a:ea typeface="ＭＳ Ｐゴシック" pitchFamily="34" charset="-128"/>
                <a:cs typeface="Arial" pitchFamily="34" charset="0"/>
              </a:rPr>
              <a:t>Lighting</a:t>
            </a:r>
          </a:p>
          <a:p>
            <a:pPr lvl="2"/>
            <a:r>
              <a:rPr lang="en-US" altLang="en-US" dirty="0">
                <a:latin typeface="Arial" pitchFamily="34" charset="0"/>
                <a:ea typeface="ＭＳ Ｐゴシック" pitchFamily="34" charset="-128"/>
                <a:cs typeface="Arial" pitchFamily="34" charset="0"/>
              </a:rPr>
              <a:t>Fix the location and intensity of all light sources</a:t>
            </a:r>
          </a:p>
          <a:p>
            <a:pPr lvl="2"/>
            <a:r>
              <a:rPr lang="en-US" altLang="en-US" dirty="0">
                <a:latin typeface="Arial" pitchFamily="34" charset="0"/>
                <a:ea typeface="ＭＳ Ｐゴシック" pitchFamily="34" charset="-128"/>
                <a:cs typeface="Arial" pitchFamily="34" charset="0"/>
              </a:rPr>
              <a:t>Determine the effects on objects</a:t>
            </a:r>
          </a:p>
          <a:p>
            <a:pPr lvl="1"/>
            <a:r>
              <a:rPr lang="en-US" altLang="en-US" dirty="0">
                <a:latin typeface="Arial" pitchFamily="34" charset="0"/>
                <a:ea typeface="ＭＳ Ｐゴシック" pitchFamily="34" charset="-128"/>
                <a:cs typeface="Arial" pitchFamily="34" charset="0"/>
              </a:rPr>
              <a:t>Color shading</a:t>
            </a:r>
          </a:p>
          <a:p>
            <a:pPr lvl="2"/>
            <a:r>
              <a:rPr lang="en-US" altLang="en-US" dirty="0">
                <a:latin typeface="Arial" pitchFamily="34" charset="0"/>
                <a:ea typeface="ＭＳ Ｐゴシック" pitchFamily="34" charset="-128"/>
                <a:cs typeface="Arial" pitchFamily="34" charset="0"/>
              </a:rPr>
              <a:t>Assign colors to vertices; blend across polygons</a:t>
            </a:r>
          </a:p>
          <a:p>
            <a:pPr lvl="1"/>
            <a:r>
              <a:rPr lang="en-US" altLang="en-US" dirty="0">
                <a:latin typeface="Arial" pitchFamily="34" charset="0"/>
                <a:ea typeface="ＭＳ Ｐゴシック" pitchFamily="34" charset="-128"/>
                <a:cs typeface="Arial" pitchFamily="34" charset="0"/>
              </a:rPr>
              <a:t>Shadows</a:t>
            </a:r>
          </a:p>
          <a:p>
            <a:pPr lvl="2"/>
            <a:r>
              <a:rPr lang="en-US" altLang="en-US" dirty="0">
                <a:latin typeface="Arial" pitchFamily="34" charset="0"/>
                <a:ea typeface="ＭＳ Ｐゴシック" pitchFamily="34" charset="-128"/>
                <a:cs typeface="Arial" pitchFamily="34" charset="0"/>
              </a:rPr>
              <a:t>Account for shadows from other objects</a:t>
            </a:r>
          </a:p>
          <a:p>
            <a:pPr lvl="1"/>
            <a:r>
              <a:rPr lang="en-US" altLang="en-US" dirty="0">
                <a:latin typeface="Arial" pitchFamily="34" charset="0"/>
                <a:ea typeface="ＭＳ Ｐゴシック" pitchFamily="34" charset="-128"/>
                <a:cs typeface="Arial" pitchFamily="34" charset="0"/>
              </a:rPr>
              <a:t>Texture mapping</a:t>
            </a:r>
          </a:p>
          <a:p>
            <a:pPr lvl="2"/>
            <a:r>
              <a:rPr lang="en-US" altLang="en-US" dirty="0">
                <a:latin typeface="Arial" pitchFamily="34" charset="0"/>
                <a:ea typeface="ＭＳ Ｐゴシック" pitchFamily="34" charset="-128"/>
                <a:cs typeface="Arial" pitchFamily="34" charset="0"/>
              </a:rPr>
              <a:t>Apply variable surfaces to polygons</a:t>
            </a:r>
          </a:p>
          <a:p>
            <a:pPr lvl="1"/>
            <a:r>
              <a:rPr lang="en-US" altLang="en-US" dirty="0">
                <a:latin typeface="Arial" pitchFamily="34" charset="0"/>
                <a:ea typeface="ＭＳ Ｐゴシック" pitchFamily="34" charset="-128"/>
                <a:cs typeface="Arial" pitchFamily="34" charset="0"/>
              </a:rPr>
              <a:t>Blur to show motion</a:t>
            </a:r>
          </a:p>
        </p:txBody>
      </p:sp>
    </p:spTree>
    <p:extLst>
      <p:ext uri="{BB962C8B-B14F-4D97-AF65-F5344CB8AC3E}">
        <p14:creationId xmlns:p14="http://schemas.microsoft.com/office/powerpoint/2010/main" val="12963087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(15 of 18)</a:t>
            </a:r>
            <a:endParaRPr lang="en-US" dirty="0">
              <a:latin typeface="Arial" pitchFamily="34" charset="0"/>
              <a:cs typeface="Arial" pitchFamily="34" charset="0"/>
            </a:endParaRPr>
          </a:p>
        </p:txBody>
      </p:sp>
      <p:pic>
        <p:nvPicPr>
          <p:cNvPr id="4" name="Picture 6" descr="An illustration shows a figure-8 object, comprising of two adjacent tangent circles, containing two central points. Point Ay is outside the circle on the left and point B is at the center of the circle on the right."/>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90274" y="1427038"/>
            <a:ext cx="4604084" cy="35780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p:nvPr/>
        </p:nvSpPr>
        <p:spPr>
          <a:xfrm>
            <a:off x="577516" y="5223392"/>
            <a:ext cx="8101263" cy="892552"/>
          </a:xfrm>
          <a:prstGeom prst="rect">
            <a:avLst/>
          </a:prstGeom>
        </p:spPr>
        <p:txBody>
          <a:bodyPr wrap="square">
            <a:spAutoFit/>
          </a:bodyPr>
          <a:lstStyle/>
          <a:p>
            <a:pPr>
              <a:buSzTx/>
            </a:pPr>
            <a:r>
              <a:rPr lang="en-US" altLang="en-US" sz="2600" dirty="0">
                <a:solidFill>
                  <a:srgbClr val="222222"/>
                </a:solidFill>
                <a:latin typeface="Arial" charset="0"/>
              </a:rPr>
              <a:t>Invitation to Computer Science, 8th Edition © 2019 Cengage. All rights reserved.</a:t>
            </a:r>
          </a:p>
        </p:txBody>
      </p:sp>
    </p:spTree>
    <p:extLst>
      <p:ext uri="{BB962C8B-B14F-4D97-AF65-F5344CB8AC3E}">
        <p14:creationId xmlns:p14="http://schemas.microsoft.com/office/powerpoint/2010/main" val="3335332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028" y="1"/>
            <a:ext cx="8277944"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(16 of 18)</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b="1" dirty="0">
                <a:latin typeface="Arial" pitchFamily="34" charset="0"/>
                <a:ea typeface="ＭＳ Ｐゴシック" pitchFamily="34" charset="-128"/>
                <a:cs typeface="Arial" pitchFamily="34" charset="0"/>
              </a:rPr>
              <a:t>Ray tracing</a:t>
            </a:r>
            <a:r>
              <a:rPr lang="en-US" altLang="en-US" dirty="0">
                <a:latin typeface="Arial" pitchFamily="34" charset="0"/>
                <a:ea typeface="ＭＳ Ｐゴシック" pitchFamily="34" charset="-128"/>
                <a:cs typeface="Arial" pitchFamily="34" charset="0"/>
              </a:rPr>
              <a:t> is the most common rendering algorithm</a:t>
            </a:r>
          </a:p>
          <a:p>
            <a:pPr lvl="1"/>
            <a:r>
              <a:rPr lang="en-US" altLang="en-US" dirty="0">
                <a:latin typeface="Arial" pitchFamily="34" charset="0"/>
                <a:ea typeface="ＭＳ Ｐゴシック" pitchFamily="34" charset="-128"/>
                <a:cs typeface="Arial" pitchFamily="34" charset="0"/>
              </a:rPr>
              <a:t>Repeats for each polygon in the object</a:t>
            </a:r>
          </a:p>
          <a:p>
            <a:pPr lvl="2"/>
            <a:r>
              <a:rPr lang="en-US" altLang="en-US" dirty="0">
                <a:latin typeface="Arial" pitchFamily="34" charset="0"/>
                <a:ea typeface="ＭＳ Ｐゴシック" pitchFamily="34" charset="-128"/>
                <a:cs typeface="Arial" pitchFamily="34" charset="0"/>
              </a:rPr>
              <a:t>For each light source, determine the amount and direction of light from that source</a:t>
            </a:r>
          </a:p>
          <a:p>
            <a:pPr lvl="2"/>
            <a:r>
              <a:rPr lang="en-US" altLang="en-US" dirty="0">
                <a:latin typeface="Arial" pitchFamily="34" charset="0"/>
                <a:ea typeface="ＭＳ Ｐゴシック" pitchFamily="34" charset="-128"/>
                <a:cs typeface="Arial" pitchFamily="34" charset="0"/>
              </a:rPr>
              <a:t>Combine light sources and determine intensity, color shading, brightness</a:t>
            </a:r>
          </a:p>
          <a:p>
            <a:r>
              <a:rPr lang="en-US" altLang="en-US" dirty="0">
                <a:latin typeface="Arial" pitchFamily="34" charset="0"/>
                <a:ea typeface="ＭＳ Ｐゴシック" pitchFamily="34" charset="-128"/>
                <a:cs typeface="Arial" pitchFamily="34" charset="0"/>
              </a:rPr>
              <a:t>Last step: convert 3D objects to a 2D image</a:t>
            </a:r>
          </a:p>
          <a:p>
            <a:pPr lvl="1"/>
            <a:r>
              <a:rPr lang="en-US" altLang="en-US" dirty="0">
                <a:latin typeface="Arial" pitchFamily="34" charset="0"/>
                <a:ea typeface="ＭＳ Ｐゴシック" pitchFamily="34" charset="-128"/>
                <a:cs typeface="Arial" pitchFamily="34" charset="0"/>
              </a:rPr>
              <a:t>Locate viewer; use geometry to determine the view</a:t>
            </a:r>
          </a:p>
        </p:txBody>
      </p:sp>
    </p:spTree>
    <p:extLst>
      <p:ext uri="{BB962C8B-B14F-4D97-AF65-F5344CB8AC3E}">
        <p14:creationId xmlns:p14="http://schemas.microsoft.com/office/powerpoint/2010/main" val="1271908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4008" y="1"/>
            <a:ext cx="8195984"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(17 of 18)</a:t>
            </a:r>
            <a:endParaRPr lang="en-US" dirty="0">
              <a:latin typeface="Arial" pitchFamily="34" charset="0"/>
              <a:cs typeface="Arial" pitchFamily="34" charset="0"/>
            </a:endParaRPr>
          </a:p>
        </p:txBody>
      </p:sp>
      <p:pic>
        <p:nvPicPr>
          <p:cNvPr id="4" name="Picture 5" descr=" An illustration shows three light sources, A, B, C, illuminating a triangle T; light source A passes rays to T directly; light source B passes rays to two objects, one object reflects the rays to T; light source C passes rays to both an object and 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7550" y="1363578"/>
            <a:ext cx="5168900" cy="378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p:nvPr/>
        </p:nvSpPr>
        <p:spPr>
          <a:xfrm>
            <a:off x="441158" y="5331355"/>
            <a:ext cx="8261684" cy="892552"/>
          </a:xfrm>
          <a:prstGeom prst="rect">
            <a:avLst/>
          </a:prstGeom>
        </p:spPr>
        <p:txBody>
          <a:bodyPr wrap="square">
            <a:spAutoFit/>
          </a:bodyPr>
          <a:lstStyle/>
          <a:p>
            <a:pPr>
              <a:buSzTx/>
            </a:pPr>
            <a:r>
              <a:rPr lang="en-US" altLang="en-US" sz="2600" dirty="0">
                <a:solidFill>
                  <a:srgbClr val="222222"/>
                </a:solidFill>
                <a:latin typeface="Arial" charset="0"/>
              </a:rPr>
              <a:t>Invitation to Computer Science, 8th Edition © 2019 Cengage. All rights reserved.</a:t>
            </a:r>
          </a:p>
        </p:txBody>
      </p:sp>
    </p:spTree>
    <p:extLst>
      <p:ext uri="{BB962C8B-B14F-4D97-AF65-F5344CB8AC3E}">
        <p14:creationId xmlns:p14="http://schemas.microsoft.com/office/powerpoint/2010/main" val="2012278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3028" y="1"/>
            <a:ext cx="8277944" cy="1060704"/>
          </a:xfrm>
        </p:spPr>
        <p:txBody>
          <a:bodyPr>
            <a:noAutofit/>
          </a:bodyPr>
          <a:lstStyle/>
          <a:p>
            <a:r>
              <a:rPr lang="en-US" kern="0" dirty="0">
                <a:latin typeface="Arial" pitchFamily="34" charset="0"/>
                <a:cs typeface="Arial" pitchFamily="34" charset="0"/>
              </a:rPr>
              <a:t>Computer-Generated Imagery (CGI)</a:t>
            </a:r>
            <a:r>
              <a:rPr lang="en-US" kern="0" baseline="0" dirty="0">
                <a:latin typeface="Arial" pitchFamily="34" charset="0"/>
                <a:cs typeface="Arial" pitchFamily="34" charset="0"/>
              </a:rPr>
              <a:t> </a:t>
            </a:r>
            <a:r>
              <a:rPr lang="en-US" kern="0" dirty="0">
                <a:latin typeface="Arial" pitchFamily="34" charset="0"/>
                <a:cs typeface="Arial" pitchFamily="34" charset="0"/>
              </a:rPr>
              <a:t>(18 of 18)</a:t>
            </a:r>
            <a:endParaRPr lang="en-US" dirty="0">
              <a:latin typeface="Arial" pitchFamily="34" charset="0"/>
              <a:cs typeface="Arial" pitchFamily="34" charset="0"/>
            </a:endParaRPr>
          </a:p>
        </p:txBody>
      </p:sp>
      <p:pic>
        <p:nvPicPr>
          <p:cNvPr id="4" name="Picture 5" descr="An illustration shows three light sources illuminating a triangle T. Light source Ay illuminates the triangle completely from top. Light source B, at the right of the object, is blocked by an opaque object and is reflected off another opaque object, illuminating the triangle partially. Light source from C, at the bottom of the object, is partially blocked by on an opaque object and partially illuminates the triangl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1222375"/>
            <a:ext cx="2983832" cy="3927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p:nvPr/>
        </p:nvSpPr>
        <p:spPr>
          <a:xfrm>
            <a:off x="385011" y="5271520"/>
            <a:ext cx="8309810" cy="892552"/>
          </a:xfrm>
          <a:prstGeom prst="rect">
            <a:avLst/>
          </a:prstGeom>
        </p:spPr>
        <p:txBody>
          <a:bodyPr wrap="square">
            <a:spAutoFit/>
          </a:bodyPr>
          <a:lstStyle/>
          <a:p>
            <a:pPr>
              <a:buSzTx/>
            </a:pPr>
            <a:r>
              <a:rPr lang="en-US" altLang="en-US" sz="2600" dirty="0">
                <a:solidFill>
                  <a:srgbClr val="222222"/>
                </a:solidFill>
                <a:latin typeface="Arial" charset="0"/>
              </a:rPr>
              <a:t>Invitation to Computer Science, 8th Edition © 2019 Cengage. All rights reserved.</a:t>
            </a:r>
          </a:p>
        </p:txBody>
      </p:sp>
    </p:spTree>
    <p:extLst>
      <p:ext uri="{BB962C8B-B14F-4D97-AF65-F5344CB8AC3E}">
        <p14:creationId xmlns:p14="http://schemas.microsoft.com/office/powerpoint/2010/main" val="23041583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4B55CE7-9F82-48DA-877D-08B70F1D287A}"/>
              </a:ext>
            </a:extLst>
          </p:cNvPr>
          <p:cNvPicPr>
            <a:picLocks noChangeAspect="1"/>
          </p:cNvPicPr>
          <p:nvPr/>
        </p:nvPicPr>
        <p:blipFill>
          <a:blip r:embed="rId2"/>
          <a:stretch>
            <a:fillRect/>
          </a:stretch>
        </p:blipFill>
        <p:spPr>
          <a:xfrm>
            <a:off x="0" y="1549197"/>
            <a:ext cx="9144000" cy="3759605"/>
          </a:xfrm>
          <a:prstGeom prst="rect">
            <a:avLst/>
          </a:prstGeom>
        </p:spPr>
      </p:pic>
    </p:spTree>
    <p:extLst>
      <p:ext uri="{BB962C8B-B14F-4D97-AF65-F5344CB8AC3E}">
        <p14:creationId xmlns:p14="http://schemas.microsoft.com/office/powerpoint/2010/main" val="1641244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11FE59-0A96-419D-8F75-0FD35ABE8A0D}"/>
              </a:ext>
            </a:extLst>
          </p:cNvPr>
          <p:cNvPicPr>
            <a:picLocks noChangeAspect="1"/>
          </p:cNvPicPr>
          <p:nvPr/>
        </p:nvPicPr>
        <p:blipFill>
          <a:blip r:embed="rId2"/>
          <a:stretch>
            <a:fillRect/>
          </a:stretch>
        </p:blipFill>
        <p:spPr>
          <a:xfrm>
            <a:off x="0" y="1556349"/>
            <a:ext cx="9144000" cy="3745302"/>
          </a:xfrm>
          <a:prstGeom prst="rect">
            <a:avLst/>
          </a:prstGeom>
        </p:spPr>
      </p:pic>
    </p:spTree>
    <p:extLst>
      <p:ext uri="{BB962C8B-B14F-4D97-AF65-F5344CB8AC3E}">
        <p14:creationId xmlns:p14="http://schemas.microsoft.com/office/powerpoint/2010/main" val="14984734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DA4E2D-273E-4F31-BE55-2ADCFAFA0B59}"/>
              </a:ext>
            </a:extLst>
          </p:cNvPr>
          <p:cNvPicPr>
            <a:picLocks noChangeAspect="1"/>
          </p:cNvPicPr>
          <p:nvPr/>
        </p:nvPicPr>
        <p:blipFill>
          <a:blip r:embed="rId2"/>
          <a:stretch>
            <a:fillRect/>
          </a:stretch>
        </p:blipFill>
        <p:spPr>
          <a:xfrm>
            <a:off x="0" y="1499962"/>
            <a:ext cx="9144000" cy="3858076"/>
          </a:xfrm>
          <a:prstGeom prst="rect">
            <a:avLst/>
          </a:prstGeom>
        </p:spPr>
      </p:pic>
    </p:spTree>
    <p:extLst>
      <p:ext uri="{BB962C8B-B14F-4D97-AF65-F5344CB8AC3E}">
        <p14:creationId xmlns:p14="http://schemas.microsoft.com/office/powerpoint/2010/main" val="1450690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9410B01-CE7F-405F-A5E5-CCA88B8B0319}"/>
              </a:ext>
            </a:extLst>
          </p:cNvPr>
          <p:cNvPicPr>
            <a:picLocks noChangeAspect="1"/>
          </p:cNvPicPr>
          <p:nvPr/>
        </p:nvPicPr>
        <p:blipFill>
          <a:blip r:embed="rId2"/>
          <a:stretch>
            <a:fillRect/>
          </a:stretch>
        </p:blipFill>
        <p:spPr>
          <a:xfrm>
            <a:off x="0" y="1413501"/>
            <a:ext cx="9144000" cy="4030998"/>
          </a:xfrm>
          <a:prstGeom prst="rect">
            <a:avLst/>
          </a:prstGeom>
        </p:spPr>
      </p:pic>
    </p:spTree>
    <p:extLst>
      <p:ext uri="{BB962C8B-B14F-4D97-AF65-F5344CB8AC3E}">
        <p14:creationId xmlns:p14="http://schemas.microsoft.com/office/powerpoint/2010/main" val="23685086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itchFamily="34" charset="0"/>
                <a:ea typeface="ＭＳ Ｐゴシック" pitchFamily="34" charset="-128"/>
                <a:cs typeface="Arial" pitchFamily="34" charset="0"/>
              </a:rPr>
              <a:t>Video Gaming (1 of 4)</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dirty="0">
                <a:latin typeface="Arial" pitchFamily="34" charset="0"/>
                <a:ea typeface="ＭＳ Ｐゴシック" pitchFamily="34" charset="-128"/>
                <a:cs typeface="Arial" pitchFamily="34" charset="0"/>
              </a:rPr>
              <a:t>Video-game images are similar to CGI</a:t>
            </a:r>
          </a:p>
          <a:p>
            <a:r>
              <a:rPr lang="en-US" altLang="en-US" dirty="0">
                <a:latin typeface="Arial" pitchFamily="34" charset="0"/>
                <a:ea typeface="ＭＳ Ｐゴシック" pitchFamily="34" charset="-128"/>
                <a:cs typeface="Arial" pitchFamily="34" charset="0"/>
              </a:rPr>
              <a:t>CGI assumes a </a:t>
            </a:r>
            <a:r>
              <a:rPr lang="en-US" altLang="en-US" b="1" dirty="0">
                <a:latin typeface="Arial" pitchFamily="34" charset="0"/>
                <a:ea typeface="ＭＳ Ｐゴシック" pitchFamily="34" charset="-128"/>
                <a:cs typeface="Arial" pitchFamily="34" charset="0"/>
              </a:rPr>
              <a:t>static environment</a:t>
            </a:r>
            <a:endParaRPr lang="en-US" altLang="en-US" dirty="0">
              <a:latin typeface="Arial" pitchFamily="34" charset="0"/>
              <a:ea typeface="ＭＳ Ｐゴシック" pitchFamily="34" charset="-128"/>
              <a:cs typeface="Arial" pitchFamily="34" charset="0"/>
            </a:endParaRPr>
          </a:p>
          <a:p>
            <a:pPr lvl="1"/>
            <a:r>
              <a:rPr lang="en-US" altLang="en-US" dirty="0">
                <a:latin typeface="Arial" pitchFamily="34" charset="0"/>
                <a:ea typeface="ＭＳ Ｐゴシック" pitchFamily="34" charset="-128"/>
                <a:cs typeface="Arial" pitchFamily="34" charset="0"/>
              </a:rPr>
              <a:t>Unlimited time to produce the images</a:t>
            </a:r>
          </a:p>
          <a:p>
            <a:pPr lvl="1"/>
            <a:r>
              <a:rPr lang="en-US" altLang="en-US" dirty="0">
                <a:latin typeface="Arial" pitchFamily="34" charset="0"/>
                <a:ea typeface="ＭＳ Ｐゴシック" pitchFamily="34" charset="-128"/>
                <a:cs typeface="Arial" pitchFamily="34" charset="0"/>
              </a:rPr>
              <a:t>Created once and shown many times</a:t>
            </a:r>
          </a:p>
          <a:p>
            <a:r>
              <a:rPr lang="en-US" altLang="en-US" dirty="0">
                <a:latin typeface="Arial" pitchFamily="34" charset="0"/>
                <a:ea typeface="ＭＳ Ｐゴシック" pitchFamily="34" charset="-128"/>
                <a:cs typeface="Arial" pitchFamily="34" charset="0"/>
              </a:rPr>
              <a:t>Video games are a </a:t>
            </a:r>
            <a:r>
              <a:rPr lang="en-US" altLang="en-US" b="1" dirty="0">
                <a:latin typeface="Arial" pitchFamily="34" charset="0"/>
                <a:ea typeface="ＭＳ Ｐゴシック" pitchFamily="34" charset="-128"/>
                <a:cs typeface="Arial" pitchFamily="34" charset="0"/>
              </a:rPr>
              <a:t>dynamic environment</a:t>
            </a:r>
          </a:p>
          <a:p>
            <a:pPr lvl="1"/>
            <a:r>
              <a:rPr lang="en-US" altLang="en-US" dirty="0">
                <a:latin typeface="Arial" pitchFamily="34" charset="0"/>
                <a:ea typeface="ＭＳ Ｐゴシック" pitchFamily="34" charset="-128"/>
                <a:cs typeface="Arial" pitchFamily="34" charset="0"/>
              </a:rPr>
              <a:t>User choices change what must be displayed</a:t>
            </a:r>
          </a:p>
          <a:p>
            <a:pPr lvl="1"/>
            <a:r>
              <a:rPr lang="en-US" altLang="en-US" dirty="0">
                <a:latin typeface="Arial" pitchFamily="34" charset="0"/>
                <a:ea typeface="ＭＳ Ｐゴシック" pitchFamily="34" charset="-128"/>
                <a:cs typeface="Arial" pitchFamily="34" charset="0"/>
              </a:rPr>
              <a:t>Must render images in real-time: </a:t>
            </a:r>
            <a:r>
              <a:rPr lang="en-US" altLang="en-US" b="1" dirty="0">
                <a:latin typeface="Arial" pitchFamily="34" charset="0"/>
                <a:ea typeface="ＭＳ Ｐゴシック" pitchFamily="34" charset="-128"/>
                <a:cs typeface="Arial" pitchFamily="34" charset="0"/>
              </a:rPr>
              <a:t>real-time graphics</a:t>
            </a:r>
            <a:endParaRPr lang="en-US" altLang="en-US" sz="1400" b="1" dirty="0">
              <a:latin typeface="Arial" pitchFamily="34" charset="0"/>
              <a:ea typeface="ＭＳ Ｐゴシック" pitchFamily="34" charset="-128"/>
              <a:cs typeface="Arial" pitchFamily="34" charset="0"/>
            </a:endParaRPr>
          </a:p>
          <a:p>
            <a:pPr algn="ctr">
              <a:buFontTx/>
              <a:buNone/>
            </a:pPr>
            <a:r>
              <a:rPr lang="en-US" altLang="en-US" i="1" dirty="0">
                <a:latin typeface="Arial" pitchFamily="34" charset="0"/>
                <a:ea typeface="ＭＳ Ｐゴシック" pitchFamily="34" charset="-128"/>
                <a:cs typeface="Arial" pitchFamily="34" charset="0"/>
              </a:rPr>
              <a:t>“If necessary, sacrifice image quality </a:t>
            </a:r>
          </a:p>
          <a:p>
            <a:pPr algn="ctr">
              <a:buFontTx/>
              <a:buNone/>
            </a:pPr>
            <a:r>
              <a:rPr lang="en-US" altLang="en-US" i="1" dirty="0">
                <a:latin typeface="Arial" pitchFamily="34" charset="0"/>
                <a:ea typeface="ＭＳ Ｐゴシック" pitchFamily="34" charset="-128"/>
                <a:cs typeface="Arial" pitchFamily="34" charset="0"/>
              </a:rPr>
              <a:t>for speed of display”</a:t>
            </a:r>
          </a:p>
        </p:txBody>
      </p:sp>
    </p:spTree>
    <p:extLst>
      <p:ext uri="{BB962C8B-B14F-4D97-AF65-F5344CB8AC3E}">
        <p14:creationId xmlns:p14="http://schemas.microsoft.com/office/powerpoint/2010/main" val="28149668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itchFamily="34" charset="0"/>
                <a:ea typeface="ＭＳ Ｐゴシック" pitchFamily="34" charset="-128"/>
                <a:cs typeface="Arial" pitchFamily="34" charset="0"/>
              </a:rPr>
              <a:t>Video Gaming (2 of 4)</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b="1" dirty="0">
                <a:latin typeface="Arial" pitchFamily="34" charset="0"/>
                <a:ea typeface="ＭＳ Ｐゴシック" pitchFamily="34" charset="-128"/>
                <a:cs typeface="Arial" pitchFamily="34" charset="0"/>
              </a:rPr>
              <a:t>Frame rate</a:t>
            </a:r>
            <a:r>
              <a:rPr lang="en-US" altLang="en-US" dirty="0">
                <a:latin typeface="Arial" pitchFamily="34" charset="0"/>
                <a:ea typeface="ＭＳ Ｐゴシック" pitchFamily="34" charset="-128"/>
                <a:cs typeface="Arial" pitchFamily="34" charset="0"/>
              </a:rPr>
              <a:t> is speed of image generation</a:t>
            </a:r>
            <a:endParaRPr lang="en-US" altLang="en-US" b="1" dirty="0">
              <a:latin typeface="Arial" pitchFamily="34" charset="0"/>
              <a:ea typeface="ＭＳ Ｐゴシック" pitchFamily="34" charset="-128"/>
              <a:cs typeface="Arial" pitchFamily="34" charset="0"/>
            </a:endParaRPr>
          </a:p>
          <a:p>
            <a:r>
              <a:rPr lang="en-US" altLang="en-US" dirty="0">
                <a:latin typeface="Arial" pitchFamily="34" charset="0"/>
                <a:ea typeface="ＭＳ Ｐゴシック" pitchFamily="34" charset="-128"/>
                <a:cs typeface="Arial" pitchFamily="34" charset="0"/>
              </a:rPr>
              <a:t>Computers improve frame rate with a dedicated GPU</a:t>
            </a:r>
          </a:p>
          <a:p>
            <a:r>
              <a:rPr lang="en-US" altLang="en-US" b="1" dirty="0">
                <a:latin typeface="Arial" pitchFamily="34" charset="0"/>
                <a:ea typeface="ＭＳ Ｐゴシック" pitchFamily="34" charset="-128"/>
                <a:cs typeface="Arial" pitchFamily="34" charset="0"/>
              </a:rPr>
              <a:t>Graphics processing unit (GPU)</a:t>
            </a:r>
          </a:p>
          <a:p>
            <a:pPr lvl="1"/>
            <a:r>
              <a:rPr lang="en-US" altLang="en-US" dirty="0">
                <a:latin typeface="Arial" pitchFamily="34" charset="0"/>
                <a:ea typeface="ＭＳ Ｐゴシック" pitchFamily="34" charset="-128"/>
                <a:cs typeface="Arial" pitchFamily="34" charset="0"/>
              </a:rPr>
              <a:t>A separate processor optimized for CGI</a:t>
            </a:r>
          </a:p>
          <a:p>
            <a:pPr lvl="1"/>
            <a:r>
              <a:rPr lang="en-US" altLang="en-US" dirty="0">
                <a:latin typeface="Arial" pitchFamily="34" charset="0"/>
                <a:ea typeface="ＭＳ Ｐゴシック" pitchFamily="34" charset="-128"/>
                <a:cs typeface="Arial" pitchFamily="34" charset="0"/>
              </a:rPr>
              <a:t>Dedicated </a:t>
            </a:r>
            <a:r>
              <a:rPr lang="en-US" altLang="en-US" b="1" dirty="0">
                <a:latin typeface="Arial" pitchFamily="34" charset="0"/>
                <a:ea typeface="ＭＳ Ｐゴシック" pitchFamily="34" charset="-128"/>
                <a:cs typeface="Arial" pitchFamily="34" charset="0"/>
              </a:rPr>
              <a:t>video memory</a:t>
            </a:r>
            <a:r>
              <a:rPr lang="en-US" altLang="en-US" dirty="0">
                <a:latin typeface="Arial" pitchFamily="34" charset="0"/>
                <a:ea typeface="ＭＳ Ｐゴシック" pitchFamily="34" charset="-128"/>
                <a:cs typeface="Arial" pitchFamily="34" charset="0"/>
              </a:rPr>
              <a:t> on a </a:t>
            </a:r>
            <a:r>
              <a:rPr lang="en-US" altLang="en-US" b="1" dirty="0">
                <a:latin typeface="Arial" pitchFamily="34" charset="0"/>
                <a:ea typeface="ＭＳ Ｐゴシック" pitchFamily="34" charset="-128"/>
                <a:cs typeface="Arial" pitchFamily="34" charset="0"/>
              </a:rPr>
              <a:t>video card </a:t>
            </a:r>
            <a:r>
              <a:rPr lang="en-US" altLang="en-US" dirty="0">
                <a:latin typeface="Arial" pitchFamily="34" charset="0"/>
                <a:ea typeface="ＭＳ Ｐゴシック" pitchFamily="34" charset="-128"/>
                <a:cs typeface="Arial" pitchFamily="34" charset="0"/>
              </a:rPr>
              <a:t>(</a:t>
            </a:r>
            <a:r>
              <a:rPr lang="en-US" altLang="en-US" b="1" dirty="0">
                <a:latin typeface="Arial" pitchFamily="34" charset="0"/>
                <a:ea typeface="ＭＳ Ｐゴシック" pitchFamily="34" charset="-128"/>
                <a:cs typeface="Arial" pitchFamily="34" charset="0"/>
              </a:rPr>
              <a:t>graphics card)</a:t>
            </a:r>
          </a:p>
          <a:p>
            <a:r>
              <a:rPr lang="en-US" altLang="en-US" dirty="0">
                <a:latin typeface="Arial" pitchFamily="34" charset="0"/>
                <a:ea typeface="ＭＳ Ｐゴシック" pitchFamily="34" charset="-128"/>
                <a:cs typeface="Arial" pitchFamily="34" charset="0"/>
              </a:rPr>
              <a:t>Most contemporary computers have GPUs</a:t>
            </a:r>
          </a:p>
          <a:p>
            <a:pPr lvl="1"/>
            <a:r>
              <a:rPr lang="en-US" altLang="en-US" dirty="0">
                <a:latin typeface="Arial" pitchFamily="34" charset="0"/>
                <a:ea typeface="ＭＳ Ｐゴシック" pitchFamily="34" charset="-128"/>
                <a:cs typeface="Arial" pitchFamily="34" charset="0"/>
              </a:rPr>
              <a:t>Some have multiple GPUs</a:t>
            </a:r>
          </a:p>
        </p:txBody>
      </p:sp>
    </p:spTree>
    <p:extLst>
      <p:ext uri="{BB962C8B-B14F-4D97-AF65-F5344CB8AC3E}">
        <p14:creationId xmlns:p14="http://schemas.microsoft.com/office/powerpoint/2010/main" val="1334044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en-US" kern="0" dirty="0">
                <a:latin typeface="Arial" pitchFamily="34" charset="0"/>
                <a:cs typeface="Arial" pitchFamily="34" charset="0"/>
              </a:rPr>
              <a:t>Video Gaming (3 of 4)</a:t>
            </a:r>
            <a:endParaRPr lang="en-US" dirty="0">
              <a:latin typeface="Arial" pitchFamily="34" charset="0"/>
              <a:cs typeface="Arial" pitchFamily="34" charset="0"/>
            </a:endParaRPr>
          </a:p>
        </p:txBody>
      </p:sp>
      <p:pic>
        <p:nvPicPr>
          <p:cNvPr id="4" name="Picture 5" descr="An illustration shows conversion to two-dimensional representation from a three-dimensional representation. In three-dimensional representation, an eye, V views a rectangular prism, Ay in front of a sphere, B, which is in front of a pyramid C. In two-dimensional representation, a rectangle is in front of a pyramid without any spatial separa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4196" y="1219200"/>
            <a:ext cx="5819775" cy="38661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p:nvPr/>
        </p:nvSpPr>
        <p:spPr>
          <a:xfrm>
            <a:off x="320841" y="5281227"/>
            <a:ext cx="8502317" cy="892552"/>
          </a:xfrm>
          <a:prstGeom prst="rect">
            <a:avLst/>
          </a:prstGeom>
        </p:spPr>
        <p:txBody>
          <a:bodyPr wrap="square">
            <a:spAutoFit/>
          </a:bodyPr>
          <a:lstStyle/>
          <a:p>
            <a:pPr>
              <a:buSzTx/>
            </a:pPr>
            <a:r>
              <a:rPr lang="en-US" altLang="en-US" sz="2600" dirty="0">
                <a:solidFill>
                  <a:srgbClr val="222222"/>
                </a:solidFill>
                <a:latin typeface="Arial" charset="0"/>
              </a:rPr>
              <a:t>Invitation to Computer Science, 8th Edition © 2019 Cengage. All rights reserved.</a:t>
            </a:r>
          </a:p>
        </p:txBody>
      </p:sp>
    </p:spTree>
    <p:extLst>
      <p:ext uri="{BB962C8B-B14F-4D97-AF65-F5344CB8AC3E}">
        <p14:creationId xmlns:p14="http://schemas.microsoft.com/office/powerpoint/2010/main" val="2804267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kern="0" dirty="0">
                <a:latin typeface="Arial" pitchFamily="34" charset="0"/>
                <a:cs typeface="Arial" pitchFamily="34" charset="0"/>
              </a:rPr>
              <a:t>Video Gaming (4 of 4)</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dirty="0">
                <a:latin typeface="Arial" pitchFamily="34" charset="0"/>
                <a:ea typeface="ＭＳ Ｐゴシック" pitchFamily="34" charset="-128"/>
                <a:cs typeface="Arial" pitchFamily="34" charset="0"/>
              </a:rPr>
              <a:t>Other methods for achieving real-time graphics</a:t>
            </a:r>
          </a:p>
          <a:p>
            <a:pPr lvl="1"/>
            <a:r>
              <a:rPr lang="en-US" altLang="en-US" dirty="0">
                <a:latin typeface="Arial" pitchFamily="34" charset="0"/>
                <a:ea typeface="ＭＳ Ｐゴシック" pitchFamily="34" charset="-128"/>
                <a:cs typeface="Arial" pitchFamily="34" charset="0"/>
              </a:rPr>
              <a:t>Avoid time-consuming algorithms (e.g., ray tracing)</a:t>
            </a:r>
            <a:endParaRPr lang="en-US" altLang="en-US" b="1" dirty="0">
              <a:latin typeface="Arial" pitchFamily="34" charset="0"/>
              <a:ea typeface="ＭＳ Ｐゴシック" pitchFamily="34" charset="-128"/>
              <a:cs typeface="Arial" pitchFamily="34" charset="0"/>
            </a:endParaRPr>
          </a:p>
          <a:p>
            <a:pPr lvl="1"/>
            <a:r>
              <a:rPr lang="en-US" altLang="en-US" dirty="0">
                <a:latin typeface="Arial" pitchFamily="34" charset="0"/>
                <a:ea typeface="ＭＳ Ｐゴシック" pitchFamily="34" charset="-128"/>
                <a:cs typeface="Arial" pitchFamily="34" charset="0"/>
              </a:rPr>
              <a:t>Use fixed colors, with no shadows or shading</a:t>
            </a:r>
          </a:p>
          <a:p>
            <a:pPr lvl="1"/>
            <a:r>
              <a:rPr lang="en-US" altLang="en-US" b="1" dirty="0">
                <a:latin typeface="Arial" pitchFamily="34" charset="0"/>
                <a:ea typeface="ＭＳ Ｐゴシック" pitchFamily="34" charset="-128"/>
                <a:cs typeface="Arial" pitchFamily="34" charset="0"/>
              </a:rPr>
              <a:t>Culling</a:t>
            </a:r>
            <a:r>
              <a:rPr lang="en-US" altLang="en-US" dirty="0">
                <a:latin typeface="Arial" pitchFamily="34" charset="0"/>
                <a:ea typeface="ＭＳ Ｐゴシック" pitchFamily="34" charset="-128"/>
                <a:cs typeface="Arial" pitchFamily="34" charset="0"/>
              </a:rPr>
              <a:t>: first determine what is visible, and only render visible elements</a:t>
            </a:r>
          </a:p>
          <a:p>
            <a:pPr lvl="1"/>
            <a:r>
              <a:rPr lang="en-US" altLang="en-US" b="1" dirty="0">
                <a:latin typeface="Arial" pitchFamily="34" charset="0"/>
                <a:ea typeface="ＭＳ Ｐゴシック" pitchFamily="34" charset="-128"/>
                <a:cs typeface="Arial" pitchFamily="34" charset="0"/>
              </a:rPr>
              <a:t>Cut-ins: </a:t>
            </a:r>
            <a:r>
              <a:rPr lang="en-US" altLang="en-US" dirty="0">
                <a:latin typeface="Arial" pitchFamily="34" charset="0"/>
                <a:ea typeface="ＭＳ Ｐゴシック" pitchFamily="34" charset="-128"/>
                <a:cs typeface="Arial" pitchFamily="34" charset="0"/>
              </a:rPr>
              <a:t>pre-computed fully rendered objects</a:t>
            </a:r>
          </a:p>
          <a:p>
            <a:pPr lvl="2"/>
            <a:r>
              <a:rPr lang="en-US" altLang="en-US" dirty="0">
                <a:latin typeface="Arial" pitchFamily="34" charset="0"/>
                <a:ea typeface="ＭＳ Ｐゴシック" pitchFamily="34" charset="-128"/>
                <a:cs typeface="Arial" pitchFamily="34" charset="0"/>
              </a:rPr>
              <a:t>Stored in a video library</a:t>
            </a:r>
          </a:p>
          <a:p>
            <a:pPr lvl="2"/>
            <a:r>
              <a:rPr lang="en-US" altLang="en-US" dirty="0">
                <a:latin typeface="Arial" pitchFamily="34" charset="0"/>
                <a:ea typeface="ＭＳ Ｐゴシック" pitchFamily="34" charset="-128"/>
                <a:cs typeface="Arial" pitchFamily="34" charset="0"/>
              </a:rPr>
              <a:t>Dropped into the frame as needed</a:t>
            </a:r>
          </a:p>
        </p:txBody>
      </p:sp>
    </p:spTree>
    <p:extLst>
      <p:ext uri="{BB962C8B-B14F-4D97-AF65-F5344CB8AC3E}">
        <p14:creationId xmlns:p14="http://schemas.microsoft.com/office/powerpoint/2010/main" val="42408321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6591880-EF20-4B0A-9426-AC25922FB054}"/>
              </a:ext>
            </a:extLst>
          </p:cNvPr>
          <p:cNvPicPr>
            <a:picLocks noChangeAspect="1"/>
          </p:cNvPicPr>
          <p:nvPr/>
        </p:nvPicPr>
        <p:blipFill>
          <a:blip r:embed="rId2"/>
          <a:stretch>
            <a:fillRect/>
          </a:stretch>
        </p:blipFill>
        <p:spPr>
          <a:xfrm>
            <a:off x="0" y="480575"/>
            <a:ext cx="9144000" cy="4097079"/>
          </a:xfrm>
          <a:prstGeom prst="rect">
            <a:avLst/>
          </a:prstGeom>
        </p:spPr>
      </p:pic>
    </p:spTree>
    <p:extLst>
      <p:ext uri="{BB962C8B-B14F-4D97-AF65-F5344CB8AC3E}">
        <p14:creationId xmlns:p14="http://schemas.microsoft.com/office/powerpoint/2010/main" val="14130531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7C3FC03-6D6D-4E05-856E-8E2EFB516107}"/>
              </a:ext>
            </a:extLst>
          </p:cNvPr>
          <p:cNvPicPr>
            <a:picLocks noChangeAspect="1"/>
          </p:cNvPicPr>
          <p:nvPr/>
        </p:nvPicPr>
        <p:blipFill>
          <a:blip r:embed="rId2"/>
          <a:stretch>
            <a:fillRect/>
          </a:stretch>
        </p:blipFill>
        <p:spPr>
          <a:xfrm>
            <a:off x="0" y="1759630"/>
            <a:ext cx="9144000" cy="3338740"/>
          </a:xfrm>
          <a:prstGeom prst="rect">
            <a:avLst/>
          </a:prstGeom>
        </p:spPr>
      </p:pic>
    </p:spTree>
    <p:extLst>
      <p:ext uri="{BB962C8B-B14F-4D97-AF65-F5344CB8AC3E}">
        <p14:creationId xmlns:p14="http://schemas.microsoft.com/office/powerpoint/2010/main" val="3723275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86FF5D-99F8-4866-93DF-3C86BD1B9FD4}"/>
              </a:ext>
            </a:extLst>
          </p:cNvPr>
          <p:cNvPicPr>
            <a:picLocks noChangeAspect="1"/>
          </p:cNvPicPr>
          <p:nvPr/>
        </p:nvPicPr>
        <p:blipFill>
          <a:blip r:embed="rId2"/>
          <a:stretch>
            <a:fillRect/>
          </a:stretch>
        </p:blipFill>
        <p:spPr>
          <a:xfrm>
            <a:off x="0" y="1099004"/>
            <a:ext cx="9144000" cy="4659991"/>
          </a:xfrm>
          <a:prstGeom prst="rect">
            <a:avLst/>
          </a:prstGeom>
        </p:spPr>
      </p:pic>
    </p:spTree>
    <p:extLst>
      <p:ext uri="{BB962C8B-B14F-4D97-AF65-F5344CB8AC3E}">
        <p14:creationId xmlns:p14="http://schemas.microsoft.com/office/powerpoint/2010/main" val="30757646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293C304-5C47-43E9-9867-6B6D2FE51861}"/>
              </a:ext>
            </a:extLst>
          </p:cNvPr>
          <p:cNvPicPr>
            <a:picLocks noChangeAspect="1"/>
          </p:cNvPicPr>
          <p:nvPr/>
        </p:nvPicPr>
        <p:blipFill>
          <a:blip r:embed="rId2"/>
          <a:stretch>
            <a:fillRect/>
          </a:stretch>
        </p:blipFill>
        <p:spPr>
          <a:xfrm>
            <a:off x="0" y="1268604"/>
            <a:ext cx="9144000" cy="4320791"/>
          </a:xfrm>
          <a:prstGeom prst="rect">
            <a:avLst/>
          </a:prstGeom>
        </p:spPr>
      </p:pic>
    </p:spTree>
    <p:extLst>
      <p:ext uri="{BB962C8B-B14F-4D97-AF65-F5344CB8AC3E}">
        <p14:creationId xmlns:p14="http://schemas.microsoft.com/office/powerpoint/2010/main" val="38381876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itchFamily="34" charset="0"/>
                <a:ea typeface="ＭＳ Ｐゴシック" pitchFamily="34" charset="-128"/>
                <a:cs typeface="Arial" pitchFamily="34" charset="0"/>
              </a:rPr>
              <a:t>Multiplayer Games and Virtual Communities</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(1 of 4)</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b="1" dirty="0">
                <a:latin typeface="Arial" pitchFamily="34" charset="0"/>
                <a:ea typeface="ＭＳ Ｐゴシック" pitchFamily="34" charset="-128"/>
                <a:cs typeface="Arial" pitchFamily="34" charset="0"/>
              </a:rPr>
              <a:t>Massively multiplayer online games (MMOG)</a:t>
            </a:r>
          </a:p>
          <a:p>
            <a:pPr lvl="1"/>
            <a:r>
              <a:rPr lang="en-US" altLang="en-US" dirty="0">
                <a:latin typeface="Arial" pitchFamily="34" charset="0"/>
                <a:ea typeface="ＭＳ Ｐゴシック" pitchFamily="34" charset="-128"/>
                <a:cs typeface="Arial" pitchFamily="34" charset="0"/>
              </a:rPr>
              <a:t>Thousands of players</a:t>
            </a:r>
          </a:p>
          <a:p>
            <a:pPr lvl="1"/>
            <a:r>
              <a:rPr lang="en-US" altLang="en-US" dirty="0">
                <a:latin typeface="Arial" pitchFamily="34" charset="0"/>
                <a:ea typeface="ＭＳ Ｐゴシック" pitchFamily="34" charset="-128"/>
                <a:cs typeface="Arial" pitchFamily="34" charset="0"/>
              </a:rPr>
              <a:t>Simulated virtual world</a:t>
            </a:r>
          </a:p>
          <a:p>
            <a:pPr lvl="1"/>
            <a:r>
              <a:rPr lang="en-US" altLang="en-US" dirty="0">
                <a:latin typeface="Arial" pitchFamily="34" charset="0"/>
                <a:ea typeface="ＭＳ Ｐゴシック" pitchFamily="34" charset="-128"/>
                <a:cs typeface="Arial" pitchFamily="34" charset="0"/>
              </a:rPr>
              <a:t>Example: </a:t>
            </a:r>
            <a:r>
              <a:rPr lang="en-US" altLang="en-US" i="1" dirty="0">
                <a:latin typeface="Arial" pitchFamily="34" charset="0"/>
                <a:ea typeface="ＭＳ Ｐゴシック" pitchFamily="34" charset="-128"/>
                <a:cs typeface="Arial" pitchFamily="34" charset="0"/>
              </a:rPr>
              <a:t>World of Warcraft</a:t>
            </a:r>
          </a:p>
          <a:p>
            <a:r>
              <a:rPr lang="en-US" altLang="en-US" dirty="0">
                <a:latin typeface="Arial" pitchFamily="34" charset="0"/>
                <a:ea typeface="ＭＳ Ｐゴシック" pitchFamily="34" charset="-128"/>
                <a:cs typeface="Arial" pitchFamily="34" charset="0"/>
              </a:rPr>
              <a:t>Game provided by online </a:t>
            </a:r>
            <a:r>
              <a:rPr lang="en-US" altLang="en-US" b="1" dirty="0">
                <a:latin typeface="Arial" pitchFamily="34" charset="0"/>
                <a:ea typeface="ＭＳ Ｐゴシック" pitchFamily="34" charset="-128"/>
                <a:cs typeface="Arial" pitchFamily="34" charset="0"/>
              </a:rPr>
              <a:t>game servers</a:t>
            </a:r>
            <a:endParaRPr lang="en-US" altLang="en-US" dirty="0">
              <a:latin typeface="Arial" pitchFamily="34" charset="0"/>
              <a:ea typeface="ＭＳ Ｐゴシック" pitchFamily="34" charset="-128"/>
              <a:cs typeface="Arial" pitchFamily="34" charset="0"/>
            </a:endParaRPr>
          </a:p>
          <a:p>
            <a:r>
              <a:rPr lang="en-US" altLang="en-US" dirty="0">
                <a:latin typeface="Arial" pitchFamily="34" charset="0"/>
                <a:ea typeface="ＭＳ Ｐゴシック" pitchFamily="34" charset="-128"/>
                <a:cs typeface="Arial" pitchFamily="34" charset="0"/>
              </a:rPr>
              <a:t>Game world is always available and running</a:t>
            </a:r>
          </a:p>
          <a:p>
            <a:r>
              <a:rPr lang="en-US" altLang="en-US" dirty="0">
                <a:latin typeface="Arial" pitchFamily="34" charset="0"/>
                <a:ea typeface="ＭＳ Ｐゴシック" pitchFamily="34" charset="-128"/>
                <a:cs typeface="Arial" pitchFamily="34" charset="0"/>
              </a:rPr>
              <a:t>Users log into the game with client software</a:t>
            </a:r>
          </a:p>
        </p:txBody>
      </p:sp>
    </p:spTree>
    <p:extLst>
      <p:ext uri="{BB962C8B-B14F-4D97-AF65-F5344CB8AC3E}">
        <p14:creationId xmlns:p14="http://schemas.microsoft.com/office/powerpoint/2010/main" val="26200323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itchFamily="34" charset="0"/>
                <a:ea typeface="ＭＳ Ｐゴシック" pitchFamily="34" charset="-128"/>
                <a:cs typeface="Arial" pitchFamily="34" charset="0"/>
              </a:rPr>
              <a:t>Multiplayer Games and Virtual Communities</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(2 of 4)</a:t>
            </a:r>
            <a:endParaRPr lang="en-US" dirty="0">
              <a:latin typeface="Arial" pitchFamily="34" charset="0"/>
              <a:cs typeface="Arial" pitchFamily="34" charset="0"/>
            </a:endParaRPr>
          </a:p>
        </p:txBody>
      </p:sp>
      <p:pic>
        <p:nvPicPr>
          <p:cNvPr id="4" name="Picture 5" descr="An illustration shows typical architecture of G P U and video memory. A system bus connects to a video card, a central processing unit or C P U, and a primary memory. Video card consists of two components, graphics processing unit or G P U and video memory, both connected.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19300" y="1219200"/>
            <a:ext cx="5105400" cy="4084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Content Placeholder 4"/>
          <p:cNvSpPr/>
          <p:nvPr/>
        </p:nvSpPr>
        <p:spPr>
          <a:xfrm>
            <a:off x="465221" y="5303602"/>
            <a:ext cx="8213558" cy="892552"/>
          </a:xfrm>
          <a:prstGeom prst="rect">
            <a:avLst/>
          </a:prstGeom>
        </p:spPr>
        <p:txBody>
          <a:bodyPr wrap="square">
            <a:spAutoFit/>
          </a:bodyPr>
          <a:lstStyle/>
          <a:p>
            <a:pPr>
              <a:buSzTx/>
            </a:pPr>
            <a:r>
              <a:rPr lang="en-US" altLang="en-US" sz="2600" dirty="0">
                <a:solidFill>
                  <a:srgbClr val="222222"/>
                </a:solidFill>
                <a:latin typeface="Arial" charset="0"/>
              </a:rPr>
              <a:t>Invitation to Computer Science, 8th Edition © 2019 Cengage. All rights reserved.</a:t>
            </a:r>
          </a:p>
        </p:txBody>
      </p:sp>
    </p:spTree>
    <p:extLst>
      <p:ext uri="{BB962C8B-B14F-4D97-AF65-F5344CB8AC3E}">
        <p14:creationId xmlns:p14="http://schemas.microsoft.com/office/powerpoint/2010/main" val="20485844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itchFamily="34" charset="0"/>
                <a:ea typeface="ＭＳ Ｐゴシック" pitchFamily="34" charset="-128"/>
                <a:cs typeface="Arial" pitchFamily="34" charset="0"/>
              </a:rPr>
              <a:t>Multiplayer Games and Virtual Communities</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(3 of 4)</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dirty="0">
                <a:latin typeface="Arial" pitchFamily="34" charset="0"/>
                <a:ea typeface="ＭＳ Ｐゴシック" pitchFamily="34" charset="-128"/>
                <a:cs typeface="Arial" pitchFamily="34" charset="0"/>
              </a:rPr>
              <a:t>MMOG game designers must perform:</a:t>
            </a:r>
          </a:p>
          <a:p>
            <a:pPr lvl="1"/>
            <a:r>
              <a:rPr lang="en-US" altLang="en-US" dirty="0">
                <a:latin typeface="Arial" pitchFamily="34" charset="0"/>
                <a:ea typeface="ＭＳ Ｐゴシック" pitchFamily="34" charset="-128"/>
                <a:cs typeface="Arial" pitchFamily="34" charset="0"/>
              </a:rPr>
              <a:t>Game play management</a:t>
            </a:r>
          </a:p>
          <a:p>
            <a:pPr lvl="2"/>
            <a:r>
              <a:rPr lang="en-US" altLang="en-US" dirty="0">
                <a:latin typeface="Arial" pitchFamily="34" charset="0"/>
                <a:ea typeface="ＭＳ Ｐゴシック" pitchFamily="34" charset="-128"/>
                <a:cs typeface="Arial" pitchFamily="34" charset="0"/>
              </a:rPr>
              <a:t>Control game actions and render game images</a:t>
            </a:r>
          </a:p>
          <a:p>
            <a:pPr lvl="1"/>
            <a:r>
              <a:rPr lang="en-US" altLang="en-US" dirty="0">
                <a:latin typeface="Arial" pitchFamily="34" charset="0"/>
                <a:ea typeface="ＭＳ Ｐゴシック" pitchFamily="34" charset="-128"/>
                <a:cs typeface="Arial" pitchFamily="34" charset="0"/>
              </a:rPr>
              <a:t>Registration management</a:t>
            </a:r>
          </a:p>
          <a:p>
            <a:pPr lvl="2"/>
            <a:r>
              <a:rPr lang="en-US" altLang="en-US" dirty="0">
                <a:latin typeface="Arial" pitchFamily="34" charset="0"/>
                <a:ea typeface="ＭＳ Ｐゴシック" pitchFamily="34" charset="-128"/>
                <a:cs typeface="Arial" pitchFamily="34" charset="0"/>
              </a:rPr>
              <a:t>Control user accounts, new and returning users</a:t>
            </a:r>
          </a:p>
          <a:p>
            <a:pPr lvl="1"/>
            <a:r>
              <a:rPr lang="en-US" altLang="en-US" dirty="0">
                <a:latin typeface="Arial" pitchFamily="34" charset="0"/>
                <a:ea typeface="ＭＳ Ｐゴシック" pitchFamily="34" charset="-128"/>
                <a:cs typeface="Arial" pitchFamily="34" charset="0"/>
              </a:rPr>
              <a:t>Client/server protocols for multiple servers and thousands of clients</a:t>
            </a:r>
          </a:p>
          <a:p>
            <a:pPr lvl="1"/>
            <a:r>
              <a:rPr lang="en-US" altLang="en-US" dirty="0">
                <a:latin typeface="Arial" pitchFamily="34" charset="0"/>
                <a:ea typeface="ＭＳ Ｐゴシック" pitchFamily="34" charset="-128"/>
                <a:cs typeface="Arial" pitchFamily="34" charset="0"/>
              </a:rPr>
              <a:t>Security to ensure authorized access only</a:t>
            </a:r>
          </a:p>
          <a:p>
            <a:pPr lvl="1"/>
            <a:r>
              <a:rPr lang="en-US" altLang="en-US" dirty="0">
                <a:latin typeface="Arial" pitchFamily="34" charset="0"/>
                <a:ea typeface="ＭＳ Ｐゴシック" pitchFamily="34" charset="-128"/>
                <a:cs typeface="Arial" pitchFamily="34" charset="0"/>
              </a:rPr>
              <a:t>Database storage and retrieval</a:t>
            </a:r>
          </a:p>
          <a:p>
            <a:pPr lvl="2"/>
            <a:r>
              <a:rPr lang="en-US" altLang="en-US" dirty="0">
                <a:latin typeface="Arial" pitchFamily="34" charset="0"/>
                <a:ea typeface="ＭＳ Ｐゴシック" pitchFamily="34" charset="-128"/>
                <a:cs typeface="Arial" pitchFamily="34" charset="0"/>
              </a:rPr>
              <a:t>Store huge amounts of data, retrieve quickly</a:t>
            </a:r>
          </a:p>
        </p:txBody>
      </p:sp>
    </p:spTree>
    <p:extLst>
      <p:ext uri="{BB962C8B-B14F-4D97-AF65-F5344CB8AC3E}">
        <p14:creationId xmlns:p14="http://schemas.microsoft.com/office/powerpoint/2010/main" val="207506233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ltLang="en-US" dirty="0">
                <a:latin typeface="Arial" pitchFamily="34" charset="0"/>
                <a:ea typeface="ＭＳ Ｐゴシック" pitchFamily="34" charset="-128"/>
                <a:cs typeface="Arial" pitchFamily="34" charset="0"/>
              </a:rPr>
              <a:t>Multiplayer Games and Virtual Communities</a:t>
            </a:r>
            <a:r>
              <a:rPr lang="en-US" altLang="en-US" baseline="0" dirty="0">
                <a:latin typeface="Arial" pitchFamily="34" charset="0"/>
                <a:ea typeface="ＭＳ Ｐゴシック" pitchFamily="34" charset="-128"/>
                <a:cs typeface="Arial" pitchFamily="34" charset="0"/>
              </a:rPr>
              <a:t> </a:t>
            </a:r>
            <a:r>
              <a:rPr lang="en-US" altLang="en-US" dirty="0">
                <a:latin typeface="Arial" pitchFamily="34" charset="0"/>
                <a:ea typeface="ＭＳ Ｐゴシック" pitchFamily="34" charset="-128"/>
                <a:cs typeface="Arial" pitchFamily="34" charset="0"/>
              </a:rPr>
              <a:t>(4 of 4)</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dirty="0">
                <a:latin typeface="Arial" pitchFamily="34" charset="0"/>
                <a:ea typeface="ＭＳ Ｐゴシック" pitchFamily="34" charset="-128"/>
                <a:cs typeface="Arial" pitchFamily="34" charset="0"/>
              </a:rPr>
              <a:t>Virtual communities:</a:t>
            </a:r>
          </a:p>
          <a:p>
            <a:pPr lvl="1"/>
            <a:r>
              <a:rPr lang="en-US" altLang="en-US" b="1" dirty="0">
                <a:latin typeface="Arial" pitchFamily="34" charset="0"/>
                <a:ea typeface="ＭＳ Ｐゴシック" pitchFamily="34" charset="-128"/>
                <a:cs typeface="Arial" pitchFamily="34" charset="0"/>
              </a:rPr>
              <a:t>Noncompetitive MMOG</a:t>
            </a:r>
            <a:r>
              <a:rPr lang="en-US" altLang="en-US" dirty="0">
                <a:latin typeface="Arial" pitchFamily="34" charset="0"/>
                <a:ea typeface="ＭＳ Ｐゴシック" pitchFamily="34" charset="-128"/>
                <a:cs typeface="Arial" pitchFamily="34" charset="0"/>
              </a:rPr>
              <a:t>, or </a:t>
            </a:r>
            <a:r>
              <a:rPr lang="en-US" altLang="en-US" b="1" dirty="0">
                <a:latin typeface="Arial" pitchFamily="34" charset="0"/>
                <a:ea typeface="ＭＳ Ｐゴシック" pitchFamily="34" charset="-128"/>
                <a:cs typeface="Arial" pitchFamily="34" charset="0"/>
              </a:rPr>
              <a:t>metaverse</a:t>
            </a:r>
          </a:p>
          <a:p>
            <a:pPr lvl="1"/>
            <a:r>
              <a:rPr lang="en-US" altLang="en-US" dirty="0">
                <a:latin typeface="Arial" pitchFamily="34" charset="0"/>
                <a:ea typeface="ＭＳ Ｐゴシック" pitchFamily="34" charset="-128"/>
                <a:cs typeface="Arial" pitchFamily="34" charset="0"/>
              </a:rPr>
              <a:t>Goal is not to score points or win, but to explore and interact, create, and engage in virtual commerce</a:t>
            </a:r>
          </a:p>
          <a:p>
            <a:pPr lvl="1"/>
            <a:r>
              <a:rPr lang="en-US" altLang="en-US" dirty="0">
                <a:latin typeface="Arial" pitchFamily="34" charset="0"/>
                <a:ea typeface="ＭＳ Ｐゴシック" pitchFamily="34" charset="-128"/>
                <a:cs typeface="Arial" pitchFamily="34" charset="0"/>
              </a:rPr>
              <a:t>Example: </a:t>
            </a:r>
            <a:r>
              <a:rPr lang="en-US" altLang="en-US" i="1" dirty="0">
                <a:latin typeface="Arial" pitchFamily="34" charset="0"/>
                <a:ea typeface="ＭＳ Ｐゴシック" pitchFamily="34" charset="-128"/>
                <a:cs typeface="Arial" pitchFamily="34" charset="0"/>
              </a:rPr>
              <a:t>Second Life</a:t>
            </a:r>
            <a:r>
              <a:rPr lang="en-US" altLang="en-US" dirty="0">
                <a:latin typeface="Arial" pitchFamily="34" charset="0"/>
                <a:ea typeface="ＭＳ Ｐゴシック" pitchFamily="34" charset="-128"/>
                <a:cs typeface="Arial" pitchFamily="34" charset="0"/>
              </a:rPr>
              <a:t>, by Linden Labs</a:t>
            </a:r>
            <a:endParaRPr lang="en-US" altLang="en-US" i="1" dirty="0">
              <a:latin typeface="Arial" pitchFamily="34" charset="0"/>
              <a:ea typeface="ＭＳ Ｐゴシック" pitchFamily="34" charset="-128"/>
              <a:cs typeface="Arial" pitchFamily="34" charset="0"/>
            </a:endParaRPr>
          </a:p>
          <a:p>
            <a:pPr lvl="2"/>
            <a:r>
              <a:rPr lang="en-US" altLang="en-US" dirty="0">
                <a:latin typeface="Arial" pitchFamily="34" charset="0"/>
                <a:ea typeface="ＭＳ Ｐゴシック" pitchFamily="34" charset="-128"/>
                <a:cs typeface="Arial" pitchFamily="34" charset="0"/>
              </a:rPr>
              <a:t>Several thousand servers</a:t>
            </a:r>
          </a:p>
          <a:p>
            <a:pPr lvl="2"/>
            <a:r>
              <a:rPr lang="en-US" altLang="en-US" dirty="0">
                <a:latin typeface="Arial" pitchFamily="34" charset="0"/>
                <a:ea typeface="ＭＳ Ｐゴシック" pitchFamily="34" charset="-128"/>
                <a:cs typeface="Arial" pitchFamily="34" charset="0"/>
              </a:rPr>
              <a:t>100 trillion bytes of data</a:t>
            </a:r>
          </a:p>
          <a:p>
            <a:pPr lvl="2"/>
            <a:r>
              <a:rPr lang="en-US" altLang="en-US" dirty="0">
                <a:latin typeface="Arial" pitchFamily="34" charset="0"/>
                <a:ea typeface="ＭＳ Ｐゴシック" pitchFamily="34" charset="-128"/>
                <a:cs typeface="Arial" pitchFamily="34" charset="0"/>
              </a:rPr>
              <a:t>1 million active “residents”</a:t>
            </a:r>
          </a:p>
          <a:p>
            <a:pPr lvl="2"/>
            <a:r>
              <a:rPr lang="en-US" altLang="en-US" dirty="0">
                <a:latin typeface="Arial" pitchFamily="34" charset="0"/>
                <a:ea typeface="ＭＳ Ｐゴシック" pitchFamily="34" charset="-128"/>
                <a:cs typeface="Arial" pitchFamily="34" charset="0"/>
              </a:rPr>
              <a:t>~50,000 online at any one time</a:t>
            </a:r>
          </a:p>
        </p:txBody>
      </p:sp>
    </p:spTree>
    <p:extLst>
      <p:ext uri="{BB962C8B-B14F-4D97-AF65-F5344CB8AC3E}">
        <p14:creationId xmlns:p14="http://schemas.microsoft.com/office/powerpoint/2010/main" val="36249213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itchFamily="34" charset="0"/>
                <a:ea typeface="ＭＳ Ｐゴシック" pitchFamily="34" charset="-128"/>
                <a:cs typeface="Arial" pitchFamily="34" charset="0"/>
              </a:rPr>
              <a:t>Summary (1 of 2)</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dirty="0">
                <a:latin typeface="Arial" pitchFamily="34" charset="0"/>
                <a:ea typeface="ＭＳ Ｐゴシック" pitchFamily="34" charset="-128"/>
                <a:cs typeface="Arial" pitchFamily="34" charset="0"/>
              </a:rPr>
              <a:t>Use of computers and computer animation in the entertainment industry has grown as the power of computers has grown</a:t>
            </a:r>
          </a:p>
          <a:p>
            <a:r>
              <a:rPr lang="en-US" altLang="en-US" dirty="0">
                <a:latin typeface="Arial" pitchFamily="34" charset="0"/>
                <a:ea typeface="ＭＳ Ｐゴシック" pitchFamily="34" charset="-128"/>
                <a:cs typeface="Arial" pitchFamily="34" charset="0"/>
              </a:rPr>
              <a:t>CGI allows for photorealistic animation</a:t>
            </a:r>
          </a:p>
          <a:p>
            <a:r>
              <a:rPr lang="en-US" altLang="en-US" dirty="0">
                <a:latin typeface="Arial" pitchFamily="34" charset="0"/>
                <a:ea typeface="ＭＳ Ｐゴシック" pitchFamily="34" charset="-128"/>
                <a:cs typeface="Arial" pitchFamily="34" charset="0"/>
              </a:rPr>
              <a:t>The graphics pipeline includes object modeling, object motion, and rendering and display</a:t>
            </a:r>
          </a:p>
          <a:p>
            <a:r>
              <a:rPr lang="en-US" altLang="en-US" dirty="0">
                <a:latin typeface="Arial" pitchFamily="34" charset="0"/>
                <a:ea typeface="ＭＳ Ｐゴシック" pitchFamily="34" charset="-128"/>
                <a:cs typeface="Arial" pitchFamily="34" charset="0"/>
              </a:rPr>
              <a:t>Objects are commonly modeled as tessellations of polygons in three dimensions</a:t>
            </a:r>
          </a:p>
          <a:p>
            <a:r>
              <a:rPr lang="en-US" altLang="en-US" dirty="0">
                <a:latin typeface="Arial" pitchFamily="34" charset="0"/>
                <a:ea typeface="ＭＳ Ｐゴシック" pitchFamily="34" charset="-128"/>
                <a:cs typeface="Arial" pitchFamily="34" charset="0"/>
              </a:rPr>
              <a:t>Motion is created through matrix multiplication of transformation matrices with vertices of an object</a:t>
            </a:r>
          </a:p>
        </p:txBody>
      </p:sp>
    </p:spTree>
    <p:extLst>
      <p:ext uri="{BB962C8B-B14F-4D97-AF65-F5344CB8AC3E}">
        <p14:creationId xmlns:p14="http://schemas.microsoft.com/office/powerpoint/2010/main" val="18176433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latin typeface="Arial" pitchFamily="34" charset="0"/>
                <a:ea typeface="ＭＳ Ｐゴシック" pitchFamily="34" charset="-128"/>
                <a:cs typeface="Arial" pitchFamily="34" charset="0"/>
              </a:rPr>
              <a:t>Summary (2 of 2)</a:t>
            </a:r>
            <a:endParaRPr lang="en-US" dirty="0">
              <a:latin typeface="Arial" pitchFamily="34" charset="0"/>
              <a:cs typeface="Arial" pitchFamily="34" charset="0"/>
            </a:endParaRPr>
          </a:p>
        </p:txBody>
      </p:sp>
      <p:sp>
        <p:nvSpPr>
          <p:cNvPr id="3" name="Content Placeholder 2"/>
          <p:cNvSpPr>
            <a:spLocks noGrp="1"/>
          </p:cNvSpPr>
          <p:nvPr>
            <p:ph idx="1"/>
          </p:nvPr>
        </p:nvSpPr>
        <p:spPr/>
        <p:txBody>
          <a:bodyPr/>
          <a:lstStyle/>
          <a:p>
            <a:r>
              <a:rPr lang="en-US" altLang="en-US" dirty="0">
                <a:latin typeface="Arial" pitchFamily="34" charset="0"/>
                <a:ea typeface="ＭＳ Ｐゴシック" pitchFamily="34" charset="-128"/>
                <a:cs typeface="Arial" pitchFamily="34" charset="0"/>
              </a:rPr>
              <a:t>Rendering must apply color, shading, and texture to images</a:t>
            </a:r>
          </a:p>
          <a:p>
            <a:r>
              <a:rPr lang="en-US" altLang="en-US" dirty="0">
                <a:latin typeface="Arial" pitchFamily="34" charset="0"/>
                <a:ea typeface="ＭＳ Ｐゴシック" pitchFamily="34" charset="-128"/>
                <a:cs typeface="Arial" pitchFamily="34" charset="0"/>
              </a:rPr>
              <a:t>Ray tracing is a common technique for rendering</a:t>
            </a:r>
          </a:p>
          <a:p>
            <a:r>
              <a:rPr lang="en-US" altLang="en-US" dirty="0">
                <a:latin typeface="Arial" pitchFamily="34" charset="0"/>
                <a:ea typeface="ＭＳ Ｐゴシック" pitchFamily="34" charset="-128"/>
                <a:cs typeface="Arial" pitchFamily="34" charset="0"/>
              </a:rPr>
              <a:t>Video games must render images in real time</a:t>
            </a:r>
          </a:p>
          <a:p>
            <a:r>
              <a:rPr lang="en-US" altLang="en-US" dirty="0">
                <a:latin typeface="Arial" pitchFamily="34" charset="0"/>
                <a:ea typeface="ＭＳ Ｐゴシック" pitchFamily="34" charset="-128"/>
                <a:cs typeface="Arial" pitchFamily="34" charset="0"/>
              </a:rPr>
              <a:t>GPUs perform video operations to speed up render time</a:t>
            </a:r>
          </a:p>
          <a:p>
            <a:r>
              <a:rPr lang="en-US" altLang="en-US" dirty="0">
                <a:latin typeface="Arial" pitchFamily="34" charset="0"/>
                <a:ea typeface="ＭＳ Ｐゴシック" pitchFamily="34" charset="-128"/>
                <a:cs typeface="Arial" pitchFamily="34" charset="0"/>
              </a:rPr>
              <a:t>MMOGs are online games, large-scale computing</a:t>
            </a:r>
          </a:p>
          <a:p>
            <a:r>
              <a:rPr lang="en-US" altLang="en-US" dirty="0">
                <a:latin typeface="Arial" pitchFamily="34" charset="0"/>
                <a:ea typeface="ＭＳ Ｐゴシック" pitchFamily="34" charset="-128"/>
                <a:cs typeface="Arial" pitchFamily="34" charset="0"/>
              </a:rPr>
              <a:t>Virtual communities like </a:t>
            </a:r>
            <a:r>
              <a:rPr lang="en-US" altLang="en-US" i="1" dirty="0">
                <a:latin typeface="Arial" pitchFamily="34" charset="0"/>
                <a:ea typeface="ＭＳ Ｐゴシック" pitchFamily="34" charset="-128"/>
                <a:cs typeface="Arial" pitchFamily="34" charset="0"/>
              </a:rPr>
              <a:t>Second Life</a:t>
            </a:r>
            <a:r>
              <a:rPr lang="en-US" altLang="en-US" dirty="0">
                <a:latin typeface="Arial" pitchFamily="34" charset="0"/>
                <a:ea typeface="ＭＳ Ｐゴシック" pitchFamily="34" charset="-128"/>
                <a:cs typeface="Arial" pitchFamily="34" charset="0"/>
              </a:rPr>
              <a:t> are noncompetitive MMOGs</a:t>
            </a:r>
          </a:p>
        </p:txBody>
      </p:sp>
    </p:spTree>
    <p:extLst>
      <p:ext uri="{BB962C8B-B14F-4D97-AF65-F5344CB8AC3E}">
        <p14:creationId xmlns:p14="http://schemas.microsoft.com/office/powerpoint/2010/main" val="3670638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2076</TotalTime>
  <Words>2436</Words>
  <Application>Microsoft Office PowerPoint</Application>
  <PresentationFormat>On-screen Show (4:3)</PresentationFormat>
  <Paragraphs>308</Paragraphs>
  <Slides>41</Slides>
  <Notes>18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Arial</vt:lpstr>
      <vt:lpstr>Calibri</vt:lpstr>
      <vt:lpstr>Courier New</vt:lpstr>
      <vt:lpstr>Wingdings</vt:lpstr>
      <vt:lpstr>Office Theme</vt:lpstr>
      <vt:lpstr>Chapter 16</vt:lpstr>
      <vt:lpstr>Learning Objectives (1 of 2)</vt:lpstr>
      <vt:lpstr>Learning Objectives (2 of 2)</vt:lpstr>
      <vt:lpstr> Introduction (1 of 2) </vt:lpstr>
      <vt:lpstr>Introduction (2 of 2)</vt:lpstr>
      <vt:lpstr>Computer-Generated Imagery (CGI) (1 of 18)</vt:lpstr>
      <vt:lpstr>Computer-Generated Imagery (CGI) (2 of 18)</vt:lpstr>
      <vt:lpstr>Computer-Generated Imagery (CGI) (3 of 18)</vt:lpstr>
      <vt:lpstr>Computer-Generated Imagery (CGI) (4 of 18)</vt:lpstr>
      <vt:lpstr>Computer-Generated Imagery (CGI) (5 of 18)</vt:lpstr>
      <vt:lpstr>Computer-Generated Imagery (CGI) (6 of 18)</vt:lpstr>
      <vt:lpstr>Computer-Generated Imagery (CGI) (7 of 18)</vt:lpstr>
      <vt:lpstr>Computer-Generated Imagery (CGI) (8 of 18)</vt:lpstr>
      <vt:lpstr>Computer-Generated Imagery (CGI) (9 of 18)</vt:lpstr>
      <vt:lpstr>Computer-Generated Imagery (CGI) (10 of 18)</vt:lpstr>
      <vt:lpstr>Computer-Generated Imagery (CGI) (11 of 18)</vt:lpstr>
      <vt:lpstr>Computer-Generated Imagery (CGI) (12 of 18)</vt:lpstr>
      <vt:lpstr>Computer-Generated Imagery (CGI) (13 of 18)</vt:lpstr>
      <vt:lpstr>Computer-Generated Imagery (CGI) (14 of 18)</vt:lpstr>
      <vt:lpstr>Computer-Generated Imagery (CGI) (15 of 18)</vt:lpstr>
      <vt:lpstr>Computer-Generated Imagery (CGI) (16 of 18)</vt:lpstr>
      <vt:lpstr>Computer-Generated Imagery (CGI) (17 of 18)</vt:lpstr>
      <vt:lpstr>Computer-Generated Imagery (CGI) (18 of 18)</vt:lpstr>
      <vt:lpstr>PowerPoint Presentation</vt:lpstr>
      <vt:lpstr>PowerPoint Presentation</vt:lpstr>
      <vt:lpstr>PowerPoint Presentation</vt:lpstr>
      <vt:lpstr>PowerPoint Presentation</vt:lpstr>
      <vt:lpstr>Video Gaming (1 of 4)</vt:lpstr>
      <vt:lpstr>Video Gaming (2 of 4)</vt:lpstr>
      <vt:lpstr>Video Gaming (3 of 4)</vt:lpstr>
      <vt:lpstr>Video Gaming (4 of 4)</vt:lpstr>
      <vt:lpstr>PowerPoint Presentation</vt:lpstr>
      <vt:lpstr>PowerPoint Presentation</vt:lpstr>
      <vt:lpstr>PowerPoint Presentation</vt:lpstr>
      <vt:lpstr>PowerPoint Presentation</vt:lpstr>
      <vt:lpstr>Multiplayer Games and Virtual Communities (1 of 4)</vt:lpstr>
      <vt:lpstr>Multiplayer Games and Virtual Communities (2 of 4)</vt:lpstr>
      <vt:lpstr>Multiplayer Games and Virtual Communities (3 of 4)</vt:lpstr>
      <vt:lpstr>Multiplayer Games and Virtual Communities (4 of 4)</vt:lpstr>
      <vt:lpstr>Summary (1 of 2)</vt:lpstr>
      <vt:lpstr>Summary (2 of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16 Computer Graphics and Entertainment: Movies, Games, and Virtual Communities</dc:title>
  <dc:creator>Schneider</dc:creator>
  <cp:lastModifiedBy>Jiahui Xia</cp:lastModifiedBy>
  <cp:revision>338</cp:revision>
  <dcterms:created xsi:type="dcterms:W3CDTF">2015-05-05T09:30:46Z</dcterms:created>
  <dcterms:modified xsi:type="dcterms:W3CDTF">2020-11-22T04:20:41Z</dcterms:modified>
</cp:coreProperties>
</file>