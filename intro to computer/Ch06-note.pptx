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handoutMasterIdLst>
    <p:handoutMasterId r:id="rId74"/>
  </p:handoutMasterIdLst>
  <p:sldIdLst>
    <p:sldId id="361" r:id="rId2"/>
    <p:sldId id="257" r:id="rId3"/>
    <p:sldId id="310" r:id="rId4"/>
    <p:sldId id="311" r:id="rId5"/>
    <p:sldId id="312" r:id="rId6"/>
    <p:sldId id="313" r:id="rId7"/>
    <p:sldId id="314" r:id="rId8"/>
    <p:sldId id="315" r:id="rId9"/>
    <p:sldId id="316" r:id="rId10"/>
    <p:sldId id="317" r:id="rId11"/>
    <p:sldId id="318" r:id="rId12"/>
    <p:sldId id="319" r:id="rId13"/>
    <p:sldId id="320" r:id="rId14"/>
    <p:sldId id="321" r:id="rId15"/>
    <p:sldId id="322" r:id="rId16"/>
    <p:sldId id="323" r:id="rId17"/>
    <p:sldId id="324" r:id="rId18"/>
    <p:sldId id="325" r:id="rId19"/>
    <p:sldId id="326" r:id="rId20"/>
    <p:sldId id="327" r:id="rId21"/>
    <p:sldId id="328" r:id="rId22"/>
    <p:sldId id="329" r:id="rId23"/>
    <p:sldId id="330" r:id="rId24"/>
    <p:sldId id="331" r:id="rId25"/>
    <p:sldId id="332" r:id="rId26"/>
    <p:sldId id="368" r:id="rId27"/>
    <p:sldId id="333" r:id="rId28"/>
    <p:sldId id="334" r:id="rId29"/>
    <p:sldId id="335" r:id="rId30"/>
    <p:sldId id="369" r:id="rId31"/>
    <p:sldId id="336" r:id="rId32"/>
    <p:sldId id="337" r:id="rId33"/>
    <p:sldId id="338" r:id="rId34"/>
    <p:sldId id="360" r:id="rId35"/>
    <p:sldId id="339" r:id="rId36"/>
    <p:sldId id="340" r:id="rId37"/>
    <p:sldId id="341" r:id="rId38"/>
    <p:sldId id="342" r:id="rId39"/>
    <p:sldId id="343" r:id="rId40"/>
    <p:sldId id="375" r:id="rId41"/>
    <p:sldId id="376" r:id="rId42"/>
    <p:sldId id="374" r:id="rId43"/>
    <p:sldId id="344" r:id="rId44"/>
    <p:sldId id="345" r:id="rId45"/>
    <p:sldId id="346" r:id="rId46"/>
    <p:sldId id="347" r:id="rId47"/>
    <p:sldId id="348" r:id="rId48"/>
    <p:sldId id="349" r:id="rId49"/>
    <p:sldId id="350" r:id="rId50"/>
    <p:sldId id="351" r:id="rId51"/>
    <p:sldId id="352" r:id="rId52"/>
    <p:sldId id="353" r:id="rId53"/>
    <p:sldId id="354" r:id="rId54"/>
    <p:sldId id="355" r:id="rId55"/>
    <p:sldId id="356" r:id="rId56"/>
    <p:sldId id="357" r:id="rId57"/>
    <p:sldId id="358" r:id="rId58"/>
    <p:sldId id="359" r:id="rId59"/>
    <p:sldId id="362" r:id="rId60"/>
    <p:sldId id="363" r:id="rId61"/>
    <p:sldId id="364" r:id="rId62"/>
    <p:sldId id="365" r:id="rId63"/>
    <p:sldId id="366" r:id="rId64"/>
    <p:sldId id="367" r:id="rId65"/>
    <p:sldId id="373" r:id="rId66"/>
    <p:sldId id="370" r:id="rId67"/>
    <p:sldId id="371" r:id="rId68"/>
    <p:sldId id="372" r:id="rId69"/>
    <p:sldId id="377" r:id="rId70"/>
    <p:sldId id="378" r:id="rId71"/>
    <p:sldId id="379" r:id="rId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7B36"/>
    <a:srgbClr val="34B14B"/>
    <a:srgbClr val="5FC3DA"/>
    <a:srgbClr val="536E75"/>
    <a:srgbClr val="D2D927"/>
    <a:srgbClr val="1F3668"/>
    <a:srgbClr val="D72229"/>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25" autoAdjust="0"/>
    <p:restoredTop sz="78677" autoAdjust="0"/>
  </p:normalViewPr>
  <p:slideViewPr>
    <p:cSldViewPr snapToGrid="0">
      <p:cViewPr varScale="1">
        <p:scale>
          <a:sx n="52" d="100"/>
          <a:sy n="52" d="100"/>
        </p:scale>
        <p:origin x="1480" y="56"/>
      </p:cViewPr>
      <p:guideLst>
        <p:guide orient="horz" pos="705"/>
        <p:guide pos="5612"/>
        <p:guide pos="4085"/>
        <p:guide pos="28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4" d="100"/>
          <a:sy n="114" d="100"/>
        </p:scale>
        <p:origin x="-503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t>11/4/2020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t>11/4/2020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将系统软件为用户创建的虚拟机与裸机进行比较</a:t>
            </a:r>
          </a:p>
          <a:p>
            <a:r>
              <a:rPr lang="zh-CN" altLang="en-US" dirty="0"/>
              <a:t>描述不同类型的系统软件</a:t>
            </a:r>
          </a:p>
          <a:p>
            <a:r>
              <a:rPr lang="zh-CN" altLang="en-US" dirty="0"/>
              <a:t>说明用汇编语言而不是机器语言编写程序的好处</a:t>
            </a:r>
          </a:p>
          <a:p>
            <a:r>
              <a:rPr lang="zh-CN" altLang="en-US" dirty="0"/>
              <a:t>描述汇编程序如何将汇编语言程序转换为机器指令</a:t>
            </a:r>
          </a:p>
          <a:p>
            <a:r>
              <a:rPr lang="zh-CN" altLang="en-US" dirty="0"/>
              <a:t>列出操作系统的五个关键任务，并解释每一项是什么以及为什么它对现代系统至关重要</a:t>
            </a:r>
          </a:p>
          <a:p>
            <a:r>
              <a:rPr lang="zh-CN" altLang="en-US" dirty="0"/>
              <a:t>描述操作系统的不同版本，其功能，以及每一代如何解决上一代的缺点</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a:t>
            </a:fld>
            <a:endParaRPr lang="en-US" dirty="0"/>
          </a:p>
        </p:txBody>
      </p:sp>
    </p:spTree>
    <p:extLst>
      <p:ext uri="{BB962C8B-B14F-4D97-AF65-F5344CB8AC3E}">
        <p14:creationId xmlns:p14="http://schemas.microsoft.com/office/powerpoint/2010/main" val="4003666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裸机没有工具或程序可以帮助用户：</a:t>
            </a:r>
          </a:p>
          <a:p>
            <a:r>
              <a:rPr lang="zh-CN" altLang="en-US" dirty="0"/>
              <a:t>用二进制写指令</a:t>
            </a:r>
          </a:p>
          <a:p>
            <a:r>
              <a:rPr lang="zh-CN" altLang="en-US" dirty="0"/>
              <a:t>用二进制写数据</a:t>
            </a:r>
          </a:p>
          <a:p>
            <a:r>
              <a:rPr lang="zh-CN" altLang="en-US" dirty="0"/>
              <a:t>一次将指令加载到内存中一个单元</a:t>
            </a:r>
          </a:p>
          <a:p>
            <a:pPr marL="171450" indent="-171450">
              <a:buFont typeface="Arial" panose="020B0604020202020204" pitchFamily="34" charset="0"/>
              <a:buChar char="•"/>
            </a:pPr>
            <a:r>
              <a:rPr lang="zh-CN" altLang="en-US" dirty="0"/>
              <a:t>启动程序运行</a:t>
            </a:r>
          </a:p>
          <a:p>
            <a:pPr marL="171450" indent="-171450">
              <a:buFont typeface="Arial" panose="020B0604020202020204" pitchFamily="34" charset="0"/>
              <a:buChar char="•"/>
            </a:pPr>
            <a:r>
              <a:rPr lang="zh-CN" altLang="en-US" dirty="0"/>
              <a:t>很快变得太难对人类去做</a:t>
            </a:r>
          </a:p>
          <a:p>
            <a:pPr marL="171450" indent="-171450">
              <a:buFont typeface="Arial" panose="020B0604020202020204" pitchFamily="34" charset="0"/>
              <a:buChar char="•"/>
            </a:pPr>
            <a:r>
              <a:rPr lang="zh-CN" altLang="en-US" dirty="0"/>
              <a:t>必须开发一个界面来隐藏细节并使计算机更易于构建</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a:t>
            </a:fld>
            <a:endParaRPr lang="en-US" dirty="0"/>
          </a:p>
        </p:txBody>
      </p:sp>
    </p:spTree>
    <p:extLst>
      <p:ext uri="{BB962C8B-B14F-4D97-AF65-F5344CB8AC3E}">
        <p14:creationId xmlns:p14="http://schemas.microsoft.com/office/powerpoint/2010/main" val="745314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系统软件是用于以下目的的程序的集合：</a:t>
            </a:r>
          </a:p>
          <a:p>
            <a:r>
              <a:rPr lang="zh-CN" altLang="en-US" dirty="0"/>
              <a:t>管理计算机资源</a:t>
            </a:r>
          </a:p>
          <a:p>
            <a:r>
              <a:rPr lang="zh-CN" altLang="en-US" dirty="0"/>
              <a:t>充当用户和硬件之间的中介</a:t>
            </a:r>
          </a:p>
          <a:p>
            <a:r>
              <a:rPr lang="zh-CN" altLang="en-US" dirty="0"/>
              <a:t>系统软件创建用户可以看到的虚拟机（或虚拟环境）</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a:t>
            </a:fld>
            <a:endParaRPr lang="en-US" dirty="0"/>
          </a:p>
        </p:txBody>
      </p:sp>
    </p:spTree>
    <p:extLst>
      <p:ext uri="{BB962C8B-B14F-4D97-AF65-F5344CB8AC3E}">
        <p14:creationId xmlns:p14="http://schemas.microsoft.com/office/powerpoint/2010/main" val="1400316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操作系统</a:t>
            </a:r>
          </a:p>
          <a:p>
            <a:r>
              <a:rPr lang="zh-CN" altLang="en-US" dirty="0"/>
              <a:t>计算机上最重要的单个软件由以下组成：</a:t>
            </a:r>
          </a:p>
          <a:p>
            <a:r>
              <a:rPr lang="zh-CN" altLang="en-US" dirty="0"/>
              <a:t>用户界面</a:t>
            </a:r>
          </a:p>
          <a:p>
            <a:r>
              <a:rPr lang="zh-CN" altLang="en-US" dirty="0"/>
              <a:t>内存管理器</a:t>
            </a:r>
          </a:p>
          <a:p>
            <a:r>
              <a:rPr lang="en-US" altLang="zh-CN" dirty="0"/>
              <a:t>I / O</a:t>
            </a:r>
            <a:r>
              <a:rPr lang="zh-CN" altLang="en-US" dirty="0"/>
              <a:t>系统</a:t>
            </a:r>
          </a:p>
          <a:p>
            <a:r>
              <a:rPr lang="zh-CN" altLang="en-US" dirty="0"/>
              <a:t>实用工具</a:t>
            </a:r>
          </a:p>
          <a:p>
            <a:r>
              <a:rPr lang="zh-CN" altLang="en-US" dirty="0"/>
              <a:t>语言服务</a:t>
            </a:r>
          </a:p>
          <a:p>
            <a:r>
              <a:rPr lang="zh-CN" altLang="en-US" dirty="0"/>
              <a:t>信息经理</a:t>
            </a:r>
          </a:p>
          <a:p>
            <a:r>
              <a:rPr lang="zh-CN" altLang="en-US" dirty="0"/>
              <a:t>排程器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a:t>
            </a:fld>
            <a:endParaRPr lang="en-US" dirty="0"/>
          </a:p>
        </p:txBody>
      </p:sp>
    </p:spTree>
    <p:extLst>
      <p:ext uri="{BB962C8B-B14F-4D97-AF65-F5344CB8AC3E}">
        <p14:creationId xmlns:p14="http://schemas.microsoft.com/office/powerpoint/2010/main" val="2748940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语言服务：支持高级语言</a:t>
            </a:r>
          </a:p>
          <a:p>
            <a:r>
              <a:rPr lang="zh-CN" altLang="en-US" dirty="0"/>
              <a:t>内存管理器：为程序分配内存</a:t>
            </a:r>
          </a:p>
          <a:p>
            <a:r>
              <a:rPr lang="zh-CN" altLang="en-US" dirty="0"/>
              <a:t>信息经理：组织海量存储</a:t>
            </a:r>
          </a:p>
          <a:p>
            <a:r>
              <a:rPr lang="zh-CN" altLang="en-US" dirty="0"/>
              <a:t>计划程序：管理等待运行的程序</a:t>
            </a:r>
          </a:p>
          <a:p>
            <a:r>
              <a:rPr lang="zh-CN" altLang="en-US" dirty="0"/>
              <a:t>实用程序：工具，包括程序库</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7</a:t>
            </a:fld>
            <a:endParaRPr lang="en-US" dirty="0"/>
          </a:p>
        </p:txBody>
      </p:sp>
    </p:spTree>
    <p:extLst>
      <p:ext uri="{BB962C8B-B14F-4D97-AF65-F5344CB8AC3E}">
        <p14:creationId xmlns:p14="http://schemas.microsoft.com/office/powerpoint/2010/main" val="682357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图形用户界面（</a:t>
            </a:r>
            <a:r>
              <a:rPr lang="en-US" altLang="zh-CN" dirty="0"/>
              <a:t>GUI</a:t>
            </a:r>
            <a:r>
              <a:rPr lang="zh-CN" altLang="en-US" dirty="0"/>
              <a:t>）：发音为“ </a:t>
            </a:r>
            <a:r>
              <a:rPr lang="en-US" altLang="zh-CN" dirty="0"/>
              <a:t>gooey”</a:t>
            </a:r>
          </a:p>
          <a:p>
            <a:r>
              <a:rPr lang="zh-CN" altLang="en-US" dirty="0"/>
              <a:t>虚拟机的可视界面包括：</a:t>
            </a:r>
          </a:p>
          <a:p>
            <a:r>
              <a:rPr lang="zh-CN" altLang="en-US" dirty="0"/>
              <a:t>操作系统和系统程序</a:t>
            </a:r>
          </a:p>
          <a:p>
            <a:r>
              <a:rPr lang="zh-CN" altLang="en-US" dirty="0"/>
              <a:t>用户程序</a:t>
            </a:r>
          </a:p>
          <a:p>
            <a:r>
              <a:rPr lang="en-US" altLang="zh-CN" dirty="0"/>
              <a:t>I / O</a:t>
            </a:r>
            <a:r>
              <a:rPr lang="zh-CN" altLang="en-US" dirty="0"/>
              <a:t>系统与各种设备进行通信，例如：</a:t>
            </a:r>
          </a:p>
          <a:p>
            <a:r>
              <a:rPr lang="zh-CN" altLang="en-US" dirty="0"/>
              <a:t>打印机</a:t>
            </a:r>
          </a:p>
          <a:p>
            <a:r>
              <a:rPr lang="zh-CN" altLang="en-US" dirty="0"/>
              <a:t>扫描仪</a:t>
            </a:r>
          </a:p>
          <a:p>
            <a:r>
              <a:rPr lang="zh-CN" altLang="en-US" dirty="0"/>
              <a:t>键盘</a:t>
            </a:r>
          </a:p>
          <a:p>
            <a:r>
              <a:rPr lang="zh-CN" altLang="en-US" dirty="0"/>
              <a:t>鼠标</a:t>
            </a:r>
          </a:p>
        </p:txBody>
      </p:sp>
      <p:sp>
        <p:nvSpPr>
          <p:cNvPr id="4" name="Slide Number Placeholder 3"/>
          <p:cNvSpPr>
            <a:spLocks noGrp="1"/>
          </p:cNvSpPr>
          <p:nvPr>
            <p:ph type="sldNum" sz="quarter" idx="5"/>
          </p:nvPr>
        </p:nvSpPr>
        <p:spPr/>
        <p:txBody>
          <a:bodyPr/>
          <a:lstStyle/>
          <a:p>
            <a:fld id="{D9483670-0D61-9349-97AC-A9731AA75D95}" type="slidenum">
              <a:rPr lang="en-US" smtClean="0"/>
              <a:t>8</a:t>
            </a:fld>
            <a:endParaRPr lang="en-US" dirty="0"/>
          </a:p>
        </p:txBody>
      </p:sp>
    </p:spTree>
    <p:extLst>
      <p:ext uri="{BB962C8B-B14F-4D97-AF65-F5344CB8AC3E}">
        <p14:creationId xmlns:p14="http://schemas.microsoft.com/office/powerpoint/2010/main" val="4247649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裸机</a:t>
            </a:r>
          </a:p>
          <a:p>
            <a:r>
              <a:rPr lang="en-US" altLang="zh-CN" dirty="0"/>
              <a:t>1. </a:t>
            </a:r>
            <a:r>
              <a:rPr lang="zh-CN" altLang="en-US" dirty="0"/>
              <a:t>用二进制写程序</a:t>
            </a:r>
          </a:p>
          <a:p>
            <a:r>
              <a:rPr lang="en-US" altLang="zh-CN" dirty="0"/>
              <a:t>2. </a:t>
            </a:r>
            <a:r>
              <a:rPr lang="zh-CN" altLang="en-US" dirty="0"/>
              <a:t>将指令一 一载入内存</a:t>
            </a:r>
          </a:p>
          <a:p>
            <a:r>
              <a:rPr lang="en-US" altLang="zh-CN" dirty="0"/>
              <a:t>3.</a:t>
            </a:r>
            <a:r>
              <a:rPr lang="zh-CN" altLang="en-US" dirty="0"/>
              <a:t>将开始插入到内存地址</a:t>
            </a:r>
            <a:r>
              <a:rPr lang="en-US" altLang="zh-CN" dirty="0"/>
              <a:t>0</a:t>
            </a:r>
            <a:r>
              <a:rPr lang="zh-CN" altLang="en-US" dirty="0"/>
              <a:t>，然后按“开始”按钮</a:t>
            </a:r>
          </a:p>
          <a:p>
            <a:r>
              <a:rPr lang="en-US" altLang="zh-CN" dirty="0"/>
              <a:t>4. </a:t>
            </a:r>
            <a:r>
              <a:rPr lang="zh-CN" altLang="en-US" dirty="0"/>
              <a:t>从存储器中以二进制方式一 一读取结果</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9</a:t>
            </a:fld>
            <a:endParaRPr lang="en-US" dirty="0"/>
          </a:p>
        </p:txBody>
      </p:sp>
    </p:spTree>
    <p:extLst>
      <p:ext uri="{BB962C8B-B14F-4D97-AF65-F5344CB8AC3E}">
        <p14:creationId xmlns:p14="http://schemas.microsoft.com/office/powerpoint/2010/main" val="3088346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虚拟机</a:t>
            </a:r>
          </a:p>
          <a:p>
            <a:r>
              <a:rPr lang="en-US" altLang="zh-CN" dirty="0"/>
              <a:t>1. </a:t>
            </a:r>
            <a:r>
              <a:rPr lang="zh-CN" altLang="en-US" dirty="0"/>
              <a:t>使用高级语言的文本编辑器编写程序</a:t>
            </a:r>
          </a:p>
          <a:p>
            <a:r>
              <a:rPr lang="en-US" altLang="zh-CN" dirty="0"/>
              <a:t>2. </a:t>
            </a:r>
            <a:r>
              <a:rPr lang="zh-CN" altLang="en-US" dirty="0"/>
              <a:t>将程序保存到文件夹</a:t>
            </a:r>
          </a:p>
          <a:p>
            <a:r>
              <a:rPr lang="en-US" altLang="zh-CN" dirty="0"/>
              <a:t>3. </a:t>
            </a:r>
            <a:r>
              <a:rPr lang="zh-CN" altLang="en-US" dirty="0"/>
              <a:t>使用翻译器转换为二进制</a:t>
            </a:r>
          </a:p>
          <a:p>
            <a:r>
              <a:rPr lang="en-US" altLang="zh-CN" dirty="0"/>
              <a:t>4. </a:t>
            </a:r>
            <a:r>
              <a:rPr lang="zh-CN" altLang="en-US" dirty="0"/>
              <a:t>使用调度程序加载和运行</a:t>
            </a:r>
          </a:p>
          <a:p>
            <a:r>
              <a:rPr lang="en-US" altLang="zh-CN" dirty="0"/>
              <a:t>5. </a:t>
            </a:r>
            <a:r>
              <a:rPr lang="zh-CN" altLang="en-US" dirty="0"/>
              <a:t>使用</a:t>
            </a:r>
            <a:r>
              <a:rPr lang="en-US" altLang="zh-CN" dirty="0"/>
              <a:t>I / O</a:t>
            </a:r>
            <a:r>
              <a:rPr lang="zh-CN" altLang="en-US" dirty="0"/>
              <a:t>系统打印结果</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10</a:t>
            </a:fld>
            <a:endParaRPr lang="en-US" dirty="0"/>
          </a:p>
        </p:txBody>
      </p:sp>
    </p:spTree>
    <p:extLst>
      <p:ext uri="{BB962C8B-B14F-4D97-AF65-F5344CB8AC3E}">
        <p14:creationId xmlns:p14="http://schemas.microsoft.com/office/powerpoint/2010/main" val="3702493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低级编程语言也称为汇编语言：</a:t>
            </a:r>
          </a:p>
          <a:p>
            <a:r>
              <a:rPr lang="zh-CN" altLang="en-US" dirty="0"/>
              <a:t>指令一对一映射到机器语言</a:t>
            </a:r>
          </a:p>
          <a:p>
            <a:r>
              <a:rPr lang="zh-CN" altLang="en-US" dirty="0"/>
              <a:t>符号操作码（非二进制）</a:t>
            </a:r>
          </a:p>
          <a:p>
            <a:r>
              <a:rPr lang="zh-CN" altLang="en-US" dirty="0"/>
              <a:t>指令和数据的符号地址</a:t>
            </a:r>
          </a:p>
          <a:p>
            <a:r>
              <a:rPr lang="zh-CN" altLang="en-US" dirty="0"/>
              <a:t>用于数据生成等的伪操作（以人类友好的术语表示的数据）</a:t>
            </a:r>
          </a:p>
          <a:p>
            <a:r>
              <a:rPr lang="zh-CN" altLang="en-US" dirty="0"/>
              <a:t>优于机器代码</a:t>
            </a:r>
          </a:p>
          <a:p>
            <a:r>
              <a:rPr lang="zh-CN" altLang="en-US" dirty="0"/>
              <a:t>清晰度，可读性和可维护性</a:t>
            </a:r>
          </a:p>
          <a:p>
            <a:r>
              <a:rPr lang="zh-CN" altLang="en-US" dirty="0"/>
              <a:t>可以放置在内存中的不同位置</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11</a:t>
            </a:fld>
            <a:endParaRPr lang="en-US" dirty="0"/>
          </a:p>
        </p:txBody>
      </p:sp>
    </p:spTree>
    <p:extLst>
      <p:ext uri="{BB962C8B-B14F-4D97-AF65-F5344CB8AC3E}">
        <p14:creationId xmlns:p14="http://schemas.microsoft.com/office/powerpoint/2010/main" val="2434019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高级编程语言：</a:t>
            </a:r>
          </a:p>
          <a:p>
            <a:r>
              <a:rPr lang="en-US" altLang="zh-CN" dirty="0"/>
              <a:t>Java</a:t>
            </a:r>
            <a:r>
              <a:rPr lang="zh-CN" altLang="en-US" dirty="0"/>
              <a:t>，</a:t>
            </a:r>
            <a:r>
              <a:rPr lang="en-US" altLang="zh-CN" dirty="0"/>
              <a:t>C ++</a:t>
            </a:r>
            <a:r>
              <a:rPr lang="zh-CN" altLang="en-US" dirty="0"/>
              <a:t>和</a:t>
            </a:r>
            <a:r>
              <a:rPr lang="en-US" altLang="zh-CN" dirty="0"/>
              <a:t>Python</a:t>
            </a:r>
          </a:p>
          <a:p>
            <a:r>
              <a:rPr lang="zh-CN" altLang="en-US" dirty="0"/>
              <a:t>优于汇编语言：</a:t>
            </a:r>
          </a:p>
          <a:p>
            <a:r>
              <a:rPr lang="zh-CN" altLang="en-US" dirty="0"/>
              <a:t>更有力</a:t>
            </a:r>
          </a:p>
          <a:p>
            <a:r>
              <a:rPr lang="zh-CN" altLang="en-US" dirty="0"/>
              <a:t>一条高级指令可以提供多条机器指令</a:t>
            </a:r>
          </a:p>
          <a:p>
            <a:r>
              <a:rPr lang="zh-CN" altLang="en-US" dirty="0"/>
              <a:t>面向用户</a:t>
            </a:r>
          </a:p>
          <a:p>
            <a:r>
              <a:rPr lang="zh-CN" altLang="en-US" dirty="0"/>
              <a:t>不是机器专用的</a:t>
            </a:r>
          </a:p>
          <a:p>
            <a:r>
              <a:rPr lang="zh-CN" altLang="en-US" dirty="0"/>
              <a:t>同时使用自然语言和数学符号</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12</a:t>
            </a:fld>
            <a:endParaRPr lang="en-US" dirty="0"/>
          </a:p>
        </p:txBody>
      </p:sp>
    </p:spTree>
    <p:extLst>
      <p:ext uri="{BB962C8B-B14F-4D97-AF65-F5344CB8AC3E}">
        <p14:creationId xmlns:p14="http://schemas.microsoft.com/office/powerpoint/2010/main" val="3391412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13</a:t>
            </a:fld>
            <a:endParaRPr lang="en-US" dirty="0"/>
          </a:p>
        </p:txBody>
      </p:sp>
    </p:spTree>
    <p:extLst>
      <p:ext uri="{BB962C8B-B14F-4D97-AF65-F5344CB8AC3E}">
        <p14:creationId xmlns:p14="http://schemas.microsoft.com/office/powerpoint/2010/main" val="3552245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汇编语言过程：</a:t>
            </a:r>
          </a:p>
          <a:p>
            <a:r>
              <a:rPr lang="zh-CN" altLang="en-US" dirty="0"/>
              <a:t>源程序（汇编语言）</a:t>
            </a:r>
          </a:p>
          <a:p>
            <a:r>
              <a:rPr lang="zh-CN" altLang="en-US" dirty="0"/>
              <a:t>由汇编程序翻译为</a:t>
            </a:r>
          </a:p>
          <a:p>
            <a:r>
              <a:rPr lang="zh-CN" altLang="en-US" dirty="0"/>
              <a:t>目标程序（机器语言）</a:t>
            </a:r>
          </a:p>
          <a:p>
            <a:r>
              <a:rPr lang="zh-CN" altLang="en-US" dirty="0"/>
              <a:t>加载程序放置在内存中</a:t>
            </a:r>
          </a:p>
          <a:p>
            <a:r>
              <a:rPr lang="zh-CN" altLang="en-US" dirty="0"/>
              <a:t>硬件运行</a:t>
            </a:r>
          </a:p>
          <a:p>
            <a:r>
              <a:rPr lang="zh-CN" altLang="en-US" dirty="0"/>
              <a:t>结果</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14</a:t>
            </a:fld>
            <a:endParaRPr lang="en-US" dirty="0"/>
          </a:p>
        </p:txBody>
      </p:sp>
    </p:spTree>
    <p:extLst>
      <p:ext uri="{BB962C8B-B14F-4D97-AF65-F5344CB8AC3E}">
        <p14:creationId xmlns:p14="http://schemas.microsoft.com/office/powerpoint/2010/main" val="639450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汇编语言示例：</a:t>
            </a:r>
          </a:p>
          <a:p>
            <a:r>
              <a:rPr lang="zh-CN" altLang="en-US" dirty="0"/>
              <a:t>下一个步骤：</a:t>
            </a:r>
            <a:r>
              <a:rPr lang="en-US" altLang="zh-CN" dirty="0"/>
              <a:t>LOAD X-</a:t>
            </a:r>
            <a:r>
              <a:rPr lang="zh-CN" altLang="en-US" dirty="0"/>
              <a:t>将</a:t>
            </a:r>
            <a:r>
              <a:rPr lang="en-US" altLang="zh-CN" dirty="0"/>
              <a:t>X</a:t>
            </a:r>
            <a:r>
              <a:rPr lang="zh-CN" altLang="en-US" dirty="0"/>
              <a:t>放入</a:t>
            </a:r>
            <a:r>
              <a:rPr lang="en-US" altLang="zh-CN" dirty="0"/>
              <a:t>reg.</a:t>
            </a:r>
            <a:r>
              <a:rPr lang="zh-CN" altLang="en-US" dirty="0"/>
              <a:t> </a:t>
            </a:r>
            <a:r>
              <a:rPr lang="en-US" altLang="zh-CN" dirty="0"/>
              <a:t>R</a:t>
            </a:r>
          </a:p>
          <a:p>
            <a:r>
              <a:rPr lang="zh-CN" altLang="en-US" dirty="0"/>
              <a:t>标签：操作码助记符（一些操作的简写）      地址字段</a:t>
            </a:r>
            <a:r>
              <a:rPr lang="en-US" altLang="zh-CN" dirty="0"/>
              <a:t>-</a:t>
            </a:r>
            <a:r>
              <a:rPr lang="zh-CN" altLang="en-US" dirty="0"/>
              <a:t>注释</a:t>
            </a:r>
          </a:p>
          <a:p>
            <a:r>
              <a:rPr lang="zh-CN" altLang="en-US" dirty="0"/>
              <a:t>标签是此说明位置的可选名称</a:t>
            </a:r>
          </a:p>
          <a:p>
            <a:r>
              <a:rPr lang="zh-CN" altLang="en-US" dirty="0">
                <a:solidFill>
                  <a:srgbClr val="FF0000"/>
                </a:solidFill>
              </a:rPr>
              <a:t>操作码助记符和地址字段转换为机器语言</a:t>
            </a:r>
          </a:p>
          <a:p>
            <a:r>
              <a:rPr lang="zh-CN" altLang="en-US" dirty="0"/>
              <a:t>汇编程序将忽略注释，仅供人类使用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16</a:t>
            </a:fld>
            <a:endParaRPr lang="en-US" dirty="0"/>
          </a:p>
        </p:txBody>
      </p:sp>
    </p:spTree>
    <p:extLst>
      <p:ext uri="{BB962C8B-B14F-4D97-AF65-F5344CB8AC3E}">
        <p14:creationId xmlns:p14="http://schemas.microsoft.com/office/powerpoint/2010/main" val="15018386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Pseudo-op</a:t>
            </a:r>
            <a:r>
              <a:rPr lang="zh-CN" altLang="en-US" dirty="0"/>
              <a:t>：程序中定向到汇编器的命令，未转换为机器指令：（</a:t>
            </a:r>
            <a:r>
              <a:rPr lang="en-US" altLang="zh-CN" dirty="0"/>
              <a:t>assembler</a:t>
            </a:r>
            <a:r>
              <a:rPr lang="zh-CN" altLang="en-US" dirty="0"/>
              <a:t>不会把这些转成</a:t>
            </a:r>
            <a:r>
              <a:rPr lang="en-US" altLang="zh-CN" dirty="0"/>
              <a:t>machine language</a:t>
            </a:r>
            <a:r>
              <a:rPr lang="zh-CN" altLang="en-US" dirty="0"/>
              <a:t>）</a:t>
            </a:r>
          </a:p>
          <a:p>
            <a:r>
              <a:rPr lang="en-US" altLang="zh-CN" dirty="0"/>
              <a:t>.BEGIN</a:t>
            </a:r>
            <a:r>
              <a:rPr lang="zh-CN" altLang="en-US" dirty="0"/>
              <a:t>和</a:t>
            </a:r>
            <a:r>
              <a:rPr lang="en-US" altLang="zh-CN" dirty="0"/>
              <a:t>.END</a:t>
            </a:r>
            <a:r>
              <a:rPr lang="zh-CN" altLang="en-US" dirty="0"/>
              <a:t>标记指令的位置</a:t>
            </a:r>
          </a:p>
          <a:p>
            <a:r>
              <a:rPr lang="en-US" altLang="zh-CN" dirty="0"/>
              <a:t>.DATA</a:t>
            </a:r>
            <a:r>
              <a:rPr lang="zh-CN" altLang="en-US" dirty="0"/>
              <a:t>将内存位置标记为保存数据：</a:t>
            </a:r>
          </a:p>
          <a:p>
            <a:r>
              <a:rPr lang="zh-CN" altLang="en-US" dirty="0"/>
              <a:t>计数器：</a:t>
            </a:r>
            <a:r>
              <a:rPr lang="en-US" altLang="zh-CN" dirty="0"/>
              <a:t>.DATA 0</a:t>
            </a:r>
          </a:p>
          <a:p>
            <a:r>
              <a:rPr lang="en-US" altLang="zh-CN" dirty="0"/>
              <a:t>X</a:t>
            </a:r>
            <a:r>
              <a:rPr lang="zh-CN" altLang="en-US" dirty="0"/>
              <a:t>：</a:t>
            </a:r>
            <a:r>
              <a:rPr lang="en-US" altLang="zh-CN" dirty="0"/>
              <a:t>.DATA 12</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18</a:t>
            </a:fld>
            <a:endParaRPr lang="en-US" dirty="0"/>
          </a:p>
        </p:txBody>
      </p:sp>
    </p:spTree>
    <p:extLst>
      <p:ext uri="{BB962C8B-B14F-4D97-AF65-F5344CB8AC3E}">
        <p14:creationId xmlns:p14="http://schemas.microsoft.com/office/powerpoint/2010/main" val="3892868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lgn="l">
              <a:buFont typeface="Arial" panose="020B0604020202020204" pitchFamily="34" charset="0"/>
              <a:buNone/>
            </a:pPr>
            <a:r>
              <a:rPr lang="zh-CN" altLang="en-US" dirty="0"/>
              <a:t>翻译和加载</a:t>
            </a:r>
          </a:p>
          <a:p>
            <a:pPr marL="628650" lvl="1" indent="-171450" algn="l">
              <a:buFont typeface="Arial" panose="020B0604020202020204" pitchFamily="34" charset="0"/>
              <a:buChar char="•"/>
            </a:pPr>
            <a:r>
              <a:rPr lang="zh-CN" altLang="en-US" dirty="0"/>
              <a:t>汇编程序：翻译成机器语言：</a:t>
            </a:r>
          </a:p>
          <a:p>
            <a:pPr marL="457200" lvl="1" indent="0" algn="l">
              <a:buFont typeface="Arial" panose="020B0604020202020204" pitchFamily="34" charset="0"/>
              <a:buNone/>
            </a:pPr>
            <a:r>
              <a:rPr lang="zh-CN" altLang="en-US" dirty="0"/>
              <a:t>将符号操作码转换为等效的二进制代码</a:t>
            </a:r>
          </a:p>
          <a:p>
            <a:pPr marL="457200" lvl="1" indent="0" algn="l">
              <a:buFont typeface="Arial" panose="020B0604020202020204" pitchFamily="34" charset="0"/>
              <a:buNone/>
            </a:pPr>
            <a:r>
              <a:rPr lang="zh-CN" altLang="en-US" dirty="0"/>
              <a:t>将符号标签转换为内存地址</a:t>
            </a:r>
          </a:p>
          <a:p>
            <a:pPr marL="457200" lvl="1" indent="0" algn="l">
              <a:buFont typeface="Arial" panose="020B0604020202020204" pitchFamily="34" charset="0"/>
              <a:buNone/>
            </a:pPr>
            <a:r>
              <a:rPr lang="zh-CN" altLang="en-US" dirty="0"/>
              <a:t>执行伪操作</a:t>
            </a:r>
          </a:p>
          <a:p>
            <a:pPr marL="457200" lvl="1" indent="0" algn="l">
              <a:buFont typeface="Arial" panose="020B0604020202020204" pitchFamily="34" charset="0"/>
              <a:buNone/>
            </a:pPr>
            <a:r>
              <a:rPr lang="zh-CN" altLang="en-US" dirty="0"/>
              <a:t>写入包含机器指令的目标文件</a:t>
            </a:r>
          </a:p>
          <a:p>
            <a:pPr marL="628650" lvl="1" indent="-171450" algn="l">
              <a:buFont typeface="Arial" panose="020B0604020202020204" pitchFamily="34" charset="0"/>
              <a:buChar char="•"/>
            </a:pPr>
            <a:r>
              <a:rPr lang="zh-CN" altLang="en-US" dirty="0"/>
              <a:t>加载程序：使程序准备运行：</a:t>
            </a:r>
          </a:p>
          <a:p>
            <a:pPr marL="457200" lvl="1" indent="0" algn="l">
              <a:buFont typeface="Arial" panose="020B0604020202020204" pitchFamily="34" charset="0"/>
              <a:buNone/>
            </a:pPr>
            <a:r>
              <a:rPr lang="zh-CN" altLang="en-US" dirty="0"/>
              <a:t>将指令放置在内存中</a:t>
            </a:r>
          </a:p>
          <a:p>
            <a:pPr marL="457200" lvl="1" indent="0" algn="l">
              <a:buFont typeface="Arial" panose="020B0604020202020204" pitchFamily="34" charset="0"/>
              <a:buNone/>
            </a:pPr>
            <a:r>
              <a:rPr lang="zh-CN" altLang="en-US" dirty="0"/>
              <a:t>触发硬件以运行程序</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23</a:t>
            </a:fld>
            <a:endParaRPr lang="en-US" dirty="0"/>
          </a:p>
        </p:txBody>
      </p:sp>
    </p:spTree>
    <p:extLst>
      <p:ext uri="{BB962C8B-B14F-4D97-AF65-F5344CB8AC3E}">
        <p14:creationId xmlns:p14="http://schemas.microsoft.com/office/powerpoint/2010/main" val="13742691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将符号操作码转换为二进制操作码</a:t>
            </a:r>
          </a:p>
          <a:p>
            <a:r>
              <a:rPr lang="zh-CN" altLang="en-US" dirty="0"/>
              <a:t>汇编器维护表</a:t>
            </a:r>
          </a:p>
          <a:p>
            <a:r>
              <a:rPr lang="zh-CN" altLang="en-US" dirty="0"/>
              <a:t>汇编器在表中查找符号操作码并替换二进制模拟量</a:t>
            </a:r>
          </a:p>
          <a:p>
            <a:r>
              <a:rPr lang="zh-CN" altLang="en-US" dirty="0"/>
              <a:t>使用二进制搜索来优化表查找</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24</a:t>
            </a:fld>
            <a:endParaRPr lang="en-US" dirty="0"/>
          </a:p>
        </p:txBody>
      </p:sp>
    </p:spTree>
    <p:extLst>
      <p:ext uri="{BB962C8B-B14F-4D97-AF65-F5344CB8AC3E}">
        <p14:creationId xmlns:p14="http://schemas.microsoft.com/office/powerpoint/2010/main" val="4005999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25</a:t>
            </a:fld>
            <a:endParaRPr lang="en-US" dirty="0"/>
          </a:p>
        </p:txBody>
      </p:sp>
    </p:spTree>
    <p:extLst>
      <p:ext uri="{BB962C8B-B14F-4D97-AF65-F5344CB8AC3E}">
        <p14:creationId xmlns:p14="http://schemas.microsoft.com/office/powerpoint/2010/main" val="8435489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29</a:t>
            </a:fld>
            <a:endParaRPr lang="en-US" dirty="0"/>
          </a:p>
        </p:txBody>
      </p:sp>
    </p:spTree>
    <p:extLst>
      <p:ext uri="{BB962C8B-B14F-4D97-AF65-F5344CB8AC3E}">
        <p14:creationId xmlns:p14="http://schemas.microsoft.com/office/powerpoint/2010/main" val="26944754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系统命令：有关计算机应该做什么的用户说明</a:t>
            </a:r>
          </a:p>
          <a:p>
            <a:r>
              <a:rPr lang="zh-CN" altLang="en-US" dirty="0"/>
              <a:t>一些典型的操作系统命令</a:t>
            </a:r>
          </a:p>
          <a:p>
            <a:r>
              <a:rPr lang="zh-CN" altLang="en-US" dirty="0"/>
              <a:t>载入程序</a:t>
            </a:r>
          </a:p>
          <a:p>
            <a:r>
              <a:rPr lang="zh-CN" altLang="en-US" dirty="0"/>
              <a:t>运行程序</a:t>
            </a:r>
          </a:p>
          <a:p>
            <a:r>
              <a:rPr lang="zh-CN" altLang="en-US" dirty="0"/>
              <a:t>将信息保存在文件或目录中</a:t>
            </a:r>
          </a:p>
          <a:p>
            <a:r>
              <a:rPr lang="zh-CN" altLang="en-US" dirty="0"/>
              <a:t>检索先前存储的文件</a:t>
            </a:r>
          </a:p>
          <a:p>
            <a:r>
              <a:rPr lang="zh-CN" altLang="en-US" dirty="0"/>
              <a:t>列出该用户的所有文件</a:t>
            </a:r>
          </a:p>
          <a:p>
            <a:r>
              <a:rPr lang="zh-CN" altLang="en-US" dirty="0"/>
              <a:t>删除或重命名文件</a:t>
            </a:r>
          </a:p>
          <a:p>
            <a:r>
              <a:rPr lang="zh-CN" altLang="en-US" dirty="0"/>
              <a:t>在指定的</a:t>
            </a:r>
            <a:r>
              <a:rPr lang="en-US" altLang="zh-CN" dirty="0"/>
              <a:t>I / O</a:t>
            </a:r>
            <a:r>
              <a:rPr lang="zh-CN" altLang="en-US" dirty="0"/>
              <a:t>设备上打印文件</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33</a:t>
            </a:fld>
            <a:endParaRPr lang="en-US" dirty="0"/>
          </a:p>
        </p:txBody>
      </p:sp>
    </p:spTree>
    <p:extLst>
      <p:ext uri="{BB962C8B-B14F-4D97-AF65-F5344CB8AC3E}">
        <p14:creationId xmlns:p14="http://schemas.microsoft.com/office/powerpoint/2010/main" val="26334079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34</a:t>
            </a:fld>
            <a:endParaRPr lang="en-US" dirty="0"/>
          </a:p>
        </p:txBody>
      </p:sp>
    </p:spTree>
    <p:extLst>
      <p:ext uri="{BB962C8B-B14F-4D97-AF65-F5344CB8AC3E}">
        <p14:creationId xmlns:p14="http://schemas.microsoft.com/office/powerpoint/2010/main" val="1163298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操作系统功能</a:t>
            </a:r>
          </a:p>
          <a:p>
            <a:pPr marL="171450" indent="-171450">
              <a:buFont typeface="Arial" panose="020B0604020202020204" pitchFamily="34" charset="0"/>
              <a:buChar char="•"/>
            </a:pPr>
            <a:r>
              <a:rPr lang="zh-CN" altLang="en-US" dirty="0"/>
              <a:t>用户界面：用户与操作系统进行通信</a:t>
            </a:r>
          </a:p>
          <a:p>
            <a:pPr marL="171450" indent="-171450">
              <a:buFont typeface="Arial" panose="020B0604020202020204" pitchFamily="34" charset="0"/>
              <a:buChar char="•"/>
            </a:pPr>
            <a:r>
              <a:rPr lang="zh-CN" altLang="en-US" dirty="0"/>
              <a:t>操作系统作为传达员和调度员</a:t>
            </a:r>
          </a:p>
          <a:p>
            <a:pPr marL="171450" indent="-171450">
              <a:buFont typeface="Arial" panose="020B0604020202020204" pitchFamily="34" charset="0"/>
              <a:buChar char="•"/>
            </a:pPr>
            <a:r>
              <a:rPr lang="zh-CN" altLang="en-US" dirty="0"/>
              <a:t>用户命令</a:t>
            </a:r>
            <a:r>
              <a:rPr lang="en-US" altLang="zh-CN" dirty="0">
                <a:sym typeface="Wingdings" panose="05000000000000000000" pitchFamily="2" charset="2"/>
              </a:rPr>
              <a:t></a:t>
            </a:r>
            <a:r>
              <a:rPr lang="zh-CN" altLang="en-US" dirty="0"/>
              <a:t>系统软件</a:t>
            </a:r>
            <a:r>
              <a:rPr lang="en-US" altLang="zh-CN" dirty="0"/>
              <a:t>scheduled</a:t>
            </a:r>
            <a:r>
              <a:rPr lang="zh-CN" altLang="en-US" dirty="0"/>
              <a:t>计划并运行</a:t>
            </a:r>
            <a:r>
              <a:rPr lang="en-US" altLang="zh-CN" dirty="0">
                <a:sym typeface="Wingdings" panose="05000000000000000000" pitchFamily="2" charset="2"/>
              </a:rPr>
              <a:t></a:t>
            </a:r>
            <a:r>
              <a:rPr lang="zh-CN" altLang="en-US" dirty="0"/>
              <a:t>重复</a:t>
            </a:r>
          </a:p>
          <a:p>
            <a:pPr marL="171450" indent="-171450">
              <a:buFont typeface="Arial" panose="020B0604020202020204" pitchFamily="34" charset="0"/>
              <a:buChar char="•"/>
            </a:pPr>
            <a:r>
              <a:rPr lang="zh-CN" altLang="en-US" dirty="0"/>
              <a:t>基于文字</a:t>
            </a:r>
          </a:p>
          <a:p>
            <a:r>
              <a:rPr lang="en-US" altLang="zh-CN" dirty="0"/>
              <a:t>	</a:t>
            </a:r>
            <a:r>
              <a:rPr lang="zh-CN" altLang="en-US" dirty="0"/>
              <a:t>在终端提示符下键入的系统命令</a:t>
            </a:r>
          </a:p>
          <a:p>
            <a:r>
              <a:rPr lang="en-US" altLang="zh-CN" dirty="0"/>
              <a:t>	</a:t>
            </a:r>
            <a:r>
              <a:rPr lang="zh-CN" altLang="en-US" dirty="0"/>
              <a:t>必须学习命令语言</a:t>
            </a:r>
          </a:p>
          <a:p>
            <a:pPr marL="171450" indent="-171450">
              <a:buFont typeface="Arial" panose="020B0604020202020204" pitchFamily="34" charset="0"/>
              <a:buChar char="•"/>
            </a:pPr>
            <a:r>
              <a:rPr lang="zh-CN" altLang="en-US" dirty="0"/>
              <a:t>基于</a:t>
            </a:r>
            <a:r>
              <a:rPr lang="en-US" altLang="zh-CN" dirty="0"/>
              <a:t>GUI</a:t>
            </a:r>
          </a:p>
          <a:p>
            <a:r>
              <a:rPr lang="zh-CN" altLang="en-US" dirty="0"/>
              <a:t>可视</a:t>
            </a:r>
            <a:r>
              <a:rPr lang="en-US" altLang="zh-CN" dirty="0"/>
              <a:t>/</a:t>
            </a:r>
            <a:r>
              <a:rPr lang="zh-CN" altLang="en-US" dirty="0"/>
              <a:t>鼠标界面的系统命令</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35</a:t>
            </a:fld>
            <a:endParaRPr lang="en-US" dirty="0"/>
          </a:p>
        </p:txBody>
      </p:sp>
    </p:spTree>
    <p:extLst>
      <p:ext uri="{BB962C8B-B14F-4D97-AF65-F5344CB8AC3E}">
        <p14:creationId xmlns:p14="http://schemas.microsoft.com/office/powerpoint/2010/main" val="28196173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系统安全性和保护：仅允许授权访问资源</a:t>
            </a:r>
          </a:p>
          <a:p>
            <a:r>
              <a:rPr lang="zh-CN" altLang="en-US" dirty="0"/>
              <a:t>操作系统作为安全卫士</a:t>
            </a:r>
          </a:p>
          <a:p>
            <a:r>
              <a:rPr lang="zh-CN" altLang="en-US" dirty="0"/>
              <a:t>用户名和密码保护的访问：</a:t>
            </a:r>
          </a:p>
          <a:p>
            <a:r>
              <a:rPr lang="en-US" altLang="zh-CN" dirty="0"/>
              <a:t>	</a:t>
            </a:r>
            <a:r>
              <a:rPr lang="zh-CN" altLang="en-US" dirty="0"/>
              <a:t>超级用户拥有更多特权</a:t>
            </a:r>
          </a:p>
          <a:p>
            <a:r>
              <a:rPr lang="en-US" altLang="zh-CN" dirty="0"/>
              <a:t>	</a:t>
            </a:r>
            <a:r>
              <a:rPr lang="zh-CN" altLang="en-US" dirty="0"/>
              <a:t>加密数据以提高安全性</a:t>
            </a:r>
          </a:p>
          <a:p>
            <a:r>
              <a:rPr lang="zh-CN" altLang="en-US" dirty="0"/>
              <a:t>文件夹和文件具有授权列表：</a:t>
            </a:r>
          </a:p>
          <a:p>
            <a:r>
              <a:rPr lang="zh-CN" altLang="en-US" dirty="0"/>
              <a:t>读取文件，向文件添加新信息，更改现有信息以及删除文件</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37</a:t>
            </a:fld>
            <a:endParaRPr lang="en-US" dirty="0"/>
          </a:p>
        </p:txBody>
      </p:sp>
    </p:spTree>
    <p:extLst>
      <p:ext uri="{BB962C8B-B14F-4D97-AF65-F5344CB8AC3E}">
        <p14:creationId xmlns:p14="http://schemas.microsoft.com/office/powerpoint/2010/main" val="23687245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用户界面管理（接待员</a:t>
            </a:r>
            <a:r>
              <a:rPr lang="en-US" altLang="zh-CN" dirty="0"/>
              <a:t>/</a:t>
            </a:r>
            <a:r>
              <a:rPr lang="zh-CN" altLang="en-US" dirty="0"/>
              <a:t>传达员）</a:t>
            </a:r>
          </a:p>
          <a:p>
            <a:r>
              <a:rPr lang="zh-CN" altLang="en-US" dirty="0"/>
              <a:t>控制对系统和数据文件的访问（安全防护）</a:t>
            </a:r>
          </a:p>
          <a:p>
            <a:r>
              <a:rPr lang="zh-CN" altLang="en-US" dirty="0"/>
              <a:t>程序调度激活（调度程序）</a:t>
            </a:r>
          </a:p>
          <a:p>
            <a:r>
              <a:rPr lang="zh-CN" altLang="en-US" dirty="0"/>
              <a:t>高效的资源分配（效率专家）</a:t>
            </a:r>
          </a:p>
          <a:p>
            <a:r>
              <a:rPr lang="zh-CN" altLang="en-US" dirty="0"/>
              <a:t>死锁和错误检测（交通官员）</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39</a:t>
            </a:fld>
            <a:endParaRPr lang="en-US" dirty="0"/>
          </a:p>
        </p:txBody>
      </p:sp>
    </p:spTree>
    <p:extLst>
      <p:ext uri="{BB962C8B-B14F-4D97-AF65-F5344CB8AC3E}">
        <p14:creationId xmlns:p14="http://schemas.microsoft.com/office/powerpoint/2010/main" val="30657591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40</a:t>
            </a:fld>
            <a:endParaRPr lang="en-US" dirty="0"/>
          </a:p>
        </p:txBody>
      </p:sp>
    </p:spTree>
    <p:extLst>
      <p:ext uri="{BB962C8B-B14F-4D97-AF65-F5344CB8AC3E}">
        <p14:creationId xmlns:p14="http://schemas.microsoft.com/office/powerpoint/2010/main" val="39736968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当多个程序正在请求每个程序当前正在使用的资源时，将发生死锁</a:t>
            </a:r>
          </a:p>
          <a:p>
            <a:r>
              <a:rPr lang="zh-CN" altLang="en-US" dirty="0"/>
              <a:t>安全使用资源：确保计算机不会陷入僵局</a:t>
            </a:r>
          </a:p>
          <a:p>
            <a:r>
              <a:rPr lang="zh-CN" altLang="en-US" dirty="0"/>
              <a:t>防止死锁：如果无法获得所有资源，请释放所有资源，然后重试</a:t>
            </a:r>
          </a:p>
          <a:p>
            <a:r>
              <a:rPr lang="zh-CN" altLang="en-US" dirty="0"/>
              <a:t>死锁恢复：如果没有确认，请再次发送消息</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44</a:t>
            </a:fld>
            <a:endParaRPr lang="en-US" dirty="0"/>
          </a:p>
        </p:txBody>
      </p:sp>
    </p:spTree>
    <p:extLst>
      <p:ext uri="{BB962C8B-B14F-4D97-AF65-F5344CB8AC3E}">
        <p14:creationId xmlns:p14="http://schemas.microsoft.com/office/powerpoint/2010/main" val="26388036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操作系统的历史发展：</a:t>
            </a:r>
          </a:p>
          <a:p>
            <a:r>
              <a:rPr lang="zh-CN" altLang="en-US" dirty="0"/>
              <a:t>第一代：近乎“裸机”：</a:t>
            </a:r>
          </a:p>
          <a:p>
            <a:r>
              <a:rPr lang="zh-CN" altLang="en-US" dirty="0"/>
              <a:t>程序员手动加载的程序</a:t>
            </a:r>
          </a:p>
          <a:p>
            <a:r>
              <a:rPr lang="zh-CN" altLang="en-US" dirty="0"/>
              <a:t>第二代：批处理操作系统：</a:t>
            </a:r>
          </a:p>
          <a:p>
            <a:r>
              <a:rPr lang="zh-CN" altLang="en-US" dirty="0"/>
              <a:t>程序员向操作器提供程序</a:t>
            </a:r>
          </a:p>
          <a:p>
            <a:r>
              <a:rPr lang="zh-CN" altLang="en-US" dirty="0"/>
              <a:t>操作器收集了一批“程序”</a:t>
            </a:r>
          </a:p>
          <a:p>
            <a:r>
              <a:rPr lang="en-US" altLang="zh-CN" dirty="0"/>
              <a:t>	</a:t>
            </a:r>
            <a:r>
              <a:rPr lang="zh-CN" altLang="en-US" dirty="0"/>
              <a:t>使用</a:t>
            </a:r>
            <a:r>
              <a:rPr lang="en-US" altLang="zh-CN" dirty="0"/>
              <a:t>I / O</a:t>
            </a:r>
            <a:r>
              <a:rPr lang="zh-CN" altLang="en-US" dirty="0"/>
              <a:t>计算机将程序转换为磁带</a:t>
            </a:r>
          </a:p>
          <a:p>
            <a:r>
              <a:rPr lang="en-US" altLang="zh-CN" dirty="0"/>
              <a:t>	</a:t>
            </a:r>
            <a:r>
              <a:rPr lang="zh-CN" altLang="en-US" dirty="0"/>
              <a:t>小组运行程序</a:t>
            </a:r>
          </a:p>
          <a:p>
            <a:r>
              <a:rPr lang="en-US" altLang="zh-CN" dirty="0"/>
              <a:t>	</a:t>
            </a:r>
            <a:r>
              <a:rPr lang="zh-CN" altLang="en-US" dirty="0"/>
              <a:t>使用</a:t>
            </a:r>
            <a:r>
              <a:rPr lang="en-US" altLang="zh-CN" dirty="0"/>
              <a:t>I / O</a:t>
            </a:r>
            <a:r>
              <a:rPr lang="zh-CN" altLang="en-US" dirty="0"/>
              <a:t>计算机将输出转换为文本</a:t>
            </a:r>
            <a:r>
              <a:rPr lang="en-US" altLang="zh-CN" dirty="0"/>
              <a:t>/</a:t>
            </a:r>
            <a:r>
              <a:rPr lang="zh-CN" altLang="en-US" dirty="0"/>
              <a:t>纸张</a:t>
            </a:r>
          </a:p>
          <a:p>
            <a:r>
              <a:rPr lang="zh-CN" altLang="en-US" dirty="0"/>
              <a:t>作业控制语言：</a:t>
            </a:r>
            <a:r>
              <a:rPr lang="en-US" altLang="zh-CN" dirty="0"/>
              <a:t>OS</a:t>
            </a:r>
            <a:r>
              <a:rPr lang="zh-CN" altLang="en-US" dirty="0"/>
              <a:t>指令</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45</a:t>
            </a:fld>
            <a:endParaRPr lang="en-US" dirty="0"/>
          </a:p>
        </p:txBody>
      </p:sp>
    </p:spTree>
    <p:extLst>
      <p:ext uri="{BB962C8B-B14F-4D97-AF65-F5344CB8AC3E}">
        <p14:creationId xmlns:p14="http://schemas.microsoft.com/office/powerpoint/2010/main" val="11915284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第三代：多程序操作系统：</a:t>
            </a:r>
          </a:p>
          <a:p>
            <a:r>
              <a:rPr lang="zh-CN" altLang="en-US" dirty="0"/>
              <a:t>一次加载多个程序</a:t>
            </a:r>
          </a:p>
          <a:p>
            <a:r>
              <a:rPr lang="zh-CN" altLang="en-US" dirty="0"/>
              <a:t>发生</a:t>
            </a:r>
            <a:r>
              <a:rPr lang="en-US" altLang="zh-CN" dirty="0"/>
              <a:t>I / O</a:t>
            </a:r>
            <a:r>
              <a:rPr lang="zh-CN" altLang="en-US" dirty="0"/>
              <a:t>时在程序之间切换</a:t>
            </a:r>
          </a:p>
          <a:p>
            <a:r>
              <a:rPr lang="zh-CN" altLang="en-US" dirty="0"/>
              <a:t>现在需要计算机安全！</a:t>
            </a:r>
          </a:p>
          <a:p>
            <a:r>
              <a:rPr lang="zh-CN" altLang="en-US" dirty="0"/>
              <a:t>特权操作仅对管理员可用</a:t>
            </a:r>
          </a:p>
          <a:p>
            <a:r>
              <a:rPr lang="zh-CN" altLang="en-US" dirty="0"/>
              <a:t>程序可以合法访问的绑定内存</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48</a:t>
            </a:fld>
            <a:endParaRPr lang="en-US" dirty="0"/>
          </a:p>
        </p:txBody>
      </p:sp>
    </p:spTree>
    <p:extLst>
      <p:ext uri="{BB962C8B-B14F-4D97-AF65-F5344CB8AC3E}">
        <p14:creationId xmlns:p14="http://schemas.microsoft.com/office/powerpoint/2010/main" val="37122449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分时系统（也是第三代）：</a:t>
            </a:r>
          </a:p>
          <a:p>
            <a:r>
              <a:rPr lang="zh-CN" altLang="en-US" dirty="0"/>
              <a:t>多程序，但用户以交互方式在系统上</a:t>
            </a:r>
          </a:p>
          <a:p>
            <a:r>
              <a:rPr lang="zh-CN" altLang="en-US" dirty="0"/>
              <a:t>用户需要唯一访问权的错觉</a:t>
            </a:r>
          </a:p>
          <a:p>
            <a:r>
              <a:rPr lang="zh-CN" altLang="en-US" dirty="0"/>
              <a:t>在时间片中分配运行时间</a:t>
            </a:r>
            <a:r>
              <a:rPr lang="en-US" altLang="zh-CN" dirty="0"/>
              <a:t>-</a:t>
            </a:r>
            <a:r>
              <a:rPr lang="zh-CN" altLang="en-US" dirty="0"/>
              <a:t>每个程序运行直到</a:t>
            </a:r>
            <a:r>
              <a:rPr lang="en-US" altLang="zh-CN" dirty="0"/>
              <a:t>I / O </a:t>
            </a:r>
            <a:r>
              <a:rPr lang="zh-CN" altLang="en-US" dirty="0"/>
              <a:t>或者时间用完</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49</a:t>
            </a:fld>
            <a:endParaRPr lang="en-US" dirty="0"/>
          </a:p>
        </p:txBody>
      </p:sp>
    </p:spTree>
    <p:extLst>
      <p:ext uri="{BB962C8B-B14F-4D97-AF65-F5344CB8AC3E}">
        <p14:creationId xmlns:p14="http://schemas.microsoft.com/office/powerpoint/2010/main" val="40654122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第四代：网络操作系统：</a:t>
            </a:r>
          </a:p>
          <a:p>
            <a:r>
              <a:rPr lang="zh-CN" altLang="en-US" dirty="0"/>
              <a:t>操作系统支持所有相同的本地服务</a:t>
            </a:r>
          </a:p>
          <a:p>
            <a:r>
              <a:rPr lang="zh-CN" altLang="en-US" dirty="0"/>
              <a:t>还支持访问网络上可用资源的服务：</a:t>
            </a:r>
          </a:p>
          <a:p>
            <a:r>
              <a:rPr lang="en-US" altLang="zh-CN" dirty="0"/>
              <a:t>	</a:t>
            </a:r>
            <a:r>
              <a:rPr lang="zh-CN" altLang="en-US" dirty="0"/>
              <a:t>共享打印机</a:t>
            </a:r>
          </a:p>
          <a:p>
            <a:r>
              <a:rPr lang="en-US" altLang="zh-CN" dirty="0"/>
              <a:t>	</a:t>
            </a:r>
            <a:r>
              <a:rPr lang="zh-CN" altLang="en-US" dirty="0"/>
              <a:t>服务器：电子邮件，数据，</a:t>
            </a:r>
            <a:r>
              <a:rPr lang="en-US" altLang="zh-CN" dirty="0"/>
              <a:t>Web</a:t>
            </a:r>
          </a:p>
          <a:p>
            <a:r>
              <a:rPr lang="en-US" altLang="zh-CN" dirty="0"/>
              <a:t>	</a:t>
            </a:r>
            <a:r>
              <a:rPr lang="zh-CN" altLang="en-US" dirty="0"/>
              <a:t>互联网连接</a:t>
            </a:r>
          </a:p>
          <a:p>
            <a:r>
              <a:rPr lang="zh-CN" altLang="en-US" dirty="0"/>
              <a:t>实时操作系统或嵌入式系统是其他设备中的专用计算机</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51</a:t>
            </a:fld>
            <a:endParaRPr lang="en-US" dirty="0"/>
          </a:p>
        </p:txBody>
      </p:sp>
    </p:spTree>
    <p:extLst>
      <p:ext uri="{BB962C8B-B14F-4D97-AF65-F5344CB8AC3E}">
        <p14:creationId xmlns:p14="http://schemas.microsoft.com/office/powerpoint/2010/main" val="10207280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第五代，不久的将来：</a:t>
            </a:r>
          </a:p>
          <a:p>
            <a:r>
              <a:rPr lang="zh-CN" altLang="en-US" dirty="0"/>
              <a:t>多媒体接口（无缝集成图像，语音和视频）</a:t>
            </a:r>
          </a:p>
          <a:p>
            <a:r>
              <a:rPr lang="zh-CN" altLang="en-US" dirty="0"/>
              <a:t>并行处理系统，用于执行多媒体并允许更大规模的任务</a:t>
            </a:r>
          </a:p>
          <a:p>
            <a:r>
              <a:rPr lang="zh-CN" altLang="en-US" dirty="0"/>
              <a:t>用户不知道资源存储在哪里的分布式计算环境</a:t>
            </a:r>
          </a:p>
          <a:p>
            <a:r>
              <a:rPr lang="zh-CN" altLang="en-US" dirty="0"/>
              <a:t>云计算</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54</a:t>
            </a:fld>
            <a:endParaRPr lang="en-US" dirty="0"/>
          </a:p>
        </p:txBody>
      </p:sp>
    </p:spTree>
    <p:extLst>
      <p:ext uri="{BB962C8B-B14F-4D97-AF65-F5344CB8AC3E}">
        <p14:creationId xmlns:p14="http://schemas.microsoft.com/office/powerpoint/2010/main" val="34342954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系统软件创建了一个易于用户使用的虚拟环境。</a:t>
            </a:r>
          </a:p>
          <a:p>
            <a:r>
              <a:rPr lang="zh-CN" altLang="en-US" dirty="0"/>
              <a:t>汇编程序和装载程序是系统软件：将人类友好的程序转换为机器语言。</a:t>
            </a:r>
          </a:p>
          <a:p>
            <a:r>
              <a:rPr lang="zh-CN" altLang="en-US" dirty="0"/>
              <a:t>汇编语言使用符号名称，符号操作码和伪操作来描述算法。</a:t>
            </a:r>
          </a:p>
          <a:p>
            <a:r>
              <a:rPr lang="zh-CN" altLang="en-US" dirty="0"/>
              <a:t>汇编程序将源程序转换为目标文件； 加载程序将对象指令放置在内存中。</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57</a:t>
            </a:fld>
            <a:endParaRPr lang="en-US" dirty="0"/>
          </a:p>
        </p:txBody>
      </p:sp>
    </p:spTree>
    <p:extLst>
      <p:ext uri="{BB962C8B-B14F-4D97-AF65-F5344CB8AC3E}">
        <p14:creationId xmlns:p14="http://schemas.microsoft.com/office/powerpoint/2010/main" val="3736242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操作系统通过文本或</a:t>
            </a:r>
            <a:r>
              <a:rPr lang="en-US" altLang="zh-CN" dirty="0"/>
              <a:t>GUI</a:t>
            </a:r>
            <a:r>
              <a:rPr lang="zh-CN" altLang="en-US" dirty="0"/>
              <a:t>操作与用户通信</a:t>
            </a:r>
          </a:p>
          <a:p>
            <a:r>
              <a:rPr lang="zh-CN" altLang="en-US" dirty="0"/>
              <a:t>操作系统包括关键任务，例如用户界面，系统安全性，程序调度和系统安全性</a:t>
            </a:r>
          </a:p>
          <a:p>
            <a:r>
              <a:rPr lang="zh-CN" altLang="en-US" dirty="0"/>
              <a:t>通过四代改进而开发的操作系统，每一代都增加了新功能并提高了效率</a:t>
            </a:r>
          </a:p>
          <a:p>
            <a:r>
              <a:rPr lang="zh-CN" altLang="en-US" dirty="0"/>
              <a:t>未来的操作系统：并行，分布式和多媒体，资源远程存储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58</a:t>
            </a:fld>
            <a:endParaRPr lang="en-US" dirty="0"/>
          </a:p>
        </p:txBody>
      </p:sp>
    </p:spTree>
    <p:extLst>
      <p:ext uri="{BB962C8B-B14F-4D97-AF65-F5344CB8AC3E}">
        <p14:creationId xmlns:p14="http://schemas.microsoft.com/office/powerpoint/2010/main" val="27038578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ctr" anchorCtr="0">
            <a:normAutofit/>
          </a:bodyPr>
          <a:lstStyle>
            <a:lvl1pPr algn="ctr">
              <a:lnSpc>
                <a:spcPct val="100000"/>
              </a:lnSpc>
              <a:defRPr sz="3600" b="0"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4894898"/>
          </a:xfrm>
        </p:spPr>
        <p:txBody>
          <a:bodyPr/>
          <a:lstStyle>
            <a:lvl1pPr marL="457200" indent="-457200">
              <a:buClr>
                <a:srgbClr val="34B14B"/>
              </a:buClr>
              <a:defRPr sz="2600" b="0" i="0">
                <a:latin typeface="Arial"/>
                <a:cs typeface="Arial"/>
              </a:defRPr>
            </a:lvl1pPr>
            <a:lvl2pPr marL="914400" indent="-457200">
              <a:buClr>
                <a:srgbClr val="34B14B"/>
              </a:buClr>
              <a:defRPr sz="2400" b="0" i="0">
                <a:latin typeface="Arial"/>
                <a:cs typeface="Arial"/>
              </a:defRPr>
            </a:lvl2pPr>
            <a:lvl3pPr marL="1371600" indent="-457200">
              <a:buClr>
                <a:srgbClr val="34B14B"/>
              </a:buClr>
              <a:buFont typeface="Wingdings" panose="05000000000000000000" pitchFamily="2" charset="2"/>
              <a:buChar char="§"/>
              <a:defRPr sz="2200" b="0" i="0">
                <a:latin typeface="Arial"/>
                <a:cs typeface="Arial"/>
              </a:defRPr>
            </a:lvl3pPr>
            <a:lvl4pPr marL="1828800" indent="-457200">
              <a:buClr>
                <a:srgbClr val="34B14B"/>
              </a:buClr>
              <a:buFont typeface="Courier New" panose="02070309020205020404" pitchFamily="49" charset="0"/>
              <a:buChar char="o"/>
              <a:defRPr b="0" i="0">
                <a:latin typeface="Arial"/>
                <a:cs typeface="Arial"/>
              </a:defRPr>
            </a:lvl4pPr>
            <a:lvl5pPr marL="2286000" indent="-457200">
              <a:buClr>
                <a:srgbClr val="34B14B"/>
              </a:buClr>
              <a:defRPr sz="180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 name="Picture 2"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Content Placeholder 2"/>
          <p:cNvSpPr>
            <a:spLocks noGrp="1"/>
          </p:cNvSpPr>
          <p:nvPr>
            <p:ph sz="half" idx="1"/>
          </p:nvPr>
        </p:nvSpPr>
        <p:spPr>
          <a:xfrm>
            <a:off x="457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4648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9144000" cy="1060704"/>
          </a:xfrm>
          <a:ln>
            <a:noFill/>
          </a:ln>
        </p:spPr>
        <p:txBody>
          <a:bodyPr anchor="t" anchorCtr="0">
            <a:normAutofit/>
          </a:bodyPr>
          <a:lstStyle>
            <a:lvl1pPr algn="l">
              <a:lnSpc>
                <a:spcPct val="100000"/>
              </a:lnSpc>
              <a:defRPr sz="2500"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3020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
        <p:nvSpPr>
          <p:cNvPr id="7" name="Text Placeholder 5"/>
          <p:cNvSpPr>
            <a:spLocks noGrp="1"/>
          </p:cNvSpPr>
          <p:nvPr>
            <p:ph type="body" sz="quarter" idx="13"/>
          </p:nvPr>
        </p:nvSpPr>
        <p:spPr>
          <a:xfrm>
            <a:off x="2833433" y="6313295"/>
            <a:ext cx="3477134" cy="379413"/>
          </a:xfrm>
        </p:spPr>
        <p:txBody>
          <a:bodyPr/>
          <a:lstStyle>
            <a:lvl1pPr marL="0" indent="0" algn="ctr">
              <a:buNone/>
              <a:defRPr sz="1800" b="1">
                <a:solidFill>
                  <a:schemeClr val="bg1"/>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234726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012840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7"/>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535117"/>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9683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93399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85670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44823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90"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90" y="5367342"/>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4331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380909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2"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51803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498605" y="248195"/>
            <a:ext cx="4645395"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1803081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16"/>
          <p:cNvSpPr>
            <a:spLocks noGrp="1"/>
          </p:cNvSpPr>
          <p:nvPr>
            <p:ph type="subTitle" idx="1"/>
          </p:nvPr>
        </p:nvSpPr>
        <p:spPr>
          <a:xfrm>
            <a:off x="5333910" y="3175925"/>
            <a:ext cx="3709317" cy="2992645"/>
          </a:xfrm>
        </p:spPr>
        <p:txBody>
          <a:bodyPr/>
          <a:lstStyle/>
          <a:p>
            <a:pPr lvl="1">
              <a:lnSpc>
                <a:spcPct val="90000"/>
              </a:lnSpc>
              <a:spcBef>
                <a:spcPts val="1000"/>
              </a:spcBef>
              <a:buClr>
                <a:srgbClr val="FFFFFF"/>
              </a:buClr>
              <a:buSzPct val="1000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lang="en-US" sz="3600" dirty="0">
                <a:solidFill>
                  <a:schemeClr val="tx1"/>
                </a:solidFill>
                <a:latin typeface="Arial" panose="020B0604020202020204" pitchFamily="34" charset="0"/>
                <a:cs typeface="Arial" panose="020B0604020202020204" pitchFamily="34" charset="0"/>
              </a:rPr>
              <a:t>An Introduction to System Software and Virtual Machines</a:t>
            </a:r>
          </a:p>
        </p:txBody>
      </p:sp>
      <p:sp>
        <p:nvSpPr>
          <p:cNvPr id="2" name="Title 1"/>
          <p:cNvSpPr>
            <a:spLocks noGrp="1"/>
          </p:cNvSpPr>
          <p:nvPr>
            <p:ph type="title"/>
          </p:nvPr>
        </p:nvSpPr>
        <p:spPr>
          <a:xfrm>
            <a:off x="5665944" y="1528356"/>
            <a:ext cx="3172867" cy="1143000"/>
          </a:xfrm>
        </p:spPr>
        <p:txBody>
          <a:bodyPr>
            <a:normAutofit/>
          </a:bodyPr>
          <a:lstStyle/>
          <a:p>
            <a:r>
              <a:rPr lang="en-US" sz="4000" dirty="0">
                <a:latin typeface="Arial" panose="020B0604020202020204" pitchFamily="34" charset="0"/>
                <a:cs typeface="Arial" panose="020B0604020202020204" pitchFamily="34" charset="0"/>
              </a:rPr>
              <a:t>Chapter 6</a:t>
            </a:r>
            <a:endParaRPr lang="en-US" sz="4000" dirty="0"/>
          </a:p>
        </p:txBody>
      </p:sp>
    </p:spTree>
    <p:extLst>
      <p:ext uri="{BB962C8B-B14F-4D97-AF65-F5344CB8AC3E}">
        <p14:creationId xmlns:p14="http://schemas.microsoft.com/office/powerpoint/2010/main" val="2834847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Learning Objectives</a:t>
            </a:r>
            <a:endParaRPr lang="en-US"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164695" y="1258429"/>
            <a:ext cx="8855317" cy="4878898"/>
          </a:xfrm>
        </p:spPr>
        <p:txBody>
          <a:bodyPr>
            <a:noAutofit/>
          </a:bodyPr>
          <a:lstStyle/>
          <a:p>
            <a:r>
              <a:rPr lang="en-US" altLang="en-US" sz="2400" dirty="0">
                <a:latin typeface="Arial" panose="020B0604020202020204" pitchFamily="34" charset="0"/>
                <a:ea typeface="ＭＳ Ｐゴシック" panose="020B0600070205080204" pitchFamily="34" charset="-128"/>
                <a:cs typeface="Arial" panose="020B0604020202020204" pitchFamily="34" charset="0"/>
              </a:rPr>
              <a:t>Compare the virtual machine created for the user by system software with the naked machine </a:t>
            </a:r>
          </a:p>
          <a:p>
            <a:r>
              <a:rPr lang="en-US" altLang="en-US" sz="2400" dirty="0">
                <a:latin typeface="Arial" panose="020B0604020202020204" pitchFamily="34" charset="0"/>
                <a:ea typeface="ＭＳ Ｐゴシック" panose="020B0600070205080204" pitchFamily="34" charset="-128"/>
                <a:cs typeface="Arial" panose="020B0604020202020204" pitchFamily="34" charset="0"/>
              </a:rPr>
              <a:t>Describe the different types of system software </a:t>
            </a:r>
          </a:p>
          <a:p>
            <a:r>
              <a:rPr lang="en-US" altLang="en-US" sz="2400" dirty="0">
                <a:latin typeface="Arial" panose="020B0604020202020204" pitchFamily="34" charset="0"/>
                <a:ea typeface="ＭＳ Ｐゴシック" panose="020B0600070205080204" pitchFamily="34" charset="-128"/>
                <a:cs typeface="Arial" panose="020B0604020202020204" pitchFamily="34" charset="0"/>
              </a:rPr>
              <a:t>Explain the benefits of writing programs in assembly language rather than machine language </a:t>
            </a:r>
          </a:p>
          <a:p>
            <a:r>
              <a:rPr lang="en-US" altLang="en-US" sz="2400" dirty="0">
                <a:latin typeface="Arial" panose="020B0604020202020204" pitchFamily="34" charset="0"/>
                <a:ea typeface="ＭＳ Ｐゴシック" panose="020B0600070205080204" pitchFamily="34" charset="-128"/>
                <a:cs typeface="Arial" panose="020B0604020202020204" pitchFamily="34" charset="0"/>
              </a:rPr>
              <a:t>Describe how an assembler translates assembly language programs into machine instructions </a:t>
            </a:r>
          </a:p>
          <a:p>
            <a:r>
              <a:rPr lang="en-US" altLang="en-US" sz="2400" dirty="0">
                <a:latin typeface="Arial" panose="020B0604020202020204" pitchFamily="34" charset="0"/>
                <a:ea typeface="ＭＳ Ｐゴシック" panose="020B0600070205080204" pitchFamily="34" charset="-128"/>
                <a:cs typeface="Arial" panose="020B0604020202020204" pitchFamily="34" charset="0"/>
              </a:rPr>
              <a:t>List five key tasks of an operating system, and explain what each is and why it is </a:t>
            </a:r>
            <a:r>
              <a:rPr lang="en-US" altLang="en-US" sz="24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critical to </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modern systems </a:t>
            </a:r>
          </a:p>
          <a:p>
            <a:r>
              <a:rPr lang="en-US" altLang="en-US" sz="2400" dirty="0">
                <a:latin typeface="Arial" panose="020B0604020202020204" pitchFamily="34" charset="0"/>
                <a:ea typeface="ＭＳ Ｐゴシック" panose="020B0600070205080204" pitchFamily="34" charset="-128"/>
                <a:cs typeface="Arial" panose="020B0604020202020204" pitchFamily="34" charset="0"/>
              </a:rPr>
              <a:t>Describe the different generations of operating systems, their features, and how each generation solved a drawback of the previous generation</a:t>
            </a:r>
          </a:p>
        </p:txBody>
      </p:sp>
      <p:sp>
        <p:nvSpPr>
          <p:cNvPr id="2" name="TextBox 1">
            <a:extLst>
              <a:ext uri="{FF2B5EF4-FFF2-40B4-BE49-F238E27FC236}">
                <a16:creationId xmlns:a16="http://schemas.microsoft.com/office/drawing/2014/main" id="{AF81FA87-7906-45FF-838E-630E782449AC}"/>
              </a:ext>
            </a:extLst>
          </p:cNvPr>
          <p:cNvSpPr txBox="1"/>
          <p:nvPr/>
        </p:nvSpPr>
        <p:spPr>
          <a:xfrm>
            <a:off x="3272009" y="4770304"/>
            <a:ext cx="2247441" cy="369332"/>
          </a:xfrm>
          <a:prstGeom prst="rect">
            <a:avLst/>
          </a:prstGeom>
          <a:noFill/>
        </p:spPr>
        <p:txBody>
          <a:bodyPr wrap="square" rtlCol="0">
            <a:spAutoFit/>
          </a:bodyPr>
          <a:lstStyle/>
          <a:p>
            <a:r>
              <a:rPr lang="zh-CN" altLang="en-US" dirty="0">
                <a:solidFill>
                  <a:srgbClr val="FF0000"/>
                </a:solidFill>
              </a:rPr>
              <a:t>对</a:t>
            </a:r>
            <a:r>
              <a:rPr lang="en-US" altLang="zh-CN" dirty="0">
                <a:solidFill>
                  <a:srgbClr val="FF0000"/>
                </a:solidFill>
              </a:rPr>
              <a:t>…</a:t>
            </a:r>
            <a:r>
              <a:rPr lang="zh-CN" altLang="en-US" dirty="0">
                <a:solidFill>
                  <a:srgbClr val="FF0000"/>
                </a:solidFill>
              </a:rPr>
              <a:t>至关重要</a:t>
            </a:r>
            <a:endParaRPr lang="en-US" dirty="0">
              <a:solidFill>
                <a:srgbClr val="FF0000"/>
              </a:solidFill>
            </a:endParaRPr>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 Introduction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 </a:t>
            </a:r>
            <a:r>
              <a:rPr lang="en-US" altLang="en-US" b="1" dirty="0">
                <a:latin typeface="Arial" panose="020B0604020202020204" pitchFamily="34" charset="0"/>
                <a:ea typeface="ＭＳ Ｐゴシック" panose="020B0600070205080204" pitchFamily="34" charset="-128"/>
                <a:cs typeface="Arial" panose="020B0604020202020204" pitchFamily="34" charset="0"/>
              </a:rPr>
              <a:t>naked machine</a:t>
            </a:r>
            <a:r>
              <a:rPr lang="en-US" altLang="en-US" dirty="0">
                <a:latin typeface="Arial" panose="020B0604020202020204" pitchFamily="34" charset="0"/>
                <a:ea typeface="ＭＳ Ｐゴシック" panose="020B0600070205080204" pitchFamily="34" charset="-128"/>
                <a:cs typeface="Arial" panose="020B0604020202020204" pitchFamily="34" charset="0"/>
              </a:rPr>
              <a:t> has no tools or programs to help the user:</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Write instructions in binary</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Write data in binary</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Load instructions into memory one cell at a time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Initiate program run</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Quickly became too difficult for humans to do</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An interface had to be developed to hide the details and make the computer easier to build</a:t>
            </a:r>
          </a:p>
        </p:txBody>
      </p:sp>
    </p:spTree>
    <p:extLst>
      <p:ext uri="{BB962C8B-B14F-4D97-AF65-F5344CB8AC3E}">
        <p14:creationId xmlns:p14="http://schemas.microsoft.com/office/powerpoint/2010/main" val="592559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 System Software (1 of 7)</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3" y="1231266"/>
            <a:ext cx="8229600" cy="2288682"/>
          </a:xfrm>
        </p:spPr>
        <p:txBody>
          <a:bodyPr/>
          <a:lstStyle/>
          <a:p>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System software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is a collection of programs to:</a:t>
            </a:r>
          </a:p>
          <a:p>
            <a:pPr lvl="1"/>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Manage resources of the computer</a:t>
            </a:r>
          </a:p>
          <a:p>
            <a:pPr lvl="1"/>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Serve as intermediary between user and hardware</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System software creates a </a:t>
            </a:r>
            <a:r>
              <a:rPr lang="en-US" altLang="en-US" b="1" dirty="0">
                <a:latin typeface="Arial" panose="020B0604020202020204" pitchFamily="34" charset="0"/>
                <a:ea typeface="ＭＳ Ｐゴシック" panose="020B0600070205080204" pitchFamily="34" charset="-128"/>
                <a:cs typeface="Arial" panose="020B0604020202020204" pitchFamily="34" charset="0"/>
              </a:rPr>
              <a:t>virtual machine</a:t>
            </a:r>
            <a:r>
              <a:rPr lang="en-US" altLang="en-US" dirty="0">
                <a:latin typeface="Arial" panose="020B0604020202020204" pitchFamily="34" charset="0"/>
                <a:ea typeface="ＭＳ Ｐゴシック" panose="020B0600070205080204" pitchFamily="34" charset="-128"/>
                <a:cs typeface="Arial" panose="020B0604020202020204" pitchFamily="34" charset="0"/>
              </a:rPr>
              <a:t> (or a </a:t>
            </a:r>
            <a:r>
              <a:rPr lang="en-US" altLang="en-US" b="1" dirty="0">
                <a:latin typeface="Arial" panose="020B0604020202020204" pitchFamily="34" charset="0"/>
                <a:ea typeface="ＭＳ Ｐゴシック" panose="020B0600070205080204" pitchFamily="34" charset="-128"/>
                <a:cs typeface="Arial" panose="020B0604020202020204" pitchFamily="34" charset="0"/>
              </a:rPr>
              <a:t>virtual environment</a:t>
            </a:r>
            <a:r>
              <a:rPr lang="en-US" altLang="en-US" dirty="0">
                <a:latin typeface="Arial" panose="020B0604020202020204" pitchFamily="34" charset="0"/>
                <a:ea typeface="ＭＳ Ｐゴシック" panose="020B0600070205080204" pitchFamily="34" charset="-128"/>
                <a:cs typeface="Arial" panose="020B0604020202020204" pitchFamily="34" charset="0"/>
              </a:rPr>
              <a:t>) that the user sees</a:t>
            </a:r>
          </a:p>
        </p:txBody>
      </p:sp>
      <p:pic>
        <p:nvPicPr>
          <p:cNvPr id="4" name="Picture 7" descr="The diagram displays the role of the system software. There is an interface ay or a virtual machine interface between a user and the system software. The system software has an interface b or the actual machine interface with the hardwar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7045" y="3831677"/>
            <a:ext cx="6050583" cy="2156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701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 System Software (2 of 7)</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buFontTx/>
              <a:buNone/>
              <a:defRPr/>
            </a:pPr>
            <a:r>
              <a:rPr lang="en-US" altLang="en-US" b="1" dirty="0">
                <a:latin typeface="Arial" panose="020B0604020202020204" pitchFamily="34" charset="0"/>
                <a:cs typeface="Arial" panose="020B0604020202020204" pitchFamily="34" charset="0"/>
              </a:rPr>
              <a:t>Operating system</a:t>
            </a:r>
            <a:endParaRPr lang="en-US" altLang="en-US" dirty="0">
              <a:latin typeface="Arial" panose="020B0604020202020204" pitchFamily="34" charset="0"/>
              <a:cs typeface="Arial" panose="020B0604020202020204" pitchFamily="34" charset="0"/>
            </a:endParaRPr>
          </a:p>
          <a:p>
            <a:pPr>
              <a:defRPr/>
            </a:pPr>
            <a:r>
              <a:rPr lang="en-US" altLang="en-US" dirty="0">
                <a:latin typeface="Arial" panose="020B0604020202020204" pitchFamily="34" charset="0"/>
                <a:cs typeface="Arial" panose="020B0604020202020204" pitchFamily="34" charset="0"/>
              </a:rPr>
              <a:t>single most important piece of software on the computer made up of:</a:t>
            </a:r>
          </a:p>
          <a:p>
            <a:pPr lvl="1">
              <a:defRPr/>
            </a:pPr>
            <a:r>
              <a:rPr lang="en-US" altLang="en-US" dirty="0">
                <a:latin typeface="Arial" panose="020B0604020202020204" pitchFamily="34" charset="0"/>
                <a:cs typeface="Arial" panose="020B0604020202020204" pitchFamily="34" charset="0"/>
              </a:rPr>
              <a:t>The user interface</a:t>
            </a:r>
          </a:p>
          <a:p>
            <a:pPr lvl="1">
              <a:defRPr/>
            </a:pPr>
            <a:r>
              <a:rPr lang="en-US" altLang="en-US" dirty="0">
                <a:latin typeface="Arial" panose="020B0604020202020204" pitchFamily="34" charset="0"/>
                <a:cs typeface="Arial" panose="020B0604020202020204" pitchFamily="34" charset="0"/>
              </a:rPr>
              <a:t>Memory managers</a:t>
            </a:r>
          </a:p>
          <a:p>
            <a:pPr lvl="1">
              <a:defRPr/>
            </a:pPr>
            <a:r>
              <a:rPr lang="en-US" altLang="en-US" dirty="0">
                <a:latin typeface="Arial" panose="020B0604020202020204" pitchFamily="34" charset="0"/>
                <a:cs typeface="Arial" panose="020B0604020202020204" pitchFamily="34" charset="0"/>
              </a:rPr>
              <a:t>I/O systems</a:t>
            </a:r>
          </a:p>
          <a:p>
            <a:pPr lvl="1">
              <a:defRPr/>
            </a:pPr>
            <a:r>
              <a:rPr lang="en-US" altLang="en-US" dirty="0">
                <a:latin typeface="Arial" panose="020B0604020202020204" pitchFamily="34" charset="0"/>
                <a:cs typeface="Arial" panose="020B0604020202020204" pitchFamily="34" charset="0"/>
              </a:rPr>
              <a:t>Utilities</a:t>
            </a:r>
          </a:p>
          <a:p>
            <a:pPr lvl="1">
              <a:defRPr/>
            </a:pPr>
            <a:r>
              <a:rPr lang="en-US" altLang="en-US" dirty="0">
                <a:latin typeface="Arial" panose="020B0604020202020204" pitchFamily="34" charset="0"/>
                <a:cs typeface="Arial" panose="020B0604020202020204" pitchFamily="34" charset="0"/>
              </a:rPr>
              <a:t>Language services</a:t>
            </a:r>
          </a:p>
          <a:p>
            <a:pPr lvl="1">
              <a:defRPr/>
            </a:pPr>
            <a:r>
              <a:rPr lang="en-US" altLang="en-US" dirty="0">
                <a:latin typeface="Arial" panose="020B0604020202020204" pitchFamily="34" charset="0"/>
                <a:cs typeface="Arial" panose="020B0604020202020204" pitchFamily="34" charset="0"/>
              </a:rPr>
              <a:t>Information managers</a:t>
            </a:r>
          </a:p>
          <a:p>
            <a:pPr lvl="1">
              <a:defRPr/>
            </a:pPr>
            <a:r>
              <a:rPr lang="en-US" altLang="en-US" dirty="0">
                <a:latin typeface="Arial" panose="020B0604020202020204" pitchFamily="34" charset="0"/>
                <a:cs typeface="Arial" panose="020B0604020202020204" pitchFamily="34" charset="0"/>
              </a:rPr>
              <a:t>Scheduler</a:t>
            </a:r>
          </a:p>
        </p:txBody>
      </p:sp>
      <p:sp>
        <p:nvSpPr>
          <p:cNvPr id="4" name="TextBox 3">
            <a:extLst>
              <a:ext uri="{FF2B5EF4-FFF2-40B4-BE49-F238E27FC236}">
                <a16:creationId xmlns:a16="http://schemas.microsoft.com/office/drawing/2014/main" id="{F770470A-9927-4BF9-A64C-0AC7AB774301}"/>
              </a:ext>
            </a:extLst>
          </p:cNvPr>
          <p:cNvSpPr txBox="1"/>
          <p:nvPr/>
        </p:nvSpPr>
        <p:spPr>
          <a:xfrm>
            <a:off x="4148493" y="4382075"/>
            <a:ext cx="2620370" cy="369332"/>
          </a:xfrm>
          <a:prstGeom prst="rect">
            <a:avLst/>
          </a:prstGeom>
          <a:noFill/>
        </p:spPr>
        <p:txBody>
          <a:bodyPr wrap="square" rtlCol="0">
            <a:spAutoFit/>
          </a:bodyPr>
          <a:lstStyle/>
          <a:p>
            <a:r>
              <a:rPr lang="zh-CN" altLang="en-US" dirty="0"/>
              <a:t>语言服务</a:t>
            </a:r>
          </a:p>
        </p:txBody>
      </p:sp>
      <p:sp>
        <p:nvSpPr>
          <p:cNvPr id="6" name="TextBox 5">
            <a:extLst>
              <a:ext uri="{FF2B5EF4-FFF2-40B4-BE49-F238E27FC236}">
                <a16:creationId xmlns:a16="http://schemas.microsoft.com/office/drawing/2014/main" id="{84BE5FB5-FBCB-422E-939C-23C5E8EFEE62}"/>
              </a:ext>
            </a:extLst>
          </p:cNvPr>
          <p:cNvSpPr txBox="1"/>
          <p:nvPr/>
        </p:nvSpPr>
        <p:spPr>
          <a:xfrm>
            <a:off x="2971800" y="5257402"/>
            <a:ext cx="1085850" cy="369332"/>
          </a:xfrm>
          <a:prstGeom prst="rect">
            <a:avLst/>
          </a:prstGeom>
          <a:noFill/>
        </p:spPr>
        <p:txBody>
          <a:bodyPr wrap="square">
            <a:spAutoFit/>
          </a:bodyPr>
          <a:lstStyle/>
          <a:p>
            <a:r>
              <a:rPr lang="zh-CN" altLang="en-US" sz="1800" dirty="0"/>
              <a:t>排程器</a:t>
            </a:r>
            <a:endParaRPr lang="en-US" sz="1800" dirty="0"/>
          </a:p>
        </p:txBody>
      </p:sp>
      <p:sp>
        <p:nvSpPr>
          <p:cNvPr id="8" name="TextBox 7">
            <a:extLst>
              <a:ext uri="{FF2B5EF4-FFF2-40B4-BE49-F238E27FC236}">
                <a16:creationId xmlns:a16="http://schemas.microsoft.com/office/drawing/2014/main" id="{474A3E42-8CAE-4192-BD7A-C37AC0098130}"/>
              </a:ext>
            </a:extLst>
          </p:cNvPr>
          <p:cNvSpPr txBox="1"/>
          <p:nvPr/>
        </p:nvSpPr>
        <p:spPr>
          <a:xfrm>
            <a:off x="3924300" y="2634734"/>
            <a:ext cx="1381125" cy="369332"/>
          </a:xfrm>
          <a:prstGeom prst="rect">
            <a:avLst/>
          </a:prstGeom>
          <a:noFill/>
        </p:spPr>
        <p:txBody>
          <a:bodyPr wrap="square">
            <a:spAutoFit/>
          </a:bodyPr>
          <a:lstStyle/>
          <a:p>
            <a:r>
              <a:rPr lang="zh-CN" altLang="en-US" sz="1800" dirty="0"/>
              <a:t>用户界面</a:t>
            </a:r>
          </a:p>
        </p:txBody>
      </p:sp>
      <p:sp>
        <p:nvSpPr>
          <p:cNvPr id="10" name="TextBox 9">
            <a:extLst>
              <a:ext uri="{FF2B5EF4-FFF2-40B4-BE49-F238E27FC236}">
                <a16:creationId xmlns:a16="http://schemas.microsoft.com/office/drawing/2014/main" id="{BC1BDDC0-8E9A-411F-84E2-8EBC5513CDFE}"/>
              </a:ext>
            </a:extLst>
          </p:cNvPr>
          <p:cNvSpPr txBox="1"/>
          <p:nvPr/>
        </p:nvSpPr>
        <p:spPr>
          <a:xfrm>
            <a:off x="2511188" y="3946068"/>
            <a:ext cx="1546462" cy="369332"/>
          </a:xfrm>
          <a:prstGeom prst="rect">
            <a:avLst/>
          </a:prstGeom>
          <a:noFill/>
        </p:spPr>
        <p:txBody>
          <a:bodyPr wrap="square">
            <a:spAutoFit/>
          </a:bodyPr>
          <a:lstStyle/>
          <a:p>
            <a:r>
              <a:rPr lang="zh-CN" altLang="en-US" sz="1800" dirty="0"/>
              <a:t>实用工具</a:t>
            </a:r>
          </a:p>
        </p:txBody>
      </p:sp>
    </p:spTree>
    <p:extLst>
      <p:ext uri="{BB962C8B-B14F-4D97-AF65-F5344CB8AC3E}">
        <p14:creationId xmlns:p14="http://schemas.microsoft.com/office/powerpoint/2010/main" val="95938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 System Software (3 of 7)</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defRPr/>
            </a:pPr>
            <a:r>
              <a:rPr lang="en-US" altLang="en-US" dirty="0">
                <a:latin typeface="Arial" panose="020B0604020202020204" pitchFamily="34" charset="0"/>
                <a:cs typeface="Arial" panose="020B0604020202020204" pitchFamily="34" charset="0"/>
              </a:rPr>
              <a:t>Communicates with users, determines what they want, and activates other system programs, applications, packages, or user programs</a:t>
            </a:r>
          </a:p>
        </p:txBody>
      </p:sp>
      <p:sp>
        <p:nvSpPr>
          <p:cNvPr id="5" name="TextBox 4">
            <a:extLst>
              <a:ext uri="{FF2B5EF4-FFF2-40B4-BE49-F238E27FC236}">
                <a16:creationId xmlns:a16="http://schemas.microsoft.com/office/drawing/2014/main" id="{FEFE7B5F-DD3B-4FAE-8BE7-7C40ED57A5C9}"/>
              </a:ext>
            </a:extLst>
          </p:cNvPr>
          <p:cNvSpPr txBox="1"/>
          <p:nvPr/>
        </p:nvSpPr>
        <p:spPr>
          <a:xfrm>
            <a:off x="1076325" y="2943910"/>
            <a:ext cx="4572000" cy="646331"/>
          </a:xfrm>
          <a:prstGeom prst="rect">
            <a:avLst/>
          </a:prstGeom>
          <a:noFill/>
        </p:spPr>
        <p:txBody>
          <a:bodyPr wrap="square">
            <a:spAutoFit/>
          </a:bodyPr>
          <a:lstStyle/>
          <a:p>
            <a:r>
              <a:rPr lang="en-US" dirty="0" err="1"/>
              <a:t>与用户沟通，确定他们想要什么，并激活其他系统程序，应用程序，程序包或用户程序</a:t>
            </a:r>
            <a:endParaRPr lang="en-US" dirty="0"/>
          </a:p>
        </p:txBody>
      </p:sp>
    </p:spTree>
    <p:extLst>
      <p:ext uri="{BB962C8B-B14F-4D97-AF65-F5344CB8AC3E}">
        <p14:creationId xmlns:p14="http://schemas.microsoft.com/office/powerpoint/2010/main" val="1060440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 System Software (4 of 7)</a:t>
            </a:r>
            <a:endParaRPr lang="en-US" dirty="0">
              <a:latin typeface="Arial" panose="020B0604020202020204" pitchFamily="34" charset="0"/>
              <a:cs typeface="Arial" panose="020B0604020202020204" pitchFamily="34" charset="0"/>
            </a:endParaRPr>
          </a:p>
        </p:txBody>
      </p:sp>
      <p:pic>
        <p:nvPicPr>
          <p:cNvPr id="4" name="Picture 7" descr="The flowchart displays the types of system software. The program is operating system links to the language services, the memory managers, the information managers, the scheduler, and the utilities. These sub-programs are further control smaller programs. The language services link to the interpreters, the assemblers, and the compilers; the memory managers link to the loaders, the garbage collectors, and the linkers; the information managers link to file system and database system; the utilities link to the text editors and the graphics routine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920" y="1319143"/>
            <a:ext cx="6960160" cy="2087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519195" y="3945734"/>
            <a:ext cx="8229600" cy="2242422"/>
          </a:xfrm>
        </p:spPr>
        <p:txBody>
          <a:bodyPr>
            <a:normAutofit fontScale="92500" lnSpcReduction="10000"/>
          </a:bodyPr>
          <a:lstStyle/>
          <a:p>
            <a:r>
              <a:rPr lang="en-US" altLang="en-US" sz="2800" dirty="0">
                <a:latin typeface="Arial" panose="020B0604020202020204" pitchFamily="34" charset="0"/>
                <a:ea typeface="ＭＳ Ｐゴシック" panose="020B0600070205080204" pitchFamily="34" charset="-128"/>
                <a:cs typeface="Arial" panose="020B0604020202020204" pitchFamily="34" charset="0"/>
              </a:rPr>
              <a:t>Language services support high level languages</a:t>
            </a:r>
          </a:p>
          <a:p>
            <a:r>
              <a:rPr lang="en-US" altLang="en-US" sz="2800" dirty="0">
                <a:latin typeface="Arial" panose="020B0604020202020204" pitchFamily="34" charset="0"/>
                <a:ea typeface="ＭＳ Ｐゴシック" panose="020B0600070205080204" pitchFamily="34" charset="-128"/>
                <a:cs typeface="Arial" panose="020B0604020202020204" pitchFamily="34" charset="0"/>
              </a:rPr>
              <a:t>Memory managers </a:t>
            </a:r>
            <a:r>
              <a:rPr lang="en-US" altLang="en-US" sz="28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allocate</a:t>
            </a:r>
            <a:r>
              <a:rPr lang="en-US" altLang="en-US" sz="2800" dirty="0">
                <a:latin typeface="Arial" panose="020B0604020202020204" pitchFamily="34" charset="0"/>
                <a:ea typeface="ＭＳ Ｐゴシック" panose="020B0600070205080204" pitchFamily="34" charset="-128"/>
                <a:cs typeface="Arial" panose="020B0604020202020204" pitchFamily="34" charset="0"/>
              </a:rPr>
              <a:t> memory to programs</a:t>
            </a:r>
          </a:p>
          <a:p>
            <a:r>
              <a:rPr lang="en-US" altLang="en-US" sz="2800" dirty="0">
                <a:latin typeface="Arial" panose="020B0604020202020204" pitchFamily="34" charset="0"/>
                <a:ea typeface="ＭＳ Ｐゴシック" panose="020B0600070205080204" pitchFamily="34" charset="-128"/>
                <a:cs typeface="Arial" panose="020B0604020202020204" pitchFamily="34" charset="0"/>
              </a:rPr>
              <a:t>Information managers organize mass storage</a:t>
            </a:r>
          </a:p>
          <a:p>
            <a:r>
              <a:rPr lang="en-US" altLang="en-US" sz="2800" dirty="0">
                <a:latin typeface="Arial" panose="020B0604020202020204" pitchFamily="34" charset="0"/>
                <a:ea typeface="ＭＳ Ｐゴシック" panose="020B0600070205080204" pitchFamily="34" charset="-128"/>
                <a:cs typeface="Arial" panose="020B0604020202020204" pitchFamily="34" charset="0"/>
              </a:rPr>
              <a:t>Scheduler manages programs waiting to run</a:t>
            </a:r>
          </a:p>
          <a:p>
            <a:r>
              <a:rPr lang="en-US" altLang="en-US" sz="2800" dirty="0">
                <a:latin typeface="Arial" panose="020B0604020202020204" pitchFamily="34" charset="0"/>
                <a:ea typeface="ＭＳ Ｐゴシック" panose="020B0600070205080204" pitchFamily="34" charset="-128"/>
                <a:cs typeface="Arial" panose="020B0604020202020204" pitchFamily="34" charset="0"/>
              </a:rPr>
              <a:t>Utilities: tools, including </a:t>
            </a:r>
            <a:r>
              <a:rPr lang="en-US" altLang="en-US" sz="2800" b="1" dirty="0">
                <a:latin typeface="Arial" panose="020B0604020202020204" pitchFamily="34" charset="0"/>
                <a:ea typeface="ＭＳ Ｐゴシック" panose="020B0600070205080204" pitchFamily="34" charset="-128"/>
                <a:cs typeface="Arial" panose="020B0604020202020204" pitchFamily="34" charset="0"/>
              </a:rPr>
              <a:t>program libraries</a:t>
            </a:r>
            <a:endParaRPr lang="en-US" altLang="en-US" sz="28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TextBox 6">
            <a:extLst>
              <a:ext uri="{FF2B5EF4-FFF2-40B4-BE49-F238E27FC236}">
                <a16:creationId xmlns:a16="http://schemas.microsoft.com/office/drawing/2014/main" id="{129FD05A-3044-4F57-B517-17E704FB5ECC}"/>
              </a:ext>
            </a:extLst>
          </p:cNvPr>
          <p:cNvSpPr txBox="1"/>
          <p:nvPr/>
        </p:nvSpPr>
        <p:spPr>
          <a:xfrm>
            <a:off x="4040658" y="4634459"/>
            <a:ext cx="1742303" cy="383059"/>
          </a:xfrm>
          <a:prstGeom prst="rect">
            <a:avLst/>
          </a:prstGeom>
          <a:noFill/>
        </p:spPr>
        <p:txBody>
          <a:bodyPr wrap="square" rtlCol="0">
            <a:spAutoFit/>
          </a:bodyPr>
          <a:lstStyle/>
          <a:p>
            <a:r>
              <a:rPr lang="zh-CN" altLang="en-US" dirty="0"/>
              <a:t>分配</a:t>
            </a:r>
            <a:endParaRPr lang="en-US" dirty="0"/>
          </a:p>
        </p:txBody>
      </p:sp>
    </p:spTree>
    <p:extLst>
      <p:ext uri="{BB962C8B-B14F-4D97-AF65-F5344CB8AC3E}">
        <p14:creationId xmlns:p14="http://schemas.microsoft.com/office/powerpoint/2010/main" val="2934591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 System Software (5 of 7)</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0" indent="0">
              <a:buFontTx/>
              <a:buNone/>
              <a:defRPr/>
            </a:pPr>
            <a:r>
              <a:rPr lang="en-US" altLang="en-US" b="1" dirty="0">
                <a:latin typeface="Arial" panose="020B0604020202020204" pitchFamily="34" charset="0"/>
                <a:cs typeface="Arial" panose="020B0604020202020204" pitchFamily="34" charset="0"/>
              </a:rPr>
              <a:t>Graphical user interface (GUI): </a:t>
            </a:r>
            <a:r>
              <a:rPr lang="en-US" altLang="en-US" dirty="0">
                <a:latin typeface="Arial" panose="020B0604020202020204" pitchFamily="34" charset="0"/>
                <a:cs typeface="Arial" panose="020B0604020202020204" pitchFamily="34" charset="0"/>
              </a:rPr>
              <a:t>Pronounced “gooey”</a:t>
            </a:r>
          </a:p>
          <a:p>
            <a:pPr>
              <a:defRPr/>
            </a:pPr>
            <a:r>
              <a:rPr lang="en-US" altLang="en-US" dirty="0">
                <a:latin typeface="Arial" panose="020B0604020202020204" pitchFamily="34" charset="0"/>
                <a:cs typeface="Arial" panose="020B0604020202020204" pitchFamily="34" charset="0"/>
              </a:rPr>
              <a:t>Visual interface to the virtual machine including:</a:t>
            </a:r>
          </a:p>
          <a:p>
            <a:pPr lvl="1">
              <a:defRPr/>
            </a:pPr>
            <a:r>
              <a:rPr lang="en-US" altLang="en-US" dirty="0">
                <a:latin typeface="Arial" panose="020B0604020202020204" pitchFamily="34" charset="0"/>
                <a:cs typeface="Arial" panose="020B0604020202020204" pitchFamily="34" charset="0"/>
              </a:rPr>
              <a:t>Operating system and system programs</a:t>
            </a:r>
          </a:p>
          <a:p>
            <a:pPr lvl="1">
              <a:defRPr/>
            </a:pPr>
            <a:r>
              <a:rPr lang="en-US" altLang="en-US" dirty="0">
                <a:latin typeface="Arial" panose="020B0604020202020204" pitchFamily="34" charset="0"/>
                <a:cs typeface="Arial" panose="020B0604020202020204" pitchFamily="34" charset="0"/>
              </a:rPr>
              <a:t>User programs</a:t>
            </a:r>
          </a:p>
          <a:p>
            <a:pPr>
              <a:defRPr/>
            </a:pPr>
            <a:r>
              <a:rPr lang="en-US" altLang="en-US" dirty="0">
                <a:latin typeface="Arial" panose="020B0604020202020204" pitchFamily="34" charset="0"/>
                <a:cs typeface="Arial" panose="020B0604020202020204" pitchFamily="34" charset="0"/>
              </a:rPr>
              <a:t>I/O systems communicate with various devices such as:</a:t>
            </a:r>
          </a:p>
          <a:p>
            <a:pPr lvl="1">
              <a:defRPr/>
            </a:pPr>
            <a:r>
              <a:rPr lang="en-US" altLang="en-US" dirty="0">
                <a:latin typeface="Arial" panose="020B0604020202020204" pitchFamily="34" charset="0"/>
                <a:cs typeface="Arial" panose="020B0604020202020204" pitchFamily="34" charset="0"/>
              </a:rPr>
              <a:t>Printers</a:t>
            </a:r>
          </a:p>
          <a:p>
            <a:pPr lvl="1">
              <a:defRPr/>
            </a:pPr>
            <a:r>
              <a:rPr lang="en-US" altLang="en-US" dirty="0">
                <a:latin typeface="Arial" panose="020B0604020202020204" pitchFamily="34" charset="0"/>
                <a:cs typeface="Arial" panose="020B0604020202020204" pitchFamily="34" charset="0"/>
              </a:rPr>
              <a:t>Scanners</a:t>
            </a:r>
          </a:p>
          <a:p>
            <a:pPr lvl="1">
              <a:defRPr/>
            </a:pPr>
            <a:r>
              <a:rPr lang="en-US" altLang="en-US" dirty="0">
                <a:latin typeface="Arial" panose="020B0604020202020204" pitchFamily="34" charset="0"/>
                <a:cs typeface="Arial" panose="020B0604020202020204" pitchFamily="34" charset="0"/>
              </a:rPr>
              <a:t>Keyboards</a:t>
            </a:r>
          </a:p>
          <a:p>
            <a:pPr lvl="1">
              <a:defRPr/>
            </a:pPr>
            <a:r>
              <a:rPr lang="en-US" altLang="en-US" dirty="0">
                <a:latin typeface="Arial" panose="020B0604020202020204" pitchFamily="34" charset="0"/>
                <a:cs typeface="Arial" panose="020B0604020202020204" pitchFamily="34" charset="0"/>
              </a:rPr>
              <a:t>Mice</a:t>
            </a:r>
          </a:p>
        </p:txBody>
      </p:sp>
      <p:sp>
        <p:nvSpPr>
          <p:cNvPr id="5" name="TextBox 4">
            <a:extLst>
              <a:ext uri="{FF2B5EF4-FFF2-40B4-BE49-F238E27FC236}">
                <a16:creationId xmlns:a16="http://schemas.microsoft.com/office/drawing/2014/main" id="{F0DABEC7-E769-4C86-B66F-E6B2022D4AC6}"/>
              </a:ext>
            </a:extLst>
          </p:cNvPr>
          <p:cNvSpPr txBox="1"/>
          <p:nvPr/>
        </p:nvSpPr>
        <p:spPr>
          <a:xfrm>
            <a:off x="613611" y="1060705"/>
            <a:ext cx="4572000" cy="369332"/>
          </a:xfrm>
          <a:prstGeom prst="rect">
            <a:avLst/>
          </a:prstGeom>
          <a:noFill/>
        </p:spPr>
        <p:txBody>
          <a:bodyPr wrap="square">
            <a:spAutoFit/>
          </a:bodyPr>
          <a:lstStyle/>
          <a:p>
            <a:r>
              <a:rPr lang="en-US" dirty="0" err="1"/>
              <a:t>图形用户界面（GUI</a:t>
            </a:r>
            <a:r>
              <a:rPr lang="en-US" dirty="0"/>
              <a:t>)</a:t>
            </a:r>
          </a:p>
        </p:txBody>
      </p:sp>
    </p:spTree>
    <p:extLst>
      <p:ext uri="{BB962C8B-B14F-4D97-AF65-F5344CB8AC3E}">
        <p14:creationId xmlns:p14="http://schemas.microsoft.com/office/powerpoint/2010/main" val="170135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 System Software (6 of 7)</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Naked machine</a:t>
            </a:r>
          </a:p>
          <a:p>
            <a:pPr>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Write program in binary</a:t>
            </a:r>
          </a:p>
          <a:p>
            <a:pPr>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Load instructions one by one into memory</a:t>
            </a:r>
          </a:p>
          <a:p>
            <a:pPr>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Insert start into memory address 0 and push “go” button</a:t>
            </a:r>
          </a:p>
          <a:p>
            <a:pPr>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Read results from memory one by one, in binary</a:t>
            </a:r>
          </a:p>
        </p:txBody>
      </p:sp>
    </p:spTree>
    <p:extLst>
      <p:ext uri="{BB962C8B-B14F-4D97-AF65-F5344CB8AC3E}">
        <p14:creationId xmlns:p14="http://schemas.microsoft.com/office/powerpoint/2010/main" val="2043975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 System Software (7 of 7)</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Virtual machine</a:t>
            </a:r>
          </a:p>
          <a:p>
            <a:pPr>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Write program using text editor in high-level language</a:t>
            </a:r>
          </a:p>
          <a:p>
            <a:pPr>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Save program to folder</a:t>
            </a:r>
          </a:p>
          <a:p>
            <a:pPr>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Use translator to convert to binary</a:t>
            </a:r>
          </a:p>
          <a:p>
            <a:pPr>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Use scheduler to load and run</a:t>
            </a:r>
          </a:p>
          <a:p>
            <a:pPr>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Use I/O system to print results</a:t>
            </a:r>
          </a:p>
        </p:txBody>
      </p:sp>
    </p:spTree>
    <p:extLst>
      <p:ext uri="{BB962C8B-B14F-4D97-AF65-F5344CB8AC3E}">
        <p14:creationId xmlns:p14="http://schemas.microsoft.com/office/powerpoint/2010/main" val="3635552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Assemblers and Assembly Language (1 of 20)</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0" indent="0">
              <a:buFontTx/>
              <a:buNone/>
              <a:defRPr/>
            </a:pPr>
            <a:r>
              <a:rPr lang="en-US" altLang="en-US" b="1" dirty="0">
                <a:latin typeface="Arial" panose="020B0604020202020204" pitchFamily="34" charset="0"/>
                <a:cs typeface="Arial" panose="020B0604020202020204" pitchFamily="34" charset="0"/>
              </a:rPr>
              <a:t>Low-level programming language is also called assembly language:</a:t>
            </a:r>
          </a:p>
          <a:p>
            <a:pPr marL="514350" indent="-514350">
              <a:defRPr/>
            </a:pPr>
            <a:r>
              <a:rPr lang="en-US" altLang="en-US" dirty="0">
                <a:latin typeface="Arial" panose="020B0604020202020204" pitchFamily="34" charset="0"/>
                <a:cs typeface="Arial" panose="020B0604020202020204" pitchFamily="34" charset="0"/>
              </a:rPr>
              <a:t>Instructions map one-to-one to machine language</a:t>
            </a:r>
          </a:p>
          <a:p>
            <a:pPr marL="514350" indent="-514350">
              <a:defRPr/>
            </a:pPr>
            <a:r>
              <a:rPr lang="en-US" altLang="en-US" dirty="0">
                <a:latin typeface="Arial" panose="020B0604020202020204" pitchFamily="34" charset="0"/>
                <a:cs typeface="Arial" panose="020B0604020202020204" pitchFamily="34" charset="0"/>
              </a:rPr>
              <a:t>Symbolic op codes (not binary)</a:t>
            </a:r>
          </a:p>
          <a:p>
            <a:pPr marL="514350" indent="-514350">
              <a:defRPr/>
            </a:pPr>
            <a:r>
              <a:rPr lang="en-US" altLang="en-US" dirty="0">
                <a:latin typeface="Arial" panose="020B0604020202020204" pitchFamily="34" charset="0"/>
                <a:cs typeface="Arial" panose="020B0604020202020204" pitchFamily="34" charset="0"/>
              </a:rPr>
              <a:t>Symbolic addresses for instructions and data</a:t>
            </a:r>
          </a:p>
          <a:p>
            <a:pPr marL="514350" indent="-514350">
              <a:defRPr/>
            </a:pPr>
            <a:r>
              <a:rPr lang="en-US" altLang="en-US" dirty="0">
                <a:latin typeface="Arial" panose="020B0604020202020204" pitchFamily="34" charset="0"/>
                <a:cs typeface="Arial" panose="020B0604020202020204" pitchFamily="34" charset="0"/>
              </a:rPr>
              <a:t>Pseudo-ops for data generation and more (data in human-friendly terms)</a:t>
            </a:r>
          </a:p>
          <a:p>
            <a:pPr marL="514350" indent="-514350">
              <a:defRPr/>
            </a:pPr>
            <a:r>
              <a:rPr lang="en-US" altLang="en-US" dirty="0">
                <a:latin typeface="Arial" panose="020B0604020202020204" pitchFamily="34" charset="0"/>
                <a:cs typeface="Arial" panose="020B0604020202020204" pitchFamily="34" charset="0"/>
              </a:rPr>
              <a:t>Advantages over machine code</a:t>
            </a:r>
          </a:p>
          <a:p>
            <a:pPr lvl="1" indent="-514350">
              <a:defRPr/>
            </a:pPr>
            <a:r>
              <a:rPr lang="en-US" altLang="en-US" dirty="0">
                <a:latin typeface="Arial" panose="020B0604020202020204" pitchFamily="34" charset="0"/>
                <a:cs typeface="Arial" panose="020B0604020202020204" pitchFamily="34" charset="0"/>
              </a:rPr>
              <a:t>Clarity, readability, and maintainability</a:t>
            </a:r>
          </a:p>
          <a:p>
            <a:pPr lvl="1" indent="-514350">
              <a:defRPr/>
            </a:pPr>
            <a:r>
              <a:rPr lang="en-US" altLang="en-US" dirty="0">
                <a:latin typeface="Arial" panose="020B0604020202020204" pitchFamily="34" charset="0"/>
                <a:cs typeface="Arial" panose="020B0604020202020204" pitchFamily="34" charset="0"/>
              </a:rPr>
              <a:t>Can be placed at different locations in memory</a:t>
            </a:r>
            <a:endParaRPr lang="en-US"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3977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Assemblers and Assembly Language (2 of 20)</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0" indent="0">
              <a:buFontTx/>
              <a:buNone/>
              <a:defRPr/>
            </a:pPr>
            <a:r>
              <a:rPr lang="en-US" altLang="en-US" b="1" dirty="0">
                <a:latin typeface="Arial" panose="020B0604020202020204" pitchFamily="34" charset="0"/>
                <a:cs typeface="Arial" panose="020B0604020202020204" pitchFamily="34" charset="0"/>
              </a:rPr>
              <a:t>High-level programming languages:</a:t>
            </a:r>
            <a:endParaRPr lang="en-US" altLang="en-US" dirty="0">
              <a:latin typeface="Arial" panose="020B0604020202020204" pitchFamily="34" charset="0"/>
              <a:cs typeface="Arial" panose="020B0604020202020204" pitchFamily="34" charset="0"/>
            </a:endParaRPr>
          </a:p>
          <a:p>
            <a:pPr>
              <a:defRPr/>
            </a:pPr>
            <a:r>
              <a:rPr lang="en-US" altLang="en-US" dirty="0">
                <a:latin typeface="Arial" panose="020B0604020202020204" pitchFamily="34" charset="0"/>
                <a:cs typeface="Arial" panose="020B0604020202020204" pitchFamily="34" charset="0"/>
              </a:rPr>
              <a:t>Java, C++, and Python</a:t>
            </a:r>
          </a:p>
          <a:p>
            <a:pPr>
              <a:defRPr/>
            </a:pPr>
            <a:r>
              <a:rPr lang="en-US" altLang="en-US" dirty="0">
                <a:latin typeface="Arial" panose="020B0604020202020204" pitchFamily="34" charset="0"/>
                <a:cs typeface="Arial" panose="020B0604020202020204" pitchFamily="34" charset="0"/>
              </a:rPr>
              <a:t>Advantages over assembly language:</a:t>
            </a:r>
          </a:p>
          <a:p>
            <a:pPr lvl="1">
              <a:defRPr/>
            </a:pPr>
            <a:r>
              <a:rPr lang="en-US" altLang="en-US" dirty="0">
                <a:latin typeface="Arial" panose="020B0604020202020204" pitchFamily="34" charset="0"/>
                <a:cs typeface="Arial" panose="020B0604020202020204" pitchFamily="34" charset="0"/>
              </a:rPr>
              <a:t>More powerful</a:t>
            </a:r>
          </a:p>
          <a:p>
            <a:pPr lvl="2">
              <a:defRPr/>
            </a:pPr>
            <a:r>
              <a:rPr lang="en-US" altLang="en-US" dirty="0">
                <a:latin typeface="Arial" panose="020B0604020202020204" pitchFamily="34" charset="0"/>
                <a:cs typeface="Arial" panose="020B0604020202020204" pitchFamily="34" charset="0"/>
              </a:rPr>
              <a:t>One high-level instruction may provide multiple machine instructions</a:t>
            </a:r>
          </a:p>
          <a:p>
            <a:pPr lvl="1">
              <a:defRPr/>
            </a:pPr>
            <a:r>
              <a:rPr lang="en-US" altLang="en-US" dirty="0">
                <a:latin typeface="Arial" panose="020B0604020202020204" pitchFamily="34" charset="0"/>
                <a:cs typeface="Arial" panose="020B0604020202020204" pitchFamily="34" charset="0"/>
              </a:rPr>
              <a:t>User oriented</a:t>
            </a:r>
          </a:p>
          <a:p>
            <a:pPr lvl="1">
              <a:defRPr/>
            </a:pPr>
            <a:r>
              <a:rPr lang="en-US" altLang="en-US" dirty="0">
                <a:latin typeface="Arial" panose="020B0604020202020204" pitchFamily="34" charset="0"/>
                <a:cs typeface="Arial" panose="020B0604020202020204" pitchFamily="34" charset="0"/>
              </a:rPr>
              <a:t>Not machine specific</a:t>
            </a:r>
          </a:p>
          <a:p>
            <a:pPr lvl="1">
              <a:defRPr/>
            </a:pPr>
            <a:r>
              <a:rPr lang="en-US" altLang="en-US" dirty="0">
                <a:latin typeface="Arial" panose="020B0604020202020204" pitchFamily="34" charset="0"/>
                <a:cs typeface="Arial" panose="020B0604020202020204" pitchFamily="34" charset="0"/>
              </a:rPr>
              <a:t>Use both natural language and mathematical notation</a:t>
            </a:r>
          </a:p>
        </p:txBody>
      </p:sp>
    </p:spTree>
    <p:extLst>
      <p:ext uri="{BB962C8B-B14F-4D97-AF65-F5344CB8AC3E}">
        <p14:creationId xmlns:p14="http://schemas.microsoft.com/office/powerpoint/2010/main" val="2734884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582" y="1"/>
            <a:ext cx="8114836" cy="1060704"/>
          </a:xfrm>
        </p:spPr>
        <p:txBody>
          <a:bodyPr>
            <a:noAutofit/>
          </a:bodyPr>
          <a:lstStyle/>
          <a:p>
            <a:r>
              <a:rPr lang="en-US" altLang="en-US" kern="0" dirty="0">
                <a:latin typeface="Arial" panose="020B0604020202020204" pitchFamily="34" charset="0"/>
                <a:cs typeface="Arial" panose="020B0604020202020204" pitchFamily="34" charset="0"/>
              </a:rPr>
              <a:t>Assemblers and Assembly Language (3 of 20)</a:t>
            </a:r>
            <a:endParaRPr lang="en-US" dirty="0">
              <a:latin typeface="Arial" panose="020B0604020202020204" pitchFamily="34" charset="0"/>
              <a:cs typeface="Arial" panose="020B0604020202020204" pitchFamily="34" charset="0"/>
            </a:endParaRPr>
          </a:p>
        </p:txBody>
      </p:sp>
      <p:pic>
        <p:nvPicPr>
          <p:cNvPr id="4" name="Picture 5" descr="The chart represents the continuum of programming languages. Machine language then assembly language these are low-level languages and are closely related to the hardware. The programming languages such as C, plus, plus, java, python, and pseudo code are high-level languages and are more removed from details of the hardware. English, Spanish, Japanese are natural languages and do not relate to the hardware. High level language is wedged between low level languages and natural language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1905000"/>
            <a:ext cx="80010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5816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5252"/>
            <a:ext cx="8195984" cy="1050202"/>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Assemblers and Assembly Language (4</a:t>
            </a:r>
            <a:r>
              <a:rPr lang="en-US" altLang="en-US" baseline="0" dirty="0">
                <a:latin typeface="Arial" panose="020B0604020202020204" pitchFamily="34" charset="0"/>
                <a:ea typeface="ＭＳ Ｐゴシック" panose="020B0600070205080204" pitchFamily="34" charset="-128"/>
                <a:cs typeface="Arial" panose="020B0604020202020204" pitchFamily="34" charset="0"/>
              </a:rPr>
              <a:t> of 20)</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Assembly language process:</a:t>
            </a:r>
          </a:p>
          <a:p>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Source program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assembly language)</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Translated by the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assembler </a:t>
            </a:r>
            <a:r>
              <a:rPr lang="en-US" altLang="en-US" dirty="0">
                <a:latin typeface="Arial" panose="020B0604020202020204" pitchFamily="34" charset="0"/>
                <a:ea typeface="ＭＳ Ｐゴシック" panose="020B0600070205080204" pitchFamily="34" charset="-128"/>
                <a:cs typeface="Arial" panose="020B0604020202020204" pitchFamily="34" charset="0"/>
              </a:rPr>
              <a:t>to</a:t>
            </a:r>
          </a:p>
          <a:p>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Object program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(machine language)</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Loader places in memory</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Hardware runs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Results</a:t>
            </a:r>
          </a:p>
        </p:txBody>
      </p:sp>
      <p:sp>
        <p:nvSpPr>
          <p:cNvPr id="4" name="TextBox 3">
            <a:extLst>
              <a:ext uri="{FF2B5EF4-FFF2-40B4-BE49-F238E27FC236}">
                <a16:creationId xmlns:a16="http://schemas.microsoft.com/office/drawing/2014/main" id="{CCB08EE6-26D5-44A5-99A3-7DD743D564D5}"/>
              </a:ext>
            </a:extLst>
          </p:cNvPr>
          <p:cNvSpPr txBox="1"/>
          <p:nvPr/>
        </p:nvSpPr>
        <p:spPr>
          <a:xfrm>
            <a:off x="1757549" y="1581736"/>
            <a:ext cx="2814451" cy="369332"/>
          </a:xfrm>
          <a:prstGeom prst="rect">
            <a:avLst/>
          </a:prstGeom>
          <a:noFill/>
        </p:spPr>
        <p:txBody>
          <a:bodyPr wrap="square" rtlCol="0">
            <a:spAutoFit/>
          </a:bodyPr>
          <a:lstStyle/>
          <a:p>
            <a:r>
              <a:rPr lang="en-US" altLang="zh-CN" dirty="0"/>
              <a:t>Source code</a:t>
            </a:r>
            <a:endParaRPr lang="en-US" dirty="0"/>
          </a:p>
        </p:txBody>
      </p:sp>
      <p:sp>
        <p:nvSpPr>
          <p:cNvPr id="6" name="TextBox 5">
            <a:extLst>
              <a:ext uri="{FF2B5EF4-FFF2-40B4-BE49-F238E27FC236}">
                <a16:creationId xmlns:a16="http://schemas.microsoft.com/office/drawing/2014/main" id="{AD3247C5-8FC2-42CA-96FE-313E2F7D69D0}"/>
              </a:ext>
            </a:extLst>
          </p:cNvPr>
          <p:cNvSpPr txBox="1"/>
          <p:nvPr/>
        </p:nvSpPr>
        <p:spPr>
          <a:xfrm>
            <a:off x="2194955" y="2958336"/>
            <a:ext cx="2814451" cy="369332"/>
          </a:xfrm>
          <a:prstGeom prst="rect">
            <a:avLst/>
          </a:prstGeom>
          <a:noFill/>
        </p:spPr>
        <p:txBody>
          <a:bodyPr wrap="square" rtlCol="0">
            <a:spAutoFit/>
          </a:bodyPr>
          <a:lstStyle/>
          <a:p>
            <a:r>
              <a:rPr lang="en-US" altLang="zh-CN" dirty="0"/>
              <a:t>Object code</a:t>
            </a:r>
            <a:endParaRPr lang="en-US" dirty="0"/>
          </a:p>
        </p:txBody>
      </p:sp>
    </p:spTree>
    <p:extLst>
      <p:ext uri="{BB962C8B-B14F-4D97-AF65-F5344CB8AC3E}">
        <p14:creationId xmlns:p14="http://schemas.microsoft.com/office/powerpoint/2010/main" val="3646112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altLang="en-US" kern="0" dirty="0">
                <a:latin typeface="Arial" panose="020B0604020202020204" pitchFamily="34" charset="0"/>
                <a:cs typeface="Arial" panose="020B0604020202020204" pitchFamily="34" charset="0"/>
              </a:rPr>
              <a:t>Assemblers and Assembly Language (5 of 20)</a:t>
            </a:r>
            <a:endParaRPr lang="en-US" dirty="0">
              <a:latin typeface="Arial" panose="020B0604020202020204" pitchFamily="34" charset="0"/>
              <a:cs typeface="Arial" panose="020B0604020202020204" pitchFamily="34" charset="0"/>
            </a:endParaRPr>
          </a:p>
        </p:txBody>
      </p:sp>
      <p:pic>
        <p:nvPicPr>
          <p:cNvPr id="4" name="Picture 5" descr="The flowchart displays the translation or the loading or the execution process of the program. The user initiates the assembly language program also known as the source program, which links to assembler, then to the machine language program which is also known as the object program. The machine language program connects to the loader, which connects to the machine language program loaded into memory, which connects to the hardware which determines the result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3397" y="1375051"/>
            <a:ext cx="6237206" cy="4733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0355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Assemblers and Assembly Language (6 of 20)</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Tx/>
              <a:buNone/>
              <a:defRPr/>
            </a:pPr>
            <a:r>
              <a:rPr lang="en-US" altLang="en-US" dirty="0">
                <a:latin typeface="Arial" panose="020B0604020202020204" pitchFamily="34" charset="0"/>
                <a:ea typeface="ＭＳ Ｐゴシック" pitchFamily="34" charset="-128"/>
                <a:cs typeface="Arial" panose="020B0604020202020204" pitchFamily="34" charset="0"/>
              </a:rPr>
              <a:t>Example assembly language:</a:t>
            </a:r>
          </a:p>
          <a:p>
            <a:pPr marL="227013" indent="0">
              <a:buFontTx/>
              <a:buNone/>
              <a:defRPr/>
            </a:pPr>
            <a:r>
              <a:rPr lang="en-US" altLang="en-US" dirty="0">
                <a:latin typeface="Arial" panose="020B0604020202020204" pitchFamily="34" charset="0"/>
                <a:ea typeface="ＭＳ Ｐゴシック" pitchFamily="34" charset="-128"/>
                <a:cs typeface="Arial" panose="020B0604020202020204" pitchFamily="34" charset="0"/>
              </a:rPr>
              <a:t>NEXTSTEP:	LOAD    X	-- Put X into reg. R</a:t>
            </a:r>
          </a:p>
          <a:p>
            <a:pPr marL="227013" indent="0">
              <a:buFontTx/>
              <a:buNone/>
              <a:defRPr/>
            </a:pPr>
            <a:r>
              <a:rPr lang="en-US" altLang="en-US" dirty="0">
                <a:latin typeface="Arial" panose="020B0604020202020204" pitchFamily="34" charset="0"/>
                <a:ea typeface="ＭＳ Ｐゴシック" pitchFamily="34" charset="-128"/>
                <a:cs typeface="Arial" panose="020B0604020202020204" pitchFamily="34" charset="0"/>
              </a:rPr>
              <a:t>label: </a:t>
            </a:r>
            <a:r>
              <a:rPr lang="en-US" altLang="en-US" dirty="0" err="1">
                <a:latin typeface="Arial" panose="020B0604020202020204" pitchFamily="34" charset="0"/>
                <a:ea typeface="ＭＳ Ｐゴシック" pitchFamily="34" charset="-128"/>
                <a:cs typeface="Arial" panose="020B0604020202020204" pitchFamily="34" charset="0"/>
              </a:rPr>
              <a:t>opcode</a:t>
            </a:r>
            <a:r>
              <a:rPr lang="en-US" altLang="en-US" dirty="0">
                <a:latin typeface="Arial" panose="020B0604020202020204" pitchFamily="34" charset="0"/>
                <a:ea typeface="ＭＳ Ｐゴシック" pitchFamily="34" charset="-128"/>
                <a:cs typeface="Arial" panose="020B0604020202020204" pitchFamily="34" charset="0"/>
              </a:rPr>
              <a:t> </a:t>
            </a:r>
            <a:r>
              <a:rPr lang="en-IN" dirty="0">
                <a:latin typeface="Arial" panose="020B0604020202020204" pitchFamily="34" charset="0"/>
                <a:cs typeface="Arial" panose="020B0604020202020204" pitchFamily="34" charset="0"/>
              </a:rPr>
              <a:t>mnemonic</a:t>
            </a:r>
            <a:r>
              <a:rPr lang="en-US" altLang="en-US" dirty="0">
                <a:latin typeface="Arial" panose="020B0604020202020204" pitchFamily="34" charset="0"/>
                <a:ea typeface="ＭＳ Ｐゴシック" pitchFamily="34" charset="-128"/>
                <a:cs typeface="Arial" panose="020B0604020202020204" pitchFamily="34" charset="0"/>
              </a:rPr>
              <a:t>   address field  -- comment</a:t>
            </a:r>
          </a:p>
          <a:p>
            <a:pPr>
              <a:defRPr/>
            </a:pPr>
            <a:r>
              <a:rPr lang="en-US" altLang="en-US" dirty="0">
                <a:latin typeface="Arial" panose="020B0604020202020204" pitchFamily="34" charset="0"/>
                <a:ea typeface="ＭＳ Ｐゴシック" pitchFamily="34" charset="-128"/>
                <a:cs typeface="Arial" panose="020B0604020202020204" pitchFamily="34" charset="0"/>
              </a:rPr>
              <a:t>Label is optional name for this instruction’s location</a:t>
            </a:r>
          </a:p>
          <a:p>
            <a:pPr>
              <a:defRPr/>
            </a:pPr>
            <a:r>
              <a:rPr lang="en-US" altLang="en-US" dirty="0">
                <a:solidFill>
                  <a:srgbClr val="FF0000"/>
                </a:solidFill>
                <a:latin typeface="Arial" panose="020B0604020202020204" pitchFamily="34" charset="0"/>
                <a:ea typeface="ＭＳ Ｐゴシック" pitchFamily="34" charset="-128"/>
                <a:cs typeface="Arial" panose="020B0604020202020204" pitchFamily="34" charset="0"/>
              </a:rPr>
              <a:t>Op code mnemonic and address field translate to machine language</a:t>
            </a:r>
          </a:p>
          <a:p>
            <a:pPr>
              <a:defRPr/>
            </a:pPr>
            <a:r>
              <a:rPr lang="en-US" altLang="en-US" dirty="0">
                <a:latin typeface="Arial" panose="020B0604020202020204" pitchFamily="34" charset="0"/>
                <a:ea typeface="ＭＳ Ｐゴシック" pitchFamily="34" charset="-128"/>
                <a:cs typeface="Arial" panose="020B0604020202020204" pitchFamily="34" charset="0"/>
              </a:rPr>
              <a:t>Comments are ignored by assembler—just for human use</a:t>
            </a:r>
          </a:p>
        </p:txBody>
      </p:sp>
      <p:sp>
        <p:nvSpPr>
          <p:cNvPr id="5" name="TextBox 4">
            <a:extLst>
              <a:ext uri="{FF2B5EF4-FFF2-40B4-BE49-F238E27FC236}">
                <a16:creationId xmlns:a16="http://schemas.microsoft.com/office/drawing/2014/main" id="{06981E32-F784-4FF1-B30E-9ED9C6846F0F}"/>
              </a:ext>
            </a:extLst>
          </p:cNvPr>
          <p:cNvSpPr txBox="1"/>
          <p:nvPr/>
        </p:nvSpPr>
        <p:spPr>
          <a:xfrm>
            <a:off x="3777916" y="3678715"/>
            <a:ext cx="4572000" cy="369332"/>
          </a:xfrm>
          <a:prstGeom prst="rect">
            <a:avLst/>
          </a:prstGeom>
          <a:noFill/>
        </p:spPr>
        <p:txBody>
          <a:bodyPr wrap="square">
            <a:spAutoFit/>
          </a:bodyPr>
          <a:lstStyle/>
          <a:p>
            <a:r>
              <a:rPr lang="zh-CN" altLang="en-US" dirty="0">
                <a:solidFill>
                  <a:srgbClr val="FF0000"/>
                </a:solidFill>
              </a:rPr>
              <a:t>操作码助记符和地址字段转换为机器语言</a:t>
            </a:r>
            <a:endParaRPr lang="en-US" dirty="0"/>
          </a:p>
        </p:txBody>
      </p:sp>
    </p:spTree>
    <p:extLst>
      <p:ext uri="{BB962C8B-B14F-4D97-AF65-F5344CB8AC3E}">
        <p14:creationId xmlns:p14="http://schemas.microsoft.com/office/powerpoint/2010/main" val="1561702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altLang="en-US" kern="0" dirty="0">
                <a:latin typeface="Arial" panose="020B0604020202020204" pitchFamily="34" charset="0"/>
                <a:cs typeface="Arial" panose="020B0604020202020204" pitchFamily="34" charset="0"/>
              </a:rPr>
              <a:t>Assemblers and Assembly Language (7</a:t>
            </a:r>
            <a:r>
              <a:rPr lang="en-US" altLang="en-US" kern="0" baseline="0" dirty="0">
                <a:latin typeface="Arial" panose="020B0604020202020204" pitchFamily="34" charset="0"/>
                <a:cs typeface="Arial" panose="020B0604020202020204" pitchFamily="34" charset="0"/>
              </a:rPr>
              <a:t> of 20)</a:t>
            </a:r>
            <a:endParaRPr lang="en-US" dirty="0">
              <a:latin typeface="Arial" panose="020B0604020202020204" pitchFamily="34" charset="0"/>
              <a:cs typeface="Arial" panose="020B0604020202020204" pitchFamily="34" charset="0"/>
            </a:endParaRPr>
          </a:p>
        </p:txBody>
      </p:sp>
      <p:pic>
        <p:nvPicPr>
          <p:cNvPr id="4" name="Picture 5" descr="The diagram illustrates typical assembly language instruction set. Binary O p Code 1: 0 0 0 0. Operation: LOAD X. Meaning: C O N, X arrow R. Binary O p Code 2: 0 0 0 1. Operation: STORE X. Meaning: R arrow C O N, X. Binary O p Code 3: 0 0 1 0. Operation: CLEAR X. Meaning: 0 arrow C O N, X. Binary O p Code 4: 0 0 1 1. Operation: ADD X Meaning: R + C O N, X arrow R. Binary O p Code 5: 0 1 0 0. Operation: INCREMENT X. Meaning: C O N, X + 1 arrow C O N, X. Binary O p Code 6: 0 1 0 1. Operation: SUBTRACT X. Meaning: R minus C O N, X arrow R. Binary O p Code 7: 0 1 1 0. Operation: DECREMENT X Meaning: C O N, X minus 1 arrow C O N, X. Binary O p Code 8: 0 1 1 1. Operation: COMPARE X. Meaning: if C O N, X &gt; R then G T = 1 else 0; if C O N, X = R then E Q = 1 else 0; if C O N, X &lt; R then L T = 1 else 0. Binary O p Code 9: 1 0 0 0. Operation: JUMP X. Meaning: get the next instruction from memory location X. Binary O p Code 10: 1 0 0 1. Operation: JUMPGT X. Meaning: get the next instruction from memory location X if G T = 1. Binary O p Code 11: 1 0 1 0. Operation: JUMP E Q X. Meaning: get the next instruction from memory location X if E Q = 1. Binary O p Code 12: 1 0 1 1. Operation: JUMP L T X. Meaning: get the next instruction from memory location X if L T = 1. Binary O p Code 13: 1 1 0 0. Operation: JUMP N E Q X. Meaning: get the next instruction from memory location X if E Q = 0. Binary O p Code 14: 1 1 0 1. Operation: IN X. Meaning: input an integer value from the standard input device and store into memory cell X. Binary O p Code 15: 1 1 1 0. Operation: OUT X. Meaning: output, in decimal notation, the value stored in memory cell X. Binary O p Code 16: 1 1 1 1. Operation: HALT. Meaning: stop program exec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105" y="1268743"/>
            <a:ext cx="4449791" cy="493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3489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Assemblers and Assembly Language (8 of 20)</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514350" indent="-514350">
              <a:defRPr/>
            </a:pPr>
            <a:r>
              <a:rPr lang="en-US" altLang="en-US" b="1" dirty="0">
                <a:solidFill>
                  <a:srgbClr val="FF0000"/>
                </a:solidFill>
                <a:latin typeface="Arial" panose="020B0604020202020204" pitchFamily="34" charset="0"/>
                <a:cs typeface="Arial" panose="020B0604020202020204" pitchFamily="34" charset="0"/>
              </a:rPr>
              <a:t>Pseudo-op</a:t>
            </a:r>
            <a:r>
              <a:rPr lang="en-US" altLang="en-US" dirty="0">
                <a:solidFill>
                  <a:srgbClr val="FF0000"/>
                </a:solidFill>
                <a:latin typeface="Arial" panose="020B0604020202020204" pitchFamily="34" charset="0"/>
                <a:cs typeface="Arial" panose="020B0604020202020204" pitchFamily="34" charset="0"/>
              </a:rPr>
              <a:t>: commands in the program directed to the assembler, not converted to machine instructions:</a:t>
            </a:r>
          </a:p>
          <a:p>
            <a:pPr lvl="1" indent="-514350">
              <a:defRPr/>
            </a:pPr>
            <a:r>
              <a:rPr lang="en-US" altLang="en-US" dirty="0">
                <a:latin typeface="Arial" panose="020B0604020202020204" pitchFamily="34" charset="0"/>
                <a:cs typeface="Arial" panose="020B0604020202020204" pitchFamily="34" charset="0"/>
              </a:rPr>
              <a:t>.BEGIN and .END to mark where instructions are</a:t>
            </a:r>
          </a:p>
          <a:p>
            <a:pPr lvl="1" indent="-514350">
              <a:defRPr/>
            </a:pPr>
            <a:r>
              <a:rPr lang="en-US" altLang="en-US" dirty="0">
                <a:latin typeface="Arial" panose="020B0604020202020204" pitchFamily="34" charset="0"/>
                <a:cs typeface="Arial" panose="020B0604020202020204" pitchFamily="34" charset="0"/>
              </a:rPr>
              <a:t>.DATA to mark memory location as holding data:</a:t>
            </a:r>
          </a:p>
          <a:p>
            <a:pPr marL="1314450" lvl="2" indent="-400050">
              <a:buFontTx/>
              <a:buNone/>
              <a:defRPr/>
            </a:pPr>
            <a:r>
              <a:rPr lang="en-US" altLang="en-US" dirty="0">
                <a:latin typeface="Arial" panose="020B0604020202020204" pitchFamily="34" charset="0"/>
                <a:cs typeface="Arial" panose="020B0604020202020204" pitchFamily="34" charset="0"/>
              </a:rPr>
              <a:t>COUNTER:	.DATA	0</a:t>
            </a:r>
          </a:p>
          <a:p>
            <a:pPr marL="1314450" lvl="2" indent="-400050">
              <a:buFontTx/>
              <a:buNone/>
              <a:defRPr/>
            </a:pPr>
            <a:r>
              <a:rPr lang="en-US" altLang="en-US" dirty="0">
                <a:latin typeface="Arial" panose="020B0604020202020204" pitchFamily="34" charset="0"/>
                <a:cs typeface="Arial" panose="020B0604020202020204" pitchFamily="34" charset="0"/>
              </a:rPr>
              <a:t>X:	.DATA	12</a:t>
            </a:r>
          </a:p>
        </p:txBody>
      </p:sp>
      <p:sp>
        <p:nvSpPr>
          <p:cNvPr id="4" name="TextBox 3">
            <a:extLst>
              <a:ext uri="{FF2B5EF4-FFF2-40B4-BE49-F238E27FC236}">
                <a16:creationId xmlns:a16="http://schemas.microsoft.com/office/drawing/2014/main" id="{82E4CCE4-86EB-41F5-86F3-11B133F1980B}"/>
              </a:ext>
            </a:extLst>
          </p:cNvPr>
          <p:cNvSpPr txBox="1"/>
          <p:nvPr/>
        </p:nvSpPr>
        <p:spPr>
          <a:xfrm>
            <a:off x="1058780" y="1011372"/>
            <a:ext cx="2271560" cy="369332"/>
          </a:xfrm>
          <a:prstGeom prst="rect">
            <a:avLst/>
          </a:prstGeom>
          <a:noFill/>
        </p:spPr>
        <p:txBody>
          <a:bodyPr wrap="square" rtlCol="0">
            <a:spAutoFit/>
          </a:bodyPr>
          <a:lstStyle/>
          <a:p>
            <a:r>
              <a:rPr lang="zh-CN" altLang="en-US" b="1" dirty="0">
                <a:solidFill>
                  <a:srgbClr val="FF0000"/>
                </a:solidFill>
              </a:rPr>
              <a:t>伪</a:t>
            </a:r>
            <a:r>
              <a:rPr lang="en-US" altLang="zh-CN" b="1" dirty="0">
                <a:solidFill>
                  <a:srgbClr val="FF0000"/>
                </a:solidFill>
              </a:rPr>
              <a:t>-op</a:t>
            </a:r>
            <a:r>
              <a:rPr lang="zh-CN" altLang="en-US" b="1" dirty="0">
                <a:solidFill>
                  <a:srgbClr val="FF0000"/>
                </a:solidFill>
              </a:rPr>
              <a:t>（伪指令）</a:t>
            </a:r>
            <a:endParaRPr lang="en-US" b="1" dirty="0">
              <a:solidFill>
                <a:srgbClr val="FF0000"/>
              </a:solidFill>
            </a:endParaRPr>
          </a:p>
        </p:txBody>
      </p:sp>
      <p:sp>
        <p:nvSpPr>
          <p:cNvPr id="6" name="TextBox 5">
            <a:extLst>
              <a:ext uri="{FF2B5EF4-FFF2-40B4-BE49-F238E27FC236}">
                <a16:creationId xmlns:a16="http://schemas.microsoft.com/office/drawing/2014/main" id="{42B6566C-6601-402F-95E6-9EAC6FEA0401}"/>
              </a:ext>
            </a:extLst>
          </p:cNvPr>
          <p:cNvSpPr txBox="1"/>
          <p:nvPr/>
        </p:nvSpPr>
        <p:spPr>
          <a:xfrm>
            <a:off x="8534400" y="1231266"/>
            <a:ext cx="4572000" cy="923330"/>
          </a:xfrm>
          <a:prstGeom prst="rect">
            <a:avLst/>
          </a:prstGeom>
          <a:noFill/>
        </p:spPr>
        <p:txBody>
          <a:bodyPr wrap="square">
            <a:spAutoFit/>
          </a:bodyPr>
          <a:lstStyle/>
          <a:p>
            <a:r>
              <a:rPr lang="en-US" altLang="zh-CN" dirty="0">
                <a:solidFill>
                  <a:srgbClr val="FF0000"/>
                </a:solidFill>
              </a:rPr>
              <a:t>Pseudo-op</a:t>
            </a:r>
            <a:r>
              <a:rPr lang="zh-CN" altLang="en-US" dirty="0">
                <a:solidFill>
                  <a:srgbClr val="FF0000"/>
                </a:solidFill>
              </a:rPr>
              <a:t>：程序中定向到汇编器的命令，未转换为机器指令：（</a:t>
            </a:r>
            <a:r>
              <a:rPr lang="en-US" altLang="zh-CN" dirty="0">
                <a:solidFill>
                  <a:srgbClr val="FF0000"/>
                </a:solidFill>
              </a:rPr>
              <a:t>assembler</a:t>
            </a:r>
            <a:r>
              <a:rPr lang="zh-CN" altLang="en-US" dirty="0">
                <a:solidFill>
                  <a:srgbClr val="FF0000"/>
                </a:solidFill>
              </a:rPr>
              <a:t>不会把这些转成</a:t>
            </a:r>
            <a:r>
              <a:rPr lang="en-US" altLang="zh-CN" dirty="0">
                <a:solidFill>
                  <a:srgbClr val="FF0000"/>
                </a:solidFill>
              </a:rPr>
              <a:t>machine language</a:t>
            </a:r>
            <a:r>
              <a:rPr lang="zh-CN" altLang="en-US" dirty="0">
                <a:solidFill>
                  <a:srgbClr val="FF0000"/>
                </a:solidFill>
              </a:rPr>
              <a:t>）</a:t>
            </a:r>
          </a:p>
        </p:txBody>
      </p:sp>
    </p:spTree>
    <p:extLst>
      <p:ext uri="{BB962C8B-B14F-4D97-AF65-F5344CB8AC3E}">
        <p14:creationId xmlns:p14="http://schemas.microsoft.com/office/powerpoint/2010/main" val="2889787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altLang="en-US" kern="0" dirty="0">
                <a:latin typeface="Arial" panose="020B0604020202020204" pitchFamily="34" charset="0"/>
                <a:cs typeface="Arial" panose="020B0604020202020204" pitchFamily="34" charset="0"/>
              </a:rPr>
              <a:t>Assemblers and Assembly Language (9 of 20)</a:t>
            </a:r>
            <a:endParaRPr lang="en-US" dirty="0">
              <a:latin typeface="Arial" panose="020B0604020202020204" pitchFamily="34" charset="0"/>
              <a:cs typeface="Arial" panose="020B0604020202020204" pitchFamily="34" charset="0"/>
            </a:endParaRPr>
          </a:p>
        </p:txBody>
      </p:sp>
      <p:pic>
        <p:nvPicPr>
          <p:cNvPr id="4" name="Picture 5" descr="An illustration shows “Structure of a typical assembly language program.” In three parts as follows: &#10;.BEGIN: This must be the first line of the program; Assembly language instructions like those in figure 6.5&#10;HALT: This instruction terminates execution of the program; Data generation pseudo-ops such as .DATA are placed here, after the Halt&#10;.END: This must be the last line of the program"/>
          <p:cNvPicPr>
            <a:picLocks noChangeAspect="1" noChangeArrowheads="1"/>
          </p:cNvPicPr>
          <p:nvPr/>
        </p:nvPicPr>
        <p:blipFill>
          <a:blip r:embed="rId2">
            <a:extLst>
              <a:ext uri="{28A0092B-C50C-407E-A947-70E740481C1C}">
                <a14:useLocalDpi xmlns:a14="http://schemas.microsoft.com/office/drawing/2010/main" val="0"/>
              </a:ext>
            </a:extLst>
          </a:blip>
          <a:srcRect r="19995"/>
          <a:stretch>
            <a:fillRect/>
          </a:stretch>
        </p:blipFill>
        <p:spPr bwMode="auto">
          <a:xfrm>
            <a:off x="1143000" y="1828800"/>
            <a:ext cx="6858000" cy="312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8687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639" y="1"/>
            <a:ext cx="8360723" cy="1060704"/>
          </a:xfrm>
        </p:spPr>
        <p:txBody>
          <a:bodyPr anchor="ctr">
            <a:noAutofit/>
          </a:bodyPr>
          <a:lstStyle/>
          <a:p>
            <a:pPr algn="ctr"/>
            <a:r>
              <a:rPr lang="en-US" altLang="en-US" sz="3600" b="0" dirty="0">
                <a:latin typeface="Arial" panose="020B0604020202020204" pitchFamily="34" charset="0"/>
                <a:ea typeface="ＭＳ Ｐゴシック" panose="020B0600070205080204" pitchFamily="34" charset="-128"/>
                <a:cs typeface="Arial" panose="020B0604020202020204" pitchFamily="34" charset="0"/>
              </a:rPr>
              <a:t>Assemblers and Assembly Language (10 of 20)</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sz="half" idx="1"/>
          </p:nvPr>
        </p:nvSpPr>
        <p:spPr>
          <a:xfrm>
            <a:off x="271224" y="1234440"/>
            <a:ext cx="3308884" cy="4892040"/>
          </a:xfrm>
        </p:spPr>
        <p:txBody>
          <a:bodyPr>
            <a:normAutofit/>
          </a:bodyPr>
          <a:lstStyle/>
          <a:p>
            <a:pPr marL="514350" indent="-514350">
              <a:buFontTx/>
              <a:buNone/>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Simple examples:</a:t>
            </a:r>
          </a:p>
          <a:p>
            <a:pPr marL="914400" indent="0">
              <a:buFontTx/>
              <a:buNone/>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x = y + 3</a:t>
            </a:r>
          </a:p>
          <a:p>
            <a:pPr marL="914400" indent="0">
              <a:buFontTx/>
              <a:buNone/>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input a and b</a:t>
            </a:r>
          </a:p>
          <a:p>
            <a:pPr marL="914400" indent="0">
              <a:buFontTx/>
              <a:buNone/>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while a &gt; b do</a:t>
            </a:r>
          </a:p>
          <a:p>
            <a:pPr marL="914400" indent="0">
              <a:buFontTx/>
              <a:buNone/>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print a</a:t>
            </a:r>
          </a:p>
          <a:p>
            <a:pPr marL="914400" indent="0">
              <a:buFontTx/>
              <a:buNone/>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a = a – 2</a:t>
            </a:r>
          </a:p>
        </p:txBody>
      </p:sp>
      <p:sp>
        <p:nvSpPr>
          <p:cNvPr id="4" name="Content Placeholder 3"/>
          <p:cNvSpPr>
            <a:spLocks noGrp="1"/>
          </p:cNvSpPr>
          <p:nvPr>
            <p:ph sz="half" idx="2"/>
          </p:nvPr>
        </p:nvSpPr>
        <p:spPr>
          <a:xfrm>
            <a:off x="4200040" y="1125954"/>
            <a:ext cx="4533254" cy="5166358"/>
          </a:xfrm>
        </p:spPr>
        <p:txBody>
          <a:bodyPr>
            <a:noAutofit/>
          </a:bodyPr>
          <a:lstStyle/>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LOAD Y</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ADD THREE</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STORE X</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		-- Data comes after .END</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X:		.DATA 0  -- X is initially 0</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Y:		.DATA 5 – Y is initially 5</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THREE:	.DATA 3 –The constant 3</a:t>
            </a:r>
          </a:p>
          <a:p>
            <a:pPr>
              <a:buFontTx/>
              <a:buNone/>
              <a:tabLst>
                <a:tab pos="687388" algn="l"/>
                <a:tab pos="2740025" algn="l"/>
              </a:tabLst>
            </a:pPr>
            <a:endParaRPr lang="en-US" altLang="en-US" sz="1400" dirty="0">
              <a:latin typeface="Arial" panose="020B0604020202020204" pitchFamily="34" charset="0"/>
              <a:ea typeface="ＭＳ Ｐゴシック" panose="020B0600070205080204" pitchFamily="34" charset="-128"/>
              <a:cs typeface="Arial" panose="020B0604020202020204" pitchFamily="34" charset="0"/>
            </a:endParaRP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IN A</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IN B</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LOOP1:	LOAD A	A:  .DATA 0</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		COMPARE B	B:  .DATA 0</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		JUMPLT LOOP1END	TWO: .DATA 2</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		JUMPEQ LOOP1END</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		OUT A</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		LOAD A</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		SUBTRACT TWO</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		STORE A</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		JUMP LOOP1</a:t>
            </a:r>
          </a:p>
          <a:p>
            <a:pPr>
              <a:buFontTx/>
              <a:buNone/>
              <a:tabLst>
                <a:tab pos="687388" algn="l"/>
                <a:tab pos="2740025" algn="l"/>
              </a:tabLst>
            </a:pPr>
            <a:r>
              <a:rPr lang="en-US" altLang="en-US" sz="1400" dirty="0">
                <a:latin typeface="Arial" panose="020B0604020202020204" pitchFamily="34" charset="0"/>
                <a:ea typeface="ＭＳ Ｐゴシック" panose="020B0600070205080204" pitchFamily="34" charset="-128"/>
                <a:cs typeface="Arial" panose="020B0604020202020204" pitchFamily="34" charset="0"/>
              </a:rPr>
              <a:t>LOOP1END: …</a:t>
            </a:r>
          </a:p>
        </p:txBody>
      </p:sp>
    </p:spTree>
    <p:extLst>
      <p:ext uri="{BB962C8B-B14F-4D97-AF65-F5344CB8AC3E}">
        <p14:creationId xmlns:p14="http://schemas.microsoft.com/office/powerpoint/2010/main" val="2469793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49835" y="1"/>
            <a:ext cx="8444330" cy="1060704"/>
          </a:xfrm>
        </p:spPr>
        <p:txBody>
          <a:bodyPr>
            <a:noAutofit/>
          </a:bodyPr>
          <a:lstStyle/>
          <a:p>
            <a:r>
              <a:rPr lang="en-US" altLang="en-US" kern="0" dirty="0">
                <a:latin typeface="Arial" panose="020B0604020202020204" pitchFamily="34" charset="0"/>
                <a:cs typeface="Arial" panose="020B0604020202020204" pitchFamily="34" charset="0"/>
              </a:rPr>
              <a:t>Assemblers and Assembly Language (11 of 20)</a:t>
            </a:r>
            <a:endParaRPr lang="en-US" dirty="0">
              <a:latin typeface="Arial" panose="020B0604020202020204" pitchFamily="34" charset="0"/>
              <a:cs typeface="Arial" panose="020B0604020202020204" pitchFamily="34" charset="0"/>
            </a:endParaRPr>
          </a:p>
        </p:txBody>
      </p:sp>
      <p:pic>
        <p:nvPicPr>
          <p:cNvPr id="7" name="Picture 5" descr="Two columns, steps and operation. Step, 1; operation, set the value of Sum to 0. Step, 2; operation, input the first number N. Step, 3; operation, while N is not negative do. Step, 4; operation, indented once, add the value of N to Sum. Step, 5; operation, indented once, input the next data value N. Step, 6; operation, end of the loop. Step, 7; operation, print out Sum. Step, 8; operation, stop. "/>
          <p:cNvPicPr>
            <a:picLocks noChangeAspect="1" noChangeArrowheads="1"/>
          </p:cNvPicPr>
          <p:nvPr/>
        </p:nvPicPr>
        <p:blipFill>
          <a:blip r:embed="rId2">
            <a:extLst>
              <a:ext uri="{28A0092B-C50C-407E-A947-70E740481C1C}">
                <a14:useLocalDpi xmlns:a14="http://schemas.microsoft.com/office/drawing/2010/main" val="0"/>
              </a:ext>
            </a:extLst>
          </a:blip>
          <a:srcRect r="13702"/>
          <a:stretch>
            <a:fillRect/>
          </a:stretch>
        </p:blipFill>
        <p:spPr bwMode="auto">
          <a:xfrm>
            <a:off x="1371600" y="1600200"/>
            <a:ext cx="64008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798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1639" y="1"/>
            <a:ext cx="8360723" cy="1060704"/>
          </a:xfrm>
        </p:spPr>
        <p:txBody>
          <a:bodyPr>
            <a:noAutofit/>
          </a:bodyPr>
          <a:lstStyle/>
          <a:p>
            <a:r>
              <a:rPr lang="en-US" altLang="en-US" kern="0" dirty="0">
                <a:latin typeface="Arial" panose="020B0604020202020204" pitchFamily="34" charset="0"/>
                <a:cs typeface="Arial" panose="020B0604020202020204" pitchFamily="34" charset="0"/>
              </a:rPr>
              <a:t>Assemblers and Assembly Language (12 of 20)</a:t>
            </a:r>
            <a:endParaRPr lang="en-US" dirty="0">
              <a:latin typeface="Arial" panose="020B0604020202020204" pitchFamily="34" charset="0"/>
              <a:cs typeface="Arial" panose="020B0604020202020204" pitchFamily="34" charset="0"/>
            </a:endParaRPr>
          </a:p>
        </p:txBody>
      </p:sp>
      <p:pic>
        <p:nvPicPr>
          <p:cNvPr id="4" name="Picture 4" descr="The diagram illustrates assembly language program to compute the sum of nonnegative numbers. Instruction 1: period, BEGIN. Function: this marks the start of the program. Instruction 2: CLEAR SUM. Function: set the running sum to 0, line 1. Instruction 3: IN N. Function: input the first number N, line 2. The next three instructions test whether N is a negative number, line 3. Instruction 4: AGAIN: LOAD ZERO. Function: put 0 into register R. Instruction 5: COMPARE N. Function: Compare N and 0. Instruction 6: JUMP L T N E G. Function: go to N E G if N &lt; 0. We get here if N greater than or equal to 0. We add N to the running sum, line 4. Instruction 7: LOAD SUM. Function: put SUM into R. Instruction 8: ADD N. Function: Add N. R now holds, N 1 SUM. Instruction 9: STORE SUM. Function: put the result back into SUM. Get the next input value, line 5. Instruction 10: IN N. Function: now go back and repeat the loop, line 6. Instruction 11: JUMP AGAIN. Function: we get to this section of the program only when we encounter a negative value. Instruction 12: N E G, colon, OUT SUM. Function: print the sum, line 7. Instruction 13: HALT. Function: and stop, line 8, Here are the data generation pseudo-ops. Instruction 14: SUM, colon, period, DATA 0. Function: the running sum goes here. Instruction 15: N, colon, period, DATA 0. Function: the input data are placed here. Instruction 16: ZERO, colon, period, DATA 0. Function: the constant 0. Now we mark the end of the entire program. Instruction 17: period,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272" y="1256212"/>
            <a:ext cx="4585456" cy="4876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0114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835" y="1"/>
            <a:ext cx="8444330"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Assemblers and Assembly Language (13 of 20)</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514350" indent="-514350">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Translation and Loading</a:t>
            </a:r>
          </a:p>
          <a:p>
            <a:pPr marL="514350" indent="-514350"/>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Assembler</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 translates to machine language</a:t>
            </a:r>
            <a:r>
              <a:rPr lang="en-US" altLang="en-US" dirty="0">
                <a:latin typeface="Arial" panose="020B0604020202020204" pitchFamily="34" charset="0"/>
                <a:ea typeface="ＭＳ Ｐゴシック" panose="020B0600070205080204" pitchFamily="34" charset="-128"/>
                <a:cs typeface="Arial" panose="020B0604020202020204" pitchFamily="34" charset="0"/>
              </a:rPr>
              <a:t>:</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Converts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symbolic op codes to binary </a:t>
            </a:r>
            <a:r>
              <a:rPr lang="en-US" altLang="en-US" dirty="0">
                <a:latin typeface="Arial" panose="020B0604020202020204" pitchFamily="34" charset="0"/>
                <a:ea typeface="ＭＳ Ｐゴシック" panose="020B0600070205080204" pitchFamily="34" charset="-128"/>
                <a:cs typeface="Arial" panose="020B0604020202020204" pitchFamily="34" charset="0"/>
              </a:rPr>
              <a:t>equivalents</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Converts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symbolic labels to memory addresses</a:t>
            </a:r>
          </a:p>
          <a:p>
            <a:pPr lvl="1" indent="-514350"/>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Performs pseudo-op actions</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Writes </a:t>
            </a:r>
            <a:r>
              <a:rPr lang="en-US" altLang="en-US" b="1" dirty="0">
                <a:latin typeface="Arial" panose="020B0604020202020204" pitchFamily="34" charset="0"/>
                <a:ea typeface="ＭＳ Ｐゴシック" panose="020B0600070205080204" pitchFamily="34" charset="-128"/>
                <a:cs typeface="Arial" panose="020B0604020202020204" pitchFamily="34" charset="0"/>
              </a:rPr>
              <a:t>object file</a:t>
            </a:r>
            <a:r>
              <a:rPr lang="en-US" altLang="en-US" dirty="0">
                <a:latin typeface="Arial" panose="020B0604020202020204" pitchFamily="34" charset="0"/>
                <a:ea typeface="ＭＳ Ｐゴシック" panose="020B0600070205080204" pitchFamily="34" charset="-128"/>
                <a:cs typeface="Arial" panose="020B0604020202020204" pitchFamily="34" charset="0"/>
              </a:rPr>
              <a:t> containing machine instructions</a:t>
            </a:r>
          </a:p>
          <a:p>
            <a:pPr marL="514350" indent="-514350"/>
            <a:r>
              <a:rPr lang="en-US" altLang="en-US" b="1" dirty="0">
                <a:latin typeface="Arial" panose="020B0604020202020204" pitchFamily="34" charset="0"/>
                <a:ea typeface="ＭＳ Ｐゴシック" panose="020B0600070205080204" pitchFamily="34" charset="-128"/>
                <a:cs typeface="Arial" panose="020B0604020202020204" pitchFamily="34" charset="0"/>
              </a:rPr>
              <a:t>Loader</a:t>
            </a:r>
            <a:r>
              <a:rPr lang="en-US" altLang="en-US" dirty="0">
                <a:latin typeface="Arial" panose="020B0604020202020204" pitchFamily="34" charset="0"/>
                <a:ea typeface="ＭＳ Ｐゴシック" panose="020B0600070205080204" pitchFamily="34" charset="-128"/>
                <a:cs typeface="Arial" panose="020B0604020202020204" pitchFamily="34" charset="0"/>
              </a:rPr>
              <a:t> gets program ready to run:</a:t>
            </a:r>
          </a:p>
          <a:p>
            <a:pPr lvl="1" indent="-514350"/>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Places instructions in memory</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Triggers the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hardware to run</a:t>
            </a:r>
            <a:r>
              <a:rPr lang="en-US" altLang="en-US" dirty="0">
                <a:latin typeface="Arial" panose="020B0604020202020204" pitchFamily="34" charset="0"/>
                <a:ea typeface="ＭＳ Ｐゴシック" panose="020B0600070205080204" pitchFamily="34" charset="-128"/>
                <a:cs typeface="Arial" panose="020B0604020202020204" pitchFamily="34" charset="0"/>
              </a:rPr>
              <a:t> the program </a:t>
            </a:r>
          </a:p>
        </p:txBody>
      </p:sp>
      <p:sp>
        <p:nvSpPr>
          <p:cNvPr id="5" name="TextBox 4">
            <a:extLst>
              <a:ext uri="{FF2B5EF4-FFF2-40B4-BE49-F238E27FC236}">
                <a16:creationId xmlns:a16="http://schemas.microsoft.com/office/drawing/2014/main" id="{F4E4D570-833C-4BC8-99F4-48AC4C77D45C}"/>
              </a:ext>
            </a:extLst>
          </p:cNvPr>
          <p:cNvSpPr txBox="1"/>
          <p:nvPr/>
        </p:nvSpPr>
        <p:spPr>
          <a:xfrm>
            <a:off x="5334000" y="3117724"/>
            <a:ext cx="4572000" cy="369332"/>
          </a:xfrm>
          <a:prstGeom prst="rect">
            <a:avLst/>
          </a:prstGeom>
          <a:noFill/>
        </p:spPr>
        <p:txBody>
          <a:bodyPr wrap="square">
            <a:spAutoFit/>
          </a:bodyPr>
          <a:lstStyle/>
          <a:p>
            <a:r>
              <a:rPr lang="zh-CN"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（不转换为</a:t>
            </a:r>
            <a:r>
              <a:rPr lang="en-US" altLang="zh-CN"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machine language</a:t>
            </a:r>
            <a:r>
              <a:rPr lang="zh-CN"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t>
            </a:r>
            <a:endParaRPr lang="en-US" dirty="0"/>
          </a:p>
        </p:txBody>
      </p:sp>
      <p:sp>
        <p:nvSpPr>
          <p:cNvPr id="7" name="TextBox 6">
            <a:extLst>
              <a:ext uri="{FF2B5EF4-FFF2-40B4-BE49-F238E27FC236}">
                <a16:creationId xmlns:a16="http://schemas.microsoft.com/office/drawing/2014/main" id="{059EEEED-01DC-4EB2-8028-7D2B36F9B127}"/>
              </a:ext>
            </a:extLst>
          </p:cNvPr>
          <p:cNvSpPr txBox="1"/>
          <p:nvPr/>
        </p:nvSpPr>
        <p:spPr>
          <a:xfrm>
            <a:off x="1665514" y="5257402"/>
            <a:ext cx="1034143" cy="369332"/>
          </a:xfrm>
          <a:prstGeom prst="rect">
            <a:avLst/>
          </a:prstGeom>
          <a:noFill/>
        </p:spPr>
        <p:txBody>
          <a:bodyPr wrap="square">
            <a:spAutoFit/>
          </a:bodyPr>
          <a:lstStyle/>
          <a:p>
            <a:r>
              <a:rPr lang="zh-CN" altLang="en-US" dirty="0">
                <a:solidFill>
                  <a:srgbClr val="FF0000"/>
                </a:solidFill>
              </a:rPr>
              <a:t>触发</a:t>
            </a:r>
            <a:endParaRPr lang="en-US" dirty="0">
              <a:solidFill>
                <a:srgbClr val="FF0000"/>
              </a:solidFill>
            </a:endParaRPr>
          </a:p>
        </p:txBody>
      </p:sp>
    </p:spTree>
    <p:extLst>
      <p:ext uri="{BB962C8B-B14F-4D97-AF65-F5344CB8AC3E}">
        <p14:creationId xmlns:p14="http://schemas.microsoft.com/office/powerpoint/2010/main" val="2210657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639" y="1"/>
            <a:ext cx="8360723"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Assemblers and Assembly Language (14 of 20)</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16310" y="1231266"/>
            <a:ext cx="4640825" cy="4894898"/>
          </a:xfrm>
        </p:spPr>
        <p:txBody>
          <a:bodyPr/>
          <a:lstStyle/>
          <a:p>
            <a:pPr marL="0" indent="0">
              <a:buFontTx/>
              <a:buNone/>
            </a:pP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Converting symbolic op codes to binary ones</a:t>
            </a:r>
          </a:p>
          <a:p>
            <a:pPr marL="514350"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Assembler maintains a table</a:t>
            </a:r>
          </a:p>
          <a:p>
            <a:pPr marL="514350"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Assembler looks up </a:t>
            </a:r>
            <a:br>
              <a:rPr lang="en-US" altLang="en-US" dirty="0">
                <a:latin typeface="Arial" panose="020B0604020202020204" pitchFamily="34" charset="0"/>
                <a:ea typeface="ＭＳ Ｐゴシック" panose="020B0600070205080204" pitchFamily="34" charset="-128"/>
                <a:cs typeface="Arial" panose="020B0604020202020204" pitchFamily="34" charset="0"/>
              </a:rPr>
            </a:br>
            <a:r>
              <a:rPr lang="en-US" altLang="en-US" dirty="0">
                <a:latin typeface="Arial" panose="020B0604020202020204" pitchFamily="34" charset="0"/>
                <a:ea typeface="ＭＳ Ｐゴシック" panose="020B0600070205080204" pitchFamily="34" charset="-128"/>
                <a:cs typeface="Arial" panose="020B0604020202020204" pitchFamily="34" charset="0"/>
              </a:rPr>
              <a:t>symbolic op codes in the </a:t>
            </a:r>
            <a:br>
              <a:rPr lang="en-US" altLang="en-US" dirty="0">
                <a:latin typeface="Arial" panose="020B0604020202020204" pitchFamily="34" charset="0"/>
                <a:ea typeface="ＭＳ Ｐゴシック" panose="020B0600070205080204" pitchFamily="34" charset="-128"/>
                <a:cs typeface="Arial" panose="020B0604020202020204" pitchFamily="34" charset="0"/>
              </a:rPr>
            </a:br>
            <a:r>
              <a:rPr lang="en-US" altLang="en-US" dirty="0">
                <a:latin typeface="Arial" panose="020B0604020202020204" pitchFamily="34" charset="0"/>
                <a:ea typeface="ＭＳ Ｐゴシック" panose="020B0600070205080204" pitchFamily="34" charset="-128"/>
                <a:cs typeface="Arial" panose="020B0604020202020204" pitchFamily="34" charset="0"/>
              </a:rPr>
              <a:t>table and substitutes the </a:t>
            </a:r>
            <a:br>
              <a:rPr lang="en-US" altLang="en-US" dirty="0">
                <a:latin typeface="Arial" panose="020B0604020202020204" pitchFamily="34" charset="0"/>
                <a:ea typeface="ＭＳ Ｐゴシック" panose="020B0600070205080204" pitchFamily="34" charset="-128"/>
                <a:cs typeface="Arial" panose="020B0604020202020204" pitchFamily="34" charset="0"/>
              </a:rPr>
            </a:br>
            <a:r>
              <a:rPr lang="en-US" altLang="en-US" dirty="0">
                <a:latin typeface="Arial" panose="020B0604020202020204" pitchFamily="34" charset="0"/>
                <a:ea typeface="ＭＳ Ｐゴシック" panose="020B0600070205080204" pitchFamily="34" charset="-128"/>
                <a:cs typeface="Arial" panose="020B0604020202020204" pitchFamily="34" charset="0"/>
              </a:rPr>
              <a:t>binary analogue </a:t>
            </a:r>
          </a:p>
          <a:p>
            <a:pPr marL="514350"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Use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binary search </a:t>
            </a:r>
            <a:r>
              <a:rPr lang="en-US" altLang="en-US" dirty="0">
                <a:latin typeface="Arial" panose="020B0604020202020204" pitchFamily="34" charset="0"/>
                <a:ea typeface="ＭＳ Ｐゴシック" panose="020B0600070205080204" pitchFamily="34" charset="-128"/>
                <a:cs typeface="Arial" panose="020B0604020202020204" pitchFamily="34" charset="0"/>
              </a:rPr>
              <a:t>to </a:t>
            </a:r>
            <a:br>
              <a:rPr lang="en-US" altLang="en-US" dirty="0">
                <a:latin typeface="Arial" panose="020B0604020202020204" pitchFamily="34" charset="0"/>
                <a:ea typeface="ＭＳ Ｐゴシック" panose="020B0600070205080204" pitchFamily="34" charset="-128"/>
                <a:cs typeface="Arial" panose="020B0604020202020204" pitchFamily="34" charset="0"/>
              </a:rPr>
            </a:br>
            <a:r>
              <a:rPr lang="en-US" altLang="en-US" dirty="0">
                <a:latin typeface="Arial" panose="020B0604020202020204" pitchFamily="34" charset="0"/>
                <a:ea typeface="ＭＳ Ｐゴシック" panose="020B0600070205080204" pitchFamily="34" charset="-128"/>
                <a:cs typeface="Arial" panose="020B0604020202020204" pitchFamily="34" charset="0"/>
              </a:rPr>
              <a:t>optimize table lookups</a:t>
            </a:r>
          </a:p>
        </p:txBody>
      </p:sp>
      <p:pic>
        <p:nvPicPr>
          <p:cNvPr id="4" name="Picture 6" descr="The structure of op code table has two columns: operation and binary values. Operation, add; binary value, 0 0 1 1. Operation, clear; binary value, 0 0 1 0. Operation, compare; binary value, 0 1 1 1. Operation, decrement; binary value, 0 1 1 0. Operation, halt; binary value, 1 1 1 1. Operation, out; binary value, 1 1 1 0, up to, operation, store; binary value, 0 0 0 1. Operation, subtract, binary value, 0 1 0 1. "/>
          <p:cNvPicPr>
            <a:picLocks noChangeAspect="1" noChangeArrowheads="1"/>
          </p:cNvPicPr>
          <p:nvPr/>
        </p:nvPicPr>
        <p:blipFill>
          <a:blip r:embed="rId3">
            <a:extLst>
              <a:ext uri="{28A0092B-C50C-407E-A947-70E740481C1C}">
                <a14:useLocalDpi xmlns:a14="http://schemas.microsoft.com/office/drawing/2010/main" val="0"/>
              </a:ext>
            </a:extLst>
          </a:blip>
          <a:srcRect r="50000"/>
          <a:stretch>
            <a:fillRect/>
          </a:stretch>
        </p:blipFill>
        <p:spPr bwMode="auto">
          <a:xfrm>
            <a:off x="5268781" y="1752436"/>
            <a:ext cx="3591189" cy="3853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0718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639" y="1"/>
            <a:ext cx="8360723"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Assemblers and Assembly Language (15 of 20)</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514350" indent="-514350">
              <a:buFontTx/>
              <a:buNone/>
            </a:pP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Converting symbolic labels to memory addresses</a:t>
            </a:r>
          </a:p>
          <a:p>
            <a:pPr marL="514350"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Assembler needs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passes</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 </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Looks over assembly code two times</a:t>
            </a:r>
          </a:p>
          <a:p>
            <a:pPr marL="514350" indent="-514350"/>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First pass:</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Keeps a count of how many instructions from the start</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Collects symbolic labels and add to </a:t>
            </a:r>
            <a:r>
              <a:rPr lang="en-US" altLang="en-US" b="1" dirty="0">
                <a:latin typeface="Arial" panose="020B0604020202020204" pitchFamily="34" charset="0"/>
                <a:ea typeface="ＭＳ Ｐゴシック" panose="020B0600070205080204" pitchFamily="34" charset="-128"/>
                <a:cs typeface="Arial" panose="020B0604020202020204" pitchFamily="34" charset="0"/>
              </a:rPr>
              <a:t>symbol table</a:t>
            </a:r>
            <a:r>
              <a:rPr lang="en-US" altLang="en-US" dirty="0">
                <a:latin typeface="Arial" panose="020B0604020202020204" pitchFamily="34" charset="0"/>
                <a:ea typeface="ＭＳ Ｐゴシック" panose="020B0600070205080204" pitchFamily="34" charset="-128"/>
                <a:cs typeface="Arial" panose="020B0604020202020204" pitchFamily="34" charset="0"/>
              </a:rPr>
              <a:t> along with location counter</a:t>
            </a:r>
          </a:p>
        </p:txBody>
      </p:sp>
      <p:sp>
        <p:nvSpPr>
          <p:cNvPr id="5" name="TextBox 4">
            <a:extLst>
              <a:ext uri="{FF2B5EF4-FFF2-40B4-BE49-F238E27FC236}">
                <a16:creationId xmlns:a16="http://schemas.microsoft.com/office/drawing/2014/main" id="{FC79927B-EC77-4837-ABFB-0541B9C88A23}"/>
              </a:ext>
            </a:extLst>
          </p:cNvPr>
          <p:cNvSpPr txBox="1"/>
          <p:nvPr/>
        </p:nvSpPr>
        <p:spPr>
          <a:xfrm>
            <a:off x="6187786" y="1739263"/>
            <a:ext cx="2956214" cy="923330"/>
          </a:xfrm>
          <a:prstGeom prst="rect">
            <a:avLst/>
          </a:prstGeom>
          <a:noFill/>
        </p:spPr>
        <p:txBody>
          <a:bodyPr wrap="square">
            <a:spAutoFit/>
          </a:bodyPr>
          <a:lstStyle/>
          <a:p>
            <a:r>
              <a:rPr lang="zh-CN" altLang="en-US" dirty="0"/>
              <a:t>将符号标签转换为内存地址</a:t>
            </a:r>
          </a:p>
          <a:p>
            <a:pPr marL="171450" indent="-171450">
              <a:buFont typeface="Arial" panose="020B0604020202020204" pitchFamily="34" charset="0"/>
              <a:buChar char="•"/>
            </a:pPr>
            <a:r>
              <a:rPr lang="zh-CN" altLang="en-US" dirty="0"/>
              <a:t>汇编器需要两次通过</a:t>
            </a:r>
          </a:p>
          <a:p>
            <a:r>
              <a:rPr lang="en-US" altLang="zh-CN" dirty="0"/>
              <a:t>	</a:t>
            </a:r>
            <a:r>
              <a:rPr lang="zh-CN" altLang="en-US" dirty="0"/>
              <a:t>两次查看汇编代码</a:t>
            </a:r>
          </a:p>
        </p:txBody>
      </p:sp>
      <p:sp>
        <p:nvSpPr>
          <p:cNvPr id="6" name="TextBox 5">
            <a:extLst>
              <a:ext uri="{FF2B5EF4-FFF2-40B4-BE49-F238E27FC236}">
                <a16:creationId xmlns:a16="http://schemas.microsoft.com/office/drawing/2014/main" id="{6DB45466-E23A-4C51-A5C7-C7FF9FC36D48}"/>
              </a:ext>
            </a:extLst>
          </p:cNvPr>
          <p:cNvSpPr txBox="1"/>
          <p:nvPr/>
        </p:nvSpPr>
        <p:spPr>
          <a:xfrm>
            <a:off x="1514474" y="4699443"/>
            <a:ext cx="5724525" cy="369332"/>
          </a:xfrm>
          <a:prstGeom prst="rect">
            <a:avLst/>
          </a:prstGeom>
          <a:noFill/>
        </p:spPr>
        <p:txBody>
          <a:bodyPr wrap="square">
            <a:spAutoFit/>
          </a:bodyPr>
          <a:lstStyle/>
          <a:p>
            <a:r>
              <a:rPr lang="zh-CN" altLang="en-US" dirty="0">
                <a:solidFill>
                  <a:srgbClr val="FF0000"/>
                </a:solidFill>
              </a:rPr>
              <a:t>收集符号标签并与位置计数器一起添加到符号表中</a:t>
            </a:r>
            <a:endParaRPr lang="en-US" dirty="0">
              <a:solidFill>
                <a:srgbClr val="FF0000"/>
              </a:solidFill>
            </a:endParaRPr>
          </a:p>
        </p:txBody>
      </p:sp>
      <p:sp>
        <p:nvSpPr>
          <p:cNvPr id="8" name="TextBox 7">
            <a:extLst>
              <a:ext uri="{FF2B5EF4-FFF2-40B4-BE49-F238E27FC236}">
                <a16:creationId xmlns:a16="http://schemas.microsoft.com/office/drawing/2014/main" id="{186EC19F-47C3-47DD-A673-F7083D43CE0C}"/>
              </a:ext>
            </a:extLst>
          </p:cNvPr>
          <p:cNvSpPr txBox="1"/>
          <p:nvPr/>
        </p:nvSpPr>
        <p:spPr>
          <a:xfrm>
            <a:off x="2281238" y="3452782"/>
            <a:ext cx="4581524" cy="369332"/>
          </a:xfrm>
          <a:prstGeom prst="rect">
            <a:avLst/>
          </a:prstGeom>
          <a:noFill/>
        </p:spPr>
        <p:txBody>
          <a:bodyPr wrap="square">
            <a:spAutoFit/>
          </a:bodyPr>
          <a:lstStyle/>
          <a:p>
            <a:r>
              <a:rPr lang="zh-CN" altLang="en-US" dirty="0">
                <a:solidFill>
                  <a:srgbClr val="FF0000"/>
                </a:solidFill>
              </a:rPr>
              <a:t>从头算起有多少条指令</a:t>
            </a:r>
          </a:p>
        </p:txBody>
      </p:sp>
    </p:spTree>
    <p:extLst>
      <p:ext uri="{BB962C8B-B14F-4D97-AF65-F5344CB8AC3E}">
        <p14:creationId xmlns:p14="http://schemas.microsoft.com/office/powerpoint/2010/main" val="1150674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1B86D-BC80-4B63-8A62-016BA1510367}"/>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830A6209-E656-46B0-A490-B0D22E00B4A5}"/>
              </a:ext>
            </a:extLst>
          </p:cNvPr>
          <p:cNvSpPr txBox="1"/>
          <p:nvPr/>
        </p:nvSpPr>
        <p:spPr>
          <a:xfrm>
            <a:off x="581892" y="1556230"/>
            <a:ext cx="7505205" cy="1384995"/>
          </a:xfrm>
          <a:prstGeom prst="rect">
            <a:avLst/>
          </a:prstGeom>
          <a:noFill/>
        </p:spPr>
        <p:txBody>
          <a:bodyPr wrap="square" rtlCol="0">
            <a:spAutoFit/>
          </a:bodyPr>
          <a:lstStyle/>
          <a:p>
            <a:r>
              <a:rPr lang="en-US" sz="2800" dirty="0"/>
              <a:t>The</a:t>
            </a:r>
            <a:r>
              <a:rPr lang="zh-CN" altLang="en-US" sz="2800" dirty="0"/>
              <a:t> </a:t>
            </a:r>
            <a:r>
              <a:rPr lang="en-US" altLang="zh-CN" sz="2800" dirty="0"/>
              <a:t>first pass</a:t>
            </a:r>
          </a:p>
          <a:p>
            <a:r>
              <a:rPr lang="zh-CN" altLang="en-US" sz="2800" dirty="0"/>
              <a:t>主要是</a:t>
            </a:r>
            <a:r>
              <a:rPr lang="en-US" altLang="zh-CN" sz="2800" dirty="0"/>
              <a:t>build a symbol table</a:t>
            </a:r>
          </a:p>
          <a:p>
            <a:r>
              <a:rPr lang="en-US" sz="2800" dirty="0"/>
              <a:t>Symbol table is the all of the label name we used</a:t>
            </a:r>
          </a:p>
        </p:txBody>
      </p:sp>
      <p:sp>
        <p:nvSpPr>
          <p:cNvPr id="5" name="TextBox 4">
            <a:extLst>
              <a:ext uri="{FF2B5EF4-FFF2-40B4-BE49-F238E27FC236}">
                <a16:creationId xmlns:a16="http://schemas.microsoft.com/office/drawing/2014/main" id="{FD88C78A-B55D-4F7F-9C75-81938E9F63ED}"/>
              </a:ext>
            </a:extLst>
          </p:cNvPr>
          <p:cNvSpPr txBox="1"/>
          <p:nvPr/>
        </p:nvSpPr>
        <p:spPr>
          <a:xfrm>
            <a:off x="581892" y="3123826"/>
            <a:ext cx="6020790" cy="646331"/>
          </a:xfrm>
          <a:prstGeom prst="rect">
            <a:avLst/>
          </a:prstGeom>
          <a:noFill/>
        </p:spPr>
        <p:txBody>
          <a:bodyPr wrap="square" rtlCol="0">
            <a:spAutoFit/>
          </a:bodyPr>
          <a:lstStyle/>
          <a:p>
            <a:r>
              <a:rPr lang="zh-CN" altLang="en-US" dirty="0"/>
              <a:t>记录</a:t>
            </a:r>
            <a:r>
              <a:rPr lang="en-US" altLang="zh-CN" dirty="0"/>
              <a:t>label</a:t>
            </a:r>
            <a:r>
              <a:rPr lang="zh-CN" altLang="en-US" dirty="0"/>
              <a:t>的名字和地址</a:t>
            </a:r>
            <a:endParaRPr lang="en-US" altLang="zh-CN" dirty="0"/>
          </a:p>
          <a:p>
            <a:r>
              <a:rPr lang="zh-CN" altLang="en-US" dirty="0"/>
              <a:t>每个</a:t>
            </a:r>
            <a:r>
              <a:rPr lang="en-US" altLang="zh-CN" dirty="0"/>
              <a:t>label</a:t>
            </a:r>
            <a:r>
              <a:rPr lang="zh-CN" altLang="en-US" dirty="0"/>
              <a:t>只能用一次</a:t>
            </a:r>
            <a:endParaRPr lang="en-US" dirty="0"/>
          </a:p>
        </p:txBody>
      </p:sp>
    </p:spTree>
    <p:extLst>
      <p:ext uri="{BB962C8B-B14F-4D97-AF65-F5344CB8AC3E}">
        <p14:creationId xmlns:p14="http://schemas.microsoft.com/office/powerpoint/2010/main" val="1748562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835" y="1"/>
            <a:ext cx="8444330" cy="1060704"/>
          </a:xfrm>
        </p:spPr>
        <p:txBody>
          <a:bodyPr>
            <a:noAutofit/>
          </a:bodyPr>
          <a:lstStyle/>
          <a:p>
            <a:r>
              <a:rPr lang="en-US" altLang="en-US" kern="0" dirty="0">
                <a:latin typeface="Arial" panose="020B0604020202020204" pitchFamily="34" charset="0"/>
                <a:cs typeface="Arial" panose="020B0604020202020204" pitchFamily="34" charset="0"/>
              </a:rPr>
              <a:t>Assemblers and Assembly Language (16 of 20)</a:t>
            </a:r>
            <a:endParaRPr lang="en-US" dirty="0">
              <a:latin typeface="Arial" panose="020B0604020202020204" pitchFamily="34" charset="0"/>
              <a:cs typeface="Arial" panose="020B0604020202020204" pitchFamily="34" charset="0"/>
            </a:endParaRPr>
          </a:p>
        </p:txBody>
      </p:sp>
      <p:pic>
        <p:nvPicPr>
          <p:cNvPr id="4" name="Picture 5" descr="The table displays the generation of the symbol. Ay, Label: LOOP. Code: IN X. Location Counter: 0. Label: LOOP. Code: IN Y. location counter: 1. Label: LOOP. Code: LOAD X. Location counter: 2. Label: LOOP. Code: COMPARE Y. Location Counter: 3. Label: LOOP. Code: JUMP G T DONE. Location Counter: 4. Label: LOOP. Code: OUT X. Location Counter 5. Label: LOOP. Code: JUMP LOOP. Location Counter: 6. Label: DONE. Code: OUT Y. Location Counter: 7. Label: DONE. Code: HALT. Location Counter: 8. Label: X, colon. Code: period, DATA 0. Location Counter: 9. Label: Y, colon. Code: period, DATA 0. Location Counter: 10. B, Symbol: LOOP. Address Value: 0. Symbol: DONE. Address Value: 7. Symbol: X. Address Value: 9. Symbol: Y. Address Valu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263" y="1366685"/>
            <a:ext cx="697547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5467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639" y="1"/>
            <a:ext cx="8360723" cy="1060704"/>
          </a:xfrm>
        </p:spPr>
        <p:txBody>
          <a:bodyPr>
            <a:noAutofit/>
          </a:bodyPr>
          <a:lstStyle/>
          <a:p>
            <a:r>
              <a:rPr lang="en-US" altLang="en-US" kern="0" dirty="0">
                <a:latin typeface="Arial" panose="020B0604020202020204" pitchFamily="34" charset="0"/>
                <a:cs typeface="Arial" panose="020B0604020202020204" pitchFamily="34" charset="0"/>
              </a:rPr>
              <a:t>Assemblers and Assembly Language (17 of</a:t>
            </a:r>
            <a:r>
              <a:rPr lang="en-US" altLang="en-US" kern="0" baseline="0" dirty="0">
                <a:latin typeface="Arial" panose="020B0604020202020204" pitchFamily="34" charset="0"/>
                <a:cs typeface="Arial" panose="020B0604020202020204" pitchFamily="34" charset="0"/>
              </a:rPr>
              <a:t> 20)</a:t>
            </a:r>
            <a:endParaRPr lang="en-US" dirty="0">
              <a:latin typeface="Arial" panose="020B0604020202020204" pitchFamily="34" charset="0"/>
              <a:cs typeface="Arial" panose="020B0604020202020204" pitchFamily="34" charset="0"/>
            </a:endParaRPr>
          </a:p>
        </p:txBody>
      </p:sp>
      <p:pic>
        <p:nvPicPr>
          <p:cNvPr id="4" name="Picture 4" descr="The flowchart displays the outline of pass 1 of the assembler. Terminal, start pass 1. Process, set the location counter to 0; process, get the next assembly language instruction, decision, is it, period, end? If yes, terminal, done with pass 1. Go to the pass 2. If no, decision, is there a label? If yes, then; decision, is the label in the symbol table? If no, process, add 1 to the location counter. Loop back to process, get the next assembly language instructor. Decision, is the label in the symbol table? If yes, process, error, dash, you used the same symbol twice, connects to process add I to the location counter. If no, process, or label locater counter, pair into the symbol table. The two processes, error and enter connect to the process, location cou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7204" y="1300736"/>
            <a:ext cx="3538794" cy="4871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6766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835" y="1"/>
            <a:ext cx="8444330"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Assemblers and Assembly Language (18 of 20)</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514350" indent="-514350"/>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Second pass</a:t>
            </a:r>
            <a:r>
              <a:rPr lang="en-US" altLang="en-US" dirty="0">
                <a:latin typeface="Arial" panose="020B0604020202020204" pitchFamily="34" charset="0"/>
                <a:ea typeface="ＭＳ Ｐゴシック" panose="020B0600070205080204" pitchFamily="34" charset="-128"/>
                <a:cs typeface="Arial" panose="020B0604020202020204" pitchFamily="34" charset="0"/>
              </a:rPr>
              <a:t>: </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Looks up and replace op codes</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Substitutes label references with location from symbol table</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Sets up .DATA pseudo-ops with location and binary value</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Writes instructions to object file</a:t>
            </a:r>
          </a:p>
        </p:txBody>
      </p:sp>
      <p:sp>
        <p:nvSpPr>
          <p:cNvPr id="5" name="TextBox 4">
            <a:extLst>
              <a:ext uri="{FF2B5EF4-FFF2-40B4-BE49-F238E27FC236}">
                <a16:creationId xmlns:a16="http://schemas.microsoft.com/office/drawing/2014/main" id="{971C1958-6582-4BB6-BF65-C512AB53B857}"/>
              </a:ext>
            </a:extLst>
          </p:cNvPr>
          <p:cNvSpPr txBox="1"/>
          <p:nvPr/>
        </p:nvSpPr>
        <p:spPr>
          <a:xfrm>
            <a:off x="1014413" y="4149406"/>
            <a:ext cx="4572000" cy="1477328"/>
          </a:xfrm>
          <a:prstGeom prst="rect">
            <a:avLst/>
          </a:prstGeom>
          <a:noFill/>
        </p:spPr>
        <p:txBody>
          <a:bodyPr wrap="square">
            <a:spAutoFit/>
          </a:bodyPr>
          <a:lstStyle/>
          <a:p>
            <a:r>
              <a:rPr lang="zh-CN" altLang="en-US" dirty="0"/>
              <a:t>第二遍：</a:t>
            </a:r>
          </a:p>
          <a:p>
            <a:r>
              <a:rPr lang="zh-CN" altLang="en-US" dirty="0"/>
              <a:t>查找并替换操作码</a:t>
            </a:r>
          </a:p>
          <a:p>
            <a:r>
              <a:rPr lang="zh-CN" altLang="en-US" dirty="0"/>
              <a:t>用符号表中的位置替换标签引用</a:t>
            </a:r>
          </a:p>
          <a:p>
            <a:r>
              <a:rPr lang="zh-CN" altLang="en-US" dirty="0"/>
              <a:t>使用位置和二进制值设置</a:t>
            </a:r>
            <a:r>
              <a:rPr lang="en-US" altLang="zh-CN" dirty="0"/>
              <a:t>.DATA</a:t>
            </a:r>
            <a:r>
              <a:rPr lang="zh-CN" altLang="en-US" dirty="0"/>
              <a:t>伪操作</a:t>
            </a:r>
          </a:p>
          <a:p>
            <a:r>
              <a:rPr lang="zh-CN" altLang="en-US" dirty="0"/>
              <a:t>将指令写入目标文件</a:t>
            </a:r>
            <a:endParaRPr lang="en-US" dirty="0"/>
          </a:p>
        </p:txBody>
      </p:sp>
    </p:spTree>
    <p:extLst>
      <p:ext uri="{BB962C8B-B14F-4D97-AF65-F5344CB8AC3E}">
        <p14:creationId xmlns:p14="http://schemas.microsoft.com/office/powerpoint/2010/main" val="3276090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5645B-BBFA-42EB-BD5A-4F2B3AE19063}"/>
              </a:ext>
            </a:extLst>
          </p:cNvPr>
          <p:cNvSpPr>
            <a:spLocks noGrp="1"/>
          </p:cNvSpPr>
          <p:nvPr>
            <p:ph type="title"/>
          </p:nvPr>
        </p:nvSpPr>
        <p:spPr/>
        <p:txBody>
          <a:bodyPr/>
          <a:lstStyle/>
          <a:p>
            <a:endParaRPr lang="en-US"/>
          </a:p>
        </p:txBody>
      </p:sp>
      <p:sp>
        <p:nvSpPr>
          <p:cNvPr id="5" name="TextBox 4">
            <a:extLst>
              <a:ext uri="{FF2B5EF4-FFF2-40B4-BE49-F238E27FC236}">
                <a16:creationId xmlns:a16="http://schemas.microsoft.com/office/drawing/2014/main" id="{8E56C436-12B8-4B6A-AB4A-F886710505DE}"/>
              </a:ext>
            </a:extLst>
          </p:cNvPr>
          <p:cNvSpPr txBox="1"/>
          <p:nvPr/>
        </p:nvSpPr>
        <p:spPr>
          <a:xfrm>
            <a:off x="982682" y="1394753"/>
            <a:ext cx="6653152" cy="923330"/>
          </a:xfrm>
          <a:prstGeom prst="rect">
            <a:avLst/>
          </a:prstGeom>
          <a:noFill/>
        </p:spPr>
        <p:txBody>
          <a:bodyPr wrap="square">
            <a:spAutoFit/>
          </a:bodyPr>
          <a:lstStyle/>
          <a:p>
            <a:pPr lvl="1" indent="-514350"/>
            <a:r>
              <a:rPr lang="en-US" altLang="zh-CN" dirty="0">
                <a:latin typeface="Arial" panose="020B0604020202020204" pitchFamily="34" charset="0"/>
                <a:ea typeface="ＭＳ Ｐゴシック" panose="020B0600070205080204" pitchFamily="34" charset="-128"/>
                <a:cs typeface="Arial" panose="020B0604020202020204" pitchFamily="34" charset="0"/>
              </a:rPr>
              <a:t>Second pass</a:t>
            </a:r>
            <a:r>
              <a:rPr lang="zh-CN" altLang="en-US" dirty="0">
                <a:latin typeface="Arial" panose="020B0604020202020204" pitchFamily="34" charset="0"/>
                <a:ea typeface="ＭＳ Ｐゴシック" panose="020B0600070205080204" pitchFamily="34" charset="-128"/>
                <a:cs typeface="Arial" panose="020B0604020202020204" pitchFamily="34" charset="0"/>
              </a:rPr>
              <a:t>：</a:t>
            </a:r>
            <a:endParaRPr lang="en-US" altLang="zh-CN" dirty="0">
              <a:latin typeface="Arial" panose="020B0604020202020204" pitchFamily="34" charset="0"/>
              <a:ea typeface="ＭＳ Ｐゴシック" panose="020B0600070205080204" pitchFamily="34" charset="-128"/>
              <a:cs typeface="Arial" panose="020B0604020202020204" pitchFamily="34" charset="0"/>
            </a:endParaRPr>
          </a:p>
          <a:p>
            <a:pPr lvl="1" indent="-514350"/>
            <a:r>
              <a:rPr lang="en-US" altLang="zh-CN" dirty="0">
                <a:latin typeface="Arial" panose="020B0604020202020204" pitchFamily="34" charset="0"/>
                <a:ea typeface="ＭＳ Ｐゴシック" panose="020B0600070205080204" pitchFamily="34" charset="-128"/>
                <a:cs typeface="Arial" panose="020B0604020202020204" pitchFamily="34" charset="0"/>
              </a:rPr>
              <a:t>Use the</a:t>
            </a:r>
            <a:r>
              <a:rPr lang="zh-CN" altLang="en-US" dirty="0">
                <a:latin typeface="Arial" panose="020B0604020202020204" pitchFamily="34" charset="0"/>
                <a:ea typeface="ＭＳ Ｐゴシック" panose="020B0600070205080204" pitchFamily="34" charset="-128"/>
                <a:cs typeface="Arial" panose="020B0604020202020204" pitchFamily="34" charset="0"/>
              </a:rPr>
              <a:t> </a:t>
            </a:r>
            <a:r>
              <a:rPr lang="en-US" altLang="zh-CN" dirty="0">
                <a:latin typeface="Arial" panose="020B0604020202020204" pitchFamily="34" charset="0"/>
                <a:ea typeface="ＭＳ Ｐゴシック" panose="020B0600070205080204" pitchFamily="34" charset="-128"/>
                <a:cs typeface="Arial" panose="020B0604020202020204" pitchFamily="34" charset="0"/>
              </a:rPr>
              <a:t>symbol</a:t>
            </a:r>
            <a:r>
              <a:rPr lang="zh-CN" altLang="en-US" dirty="0">
                <a:latin typeface="Arial" panose="020B0604020202020204" pitchFamily="34" charset="0"/>
                <a:ea typeface="ＭＳ Ｐゴシック" panose="020B0600070205080204" pitchFamily="34" charset="-128"/>
                <a:cs typeface="Arial" panose="020B0604020202020204" pitchFamily="34" charset="0"/>
              </a:rPr>
              <a:t> </a:t>
            </a:r>
            <a:r>
              <a:rPr lang="en-US" altLang="zh-CN" dirty="0">
                <a:latin typeface="Arial" panose="020B0604020202020204" pitchFamily="34" charset="0"/>
                <a:ea typeface="ＭＳ Ｐゴシック" panose="020B0600070205080204" pitchFamily="34" charset="-128"/>
                <a:cs typeface="Arial" panose="020B0604020202020204" pitchFamily="34" charset="0"/>
              </a:rPr>
              <a:t>table </a:t>
            </a:r>
          </a:p>
          <a:p>
            <a:pPr lvl="1" indent="-514350"/>
            <a:r>
              <a:rPr lang="en-US" altLang="en-US" dirty="0">
                <a:latin typeface="Arial" panose="020B0604020202020204" pitchFamily="34" charset="0"/>
                <a:ea typeface="ＭＳ Ｐゴシック" panose="020B0600070205080204" pitchFamily="34" charset="-128"/>
                <a:cs typeface="Arial" panose="020B0604020202020204" pitchFamily="34" charset="0"/>
              </a:rPr>
              <a:t>Create an object file</a:t>
            </a:r>
          </a:p>
        </p:txBody>
      </p:sp>
    </p:spTree>
    <p:extLst>
      <p:ext uri="{BB962C8B-B14F-4D97-AF65-F5344CB8AC3E}">
        <p14:creationId xmlns:p14="http://schemas.microsoft.com/office/powerpoint/2010/main" val="254077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835" y="1"/>
            <a:ext cx="8444330" cy="1060704"/>
          </a:xfrm>
        </p:spPr>
        <p:txBody>
          <a:bodyPr>
            <a:noAutofit/>
          </a:bodyPr>
          <a:lstStyle/>
          <a:p>
            <a:r>
              <a:rPr lang="en-US" altLang="en-US" kern="0" dirty="0">
                <a:latin typeface="Arial" panose="020B0604020202020204" pitchFamily="34" charset="0"/>
                <a:cs typeface="Arial" panose="020B0604020202020204" pitchFamily="34" charset="0"/>
              </a:rPr>
              <a:t>Assemblers and Assembly Language (19 of 20)</a:t>
            </a:r>
            <a:endParaRPr lang="en-US" dirty="0">
              <a:latin typeface="Arial" panose="020B0604020202020204" pitchFamily="34" charset="0"/>
              <a:cs typeface="Arial" panose="020B0604020202020204" pitchFamily="34" charset="0"/>
            </a:endParaRPr>
          </a:p>
        </p:txBody>
      </p:sp>
      <p:pic>
        <p:nvPicPr>
          <p:cNvPr id="4" name="Picture 4" descr="The flowchart displays the outline of press 2 of an assembler. Terminal, start press 2; process, create a new empty object file; process, get the next assembly language instruction; decision, is it, period, end? If yes, process, close the object file; terminal, done with pass 2. If no, decision, is it, period, data? If yes, process, build the binary value of the integer in the address field; process, store it in the object file along with address of where to load, loops back to, get the next assembly language instruction. If no, process, look up op code in the op code table. Decision, found. If yes, process, get binary value of op code; and if no, process, error. Print message, set op code to 1 1 1 1. Both yes, not processes lead to process, look up address field in the symbol table. decision, found; if yes, process; get binary value of address field. If no, process, error. Print message, set address field to 0 0 0, ellipsis, 0 0 0. Both these processes, link to process, build machine language instruction using binary value of op code, address. Loop to process, write out translated instruction to the object file along with address of where to load; process, get the next assembly language instru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1634" y="1281072"/>
            <a:ext cx="3460732" cy="4871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4739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835" y="1"/>
            <a:ext cx="8444330" cy="1060704"/>
          </a:xfrm>
        </p:spPr>
        <p:txBody>
          <a:bodyPr>
            <a:noAutofit/>
          </a:bodyPr>
          <a:lstStyle/>
          <a:p>
            <a:r>
              <a:rPr lang="en-US" altLang="en-US" kern="0" dirty="0">
                <a:latin typeface="Arial" panose="020B0604020202020204" pitchFamily="34" charset="0"/>
                <a:cs typeface="Arial" panose="020B0604020202020204" pitchFamily="34" charset="0"/>
              </a:rPr>
              <a:t>Assemblers and Assembly Language (20 of 20)</a:t>
            </a:r>
            <a:endParaRPr lang="en-US" dirty="0">
              <a:latin typeface="Arial" panose="020B0604020202020204" pitchFamily="34" charset="0"/>
              <a:cs typeface="Arial" panose="020B0604020202020204" pitchFamily="34" charset="0"/>
            </a:endParaRPr>
          </a:p>
        </p:txBody>
      </p:sp>
      <p:pic>
        <p:nvPicPr>
          <p:cNvPr id="4" name="Picture 5" descr="The table represents an example of an object program. The instruction format, op code, 4 bits; address, 12 bits. Object program has three columns. Address, machine language instruction, and meaning. Address, 0 0 0 0; machine language instruction, 1 1 0 1 0 0 0 0 0 0 0 0 1 0 0 1; meaning, in, x. Address, 0 0 0 1; machine language instruction, 1 1 0 1 0 0 0 0 0 0 0 0 10 1 0; meaning, in, y. Address, 0 0 1 0; machine language instruction, 0 0 0 0 0 0 0 0 0 0 0 0 1 0 0 1; meaning, load, x. Address, 0 0 1 1; machine language instruction, 0 1 1 1 0 0 0 0 0 0 0 0 1 0 1 0; meaning, compare, y. Address, 0 1 0 0; machine language instruction, 1 0 0 1 0 0 0 0 0 0 0 0 0 1 1 1; meaning, J U M P G T done. Address, 0 1 0 1; machine language instruction, 1 1 1 0 0 0 0 0 0 0 0 0 1 0 0 1; meaning, out, x. Address, 0 1 1 0; machine language instruction, 1 0 0 0 0 0 0 0 0 0 0 0 0 0 0 0; meaning, jump loop. Address, 0 1 1 1; machine language instruction, 1 1 1 0 0 0 0 0 0 0 0 0 1 0 1 0; meaning, out, y. Address, 1 0 0 0; machine language instruction, 1 1 1 1 0 0 0 0 0 0 0 0 0 0 0 0; meaning, halt. Address, 1 0 0 1; machine language instruction, 0 0 0 0 0 0 0 0 0 0 0 0 0 0 0 0; meaning, the constant 0. Address, 1 0 1 0; machine language instruction, 0 0 0 0 0 0 0 0 0 0 0 0 0 0 0 0; meaning, the constan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25" y="1277938"/>
            <a:ext cx="676275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6941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(1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3" y="1231265"/>
            <a:ext cx="8229600" cy="4930543"/>
          </a:xfrm>
        </p:spPr>
        <p:txBody>
          <a:bodyPr>
            <a:normAutofit/>
          </a:bodyPr>
          <a:lstStyle/>
          <a:p>
            <a:r>
              <a:rPr lang="en-US" altLang="en-US" b="1" dirty="0">
                <a:latin typeface="Arial" panose="020B0604020202020204" pitchFamily="34" charset="0"/>
                <a:ea typeface="ＭＳ Ｐゴシック" panose="020B0600070205080204" pitchFamily="34" charset="-128"/>
                <a:cs typeface="Arial" panose="020B0604020202020204" pitchFamily="34" charset="0"/>
              </a:rPr>
              <a:t>System commands</a:t>
            </a:r>
            <a:r>
              <a:rPr lang="en-US" altLang="en-US" dirty="0">
                <a:latin typeface="Arial" panose="020B0604020202020204" pitchFamily="34" charset="0"/>
                <a:ea typeface="ＭＳ Ｐゴシック" panose="020B0600070205080204" pitchFamily="34" charset="-128"/>
                <a:cs typeface="Arial" panose="020B0604020202020204" pitchFamily="34" charset="0"/>
              </a:rPr>
              <a:t>: user instructions about what the computer should do</a:t>
            </a:r>
          </a:p>
          <a:p>
            <a:pPr marL="0" indent="0">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Some typical operating system commands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Load a program</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Run a program</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Save information in a file or a directory</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Retrieve a file previously stored</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List all the files for this user</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Delete or rename a file</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Print a file on a specified I/O device</a:t>
            </a:r>
          </a:p>
        </p:txBody>
      </p:sp>
    </p:spTree>
    <p:extLst>
      <p:ext uri="{BB962C8B-B14F-4D97-AF65-F5344CB8AC3E}">
        <p14:creationId xmlns:p14="http://schemas.microsoft.com/office/powerpoint/2010/main" val="13687934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(2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3" y="1231266"/>
            <a:ext cx="8229600" cy="4598034"/>
          </a:xfrm>
        </p:spPr>
        <p:txBody>
          <a:bodyPr>
            <a:norm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Copy a file from one I/O device to another</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Establish a network connection</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Let the user set or change a password</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Tell how much memory or data storage is being used</a:t>
            </a:r>
          </a:p>
        </p:txBody>
      </p:sp>
      <p:sp>
        <p:nvSpPr>
          <p:cNvPr id="5" name="TextBox 4">
            <a:extLst>
              <a:ext uri="{FF2B5EF4-FFF2-40B4-BE49-F238E27FC236}">
                <a16:creationId xmlns:a16="http://schemas.microsoft.com/office/drawing/2014/main" id="{A0F1DFE7-4342-4DB2-98B4-D11B4CA2E2D7}"/>
              </a:ext>
            </a:extLst>
          </p:cNvPr>
          <p:cNvSpPr txBox="1"/>
          <p:nvPr/>
        </p:nvSpPr>
        <p:spPr>
          <a:xfrm>
            <a:off x="907143" y="3906521"/>
            <a:ext cx="4572000" cy="1200329"/>
          </a:xfrm>
          <a:prstGeom prst="rect">
            <a:avLst/>
          </a:prstGeom>
          <a:noFill/>
        </p:spPr>
        <p:txBody>
          <a:bodyPr wrap="square">
            <a:spAutoFit/>
          </a:bodyPr>
          <a:lstStyle/>
          <a:p>
            <a:r>
              <a:rPr lang="zh-CN" altLang="en-US" dirty="0"/>
              <a:t>将文件从一个</a:t>
            </a:r>
            <a:r>
              <a:rPr lang="en-US" altLang="zh-CN" dirty="0"/>
              <a:t>I / O</a:t>
            </a:r>
            <a:r>
              <a:rPr lang="zh-CN" altLang="en-US" dirty="0"/>
              <a:t>设备复制到另一个</a:t>
            </a:r>
          </a:p>
          <a:p>
            <a:r>
              <a:rPr lang="zh-CN" altLang="en-US" dirty="0"/>
              <a:t>建立网络连接</a:t>
            </a:r>
          </a:p>
          <a:p>
            <a:r>
              <a:rPr lang="zh-CN" altLang="en-US" dirty="0"/>
              <a:t>让用户设置或更改密码</a:t>
            </a:r>
          </a:p>
          <a:p>
            <a:r>
              <a:rPr lang="zh-CN" altLang="en-US" dirty="0"/>
              <a:t>告诉正在使用多少内存或数据存储</a:t>
            </a:r>
            <a:endParaRPr lang="en-US" dirty="0"/>
          </a:p>
        </p:txBody>
      </p:sp>
    </p:spTree>
    <p:extLst>
      <p:ext uri="{BB962C8B-B14F-4D97-AF65-F5344CB8AC3E}">
        <p14:creationId xmlns:p14="http://schemas.microsoft.com/office/powerpoint/2010/main" val="7749927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(3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78969" y="1231266"/>
            <a:ext cx="8710048" cy="4894898"/>
          </a:xfrm>
        </p:spPr>
        <p:txBody>
          <a:bodyPr>
            <a:normAutofit/>
          </a:bodyPr>
          <a:lstStyle/>
          <a:p>
            <a:pPr marL="0" indent="0">
              <a:buFontTx/>
              <a:buNone/>
              <a:defRPr/>
            </a:pPr>
            <a:r>
              <a:rPr lang="en-US" sz="2400" dirty="0">
                <a:latin typeface="Arial" panose="020B0604020202020204" pitchFamily="34" charset="0"/>
                <a:cs typeface="Arial" panose="020B0604020202020204" pitchFamily="34" charset="0"/>
              </a:rPr>
              <a:t>Functions of an Operating System </a:t>
            </a:r>
          </a:p>
          <a:p>
            <a:pP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User interface: user communicates with operating system</a:t>
            </a:r>
          </a:p>
          <a:p>
            <a:pP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Operating system as receptionist and dispatcher</a:t>
            </a:r>
          </a:p>
          <a:p>
            <a:pP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User command </a:t>
            </a:r>
            <a:r>
              <a:rPr lang="en-US" altLang="en-US" sz="2400" dirty="0">
                <a:latin typeface="Arial" panose="020B0604020202020204" pitchFamily="34" charset="0"/>
                <a:ea typeface="ＭＳ Ｐゴシック" panose="020B0600070205080204" pitchFamily="34" charset="-128"/>
                <a:cs typeface="Arial" panose="020B0604020202020204" pitchFamily="34" charset="0"/>
                <a:sym typeface="Wingdings" panose="05000000000000000000" pitchFamily="2" charset="2"/>
              </a:rPr>
              <a:t> system software scheduled and run  repeat</a:t>
            </a:r>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a:p>
            <a:pP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Text-based</a:t>
            </a:r>
          </a:p>
          <a:p>
            <a:pPr lvl="1">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System commands typed at a prompt in a terminal</a:t>
            </a:r>
          </a:p>
          <a:p>
            <a:pPr lvl="1">
              <a:defRPr/>
            </a:pPr>
            <a:r>
              <a:rPr lang="en-US" altLang="en-US" sz="2200" b="1" dirty="0">
                <a:latin typeface="Arial" panose="020B0604020202020204" pitchFamily="34" charset="0"/>
                <a:ea typeface="ＭＳ Ｐゴシック" panose="020B0600070205080204" pitchFamily="34" charset="-128"/>
                <a:cs typeface="Arial" panose="020B0604020202020204" pitchFamily="34" charset="0"/>
              </a:rPr>
              <a:t>Command language</a:t>
            </a:r>
            <a:r>
              <a:rPr lang="en-US" altLang="en-US" sz="2200" dirty="0">
                <a:latin typeface="Arial" panose="020B0604020202020204" pitchFamily="34" charset="0"/>
                <a:ea typeface="ＭＳ Ｐゴシック" panose="020B0600070205080204" pitchFamily="34" charset="-128"/>
                <a:cs typeface="Arial" panose="020B0604020202020204" pitchFamily="34" charset="0"/>
              </a:rPr>
              <a:t> must be learned </a:t>
            </a:r>
          </a:p>
          <a:p>
            <a:pP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GUI-based</a:t>
            </a:r>
          </a:p>
          <a:p>
            <a:pPr lvl="1">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System commands by a visual/mouse interface</a:t>
            </a:r>
          </a:p>
        </p:txBody>
      </p:sp>
      <p:sp>
        <p:nvSpPr>
          <p:cNvPr id="4" name="TextBox 3">
            <a:extLst>
              <a:ext uri="{FF2B5EF4-FFF2-40B4-BE49-F238E27FC236}">
                <a16:creationId xmlns:a16="http://schemas.microsoft.com/office/drawing/2014/main" id="{515BA8CF-A896-487D-9115-716951AD8DA9}"/>
              </a:ext>
            </a:extLst>
          </p:cNvPr>
          <p:cNvSpPr txBox="1"/>
          <p:nvPr/>
        </p:nvSpPr>
        <p:spPr>
          <a:xfrm>
            <a:off x="4129090" y="2000245"/>
            <a:ext cx="1743075" cy="369332"/>
          </a:xfrm>
          <a:prstGeom prst="rect">
            <a:avLst/>
          </a:prstGeom>
          <a:noFill/>
        </p:spPr>
        <p:txBody>
          <a:bodyPr wrap="square" rtlCol="0">
            <a:spAutoFit/>
          </a:bodyPr>
          <a:lstStyle/>
          <a:p>
            <a:r>
              <a:rPr lang="zh-CN" altLang="en-US" dirty="0">
                <a:solidFill>
                  <a:srgbClr val="FF0000"/>
                </a:solidFill>
              </a:rPr>
              <a:t>传达员</a:t>
            </a:r>
            <a:endParaRPr lang="en-US" dirty="0">
              <a:solidFill>
                <a:srgbClr val="FF0000"/>
              </a:solidFill>
            </a:endParaRPr>
          </a:p>
        </p:txBody>
      </p:sp>
      <p:sp>
        <p:nvSpPr>
          <p:cNvPr id="5" name="TextBox 4">
            <a:extLst>
              <a:ext uri="{FF2B5EF4-FFF2-40B4-BE49-F238E27FC236}">
                <a16:creationId xmlns:a16="http://schemas.microsoft.com/office/drawing/2014/main" id="{BA6D9370-D5CF-41AD-ADE5-E52683D897C3}"/>
              </a:ext>
            </a:extLst>
          </p:cNvPr>
          <p:cNvSpPr txBox="1"/>
          <p:nvPr/>
        </p:nvSpPr>
        <p:spPr>
          <a:xfrm>
            <a:off x="6115052" y="1985955"/>
            <a:ext cx="1871663" cy="369332"/>
          </a:xfrm>
          <a:prstGeom prst="rect">
            <a:avLst/>
          </a:prstGeom>
          <a:noFill/>
        </p:spPr>
        <p:txBody>
          <a:bodyPr wrap="square" rtlCol="0">
            <a:spAutoFit/>
          </a:bodyPr>
          <a:lstStyle/>
          <a:p>
            <a:r>
              <a:rPr lang="zh-CN" altLang="en-US" dirty="0">
                <a:solidFill>
                  <a:srgbClr val="FF0000"/>
                </a:solidFill>
              </a:rPr>
              <a:t>调度器</a:t>
            </a:r>
            <a:endParaRPr lang="en-US" dirty="0">
              <a:solidFill>
                <a:srgbClr val="FF0000"/>
              </a:solidFill>
            </a:endParaRPr>
          </a:p>
        </p:txBody>
      </p:sp>
    </p:spTree>
    <p:extLst>
      <p:ext uri="{BB962C8B-B14F-4D97-AF65-F5344CB8AC3E}">
        <p14:creationId xmlns:p14="http://schemas.microsoft.com/office/powerpoint/2010/main" val="2629524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(4 of 21)</a:t>
            </a:r>
            <a:endParaRPr lang="en-US" dirty="0">
              <a:latin typeface="Arial" panose="020B0604020202020204" pitchFamily="34" charset="0"/>
              <a:cs typeface="Arial" panose="020B0604020202020204" pitchFamily="34" charset="0"/>
            </a:endParaRPr>
          </a:p>
        </p:txBody>
      </p:sp>
      <p:pic>
        <p:nvPicPr>
          <p:cNvPr id="4" name="Picture 4" descr="The flowchart displays the user interface responsibility of the operating system. Terminal, start; process, wait for user to make request; decision, it is a legal request? If no, process, print an error message; loop back to process, wait for user to make a request. If yes, process, determine which software package will handle this request; process, schedule that software to be run on the computer; loop back to process, wait for user to make a reque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5690" y="1320401"/>
            <a:ext cx="3572620" cy="4871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32008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(5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System security and protection: permit only authorized access to resources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 as a security guard</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Access protected by usernames and passwords:</a:t>
            </a:r>
          </a:p>
          <a:p>
            <a:pPr lvl="1"/>
            <a:r>
              <a:rPr lang="en-US" altLang="en-US" dirty="0" err="1">
                <a:latin typeface="Arial" panose="020B0604020202020204" pitchFamily="34" charset="0"/>
                <a:ea typeface="ＭＳ Ｐゴシック" panose="020B0600070205080204" pitchFamily="34" charset="-128"/>
                <a:cs typeface="Arial" panose="020B0604020202020204" pitchFamily="34" charset="0"/>
              </a:rPr>
              <a:t>Superusers</a:t>
            </a:r>
            <a:r>
              <a:rPr lang="en-US" altLang="en-US" dirty="0">
                <a:latin typeface="Arial" panose="020B0604020202020204" pitchFamily="34" charset="0"/>
                <a:ea typeface="ＭＳ Ｐゴシック" panose="020B0600070205080204" pitchFamily="34" charset="-128"/>
                <a:cs typeface="Arial" panose="020B0604020202020204" pitchFamily="34" charset="0"/>
              </a:rPr>
              <a:t> have more privileges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Encrypt data to increase security</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Folders and files have authorization lists: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Read a file, add new information to a file, change existing information, and delete a file</a:t>
            </a:r>
          </a:p>
        </p:txBody>
      </p:sp>
    </p:spTree>
    <p:extLst>
      <p:ext uri="{BB962C8B-B14F-4D97-AF65-F5344CB8AC3E}">
        <p14:creationId xmlns:p14="http://schemas.microsoft.com/office/powerpoint/2010/main" val="26916722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Operating Systems (6 of 21)</a:t>
            </a:r>
            <a:endParaRPr lang="en-US" dirty="0">
              <a:latin typeface="Arial" panose="020B0604020202020204" pitchFamily="34" charset="0"/>
              <a:cs typeface="Arial" panose="020B0604020202020204" pitchFamily="34" charset="0"/>
            </a:endParaRPr>
          </a:p>
        </p:txBody>
      </p:sp>
      <p:sp>
        <p:nvSpPr>
          <p:cNvPr id="6" name="Content Placeholder 5"/>
          <p:cNvSpPr>
            <a:spLocks noGrp="1"/>
          </p:cNvSpPr>
          <p:nvPr>
            <p:ph idx="1"/>
          </p:nvPr>
        </p:nvSpPr>
        <p:spPr>
          <a:xfrm>
            <a:off x="457203" y="1231266"/>
            <a:ext cx="8229600" cy="961216"/>
          </a:xfrm>
        </p:spPr>
        <p:txBody>
          <a:bodyPr>
            <a:normAutofit lnSpcReduction="10000"/>
          </a:bodyPr>
          <a:lstStyle/>
          <a:p>
            <a:pPr marL="0" indent="0">
              <a:buNone/>
            </a:pPr>
            <a:r>
              <a:rPr lang="en-US" dirty="0">
                <a:latin typeface="Arial" panose="020B0604020202020204" pitchFamily="34" charset="0"/>
                <a:cs typeface="Arial" panose="020B0604020202020204" pitchFamily="34" charset="0"/>
              </a:rPr>
              <a:t>Access control list for the file GRADES</a:t>
            </a:r>
          </a:p>
          <a:p>
            <a:pPr marL="0" indent="0">
              <a:buNone/>
            </a:pPr>
            <a:r>
              <a:rPr lang="en-US" dirty="0">
                <a:latin typeface="Arial" panose="020B0604020202020204" pitchFamily="34" charset="0"/>
                <a:cs typeface="Arial" panose="020B0604020202020204" pitchFamily="34" charset="0"/>
              </a:rPr>
              <a:t>File:	GRADES</a:t>
            </a:r>
          </a:p>
        </p:txBody>
      </p:sp>
      <p:graphicFrame>
        <p:nvGraphicFramePr>
          <p:cNvPr id="7" name="Table 6"/>
          <p:cNvGraphicFramePr>
            <a:graphicFrameLocks noGrp="1"/>
          </p:cNvGraphicFramePr>
          <p:nvPr>
            <p:extLst>
              <p:ext uri="{D42A27DB-BD31-4B8C-83A1-F6EECF244321}">
                <p14:modId xmlns:p14="http://schemas.microsoft.com/office/powerpoint/2010/main" val="810532363"/>
              </p:ext>
            </p:extLst>
          </p:nvPr>
        </p:nvGraphicFramePr>
        <p:xfrm>
          <a:off x="1586346" y="2873998"/>
          <a:ext cx="6096000" cy="185420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b="1" dirty="0">
                          <a:solidFill>
                            <a:schemeClr val="tx1"/>
                          </a:solidFill>
                          <a:latin typeface="Arial" panose="020B0604020202020204" pitchFamily="34" charset="0"/>
                          <a:cs typeface="Arial" panose="020B0604020202020204" pitchFamily="34" charset="0"/>
                        </a:rPr>
                        <a:t>Name</a:t>
                      </a:r>
                    </a:p>
                  </a:txBody>
                  <a:tcPr>
                    <a:noFill/>
                  </a:tcPr>
                </a:tc>
                <a:tc>
                  <a:txBody>
                    <a:bodyPr/>
                    <a:lstStyle/>
                    <a:p>
                      <a:pPr algn="ctr"/>
                      <a:r>
                        <a:rPr lang="en-US" b="1" dirty="0">
                          <a:solidFill>
                            <a:schemeClr val="tx1"/>
                          </a:solidFill>
                          <a:latin typeface="Arial" panose="020B0604020202020204" pitchFamily="34" charset="0"/>
                          <a:cs typeface="Arial" panose="020B0604020202020204" pitchFamily="34" charset="0"/>
                        </a:rPr>
                        <a:t>Permitted Operations</a:t>
                      </a:r>
                    </a:p>
                  </a:txBody>
                  <a:tcPr>
                    <a:noFill/>
                  </a:tcPr>
                </a:tc>
                <a:extLst>
                  <a:ext uri="{0D108BD9-81ED-4DB2-BD59-A6C34878D82A}">
                    <a16:rowId xmlns:a16="http://schemas.microsoft.com/office/drawing/2014/main" val="10000"/>
                  </a:ext>
                </a:extLst>
              </a:tr>
              <a:tr h="370840">
                <a:tc>
                  <a:txBody>
                    <a:bodyPr/>
                    <a:lstStyle/>
                    <a:p>
                      <a:r>
                        <a:rPr lang="en-US" dirty="0">
                          <a:latin typeface="Arial" panose="020B0604020202020204" pitchFamily="34" charset="0"/>
                          <a:cs typeface="Arial" panose="020B0604020202020204" pitchFamily="34" charset="0"/>
                        </a:rPr>
                        <a:t>Smith</a:t>
                      </a:r>
                    </a:p>
                  </a:txBody>
                  <a:tcPr/>
                </a:tc>
                <a:tc>
                  <a:txBody>
                    <a:bodyPr/>
                    <a:lstStyle/>
                    <a:p>
                      <a:r>
                        <a:rPr lang="en-US" dirty="0">
                          <a:latin typeface="Arial" panose="020B0604020202020204" pitchFamily="34" charset="0"/>
                          <a:cs typeface="Arial" panose="020B0604020202020204" pitchFamily="34" charset="0"/>
                        </a:rPr>
                        <a:t>R(R=Read Only)</a:t>
                      </a:r>
                    </a:p>
                  </a:txBody>
                  <a:tcPr/>
                </a:tc>
                <a:extLst>
                  <a:ext uri="{0D108BD9-81ED-4DB2-BD59-A6C34878D82A}">
                    <a16:rowId xmlns:a16="http://schemas.microsoft.com/office/drawing/2014/main" val="10001"/>
                  </a:ext>
                </a:extLst>
              </a:tr>
              <a:tr h="370840">
                <a:tc>
                  <a:txBody>
                    <a:bodyPr/>
                    <a:lstStyle/>
                    <a:p>
                      <a:r>
                        <a:rPr lang="en-US" dirty="0">
                          <a:latin typeface="Arial" panose="020B0604020202020204" pitchFamily="34" charset="0"/>
                          <a:cs typeface="Arial" panose="020B0604020202020204" pitchFamily="34" charset="0"/>
                        </a:rPr>
                        <a:t>Jones</a:t>
                      </a:r>
                    </a:p>
                  </a:txBody>
                  <a:tcPr/>
                </a:tc>
                <a:tc>
                  <a:txBody>
                    <a:bodyPr/>
                    <a:lstStyle/>
                    <a:p>
                      <a:r>
                        <a:rPr lang="en-US" dirty="0">
                          <a:latin typeface="Arial" panose="020B0604020202020204" pitchFamily="34" charset="0"/>
                          <a:cs typeface="Arial" panose="020B0604020202020204" pitchFamily="34" charset="0"/>
                        </a:rPr>
                        <a:t>RA(A=Append)</a:t>
                      </a:r>
                    </a:p>
                  </a:txBody>
                  <a:tcPr/>
                </a:tc>
                <a:extLst>
                  <a:ext uri="{0D108BD9-81ED-4DB2-BD59-A6C34878D82A}">
                    <a16:rowId xmlns:a16="http://schemas.microsoft.com/office/drawing/2014/main" val="10002"/>
                  </a:ext>
                </a:extLst>
              </a:tr>
              <a:tr h="370840">
                <a:tc>
                  <a:txBody>
                    <a:bodyPr/>
                    <a:lstStyle/>
                    <a:p>
                      <a:r>
                        <a:rPr lang="en-US" dirty="0">
                          <a:latin typeface="Arial" panose="020B0604020202020204" pitchFamily="34" charset="0"/>
                          <a:cs typeface="Arial" panose="020B0604020202020204" pitchFamily="34" charset="0"/>
                        </a:rPr>
                        <a:t>Adams</a:t>
                      </a:r>
                    </a:p>
                  </a:txBody>
                  <a:tcPr/>
                </a:tc>
                <a:tc>
                  <a:txBody>
                    <a:bodyPr/>
                    <a:lstStyle/>
                    <a:p>
                      <a:r>
                        <a:rPr lang="en-US" dirty="0">
                          <a:latin typeface="Arial" panose="020B0604020202020204" pitchFamily="34" charset="0"/>
                          <a:cs typeface="Arial" panose="020B0604020202020204" pitchFamily="34" charset="0"/>
                        </a:rPr>
                        <a:t>RAC(C=Change)</a:t>
                      </a:r>
                    </a:p>
                  </a:txBody>
                  <a:tcPr/>
                </a:tc>
                <a:extLst>
                  <a:ext uri="{0D108BD9-81ED-4DB2-BD59-A6C34878D82A}">
                    <a16:rowId xmlns:a16="http://schemas.microsoft.com/office/drawing/2014/main" val="10003"/>
                  </a:ext>
                </a:extLst>
              </a:tr>
              <a:tr h="370840">
                <a:tc>
                  <a:txBody>
                    <a:bodyPr/>
                    <a:lstStyle/>
                    <a:p>
                      <a:r>
                        <a:rPr lang="en-US" dirty="0">
                          <a:latin typeface="Arial" panose="020B0604020202020204" pitchFamily="34" charset="0"/>
                          <a:cs typeface="Arial" panose="020B0604020202020204" pitchFamily="34" charset="0"/>
                        </a:rPr>
                        <a:t>Doe</a:t>
                      </a:r>
                    </a:p>
                  </a:txBody>
                  <a:tcPr/>
                </a:tc>
                <a:tc>
                  <a:txBody>
                    <a:bodyPr/>
                    <a:lstStyle/>
                    <a:p>
                      <a:r>
                        <a:rPr lang="en-US" dirty="0">
                          <a:latin typeface="Arial" panose="020B0604020202020204" pitchFamily="34" charset="0"/>
                          <a:cs typeface="Arial" panose="020B0604020202020204" pitchFamily="34" charset="0"/>
                        </a:rPr>
                        <a:t>RACD(D=Delete)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908429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(7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User interface management (receptionist)</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Control of access to system and data files (security guard)</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Program scheduling activation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dispatcher</a:t>
            </a:r>
            <a:r>
              <a:rPr lang="en-US" altLang="en-US" dirty="0">
                <a:latin typeface="Arial" panose="020B0604020202020204" pitchFamily="34" charset="0"/>
                <a:ea typeface="ＭＳ Ｐゴシック" panose="020B0600070205080204" pitchFamily="34" charset="-128"/>
                <a:cs typeface="Arial" panose="020B0604020202020204" pitchFamily="34" charset="0"/>
              </a:rPr>
              <a:t>)</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Efficient resource allocation (efficiency expert)</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Deadlock and error detection (traffic officer)</a:t>
            </a:r>
          </a:p>
        </p:txBody>
      </p:sp>
      <p:sp>
        <p:nvSpPr>
          <p:cNvPr id="5" name="TextBox 4">
            <a:extLst>
              <a:ext uri="{FF2B5EF4-FFF2-40B4-BE49-F238E27FC236}">
                <a16:creationId xmlns:a16="http://schemas.microsoft.com/office/drawing/2014/main" id="{DDA0636A-ACBC-4FD1-9E09-8C943260BBBA}"/>
              </a:ext>
            </a:extLst>
          </p:cNvPr>
          <p:cNvSpPr txBox="1"/>
          <p:nvPr/>
        </p:nvSpPr>
        <p:spPr>
          <a:xfrm>
            <a:off x="938151" y="4187172"/>
            <a:ext cx="6293922" cy="1938992"/>
          </a:xfrm>
          <a:prstGeom prst="rect">
            <a:avLst/>
          </a:prstGeom>
          <a:noFill/>
        </p:spPr>
        <p:txBody>
          <a:bodyPr wrap="square" rtlCol="0">
            <a:spAutoFit/>
          </a:bodyPr>
          <a:lstStyle/>
          <a:p>
            <a:r>
              <a:rPr lang="en-US" sz="2400" dirty="0">
                <a:solidFill>
                  <a:srgbClr val="FF0000"/>
                </a:solidFill>
              </a:rPr>
              <a:t>Dispatcher(</a:t>
            </a:r>
            <a:r>
              <a:rPr lang="zh-CN" altLang="en-US" sz="2400" dirty="0">
                <a:solidFill>
                  <a:srgbClr val="FF0000"/>
                </a:solidFill>
              </a:rPr>
              <a:t>调度员</a:t>
            </a:r>
            <a:r>
              <a:rPr lang="en-US" sz="2400" dirty="0">
                <a:solidFill>
                  <a:srgbClr val="FF0000"/>
                </a:solidFill>
              </a:rPr>
              <a:t>):</a:t>
            </a:r>
          </a:p>
          <a:p>
            <a:r>
              <a:rPr lang="zh-CN" altLang="en-US" sz="2400" dirty="0"/>
              <a:t>你打电话给出租车公司叫车，接线员知道每个出租车的位置，会帮你安排车（接线员）相当于</a:t>
            </a:r>
            <a:r>
              <a:rPr lang="en-US" altLang="zh-CN" sz="2400" dirty="0"/>
              <a:t>dispatcher</a:t>
            </a:r>
            <a:endParaRPr lang="en-US" sz="2400" dirty="0"/>
          </a:p>
          <a:p>
            <a:endParaRPr lang="en-US" sz="2400" dirty="0"/>
          </a:p>
        </p:txBody>
      </p:sp>
    </p:spTree>
    <p:extLst>
      <p:ext uri="{BB962C8B-B14F-4D97-AF65-F5344CB8AC3E}">
        <p14:creationId xmlns:p14="http://schemas.microsoft.com/office/powerpoint/2010/main" val="2920717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9DDCA-F15B-47A4-9A83-2C307248800F}"/>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9BF977DC-5887-4B94-BE83-42AF37EBAF84}"/>
              </a:ext>
            </a:extLst>
          </p:cNvPr>
          <p:cNvPicPr>
            <a:picLocks noChangeAspect="1"/>
          </p:cNvPicPr>
          <p:nvPr/>
        </p:nvPicPr>
        <p:blipFill rotWithShape="1">
          <a:blip r:embed="rId3"/>
          <a:srcRect t="15382" b="8787"/>
          <a:stretch/>
        </p:blipFill>
        <p:spPr>
          <a:xfrm>
            <a:off x="488682" y="1702998"/>
            <a:ext cx="7966549" cy="4479907"/>
          </a:xfrm>
          <a:prstGeom prst="rect">
            <a:avLst/>
          </a:prstGeom>
        </p:spPr>
      </p:pic>
      <p:sp>
        <p:nvSpPr>
          <p:cNvPr id="5" name="TextBox 4">
            <a:extLst>
              <a:ext uri="{FF2B5EF4-FFF2-40B4-BE49-F238E27FC236}">
                <a16:creationId xmlns:a16="http://schemas.microsoft.com/office/drawing/2014/main" id="{B3D86A4F-5C68-41C9-AFFA-B862F381A769}"/>
              </a:ext>
            </a:extLst>
          </p:cNvPr>
          <p:cNvSpPr txBox="1"/>
          <p:nvPr/>
        </p:nvSpPr>
        <p:spPr>
          <a:xfrm>
            <a:off x="488682" y="1118223"/>
            <a:ext cx="3371850" cy="584775"/>
          </a:xfrm>
          <a:prstGeom prst="rect">
            <a:avLst/>
          </a:prstGeom>
          <a:noFill/>
        </p:spPr>
        <p:txBody>
          <a:bodyPr wrap="square" rtlCol="0">
            <a:spAutoFit/>
          </a:bodyPr>
          <a:lstStyle/>
          <a:p>
            <a:r>
              <a:rPr lang="en-US" sz="3200" b="1" dirty="0"/>
              <a:t>CPU scheduler </a:t>
            </a:r>
          </a:p>
        </p:txBody>
      </p:sp>
      <p:sp>
        <p:nvSpPr>
          <p:cNvPr id="7" name="TextBox 6">
            <a:extLst>
              <a:ext uri="{FF2B5EF4-FFF2-40B4-BE49-F238E27FC236}">
                <a16:creationId xmlns:a16="http://schemas.microsoft.com/office/drawing/2014/main" id="{EFC2D621-D3D1-414D-8679-67A3E0E7FD5F}"/>
              </a:ext>
            </a:extLst>
          </p:cNvPr>
          <p:cNvSpPr txBox="1"/>
          <p:nvPr/>
        </p:nvSpPr>
        <p:spPr>
          <a:xfrm>
            <a:off x="1958439" y="5930384"/>
            <a:ext cx="3547011" cy="646331"/>
          </a:xfrm>
          <a:prstGeom prst="rect">
            <a:avLst/>
          </a:prstGeom>
          <a:noFill/>
        </p:spPr>
        <p:txBody>
          <a:bodyPr wrap="square" rtlCol="0">
            <a:spAutoFit/>
          </a:bodyPr>
          <a:lstStyle/>
          <a:p>
            <a:r>
              <a:rPr lang="en-US" altLang="zh-CN" b="1" dirty="0">
                <a:solidFill>
                  <a:srgbClr val="FF0000"/>
                </a:solidFill>
              </a:rPr>
              <a:t>Interrupt: run go back to ready</a:t>
            </a:r>
          </a:p>
          <a:p>
            <a:r>
              <a:rPr lang="en-US" altLang="zh-CN" b="1" dirty="0" err="1">
                <a:solidFill>
                  <a:srgbClr val="FF0000"/>
                </a:solidFill>
              </a:rPr>
              <a:t>Diapatch</a:t>
            </a:r>
            <a:r>
              <a:rPr lang="en-US" altLang="zh-CN" b="1" dirty="0">
                <a:solidFill>
                  <a:srgbClr val="FF0000"/>
                </a:solidFill>
              </a:rPr>
              <a:t>(</a:t>
            </a:r>
            <a:r>
              <a:rPr lang="zh-CN" altLang="en-US" b="1" dirty="0">
                <a:solidFill>
                  <a:srgbClr val="FF0000"/>
                </a:solidFill>
              </a:rPr>
              <a:t>发送</a:t>
            </a:r>
            <a:r>
              <a:rPr lang="en-US" altLang="zh-CN" b="1" dirty="0">
                <a:solidFill>
                  <a:srgbClr val="FF0000"/>
                </a:solidFill>
              </a:rPr>
              <a:t>): ready to run</a:t>
            </a:r>
            <a:endParaRPr lang="en-US" b="1" dirty="0">
              <a:solidFill>
                <a:srgbClr val="FF0000"/>
              </a:solidFill>
            </a:endParaRPr>
          </a:p>
        </p:txBody>
      </p:sp>
    </p:spTree>
    <p:extLst>
      <p:ext uri="{BB962C8B-B14F-4D97-AF65-F5344CB8AC3E}">
        <p14:creationId xmlns:p14="http://schemas.microsoft.com/office/powerpoint/2010/main" val="20495211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0C069-3D5F-4607-8C3B-A4C17C3036E6}"/>
              </a:ext>
            </a:extLst>
          </p:cNvPr>
          <p:cNvSpPr>
            <a:spLocks noGrp="1"/>
          </p:cNvSpPr>
          <p:nvPr>
            <p:ph type="title"/>
          </p:nvPr>
        </p:nvSpPr>
        <p:spPr/>
        <p:txBody>
          <a:bodyPr/>
          <a:lstStyle/>
          <a:p>
            <a:endParaRPr lang="en-US" dirty="0"/>
          </a:p>
        </p:txBody>
      </p:sp>
      <p:sp>
        <p:nvSpPr>
          <p:cNvPr id="5" name="TextBox 4">
            <a:extLst>
              <a:ext uri="{FF2B5EF4-FFF2-40B4-BE49-F238E27FC236}">
                <a16:creationId xmlns:a16="http://schemas.microsoft.com/office/drawing/2014/main" id="{D73536B5-5820-49F6-9FA9-4EAE661C9248}"/>
              </a:ext>
            </a:extLst>
          </p:cNvPr>
          <p:cNvSpPr txBox="1"/>
          <p:nvPr/>
        </p:nvSpPr>
        <p:spPr>
          <a:xfrm>
            <a:off x="757236" y="1413468"/>
            <a:ext cx="7629525" cy="1015663"/>
          </a:xfrm>
          <a:prstGeom prst="rect">
            <a:avLst/>
          </a:prstGeom>
          <a:noFill/>
        </p:spPr>
        <p:txBody>
          <a:bodyPr wrap="square" rtlCol="0">
            <a:spAutoFit/>
          </a:bodyPr>
          <a:lstStyle/>
          <a:p>
            <a:r>
              <a:rPr lang="zh-CN" altLang="en-US" sz="2000" dirty="0"/>
              <a:t>所有</a:t>
            </a:r>
            <a:r>
              <a:rPr lang="en-US" altLang="zh-CN" sz="2000" dirty="0"/>
              <a:t>new process</a:t>
            </a:r>
            <a:r>
              <a:rPr lang="zh-CN" altLang="en-US" sz="2000" dirty="0"/>
              <a:t>（新进度）</a:t>
            </a:r>
            <a:r>
              <a:rPr lang="en-US" altLang="zh-CN" sz="2000" dirty="0"/>
              <a:t>start</a:t>
            </a:r>
            <a:r>
              <a:rPr lang="zh-CN" altLang="en-US" sz="2000" dirty="0"/>
              <a:t>（</a:t>
            </a:r>
            <a:r>
              <a:rPr lang="en-US" altLang="zh-CN" sz="2000" dirty="0"/>
              <a:t>new state</a:t>
            </a:r>
            <a:r>
              <a:rPr lang="zh-CN" altLang="en-US" sz="2000" dirty="0"/>
              <a:t>）的时候</a:t>
            </a:r>
            <a:r>
              <a:rPr lang="en-US" altLang="zh-CN" sz="2000" dirty="0"/>
              <a:t>goes into </a:t>
            </a:r>
            <a:r>
              <a:rPr lang="en-US" altLang="zh-CN" sz="2000" dirty="0">
                <a:solidFill>
                  <a:srgbClr val="FF0000"/>
                </a:solidFill>
              </a:rPr>
              <a:t>ready state </a:t>
            </a:r>
            <a:r>
              <a:rPr lang="zh-CN" altLang="en-US" sz="2000" dirty="0"/>
              <a:t>如果</a:t>
            </a:r>
            <a:r>
              <a:rPr lang="en-US" altLang="zh-CN" sz="2000" dirty="0"/>
              <a:t>CPU</a:t>
            </a:r>
            <a:r>
              <a:rPr lang="zh-CN" altLang="en-US" sz="2000" dirty="0"/>
              <a:t>现在没有任务，就会变成</a:t>
            </a:r>
            <a:r>
              <a:rPr lang="zh-CN" altLang="en-US" sz="2000" dirty="0">
                <a:solidFill>
                  <a:srgbClr val="FF0000"/>
                </a:solidFill>
              </a:rPr>
              <a:t> </a:t>
            </a:r>
            <a:r>
              <a:rPr lang="en-US" altLang="zh-CN" sz="2000" dirty="0">
                <a:solidFill>
                  <a:srgbClr val="FF0000"/>
                </a:solidFill>
              </a:rPr>
              <a:t>Running State</a:t>
            </a:r>
            <a:r>
              <a:rPr lang="zh-CN" altLang="en-US" sz="2000" dirty="0">
                <a:solidFill>
                  <a:srgbClr val="FF0000"/>
                </a:solidFill>
              </a:rPr>
              <a:t>。</a:t>
            </a:r>
            <a:r>
              <a:rPr lang="en-US" altLang="zh-CN" sz="2000" dirty="0">
                <a:solidFill>
                  <a:srgbClr val="FF0000"/>
                </a:solidFill>
              </a:rPr>
              <a:t>run</a:t>
            </a:r>
            <a:r>
              <a:rPr lang="zh-CN" altLang="en-US" sz="2000" dirty="0">
                <a:solidFill>
                  <a:srgbClr val="FF0000"/>
                </a:solidFill>
              </a:rPr>
              <a:t>结束变成</a:t>
            </a:r>
            <a:r>
              <a:rPr lang="en-US" altLang="zh-CN" sz="2000" dirty="0">
                <a:solidFill>
                  <a:srgbClr val="FF0000"/>
                </a:solidFill>
              </a:rPr>
              <a:t>terminated</a:t>
            </a:r>
            <a:endParaRPr lang="en-US" sz="2000" dirty="0">
              <a:solidFill>
                <a:srgbClr val="FF0000"/>
              </a:solidFill>
            </a:endParaRPr>
          </a:p>
        </p:txBody>
      </p:sp>
      <p:sp>
        <p:nvSpPr>
          <p:cNvPr id="6" name="TextBox 5">
            <a:extLst>
              <a:ext uri="{FF2B5EF4-FFF2-40B4-BE49-F238E27FC236}">
                <a16:creationId xmlns:a16="http://schemas.microsoft.com/office/drawing/2014/main" id="{DDFCA1EF-1153-4391-B171-A5423FA1F8BF}"/>
              </a:ext>
            </a:extLst>
          </p:cNvPr>
          <p:cNvSpPr txBox="1"/>
          <p:nvPr/>
        </p:nvSpPr>
        <p:spPr>
          <a:xfrm>
            <a:off x="757235" y="2556558"/>
            <a:ext cx="7767639" cy="1015663"/>
          </a:xfrm>
          <a:prstGeom prst="rect">
            <a:avLst/>
          </a:prstGeom>
          <a:noFill/>
        </p:spPr>
        <p:txBody>
          <a:bodyPr wrap="square" rtlCol="0">
            <a:spAutoFit/>
          </a:bodyPr>
          <a:lstStyle/>
          <a:p>
            <a:r>
              <a:rPr lang="en-US" altLang="zh-CN" sz="2000" dirty="0"/>
              <a:t>If it’s one if our process is start an I/O operator. It will go into a waiting mode(</a:t>
            </a:r>
            <a:r>
              <a:rPr lang="zh-CN" altLang="en-US" sz="2000" dirty="0"/>
              <a:t>模式</a:t>
            </a:r>
            <a:r>
              <a:rPr lang="en-US" altLang="zh-CN" sz="2000" dirty="0"/>
              <a:t>). </a:t>
            </a:r>
            <a:r>
              <a:rPr lang="zh-CN" altLang="en-US" sz="2000" dirty="0"/>
              <a:t>等</a:t>
            </a:r>
            <a:r>
              <a:rPr lang="en-US" altLang="zh-CN" sz="2000" dirty="0"/>
              <a:t>I/O operator </a:t>
            </a:r>
            <a:r>
              <a:rPr lang="zh-CN" altLang="en-US" sz="2000" dirty="0"/>
              <a:t>知道它</a:t>
            </a:r>
            <a:r>
              <a:rPr lang="en-US" altLang="zh-CN" sz="2000" dirty="0"/>
              <a:t>finish</a:t>
            </a:r>
            <a:r>
              <a:rPr lang="zh-CN" altLang="en-US" sz="2000" dirty="0"/>
              <a:t>。 </a:t>
            </a:r>
            <a:r>
              <a:rPr lang="en-US" altLang="zh-CN" sz="2000" dirty="0"/>
              <a:t>Finish</a:t>
            </a:r>
            <a:r>
              <a:rPr lang="zh-CN" altLang="en-US" sz="2000" dirty="0"/>
              <a:t>之后再</a:t>
            </a:r>
            <a:r>
              <a:rPr lang="en-US" altLang="zh-CN" sz="2000" dirty="0"/>
              <a:t>go back to wait in Ready State to go on the CPU again.</a:t>
            </a:r>
            <a:r>
              <a:rPr lang="zh-CN" altLang="en-US" sz="2000" dirty="0"/>
              <a:t>。</a:t>
            </a:r>
            <a:endParaRPr lang="en-US" sz="2000" dirty="0"/>
          </a:p>
        </p:txBody>
      </p:sp>
      <p:pic>
        <p:nvPicPr>
          <p:cNvPr id="7" name="Picture 6">
            <a:extLst>
              <a:ext uri="{FF2B5EF4-FFF2-40B4-BE49-F238E27FC236}">
                <a16:creationId xmlns:a16="http://schemas.microsoft.com/office/drawing/2014/main" id="{0A6A4D2A-432C-4CB6-8183-567BC225B9C6}"/>
              </a:ext>
            </a:extLst>
          </p:cNvPr>
          <p:cNvPicPr>
            <a:picLocks noChangeAspect="1"/>
          </p:cNvPicPr>
          <p:nvPr/>
        </p:nvPicPr>
        <p:blipFill rotWithShape="1">
          <a:blip r:embed="rId2"/>
          <a:srcRect t="9884" r="1956" b="20206"/>
          <a:stretch/>
        </p:blipFill>
        <p:spPr>
          <a:xfrm>
            <a:off x="1071561" y="3572221"/>
            <a:ext cx="7484423" cy="3142904"/>
          </a:xfrm>
          <a:prstGeom prst="rect">
            <a:avLst/>
          </a:prstGeom>
        </p:spPr>
      </p:pic>
    </p:spTree>
    <p:extLst>
      <p:ext uri="{BB962C8B-B14F-4D97-AF65-F5344CB8AC3E}">
        <p14:creationId xmlns:p14="http://schemas.microsoft.com/office/powerpoint/2010/main" val="28293202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F058-5BFE-4BC6-AE04-D7F23978A0D4}"/>
              </a:ext>
            </a:extLst>
          </p:cNvPr>
          <p:cNvSpPr>
            <a:spLocks noGrp="1"/>
          </p:cNvSpPr>
          <p:nvPr>
            <p:ph type="title"/>
          </p:nvPr>
        </p:nvSpPr>
        <p:spPr/>
        <p:txBody>
          <a:bodyPr/>
          <a:lstStyle/>
          <a:p>
            <a:endParaRPr lang="en-US"/>
          </a:p>
        </p:txBody>
      </p:sp>
      <p:sp>
        <p:nvSpPr>
          <p:cNvPr id="5" name="TextBox 4">
            <a:extLst>
              <a:ext uri="{FF2B5EF4-FFF2-40B4-BE49-F238E27FC236}">
                <a16:creationId xmlns:a16="http://schemas.microsoft.com/office/drawing/2014/main" id="{F765F09D-2F29-46AC-93F2-73A8B16EDDF2}"/>
              </a:ext>
            </a:extLst>
          </p:cNvPr>
          <p:cNvSpPr txBox="1"/>
          <p:nvPr/>
        </p:nvSpPr>
        <p:spPr>
          <a:xfrm>
            <a:off x="415636" y="1306286"/>
            <a:ext cx="5735782" cy="584775"/>
          </a:xfrm>
          <a:prstGeom prst="rect">
            <a:avLst/>
          </a:prstGeom>
          <a:noFill/>
        </p:spPr>
        <p:txBody>
          <a:bodyPr wrap="square" rtlCol="0">
            <a:spAutoFit/>
          </a:bodyPr>
          <a:lstStyle/>
          <a:p>
            <a:r>
              <a:rPr lang="en-US" altLang="en-US" sz="3200" b="1" dirty="0">
                <a:latin typeface="Arial" panose="020B0604020202020204" pitchFamily="34" charset="0"/>
                <a:ea typeface="ＭＳ Ｐゴシック" panose="020B0600070205080204" pitchFamily="34" charset="-128"/>
                <a:cs typeface="Arial" panose="020B0604020202020204" pitchFamily="34" charset="0"/>
              </a:rPr>
              <a:t>Scheduler </a:t>
            </a:r>
            <a:r>
              <a:rPr lang="en-US" altLang="zh-CN" sz="3200" b="1" dirty="0"/>
              <a:t> </a:t>
            </a:r>
            <a:endParaRPr lang="en-US" sz="3200" b="1" dirty="0"/>
          </a:p>
        </p:txBody>
      </p:sp>
      <p:sp>
        <p:nvSpPr>
          <p:cNvPr id="7" name="TextBox 6">
            <a:extLst>
              <a:ext uri="{FF2B5EF4-FFF2-40B4-BE49-F238E27FC236}">
                <a16:creationId xmlns:a16="http://schemas.microsoft.com/office/drawing/2014/main" id="{D419DF51-64B5-48D9-8823-CF7302AE384D}"/>
              </a:ext>
            </a:extLst>
          </p:cNvPr>
          <p:cNvSpPr txBox="1"/>
          <p:nvPr/>
        </p:nvSpPr>
        <p:spPr>
          <a:xfrm>
            <a:off x="415636" y="2345461"/>
            <a:ext cx="5735782" cy="584775"/>
          </a:xfrm>
          <a:prstGeom prst="rect">
            <a:avLst/>
          </a:prstGeom>
          <a:noFill/>
        </p:spPr>
        <p:txBody>
          <a:bodyPr wrap="square" rtlCol="0">
            <a:spAutoFit/>
          </a:bodyPr>
          <a:lstStyle/>
          <a:p>
            <a:r>
              <a:rPr lang="en-US" sz="3200" dirty="0"/>
              <a:t>State transition diagram </a:t>
            </a:r>
          </a:p>
        </p:txBody>
      </p:sp>
    </p:spTree>
    <p:extLst>
      <p:ext uri="{BB962C8B-B14F-4D97-AF65-F5344CB8AC3E}">
        <p14:creationId xmlns:p14="http://schemas.microsoft.com/office/powerpoint/2010/main" val="37894500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(8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3471" y="1231266"/>
            <a:ext cx="8423332" cy="4894898"/>
          </a:xfrm>
        </p:spPr>
        <p:txBody>
          <a:bodyPr>
            <a:noAutofit/>
          </a:bodyPr>
          <a:lstStyle/>
          <a:p>
            <a:pPr>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Example of sharing CPU:</a:t>
            </a:r>
          </a:p>
          <a:p>
            <a:pPr marL="976313" indent="-976313">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Waiting Ready Running</a:t>
            </a:r>
          </a:p>
          <a:p>
            <a:pPr marL="914400" indent="0">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B A</a:t>
            </a:r>
          </a:p>
          <a:p>
            <a:pPr marL="914400" indent="0">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a:t>
            </a:r>
          </a:p>
          <a:p>
            <a:pPr>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 makes I/O request:</a:t>
            </a:r>
          </a:p>
          <a:p>
            <a:pPr>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Waiting Ready Running</a:t>
            </a:r>
          </a:p>
          <a:p>
            <a:pPr marL="2293938" indent="-1379538">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 C 	B</a:t>
            </a:r>
          </a:p>
          <a:p>
            <a:pPr>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 finishes with I/O:</a:t>
            </a:r>
          </a:p>
          <a:p>
            <a:pPr>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Waiting Ready Running</a:t>
            </a:r>
          </a:p>
          <a:p>
            <a:pPr marL="1193800" indent="0">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 		B</a:t>
            </a:r>
          </a:p>
          <a:p>
            <a:pPr marL="1193800" indent="0">
              <a:buFontTx/>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a:t>
            </a:r>
          </a:p>
        </p:txBody>
      </p:sp>
    </p:spTree>
    <p:extLst>
      <p:ext uri="{BB962C8B-B14F-4D97-AF65-F5344CB8AC3E}">
        <p14:creationId xmlns:p14="http://schemas.microsoft.com/office/powerpoint/2010/main" val="19303650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(9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 </a:t>
            </a:r>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deadlock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occurs when multiple programs are requesting the resources that each one is currently using</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Safe use of resources: ensure that the computer doesn’t get stuck in deadlock</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Deadlock prevention: </a:t>
            </a:r>
          </a:p>
          <a:p>
            <a:pPr marL="0" indent="0">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	</a:t>
            </a:r>
          </a:p>
          <a:p>
            <a:pPr marL="0" indent="0">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	if you can’t get all resources, release all you have and try again later</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Deadlock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recovery</a:t>
            </a:r>
            <a:r>
              <a:rPr lang="en-US" altLang="en-US" dirty="0">
                <a:latin typeface="Arial" panose="020B0604020202020204" pitchFamily="34" charset="0"/>
                <a:ea typeface="ＭＳ Ｐゴシック" panose="020B0600070205080204" pitchFamily="34" charset="-128"/>
                <a:cs typeface="Arial" panose="020B0604020202020204" pitchFamily="34" charset="0"/>
              </a:rPr>
              <a:t>: if no acknowledgement, send message again</a:t>
            </a:r>
          </a:p>
        </p:txBody>
      </p:sp>
      <p:pic>
        <p:nvPicPr>
          <p:cNvPr id="4" name="Picture 3">
            <a:extLst>
              <a:ext uri="{FF2B5EF4-FFF2-40B4-BE49-F238E27FC236}">
                <a16:creationId xmlns:a16="http://schemas.microsoft.com/office/drawing/2014/main" id="{3B5755C6-E9AE-46A5-9959-0E535C1ABF34}"/>
              </a:ext>
            </a:extLst>
          </p:cNvPr>
          <p:cNvPicPr>
            <a:picLocks noChangeAspect="1"/>
          </p:cNvPicPr>
          <p:nvPr/>
        </p:nvPicPr>
        <p:blipFill>
          <a:blip r:embed="rId3"/>
          <a:stretch>
            <a:fillRect/>
          </a:stretch>
        </p:blipFill>
        <p:spPr>
          <a:xfrm>
            <a:off x="882269" y="3915980"/>
            <a:ext cx="5133975" cy="438150"/>
          </a:xfrm>
          <a:prstGeom prst="rect">
            <a:avLst/>
          </a:prstGeom>
          <a:ln w="28575">
            <a:solidFill>
              <a:srgbClr val="5A7B36"/>
            </a:solidFill>
          </a:ln>
        </p:spPr>
      </p:pic>
      <p:sp>
        <p:nvSpPr>
          <p:cNvPr id="5" name="TextBox 4">
            <a:extLst>
              <a:ext uri="{FF2B5EF4-FFF2-40B4-BE49-F238E27FC236}">
                <a16:creationId xmlns:a16="http://schemas.microsoft.com/office/drawing/2014/main" id="{1094AC6B-89B0-4AD1-A3FF-A9063EA5ADDC}"/>
              </a:ext>
            </a:extLst>
          </p:cNvPr>
          <p:cNvSpPr txBox="1"/>
          <p:nvPr/>
        </p:nvSpPr>
        <p:spPr>
          <a:xfrm>
            <a:off x="6016244" y="3915980"/>
            <a:ext cx="2419109" cy="369332"/>
          </a:xfrm>
          <a:prstGeom prst="rect">
            <a:avLst/>
          </a:prstGeom>
          <a:noFill/>
        </p:spPr>
        <p:txBody>
          <a:bodyPr wrap="square" rtlCol="0">
            <a:spAutoFit/>
          </a:bodyPr>
          <a:lstStyle/>
          <a:p>
            <a:r>
              <a:rPr lang="zh-CN" altLang="en-US" dirty="0">
                <a:solidFill>
                  <a:srgbClr val="FF0000"/>
                </a:solidFill>
              </a:rPr>
              <a:t>但这不是一直可能的</a:t>
            </a:r>
            <a:endParaRPr lang="en-US" dirty="0">
              <a:solidFill>
                <a:srgbClr val="FF0000"/>
              </a:solidFill>
            </a:endParaRPr>
          </a:p>
        </p:txBody>
      </p:sp>
      <p:sp>
        <p:nvSpPr>
          <p:cNvPr id="7" name="TextBox 6">
            <a:extLst>
              <a:ext uri="{FF2B5EF4-FFF2-40B4-BE49-F238E27FC236}">
                <a16:creationId xmlns:a16="http://schemas.microsoft.com/office/drawing/2014/main" id="{2BC1EBA2-E8F5-418D-8F71-3BF9FA168A79}"/>
              </a:ext>
            </a:extLst>
          </p:cNvPr>
          <p:cNvSpPr txBox="1"/>
          <p:nvPr/>
        </p:nvSpPr>
        <p:spPr>
          <a:xfrm>
            <a:off x="2656390" y="5055481"/>
            <a:ext cx="1290577" cy="369332"/>
          </a:xfrm>
          <a:prstGeom prst="rect">
            <a:avLst/>
          </a:prstGeom>
          <a:noFill/>
        </p:spPr>
        <p:txBody>
          <a:bodyPr wrap="square">
            <a:spAutoFit/>
          </a:bodyPr>
          <a:lstStyle/>
          <a:p>
            <a:r>
              <a:rPr lang="zh-CN" altLang="en-US" dirty="0">
                <a:solidFill>
                  <a:srgbClr val="FF0000"/>
                </a:solidFill>
              </a:rPr>
              <a:t>恢复</a:t>
            </a:r>
            <a:endParaRPr lang="en-US" dirty="0">
              <a:solidFill>
                <a:srgbClr val="FF0000"/>
              </a:solidFill>
            </a:endParaRPr>
          </a:p>
        </p:txBody>
      </p:sp>
    </p:spTree>
    <p:extLst>
      <p:ext uri="{BB962C8B-B14F-4D97-AF65-F5344CB8AC3E}">
        <p14:creationId xmlns:p14="http://schemas.microsoft.com/office/powerpoint/2010/main" val="1619399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(10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Historical development of operating systems: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First generation: nearly “naked computer”:</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Programmer hand-loaded programs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Second generation: </a:t>
            </a:r>
            <a:r>
              <a:rPr lang="en-US" altLang="en-US" b="1" dirty="0">
                <a:latin typeface="Arial" panose="020B0604020202020204" pitchFamily="34" charset="0"/>
                <a:ea typeface="ＭＳ Ｐゴシック" panose="020B0600070205080204" pitchFamily="34" charset="-128"/>
                <a:cs typeface="Arial" panose="020B0604020202020204" pitchFamily="34" charset="0"/>
              </a:rPr>
              <a:t>batch operating systems:</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Programmers gave programs to operators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Operators collected a “batch” of programs</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Used I/O computer to translate programs to tape</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Ran programs as a group</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Used I/O computer to translate output to text/paper</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Job control language: instructions to OS</a:t>
            </a:r>
          </a:p>
        </p:txBody>
      </p:sp>
    </p:spTree>
    <p:extLst>
      <p:ext uri="{BB962C8B-B14F-4D97-AF65-F5344CB8AC3E}">
        <p14:creationId xmlns:p14="http://schemas.microsoft.com/office/powerpoint/2010/main" val="10208414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kern="0" dirty="0">
                <a:latin typeface="Arial" panose="020B0604020202020204" pitchFamily="34" charset="0"/>
                <a:cs typeface="Arial" panose="020B0604020202020204" pitchFamily="34" charset="0"/>
              </a:rPr>
              <a:t>Operating Systems (11 of 21)</a:t>
            </a:r>
            <a:endParaRPr lang="en-US" dirty="0">
              <a:latin typeface="Arial" panose="020B0604020202020204" pitchFamily="34" charset="0"/>
              <a:cs typeface="Arial" panose="020B0604020202020204" pitchFamily="34" charset="0"/>
            </a:endParaRPr>
          </a:p>
        </p:txBody>
      </p:sp>
      <p:pic>
        <p:nvPicPr>
          <p:cNvPr id="4" name="Picture 3" descr="The flowchart displays an operation of a batch computer system. Three programmers input a batch of programs into a I slash o computer which relays them to the input tape. The input tape connects to the main computer which connects to the output tape; to the process, to a I slash o computer which gives output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840" y="1634980"/>
            <a:ext cx="6656320" cy="434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89045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kern="0" dirty="0">
                <a:latin typeface="Arial" panose="020B0604020202020204" pitchFamily="34" charset="0"/>
                <a:cs typeface="Arial" panose="020B0604020202020204" pitchFamily="34" charset="0"/>
              </a:rPr>
              <a:t>Operating Systems (12 of 21)</a:t>
            </a:r>
            <a:endParaRPr lang="en-US" dirty="0">
              <a:latin typeface="Arial" panose="020B0604020202020204" pitchFamily="34" charset="0"/>
              <a:cs typeface="Arial" panose="020B0604020202020204" pitchFamily="34" charset="0"/>
            </a:endParaRPr>
          </a:p>
        </p:txBody>
      </p:sp>
      <p:pic>
        <p:nvPicPr>
          <p:cNvPr id="5" name="Picture 3" descr="The figure displays a structure of a typical batch job. $ job, name; command to identify the start of the entire job. $ assemble; Command to invoke the system software package called the assembler. There is an assembly language source program. $ load; Command to invoke the loader to load the object program into memory. $ run; Command to execute the object program. The input data comes next. $ end; Command to identify the end of the entire job.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160" y="1288166"/>
            <a:ext cx="7177680" cy="486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38142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(13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Third generation: </a:t>
            </a:r>
            <a:r>
              <a:rPr lang="en-US" altLang="en-US" b="1" dirty="0" err="1">
                <a:latin typeface="Arial" panose="020B0604020202020204" pitchFamily="34" charset="0"/>
                <a:ea typeface="ＭＳ Ｐゴシック" panose="020B0600070205080204" pitchFamily="34" charset="-128"/>
                <a:cs typeface="Arial" panose="020B0604020202020204" pitchFamily="34" charset="0"/>
              </a:rPr>
              <a:t>multiprogrammed</a:t>
            </a:r>
            <a:r>
              <a:rPr lang="en-US" altLang="en-US" b="1" dirty="0">
                <a:latin typeface="Arial" panose="020B0604020202020204" pitchFamily="34" charset="0"/>
                <a:ea typeface="ＭＳ Ｐゴシック" panose="020B0600070205080204" pitchFamily="34" charset="-128"/>
                <a:cs typeface="Arial" panose="020B0604020202020204" pitchFamily="34" charset="0"/>
              </a:rPr>
              <a:t> operating systems: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Multiple programs loaded at once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Switch between programs when I/O happens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Computer security now required!</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Privileged operations only available to the administrator</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Bound memory a program can legitimately access</a:t>
            </a:r>
          </a:p>
        </p:txBody>
      </p:sp>
    </p:spTree>
    <p:extLst>
      <p:ext uri="{BB962C8B-B14F-4D97-AF65-F5344CB8AC3E}">
        <p14:creationId xmlns:p14="http://schemas.microsoft.com/office/powerpoint/2010/main" val="3727311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(14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b="1" dirty="0">
                <a:latin typeface="Arial" panose="020B0604020202020204" pitchFamily="34" charset="0"/>
                <a:ea typeface="ＭＳ Ｐゴシック" panose="020B0600070205080204" pitchFamily="34" charset="-128"/>
                <a:cs typeface="Arial" panose="020B0604020202020204" pitchFamily="34" charset="0"/>
              </a:rPr>
              <a:t>Time-sharing system </a:t>
            </a:r>
            <a:r>
              <a:rPr lang="en-US" altLang="en-US" dirty="0">
                <a:latin typeface="Arial" panose="020B0604020202020204" pitchFamily="34" charset="0"/>
                <a:ea typeface="ＭＳ Ｐゴシック" panose="020B0600070205080204" pitchFamily="34" charset="-128"/>
                <a:cs typeface="Arial" panose="020B0604020202020204" pitchFamily="34" charset="0"/>
              </a:rPr>
              <a:t>(also third generation):</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Multiprogrammed, but users are on the system interactively</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Users need an illusion of sole access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Allocate run time in time slices—each program runs until I/O OR time runs out </a:t>
            </a:r>
          </a:p>
        </p:txBody>
      </p:sp>
    </p:spTree>
    <p:extLst>
      <p:ext uri="{BB962C8B-B14F-4D97-AF65-F5344CB8AC3E}">
        <p14:creationId xmlns:p14="http://schemas.microsoft.com/office/powerpoint/2010/main" val="18081327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kern="0" dirty="0">
                <a:latin typeface="Arial" panose="020B0604020202020204" pitchFamily="34" charset="0"/>
                <a:cs typeface="Arial" panose="020B0604020202020204" pitchFamily="34" charset="0"/>
              </a:rPr>
              <a:t>Operating Systems (15 of 21)</a:t>
            </a:r>
            <a:endParaRPr lang="en-US" dirty="0">
              <a:latin typeface="Arial" panose="020B0604020202020204" pitchFamily="34" charset="0"/>
              <a:cs typeface="Arial" panose="020B0604020202020204" pitchFamily="34" charset="0"/>
            </a:endParaRPr>
          </a:p>
        </p:txBody>
      </p:sp>
      <p:pic>
        <p:nvPicPr>
          <p:cNvPr id="4" name="Picture 5" descr="The diagram displays a configuration of a time shared computing system. At the center is the central computer which is connected to six terminals via telecommunication lin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4185" y="1445845"/>
            <a:ext cx="6115631" cy="45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96523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(16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Fourth generation: </a:t>
            </a:r>
            <a:r>
              <a:rPr lang="en-US" altLang="en-US" b="1" dirty="0">
                <a:latin typeface="Arial" panose="020B0604020202020204" pitchFamily="34" charset="0"/>
                <a:ea typeface="ＭＳ Ｐゴシック" panose="020B0600070205080204" pitchFamily="34" charset="-128"/>
                <a:cs typeface="Arial" panose="020B0604020202020204" pitchFamily="34" charset="0"/>
              </a:rPr>
              <a:t>network operating system:</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 supports all the same local services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Also supports services that access resources that are available over a network:</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Shared printer</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Servers: email, data, web</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Connections to the Internet</a:t>
            </a:r>
          </a:p>
          <a:p>
            <a:pPr lvl="1"/>
            <a:r>
              <a:rPr lang="en-US" altLang="en-US" b="1" dirty="0">
                <a:latin typeface="Arial" panose="020B0604020202020204" pitchFamily="34" charset="0"/>
                <a:ea typeface="ＭＳ Ｐゴシック" panose="020B0600070205080204" pitchFamily="34" charset="-128"/>
                <a:cs typeface="Arial" panose="020B0604020202020204" pitchFamily="34" charset="0"/>
              </a:rPr>
              <a:t>Real-time operating systems</a:t>
            </a:r>
            <a:r>
              <a:rPr lang="en-US" altLang="en-US" dirty="0">
                <a:latin typeface="Arial" panose="020B0604020202020204" pitchFamily="34" charset="0"/>
                <a:ea typeface="ＭＳ Ｐゴシック" panose="020B0600070205080204" pitchFamily="34" charset="-128"/>
                <a:cs typeface="Arial" panose="020B0604020202020204" pitchFamily="34" charset="0"/>
              </a:rPr>
              <a:t> or </a:t>
            </a:r>
            <a:r>
              <a:rPr lang="en-US" altLang="en-US" b="1" dirty="0">
                <a:latin typeface="Arial" panose="020B0604020202020204" pitchFamily="34" charset="0"/>
                <a:ea typeface="ＭＳ Ｐゴシック" panose="020B0600070205080204" pitchFamily="34" charset="-128"/>
                <a:cs typeface="Arial" panose="020B0604020202020204" pitchFamily="34" charset="0"/>
              </a:rPr>
              <a:t>embedded systems</a:t>
            </a:r>
            <a:r>
              <a:rPr lang="en-US" altLang="en-US" dirty="0">
                <a:latin typeface="Arial" panose="020B0604020202020204" pitchFamily="34" charset="0"/>
                <a:ea typeface="ＭＳ Ｐゴシック" panose="020B0600070205080204" pitchFamily="34" charset="-128"/>
                <a:cs typeface="Arial" panose="020B0604020202020204" pitchFamily="34" charset="0"/>
              </a:rPr>
              <a:t> are special-purpose computers in other equipment</a:t>
            </a:r>
            <a:endParaRPr lang="en-US" altLang="en-US" b="1"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7442066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kern="0" dirty="0">
                <a:latin typeface="Arial" panose="020B0604020202020204" pitchFamily="34" charset="0"/>
                <a:cs typeface="Arial" panose="020B0604020202020204" pitchFamily="34" charset="0"/>
              </a:rPr>
              <a:t>Operating Systems (17 of 21)</a:t>
            </a:r>
            <a:endParaRPr lang="en-US" dirty="0">
              <a:latin typeface="Arial" panose="020B0604020202020204" pitchFamily="34" charset="0"/>
              <a:cs typeface="Arial" panose="020B0604020202020204" pitchFamily="34" charset="0"/>
            </a:endParaRPr>
          </a:p>
        </p:txBody>
      </p:sp>
      <p:pic>
        <p:nvPicPr>
          <p:cNvPr id="4" name="Picture 5" descr="The components of a local area network are. The high-speed link connects to the mail server, file server, computer server and print server. The mail server connects to the international computer networks. the client work stations are independent networks and do not connect remotely to the other system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24000"/>
            <a:ext cx="8229600" cy="364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43962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kern="0" dirty="0">
                <a:latin typeface="Arial" panose="020B0604020202020204" pitchFamily="34" charset="0"/>
                <a:cs typeface="Arial" panose="020B0604020202020204" pitchFamily="34" charset="0"/>
              </a:rPr>
              <a:t>Operating Systems (18 of 21)</a:t>
            </a:r>
            <a:endParaRPr lang="en-US" dirty="0">
              <a:latin typeface="Arial" panose="020B0604020202020204" pitchFamily="34" charset="0"/>
              <a:cs typeface="Arial" panose="020B0604020202020204" pitchFamily="34" charset="0"/>
            </a:endParaRPr>
          </a:p>
        </p:txBody>
      </p:sp>
      <p:pic>
        <p:nvPicPr>
          <p:cNvPr id="5" name="Picture 5" descr="The diagram displays the virtual environment created by a network operating system. The user’s work station or the local machine connects only to the network, or the virtual network. The network further connects to the files, mail systems, printers, and other computer.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968" y="1472392"/>
            <a:ext cx="5160065" cy="458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23743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(19 of 21)</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Fifth generation, the near future: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Multimedia interfaces (integrate images, speech, and video seamlessly)</a:t>
            </a:r>
          </a:p>
          <a:p>
            <a:pPr lvl="1"/>
            <a:r>
              <a:rPr lang="en-US" altLang="en-US" b="1" dirty="0">
                <a:latin typeface="Arial" panose="020B0604020202020204" pitchFamily="34" charset="0"/>
                <a:ea typeface="ＭＳ Ｐゴシック" panose="020B0600070205080204" pitchFamily="34" charset="-128"/>
                <a:cs typeface="Arial" panose="020B0604020202020204" pitchFamily="34" charset="0"/>
              </a:rPr>
              <a:t>Parallel processing system</a:t>
            </a:r>
            <a:r>
              <a:rPr lang="en-US" altLang="en-US" dirty="0">
                <a:latin typeface="Arial" panose="020B0604020202020204" pitchFamily="34" charset="0"/>
                <a:ea typeface="ＭＳ Ｐゴシック" panose="020B0600070205080204" pitchFamily="34" charset="-128"/>
                <a:cs typeface="Arial" panose="020B0604020202020204" pitchFamily="34" charset="0"/>
              </a:rPr>
              <a:t> to perform multimedia and to permit larger scale tasks</a:t>
            </a:r>
          </a:p>
          <a:p>
            <a:pPr lvl="1"/>
            <a:r>
              <a:rPr lang="en-US" altLang="en-US" b="1" dirty="0">
                <a:latin typeface="Arial" panose="020B0604020202020204" pitchFamily="34" charset="0"/>
                <a:ea typeface="ＭＳ Ｐゴシック" panose="020B0600070205080204" pitchFamily="34" charset="-128"/>
                <a:cs typeface="Arial" panose="020B0604020202020204" pitchFamily="34" charset="0"/>
              </a:rPr>
              <a:t>Distributed computing environment</a:t>
            </a:r>
            <a:r>
              <a:rPr lang="en-US" altLang="en-US" dirty="0">
                <a:latin typeface="Arial" panose="020B0604020202020204" pitchFamily="34" charset="0"/>
                <a:ea typeface="ＭＳ Ｐゴシック" panose="020B0600070205080204" pitchFamily="34" charset="-128"/>
                <a:cs typeface="Arial" panose="020B0604020202020204" pitchFamily="34" charset="0"/>
              </a:rPr>
              <a:t> in which users don’t know where resources are stored</a:t>
            </a:r>
          </a:p>
          <a:p>
            <a:pPr lvl="2"/>
            <a:r>
              <a:rPr lang="en-US" altLang="en-US" b="1" dirty="0">
                <a:latin typeface="Arial" panose="020B0604020202020204" pitchFamily="34" charset="0"/>
                <a:ea typeface="ＭＳ Ｐゴシック" panose="020B0600070205080204" pitchFamily="34" charset="-128"/>
                <a:cs typeface="Arial" panose="020B0604020202020204" pitchFamily="34" charset="0"/>
              </a:rPr>
              <a:t>Cloud computing</a:t>
            </a:r>
          </a:p>
        </p:txBody>
      </p:sp>
    </p:spTree>
    <p:extLst>
      <p:ext uri="{BB962C8B-B14F-4D97-AF65-F5344CB8AC3E}">
        <p14:creationId xmlns:p14="http://schemas.microsoft.com/office/powerpoint/2010/main" val="26456080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kern="0" dirty="0">
                <a:latin typeface="Arial" panose="020B0604020202020204" pitchFamily="34" charset="0"/>
                <a:cs typeface="Arial" panose="020B0604020202020204" pitchFamily="34" charset="0"/>
              </a:rPr>
              <a:t>Operating Systems (20 of 21)</a:t>
            </a:r>
            <a:endParaRPr lang="en-US" dirty="0">
              <a:latin typeface="Arial" panose="020B0604020202020204" pitchFamily="34" charset="0"/>
              <a:cs typeface="Arial" panose="020B0604020202020204" pitchFamily="34" charset="0"/>
            </a:endParaRPr>
          </a:p>
        </p:txBody>
      </p:sp>
      <p:pic>
        <p:nvPicPr>
          <p:cNvPr id="4" name="Picture 5" descr="The diagram displays the structure of a distributed system. In this system, the user has direct access to the distributed system like files, mail, printers, and comput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371600"/>
            <a:ext cx="8001000"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62650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Operating Systems (21 of 21)</a:t>
            </a:r>
            <a:endParaRPr lang="en-US"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143975" y="1185866"/>
            <a:ext cx="8911478" cy="407955"/>
          </a:xfrm>
        </p:spPr>
        <p:txBody>
          <a:bodyPr>
            <a:noAutofit/>
          </a:bodyPr>
          <a:lstStyle/>
          <a:p>
            <a:pPr marL="0" indent="0">
              <a:buNone/>
            </a:pPr>
            <a:r>
              <a:rPr lang="en-US" sz="2400" dirty="0">
                <a:latin typeface="Arial" panose="020B0604020202020204" pitchFamily="34" charset="0"/>
                <a:cs typeface="Arial" panose="020B0604020202020204" pitchFamily="34" charset="0"/>
              </a:rPr>
              <a:t>Some of the major advances in operating systems development</a:t>
            </a:r>
          </a:p>
        </p:txBody>
      </p:sp>
      <p:graphicFrame>
        <p:nvGraphicFramePr>
          <p:cNvPr id="5" name="Table 4"/>
          <p:cNvGraphicFramePr>
            <a:graphicFrameLocks noGrp="1"/>
          </p:cNvGraphicFramePr>
          <p:nvPr>
            <p:extLst>
              <p:ext uri="{D42A27DB-BD31-4B8C-83A1-F6EECF244321}">
                <p14:modId xmlns:p14="http://schemas.microsoft.com/office/powerpoint/2010/main" val="1933662149"/>
              </p:ext>
            </p:extLst>
          </p:nvPr>
        </p:nvGraphicFramePr>
        <p:xfrm>
          <a:off x="507657" y="1687632"/>
          <a:ext cx="7990766" cy="4572000"/>
        </p:xfrm>
        <a:graphic>
          <a:graphicData uri="http://schemas.openxmlformats.org/drawingml/2006/table">
            <a:tbl>
              <a:tblPr firstRow="1" bandRow="1">
                <a:tableStyleId>{5940675A-B579-460E-94D1-54222C63F5DA}</a:tableStyleId>
              </a:tblPr>
              <a:tblGrid>
                <a:gridCol w="1072944">
                  <a:extLst>
                    <a:ext uri="{9D8B030D-6E8A-4147-A177-3AD203B41FA5}">
                      <a16:colId xmlns:a16="http://schemas.microsoft.com/office/drawing/2014/main" val="20000"/>
                    </a:ext>
                  </a:extLst>
                </a:gridCol>
                <a:gridCol w="1580329">
                  <a:extLst>
                    <a:ext uri="{9D8B030D-6E8A-4147-A177-3AD203B41FA5}">
                      <a16:colId xmlns:a16="http://schemas.microsoft.com/office/drawing/2014/main" val="20001"/>
                    </a:ext>
                  </a:extLst>
                </a:gridCol>
                <a:gridCol w="5337493">
                  <a:extLst>
                    <a:ext uri="{9D8B030D-6E8A-4147-A177-3AD203B41FA5}">
                      <a16:colId xmlns:a16="http://schemas.microsoft.com/office/drawing/2014/main" val="20002"/>
                    </a:ext>
                  </a:extLst>
                </a:gridCol>
              </a:tblGrid>
              <a:tr h="0">
                <a:tc>
                  <a:txBody>
                    <a:bodyPr/>
                    <a:lstStyle/>
                    <a:p>
                      <a:pPr algn="ctr"/>
                      <a:r>
                        <a:rPr lang="en-US" sz="1200" b="1" dirty="0">
                          <a:solidFill>
                            <a:schemeClr val="tx1"/>
                          </a:solidFill>
                          <a:latin typeface="Arial" panose="020B0604020202020204" pitchFamily="34" charset="0"/>
                          <a:cs typeface="Arial" panose="020B0604020202020204" pitchFamily="34" charset="0"/>
                        </a:rPr>
                        <a:t>Generation</a:t>
                      </a:r>
                    </a:p>
                  </a:txBody>
                  <a:tcPr anchor="ctr">
                    <a:noFill/>
                  </a:tcPr>
                </a:tc>
                <a:tc>
                  <a:txBody>
                    <a:bodyPr/>
                    <a:lstStyle/>
                    <a:p>
                      <a:pPr algn="ctr"/>
                      <a:r>
                        <a:rPr lang="en-US" sz="1200" b="1" dirty="0">
                          <a:solidFill>
                            <a:schemeClr val="tx1"/>
                          </a:solidFill>
                          <a:latin typeface="Arial" panose="020B0604020202020204" pitchFamily="34" charset="0"/>
                          <a:cs typeface="Arial" panose="020B0604020202020204" pitchFamily="34" charset="0"/>
                        </a:rPr>
                        <a:t>Approximate Dates</a:t>
                      </a:r>
                    </a:p>
                  </a:txBody>
                  <a:tcPr anchor="ctr">
                    <a:noFill/>
                  </a:tcPr>
                </a:tc>
                <a:tc>
                  <a:txBody>
                    <a:bodyPr/>
                    <a:lstStyle/>
                    <a:p>
                      <a:pPr algn="ctr"/>
                      <a:r>
                        <a:rPr lang="en-US" sz="1200" b="1" dirty="0">
                          <a:solidFill>
                            <a:schemeClr val="tx1"/>
                          </a:solidFill>
                          <a:latin typeface="Arial" panose="020B0604020202020204" pitchFamily="34" charset="0"/>
                          <a:cs typeface="Arial" panose="020B0604020202020204" pitchFamily="34" charset="0"/>
                        </a:rPr>
                        <a:t>Major Advances</a:t>
                      </a:r>
                    </a:p>
                  </a:txBody>
                  <a:tcPr anchor="ctr">
                    <a:noFill/>
                  </a:tcPr>
                </a:tc>
                <a:extLst>
                  <a:ext uri="{0D108BD9-81ED-4DB2-BD59-A6C34878D82A}">
                    <a16:rowId xmlns:a16="http://schemas.microsoft.com/office/drawing/2014/main" val="10000"/>
                  </a:ext>
                </a:extLst>
              </a:tr>
              <a:tr h="178575">
                <a:tc>
                  <a:txBody>
                    <a:bodyPr/>
                    <a:lstStyle/>
                    <a:p>
                      <a:r>
                        <a:rPr lang="en-US" sz="1200" dirty="0">
                          <a:latin typeface="Arial" panose="020B0604020202020204" pitchFamily="34" charset="0"/>
                          <a:cs typeface="Arial" panose="020B0604020202020204" pitchFamily="34" charset="0"/>
                        </a:rPr>
                        <a:t>First</a:t>
                      </a:r>
                    </a:p>
                  </a:txBody>
                  <a:tcPr/>
                </a:tc>
                <a:tc>
                  <a:txBody>
                    <a:bodyPr/>
                    <a:lstStyle/>
                    <a:p>
                      <a:r>
                        <a:rPr lang="en-US" sz="1200" dirty="0">
                          <a:latin typeface="Arial" panose="020B0604020202020204" pitchFamily="34" charset="0"/>
                          <a:cs typeface="Arial" panose="020B0604020202020204" pitchFamily="34" charset="0"/>
                        </a:rPr>
                        <a:t>1945-1955</a:t>
                      </a:r>
                    </a:p>
                  </a:txBody>
                  <a:tcPr/>
                </a:tc>
                <a:tc>
                  <a:txBody>
                    <a:bodyPr/>
                    <a:lstStyle/>
                    <a:p>
                      <a:r>
                        <a:rPr lang="en-US" sz="1200" kern="1200" dirty="0">
                          <a:solidFill>
                            <a:schemeClr val="tx1"/>
                          </a:solidFill>
                          <a:effectLst/>
                          <a:latin typeface="Arial" panose="020B0604020202020204" pitchFamily="34" charset="0"/>
                          <a:ea typeface="+mn-ea"/>
                          <a:cs typeface="Arial" panose="020B0604020202020204" pitchFamily="34" charset="0"/>
                        </a:rPr>
                        <a:t>No operating system available</a:t>
                      </a:r>
                    </a:p>
                    <a:p>
                      <a:r>
                        <a:rPr lang="en-US" sz="1200" kern="1200" dirty="0">
                          <a:solidFill>
                            <a:schemeClr val="tx1"/>
                          </a:solidFill>
                          <a:effectLst/>
                          <a:latin typeface="Arial" panose="020B0604020202020204" pitchFamily="34" charset="0"/>
                          <a:ea typeface="+mn-ea"/>
                          <a:cs typeface="Arial" panose="020B0604020202020204" pitchFamily="34" charset="0"/>
                        </a:rPr>
                        <a:t>Programmers operated the machine themselves</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99357">
                <a:tc>
                  <a:txBody>
                    <a:bodyPr/>
                    <a:lstStyle/>
                    <a:p>
                      <a:r>
                        <a:rPr lang="en-US" sz="1200" dirty="0">
                          <a:latin typeface="Arial" panose="020B0604020202020204" pitchFamily="34" charset="0"/>
                          <a:cs typeface="Arial" panose="020B0604020202020204" pitchFamily="34" charset="0"/>
                        </a:rPr>
                        <a:t>Second</a:t>
                      </a:r>
                    </a:p>
                  </a:txBody>
                  <a:tcPr/>
                </a:tc>
                <a:tc>
                  <a:txBody>
                    <a:bodyPr/>
                    <a:lstStyle/>
                    <a:p>
                      <a:r>
                        <a:rPr lang="en-US" sz="1200" dirty="0">
                          <a:latin typeface="Arial" panose="020B0604020202020204" pitchFamily="34" charset="0"/>
                          <a:cs typeface="Arial" panose="020B0604020202020204" pitchFamily="34" charset="0"/>
                        </a:rPr>
                        <a:t>1955-1965</a:t>
                      </a:r>
                    </a:p>
                  </a:txBody>
                  <a:tcPr/>
                </a:tc>
                <a:tc>
                  <a:txBody>
                    <a:bodyPr/>
                    <a:lstStyle/>
                    <a:p>
                      <a:r>
                        <a:rPr lang="en-US" sz="1200" kern="1200" dirty="0">
                          <a:solidFill>
                            <a:schemeClr val="tx1"/>
                          </a:solidFill>
                          <a:effectLst/>
                          <a:latin typeface="Arial" panose="020B0604020202020204" pitchFamily="34" charset="0"/>
                          <a:ea typeface="+mn-ea"/>
                          <a:cs typeface="Arial" panose="020B0604020202020204" pitchFamily="34" charset="0"/>
                        </a:rPr>
                        <a:t>Batch operating systems</a:t>
                      </a:r>
                    </a:p>
                    <a:p>
                      <a:r>
                        <a:rPr lang="en-US" sz="1200" kern="1200" dirty="0">
                          <a:solidFill>
                            <a:schemeClr val="tx1"/>
                          </a:solidFill>
                          <a:effectLst/>
                          <a:latin typeface="Arial" panose="020B0604020202020204" pitchFamily="34" charset="0"/>
                          <a:ea typeface="+mn-ea"/>
                          <a:cs typeface="Arial" panose="020B0604020202020204" pitchFamily="34" charset="0"/>
                        </a:rPr>
                        <a:t>Improved system utilization</a:t>
                      </a:r>
                    </a:p>
                    <a:p>
                      <a:r>
                        <a:rPr lang="en-US" sz="1200" kern="1200" dirty="0">
                          <a:solidFill>
                            <a:schemeClr val="tx1"/>
                          </a:solidFill>
                          <a:effectLst/>
                          <a:latin typeface="Arial" panose="020B0604020202020204" pitchFamily="34" charset="0"/>
                          <a:ea typeface="+mn-ea"/>
                          <a:cs typeface="Arial" panose="020B0604020202020204" pitchFamily="34" charset="0"/>
                        </a:rPr>
                        <a:t>Development of the first command language</a:t>
                      </a:r>
                    </a:p>
                  </a:txBody>
                  <a:tcPr/>
                </a:tc>
                <a:extLst>
                  <a:ext uri="{0D108BD9-81ED-4DB2-BD59-A6C34878D82A}">
                    <a16:rowId xmlns:a16="http://schemas.microsoft.com/office/drawing/2014/main" val="10002"/>
                  </a:ext>
                </a:extLst>
              </a:tr>
              <a:tr h="1242604">
                <a:tc>
                  <a:txBody>
                    <a:bodyPr/>
                    <a:lstStyle/>
                    <a:p>
                      <a:r>
                        <a:rPr lang="en-US" sz="1200" dirty="0">
                          <a:latin typeface="Arial" panose="020B0604020202020204" pitchFamily="34" charset="0"/>
                          <a:cs typeface="Arial" panose="020B0604020202020204" pitchFamily="34" charset="0"/>
                        </a:rPr>
                        <a:t>Third</a:t>
                      </a:r>
                    </a:p>
                  </a:txBody>
                  <a:tcPr/>
                </a:tc>
                <a:tc>
                  <a:txBody>
                    <a:bodyPr/>
                    <a:lstStyle/>
                    <a:p>
                      <a:r>
                        <a:rPr lang="en-US" sz="1200" dirty="0">
                          <a:latin typeface="Arial" panose="020B0604020202020204" pitchFamily="34" charset="0"/>
                          <a:cs typeface="Arial" panose="020B0604020202020204" pitchFamily="34" charset="0"/>
                        </a:rPr>
                        <a:t>1965-1985</a:t>
                      </a:r>
                    </a:p>
                  </a:txBody>
                  <a:tcPr/>
                </a:tc>
                <a:tc>
                  <a:txBody>
                    <a:bodyPr/>
                    <a:lstStyle/>
                    <a:p>
                      <a:r>
                        <a:rPr lang="en-US" sz="1200" kern="1200" dirty="0">
                          <a:solidFill>
                            <a:schemeClr val="tx1"/>
                          </a:solidFill>
                          <a:effectLst/>
                          <a:latin typeface="Arial" panose="020B0604020202020204" pitchFamily="34" charset="0"/>
                          <a:ea typeface="+mn-ea"/>
                          <a:cs typeface="Arial" panose="020B0604020202020204" pitchFamily="34" charset="0"/>
                        </a:rPr>
                        <a:t>Multiprogrammed operating systems</a:t>
                      </a:r>
                    </a:p>
                    <a:p>
                      <a:r>
                        <a:rPr lang="en-US" sz="1200" kern="1200" dirty="0">
                          <a:solidFill>
                            <a:schemeClr val="tx1"/>
                          </a:solidFill>
                          <a:effectLst/>
                          <a:latin typeface="Arial" panose="020B0604020202020204" pitchFamily="34" charset="0"/>
                          <a:ea typeface="+mn-ea"/>
                          <a:cs typeface="Arial" panose="020B0604020202020204" pitchFamily="34" charset="0"/>
                        </a:rPr>
                        <a:t>Time-sharing operating systems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Increasing concern for protecting programs from damage by other programs</a:t>
                      </a:r>
                    </a:p>
                    <a:p>
                      <a:r>
                        <a:rPr lang="en-US" sz="1200" kern="1200" dirty="0">
                          <a:solidFill>
                            <a:schemeClr val="tx1"/>
                          </a:solidFill>
                          <a:effectLst/>
                          <a:latin typeface="Arial" panose="020B0604020202020204" pitchFamily="34" charset="0"/>
                          <a:ea typeface="+mn-ea"/>
                          <a:cs typeface="Arial" panose="020B0604020202020204" pitchFamily="34" charset="0"/>
                        </a:rPr>
                        <a:t>Creation of privileged instructions and user instructions</a:t>
                      </a:r>
                    </a:p>
                    <a:p>
                      <a:r>
                        <a:rPr lang="en-US" sz="1200" kern="1200" dirty="0">
                          <a:solidFill>
                            <a:schemeClr val="tx1"/>
                          </a:solidFill>
                          <a:effectLst/>
                          <a:latin typeface="Arial" panose="020B0604020202020204" pitchFamily="34" charset="0"/>
                          <a:ea typeface="+mn-ea"/>
                          <a:cs typeface="Arial" panose="020B0604020202020204" pitchFamily="34" charset="0"/>
                        </a:rPr>
                        <a:t>Interactive use of computers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Increasing concern for security and access control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First personal computer operating systems</a:t>
                      </a:r>
                    </a:p>
                  </a:txBody>
                  <a:tcPr/>
                </a:tc>
                <a:extLst>
                  <a:ext uri="{0D108BD9-81ED-4DB2-BD59-A6C34878D82A}">
                    <a16:rowId xmlns:a16="http://schemas.microsoft.com/office/drawing/2014/main" val="10003"/>
                  </a:ext>
                </a:extLst>
              </a:tr>
              <a:tr h="826968">
                <a:tc>
                  <a:txBody>
                    <a:bodyPr/>
                    <a:lstStyle/>
                    <a:p>
                      <a:r>
                        <a:rPr lang="en-US" sz="1200" dirty="0">
                          <a:latin typeface="Arial" panose="020B0604020202020204" pitchFamily="34" charset="0"/>
                          <a:cs typeface="Arial" panose="020B0604020202020204" pitchFamily="34" charset="0"/>
                        </a:rPr>
                        <a:t>Fourth</a:t>
                      </a:r>
                    </a:p>
                  </a:txBody>
                  <a:tcPr/>
                </a:tc>
                <a:tc>
                  <a:txBody>
                    <a:bodyPr/>
                    <a:lstStyle/>
                    <a:p>
                      <a:r>
                        <a:rPr lang="en-US" sz="1200" dirty="0">
                          <a:latin typeface="Arial" panose="020B0604020202020204" pitchFamily="34" charset="0"/>
                          <a:cs typeface="Arial" panose="020B0604020202020204" pitchFamily="34" charset="0"/>
                        </a:rPr>
                        <a:t>1985-present</a:t>
                      </a:r>
                    </a:p>
                  </a:txBody>
                  <a:tcPr/>
                </a:tc>
                <a:tc>
                  <a:txBody>
                    <a:bodyPr/>
                    <a:lstStyle/>
                    <a:p>
                      <a:r>
                        <a:rPr lang="en-US" sz="1200" kern="1200" dirty="0">
                          <a:solidFill>
                            <a:schemeClr val="tx1"/>
                          </a:solidFill>
                          <a:effectLst/>
                          <a:latin typeface="Arial" panose="020B0604020202020204" pitchFamily="34" charset="0"/>
                          <a:ea typeface="+mn-ea"/>
                          <a:cs typeface="Arial" panose="020B0604020202020204" pitchFamily="34" charset="0"/>
                        </a:rPr>
                        <a:t>Network operating systems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Client-server computing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Remote access to resources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Graphical user interfaces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Real-time operating systems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Embedded systems</a:t>
                      </a:r>
                    </a:p>
                  </a:txBody>
                  <a:tcPr/>
                </a:tc>
                <a:extLst>
                  <a:ext uri="{0D108BD9-81ED-4DB2-BD59-A6C34878D82A}">
                    <a16:rowId xmlns:a16="http://schemas.microsoft.com/office/drawing/2014/main" val="10004"/>
                  </a:ext>
                </a:extLst>
              </a:tr>
              <a:tr h="370840">
                <a:tc>
                  <a:txBody>
                    <a:bodyPr/>
                    <a:lstStyle/>
                    <a:p>
                      <a:r>
                        <a:rPr lang="en-US" sz="1200" dirty="0">
                          <a:latin typeface="Arial" panose="020B0604020202020204" pitchFamily="34" charset="0"/>
                          <a:cs typeface="Arial" panose="020B0604020202020204" pitchFamily="34" charset="0"/>
                        </a:rPr>
                        <a:t>Fifth</a:t>
                      </a:r>
                    </a:p>
                  </a:txBody>
                  <a:tcPr/>
                </a:tc>
                <a:tc>
                  <a:txBody>
                    <a:bodyPr/>
                    <a:lstStyle/>
                    <a:p>
                      <a:r>
                        <a:rPr lang="en-US" sz="1200" dirty="0">
                          <a:latin typeface="Arial" panose="020B0604020202020204" pitchFamily="34" charset="0"/>
                          <a:cs typeface="Arial" panose="020B0604020202020204" pitchFamily="34" charset="0"/>
                        </a:rPr>
                        <a:t>??</a:t>
                      </a:r>
                    </a:p>
                  </a:txBody>
                  <a:tcPr/>
                </a:tc>
                <a:tc>
                  <a:txBody>
                    <a:bodyPr/>
                    <a:lstStyle/>
                    <a:p>
                      <a:r>
                        <a:rPr lang="en-US" sz="1200" kern="1200" dirty="0">
                          <a:solidFill>
                            <a:schemeClr val="tx1"/>
                          </a:solidFill>
                          <a:effectLst/>
                          <a:latin typeface="Arial" panose="020B0604020202020204" pitchFamily="34" charset="0"/>
                          <a:ea typeface="+mn-ea"/>
                          <a:cs typeface="Arial" panose="020B0604020202020204" pitchFamily="34" charset="0"/>
                        </a:rPr>
                        <a:t>Multimedia user interfaces</a:t>
                      </a:r>
                    </a:p>
                    <a:p>
                      <a:r>
                        <a:rPr lang="en-US" sz="1200" kern="1200" dirty="0">
                          <a:solidFill>
                            <a:schemeClr val="tx1"/>
                          </a:solidFill>
                          <a:effectLst/>
                          <a:latin typeface="Arial" panose="020B0604020202020204" pitchFamily="34" charset="0"/>
                          <a:ea typeface="+mn-ea"/>
                          <a:cs typeface="Arial" panose="020B0604020202020204" pitchFamily="34" charset="0"/>
                        </a:rPr>
                        <a:t>Massively parallel operating systems</a:t>
                      </a:r>
                    </a:p>
                    <a:p>
                      <a:r>
                        <a:rPr lang="en-US" sz="1200" kern="1200" dirty="0">
                          <a:solidFill>
                            <a:schemeClr val="tx1"/>
                          </a:solidFill>
                          <a:effectLst/>
                          <a:latin typeface="Arial" panose="020B0604020202020204" pitchFamily="34" charset="0"/>
                          <a:ea typeface="+mn-ea"/>
                          <a:cs typeface="Arial" panose="020B0604020202020204" pitchFamily="34" charset="0"/>
                        </a:rPr>
                        <a:t>Distributed computing environments</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898739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Summary (1 of 2)</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System software creates a virtual environment that is easy for users to use.</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Assemblers and loaders are system software: translate human-friendly programs to machine language.</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Assembly language uses symbolic names, symbolic op codes, and pseudo-ops to describe algorithms.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Assembler translates source programs to object files; loader places object instructions in memory.</a:t>
            </a:r>
          </a:p>
        </p:txBody>
      </p:sp>
    </p:spTree>
    <p:extLst>
      <p:ext uri="{BB962C8B-B14F-4D97-AF65-F5344CB8AC3E}">
        <p14:creationId xmlns:p14="http://schemas.microsoft.com/office/powerpoint/2010/main" val="24337421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Summary (2 of 2)</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communicate with users through text or GUI actions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The operating system includes key tasks such as the user interface, system security, scheduling of programs, and system safety</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Operating systems developed through four generations of improvements, each adding new features and improving efficiency</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Future operating systems: parallel, distributed, and multimedia, with resources stored remotely</a:t>
            </a:r>
          </a:p>
        </p:txBody>
      </p:sp>
    </p:spTree>
    <p:extLst>
      <p:ext uri="{BB962C8B-B14F-4D97-AF65-F5344CB8AC3E}">
        <p14:creationId xmlns:p14="http://schemas.microsoft.com/office/powerpoint/2010/main" val="29237161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2E28F-D01B-4055-87A5-9BF41167A83B}"/>
              </a:ext>
            </a:extLst>
          </p:cNvPr>
          <p:cNvSpPr>
            <a:spLocks noGrp="1"/>
          </p:cNvSpPr>
          <p:nvPr>
            <p:ph type="title"/>
          </p:nvPr>
        </p:nvSpPr>
        <p:spPr/>
        <p:txBody>
          <a:bodyPr/>
          <a:lstStyle/>
          <a:p>
            <a:r>
              <a:rPr lang="en-US" altLang="zh-CN" dirty="0"/>
              <a:t>Quickly review</a:t>
            </a:r>
            <a:endParaRPr lang="en-US" dirty="0"/>
          </a:p>
        </p:txBody>
      </p:sp>
      <p:pic>
        <p:nvPicPr>
          <p:cNvPr id="4" name="Picture 3">
            <a:extLst>
              <a:ext uri="{FF2B5EF4-FFF2-40B4-BE49-F238E27FC236}">
                <a16:creationId xmlns:a16="http://schemas.microsoft.com/office/drawing/2014/main" id="{21F19340-7874-48C7-95A6-2E1E3B269051}"/>
              </a:ext>
            </a:extLst>
          </p:cNvPr>
          <p:cNvPicPr>
            <a:picLocks noChangeAspect="1"/>
          </p:cNvPicPr>
          <p:nvPr/>
        </p:nvPicPr>
        <p:blipFill>
          <a:blip r:embed="rId2"/>
          <a:stretch>
            <a:fillRect/>
          </a:stretch>
        </p:blipFill>
        <p:spPr>
          <a:xfrm>
            <a:off x="364733" y="1389847"/>
            <a:ext cx="8197376" cy="4748891"/>
          </a:xfrm>
          <a:prstGeom prst="rect">
            <a:avLst/>
          </a:prstGeom>
        </p:spPr>
      </p:pic>
    </p:spTree>
    <p:extLst>
      <p:ext uri="{BB962C8B-B14F-4D97-AF65-F5344CB8AC3E}">
        <p14:creationId xmlns:p14="http://schemas.microsoft.com/office/powerpoint/2010/main" val="23518592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D24F7-2BB4-4395-8A84-E11440BE761E}"/>
              </a:ext>
            </a:extLst>
          </p:cNvPr>
          <p:cNvSpPr>
            <a:spLocks noGrp="1"/>
          </p:cNvSpPr>
          <p:nvPr>
            <p:ph type="title"/>
          </p:nvPr>
        </p:nvSpPr>
        <p:spPr/>
        <p:txBody>
          <a:bodyPr/>
          <a:lstStyle/>
          <a:p>
            <a:r>
              <a:rPr lang="en-US" dirty="0"/>
              <a:t>Quick review</a:t>
            </a:r>
          </a:p>
        </p:txBody>
      </p:sp>
      <p:sp>
        <p:nvSpPr>
          <p:cNvPr id="4" name="TextBox 3">
            <a:extLst>
              <a:ext uri="{FF2B5EF4-FFF2-40B4-BE49-F238E27FC236}">
                <a16:creationId xmlns:a16="http://schemas.microsoft.com/office/drawing/2014/main" id="{587CF209-F92E-4A69-850E-31ADDA5C188D}"/>
              </a:ext>
            </a:extLst>
          </p:cNvPr>
          <p:cNvSpPr txBox="1"/>
          <p:nvPr/>
        </p:nvSpPr>
        <p:spPr>
          <a:xfrm>
            <a:off x="771525" y="1328702"/>
            <a:ext cx="7600950" cy="861774"/>
          </a:xfrm>
          <a:prstGeom prst="rect">
            <a:avLst/>
          </a:prstGeom>
          <a:noFill/>
        </p:spPr>
        <p:txBody>
          <a:bodyPr wrap="square" rtlCol="0">
            <a:spAutoFit/>
          </a:bodyPr>
          <a:lstStyle/>
          <a:p>
            <a:r>
              <a:rPr lang="en-US" sz="3200" dirty="0"/>
              <a:t>What are the key task of an assembler?</a:t>
            </a:r>
          </a:p>
          <a:p>
            <a:endParaRPr lang="en-US" dirty="0"/>
          </a:p>
        </p:txBody>
      </p:sp>
      <p:sp>
        <p:nvSpPr>
          <p:cNvPr id="6" name="TextBox 5">
            <a:extLst>
              <a:ext uri="{FF2B5EF4-FFF2-40B4-BE49-F238E27FC236}">
                <a16:creationId xmlns:a16="http://schemas.microsoft.com/office/drawing/2014/main" id="{5471DDE9-371E-4AF2-80B1-EFA271BF7F4C}"/>
              </a:ext>
            </a:extLst>
          </p:cNvPr>
          <p:cNvSpPr txBox="1"/>
          <p:nvPr/>
        </p:nvSpPr>
        <p:spPr>
          <a:xfrm>
            <a:off x="840580" y="2739509"/>
            <a:ext cx="6665119" cy="2246769"/>
          </a:xfrm>
          <a:prstGeom prst="rect">
            <a:avLst/>
          </a:prstGeom>
          <a:noFill/>
        </p:spPr>
        <p:txBody>
          <a:bodyPr wrap="square">
            <a:spAutoFit/>
          </a:bodyPr>
          <a:lstStyle/>
          <a:p>
            <a:pPr lvl="1" indent="-514350">
              <a:buFont typeface="Arial" panose="020B0604020202020204" pitchFamily="34" charset="0"/>
              <a:buChar char="•"/>
            </a:pPr>
            <a:r>
              <a:rPr lang="en-US" altLang="en-US" sz="2800" dirty="0">
                <a:latin typeface="Arial" panose="020B0604020202020204" pitchFamily="34" charset="0"/>
                <a:ea typeface="ＭＳ Ｐゴシック" panose="020B0600070205080204" pitchFamily="34" charset="-128"/>
                <a:cs typeface="Arial" panose="020B0604020202020204" pitchFamily="34" charset="0"/>
              </a:rPr>
              <a:t>Translating op codes,</a:t>
            </a:r>
          </a:p>
          <a:p>
            <a:pPr lvl="1" indent="-514350">
              <a:buFont typeface="Arial" panose="020B0604020202020204" pitchFamily="34" charset="0"/>
              <a:buChar char="•"/>
            </a:pPr>
            <a:r>
              <a:rPr lang="en-US" altLang="en-US" sz="2800" dirty="0">
                <a:latin typeface="Arial" panose="020B0604020202020204" pitchFamily="34" charset="0"/>
                <a:ea typeface="ＭＳ Ｐゴシック" panose="020B0600070205080204" pitchFamily="34" charset="-128"/>
                <a:cs typeface="Arial" panose="020B0604020202020204" pitchFamily="34" charset="0"/>
              </a:rPr>
              <a:t>Translating symbolic addresses,</a:t>
            </a:r>
          </a:p>
          <a:p>
            <a:pPr lvl="1" indent="-514350">
              <a:buFont typeface="Arial" panose="020B0604020202020204" pitchFamily="34" charset="0"/>
              <a:buChar char="•"/>
            </a:pPr>
            <a:r>
              <a:rPr lang="en-US" altLang="en-US" sz="2800" dirty="0">
                <a:latin typeface="Arial" panose="020B0604020202020204" pitchFamily="34" charset="0"/>
                <a:ea typeface="ＭＳ Ｐゴシック" panose="020B0600070205080204" pitchFamily="34" charset="-128"/>
                <a:cs typeface="Arial" panose="020B0604020202020204" pitchFamily="34" charset="0"/>
              </a:rPr>
              <a:t>Performing pseudo-op tasks, and</a:t>
            </a:r>
          </a:p>
          <a:p>
            <a:pPr lvl="1" indent="-514350">
              <a:buFont typeface="Arial" panose="020B0604020202020204" pitchFamily="34" charset="0"/>
              <a:buChar char="•"/>
            </a:pPr>
            <a:r>
              <a:rPr lang="en-US" altLang="en-US" sz="2800" dirty="0">
                <a:latin typeface="Arial" panose="020B0604020202020204" pitchFamily="34" charset="0"/>
                <a:ea typeface="ＭＳ Ｐゴシック" panose="020B0600070205080204" pitchFamily="34" charset="-128"/>
                <a:cs typeface="Arial" panose="020B0604020202020204" pitchFamily="34" charset="0"/>
              </a:rPr>
              <a:t>Creating an object file </a:t>
            </a:r>
          </a:p>
          <a:p>
            <a:pPr lvl="1" indent="-514350">
              <a:buFont typeface="Arial" panose="020B0604020202020204" pitchFamily="34" charset="0"/>
              <a:buChar char="•"/>
            </a:pPr>
            <a:endParaRPr lang="en-US" altLang="en-US" sz="2800"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072531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8AF57-E636-40B8-93B6-D713AC31B472}"/>
              </a:ext>
            </a:extLst>
          </p:cNvPr>
          <p:cNvSpPr>
            <a:spLocks noGrp="1"/>
          </p:cNvSpPr>
          <p:nvPr>
            <p:ph type="title"/>
          </p:nvPr>
        </p:nvSpPr>
        <p:spPr/>
        <p:txBody>
          <a:bodyPr/>
          <a:lstStyle/>
          <a:p>
            <a:r>
              <a:rPr lang="en-US" dirty="0"/>
              <a:t>Quick review</a:t>
            </a:r>
          </a:p>
        </p:txBody>
      </p:sp>
      <p:sp>
        <p:nvSpPr>
          <p:cNvPr id="5" name="TextBox 4">
            <a:extLst>
              <a:ext uri="{FF2B5EF4-FFF2-40B4-BE49-F238E27FC236}">
                <a16:creationId xmlns:a16="http://schemas.microsoft.com/office/drawing/2014/main" id="{D2168C5A-0C75-4C47-BD08-331786922DBD}"/>
              </a:ext>
            </a:extLst>
          </p:cNvPr>
          <p:cNvSpPr txBox="1"/>
          <p:nvPr/>
        </p:nvSpPr>
        <p:spPr>
          <a:xfrm>
            <a:off x="790574" y="1348859"/>
            <a:ext cx="7143751" cy="461665"/>
          </a:xfrm>
          <a:prstGeom prst="rect">
            <a:avLst/>
          </a:prstGeom>
          <a:noFill/>
        </p:spPr>
        <p:txBody>
          <a:bodyPr wrap="square">
            <a:spAutoFit/>
          </a:bodyPr>
          <a:lstStyle/>
          <a:p>
            <a:pPr lvl="1" indent="-514350"/>
            <a:r>
              <a:rPr lang="en-US" altLang="en-US" sz="2400" dirty="0">
                <a:latin typeface="Arial" panose="020B0604020202020204" pitchFamily="34" charset="0"/>
                <a:ea typeface="ＭＳ Ｐゴシック" panose="020B0600070205080204" pitchFamily="34" charset="-128"/>
                <a:cs typeface="Arial" panose="020B0604020202020204" pitchFamily="34" charset="0"/>
              </a:rPr>
              <a:t>How does an assembler use the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symbol table</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a:t>
            </a:r>
          </a:p>
        </p:txBody>
      </p:sp>
      <p:sp>
        <p:nvSpPr>
          <p:cNvPr id="7" name="TextBox 6">
            <a:extLst>
              <a:ext uri="{FF2B5EF4-FFF2-40B4-BE49-F238E27FC236}">
                <a16:creationId xmlns:a16="http://schemas.microsoft.com/office/drawing/2014/main" id="{FBDB6A78-2476-4CB3-BA58-6745E4D197A9}"/>
              </a:ext>
            </a:extLst>
          </p:cNvPr>
          <p:cNvSpPr txBox="1"/>
          <p:nvPr/>
        </p:nvSpPr>
        <p:spPr>
          <a:xfrm>
            <a:off x="966787" y="2263259"/>
            <a:ext cx="7210425" cy="3416320"/>
          </a:xfrm>
          <a:prstGeom prst="rect">
            <a:avLst/>
          </a:prstGeom>
          <a:noFill/>
        </p:spPr>
        <p:txBody>
          <a:bodyPr wrap="square">
            <a:spAutoFit/>
          </a:bodyPr>
          <a:lstStyle/>
          <a:p>
            <a:pPr lvl="1" indent="-514350">
              <a:buFont typeface="Arial" panose="020B0604020202020204" pitchFamily="34" charset="0"/>
              <a:buChar cha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In the first pass(build a symbol table)</a:t>
            </a:r>
          </a:p>
          <a:p>
            <a:pPr marL="0" lvl="1"/>
            <a:r>
              <a:rPr lang="en-US" altLang="en-US" sz="2400" dirty="0">
                <a:latin typeface="Arial" panose="020B0604020202020204" pitchFamily="34" charset="0"/>
                <a:ea typeface="ＭＳ Ｐゴシック" panose="020B0600070205080204" pitchFamily="34" charset="-128"/>
                <a:cs typeface="Arial" panose="020B0604020202020204" pitchFamily="34" charset="0"/>
              </a:rPr>
              <a:t>	----collect the symbolic labels and their position relative to the start of the program</a:t>
            </a:r>
          </a:p>
          <a:p>
            <a:pPr marL="0" lvl="1"/>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a:p>
            <a:pPr lvl="1" indent="-514350">
              <a:buFont typeface="Arial" panose="020B0604020202020204" pitchFamily="34" charset="0"/>
              <a:buChar cha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In the second pass</a:t>
            </a:r>
          </a:p>
          <a:p>
            <a:pPr marL="0" lvl="1"/>
            <a:r>
              <a:rPr lang="en-US" altLang="en-US" sz="2400" dirty="0">
                <a:latin typeface="Arial" panose="020B0604020202020204" pitchFamily="34" charset="0"/>
                <a:ea typeface="ＭＳ Ｐゴシック" panose="020B0600070205080204" pitchFamily="34" charset="-128"/>
                <a:cs typeface="Arial" panose="020B0604020202020204" pitchFamily="34" charset="0"/>
              </a:rPr>
              <a:t>	----Replace(substitute) the position of the symbol(Replace the label with value)</a:t>
            </a:r>
          </a:p>
          <a:p>
            <a:pPr lvl="1" indent="-514350">
              <a:buFont typeface="Arial" panose="020B0604020202020204" pitchFamily="34" charset="0"/>
              <a:buChar char="•"/>
            </a:pPr>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a:p>
            <a:pPr lvl="1" indent="-514350">
              <a:buFont typeface="Arial" panose="020B0604020202020204" pitchFamily="34" charset="0"/>
              <a:buChar char="•"/>
            </a:pPr>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75423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CD5D-32CA-4952-A64E-6BAF608C0B39}"/>
              </a:ext>
            </a:extLst>
          </p:cNvPr>
          <p:cNvSpPr>
            <a:spLocks noGrp="1"/>
          </p:cNvSpPr>
          <p:nvPr>
            <p:ph type="title"/>
          </p:nvPr>
        </p:nvSpPr>
        <p:spPr/>
        <p:txBody>
          <a:bodyPr/>
          <a:lstStyle/>
          <a:p>
            <a:r>
              <a:rPr lang="en-US" dirty="0"/>
              <a:t>Quick review</a:t>
            </a:r>
          </a:p>
        </p:txBody>
      </p:sp>
      <p:sp>
        <p:nvSpPr>
          <p:cNvPr id="5" name="TextBox 4">
            <a:extLst>
              <a:ext uri="{FF2B5EF4-FFF2-40B4-BE49-F238E27FC236}">
                <a16:creationId xmlns:a16="http://schemas.microsoft.com/office/drawing/2014/main" id="{2F9038B2-AEA3-4FA6-9A3A-8BC131B3E0F3}"/>
              </a:ext>
            </a:extLst>
          </p:cNvPr>
          <p:cNvSpPr txBox="1"/>
          <p:nvPr/>
        </p:nvSpPr>
        <p:spPr>
          <a:xfrm>
            <a:off x="659606" y="1435228"/>
            <a:ext cx="8046244" cy="830997"/>
          </a:xfrm>
          <a:prstGeom prst="rect">
            <a:avLst/>
          </a:prstGeom>
          <a:noFill/>
        </p:spPr>
        <p:txBody>
          <a:bodyPr wrap="square">
            <a:spAutoFit/>
          </a:bodyPr>
          <a:lstStyle/>
          <a:p>
            <a:pPr lvl="1" indent="-514350"/>
            <a:r>
              <a:rPr lang="en-US" altLang="en-US" sz="2400" dirty="0">
                <a:latin typeface="Arial" panose="020B0604020202020204" pitchFamily="34" charset="0"/>
                <a:ea typeface="ＭＳ Ｐゴシック" panose="020B0600070205080204" pitchFamily="34" charset="-128"/>
                <a:cs typeface="Arial" panose="020B0604020202020204" pitchFamily="34" charset="0"/>
              </a:rPr>
              <a:t>What does it mean to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bind(</a:t>
            </a:r>
            <a:r>
              <a:rPr lang="zh-CN" altLang="en-US" sz="2400" b="1" dirty="0">
                <a:latin typeface="Arial" panose="020B0604020202020204" pitchFamily="34" charset="0"/>
                <a:ea typeface="ＭＳ Ｐゴシック" panose="020B0600070205080204" pitchFamily="34" charset="-128"/>
                <a:cs typeface="Arial" panose="020B0604020202020204" pitchFamily="34" charset="0"/>
              </a:rPr>
              <a:t>组合；结合</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a symbolic name with a memory address? </a:t>
            </a:r>
            <a:r>
              <a:rPr lang="zh-CN" altLang="en-US" sz="2400" dirty="0">
                <a:latin typeface="Arial" panose="020B0604020202020204" pitchFamily="34" charset="0"/>
                <a:ea typeface="ＭＳ Ｐゴシック" panose="020B0600070205080204" pitchFamily="34" charset="-128"/>
                <a:cs typeface="Arial" panose="020B0604020202020204" pitchFamily="34" charset="0"/>
              </a:rPr>
              <a:t>（</a:t>
            </a:r>
            <a:r>
              <a:rPr lang="en-US" altLang="zh-CN" sz="2400" dirty="0">
                <a:latin typeface="Arial" panose="020B0604020202020204" pitchFamily="34" charset="0"/>
                <a:ea typeface="ＭＳ Ｐゴシック" panose="020B0600070205080204" pitchFamily="34" charset="-128"/>
                <a:cs typeface="Arial" panose="020B0604020202020204" pitchFamily="34" charset="0"/>
              </a:rPr>
              <a:t>in the symbol table</a:t>
            </a:r>
            <a:r>
              <a:rPr lang="zh-CN" altLang="en-US" sz="2400" dirty="0">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TextBox 5">
            <a:extLst>
              <a:ext uri="{FF2B5EF4-FFF2-40B4-BE49-F238E27FC236}">
                <a16:creationId xmlns:a16="http://schemas.microsoft.com/office/drawing/2014/main" id="{953C77D4-3EA0-41F7-BCE7-C25DB0C4B46F}"/>
              </a:ext>
            </a:extLst>
          </p:cNvPr>
          <p:cNvSpPr txBox="1"/>
          <p:nvPr/>
        </p:nvSpPr>
        <p:spPr>
          <a:xfrm>
            <a:off x="1047750" y="2914650"/>
            <a:ext cx="5572125" cy="461665"/>
          </a:xfrm>
          <a:prstGeom prst="rect">
            <a:avLst/>
          </a:prstGeom>
          <a:noFill/>
        </p:spPr>
        <p:txBody>
          <a:bodyPr wrap="square" rtlCol="0">
            <a:spAutoFit/>
          </a:bodyPr>
          <a:lstStyle/>
          <a:p>
            <a:r>
              <a:rPr lang="en-US" sz="2400" dirty="0"/>
              <a:t>Associating the name with the address</a:t>
            </a:r>
          </a:p>
        </p:txBody>
      </p:sp>
      <p:sp>
        <p:nvSpPr>
          <p:cNvPr id="7" name="TextBox 6">
            <a:extLst>
              <a:ext uri="{FF2B5EF4-FFF2-40B4-BE49-F238E27FC236}">
                <a16:creationId xmlns:a16="http://schemas.microsoft.com/office/drawing/2014/main" id="{DAE21946-BD2F-41B1-8F9D-982839B0C258}"/>
              </a:ext>
            </a:extLst>
          </p:cNvPr>
          <p:cNvSpPr txBox="1"/>
          <p:nvPr/>
        </p:nvSpPr>
        <p:spPr>
          <a:xfrm>
            <a:off x="1381125" y="3543241"/>
            <a:ext cx="4572000" cy="369332"/>
          </a:xfrm>
          <a:prstGeom prst="rect">
            <a:avLst/>
          </a:prstGeom>
          <a:noFill/>
        </p:spPr>
        <p:txBody>
          <a:bodyPr wrap="square">
            <a:spAutoFit/>
          </a:bodyPr>
          <a:lstStyle/>
          <a:p>
            <a:r>
              <a:rPr lang="en-US" dirty="0" err="1"/>
              <a:t>将名称与地址关联</a:t>
            </a:r>
            <a:endParaRPr lang="en-US" dirty="0"/>
          </a:p>
        </p:txBody>
      </p:sp>
    </p:spTree>
    <p:extLst>
      <p:ext uri="{BB962C8B-B14F-4D97-AF65-F5344CB8AC3E}">
        <p14:creationId xmlns:p14="http://schemas.microsoft.com/office/powerpoint/2010/main" val="4253412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94756-B4D4-4E05-AA53-A38814CE57B3}"/>
              </a:ext>
            </a:extLst>
          </p:cNvPr>
          <p:cNvSpPr>
            <a:spLocks noGrp="1"/>
          </p:cNvSpPr>
          <p:nvPr>
            <p:ph type="title"/>
          </p:nvPr>
        </p:nvSpPr>
        <p:spPr/>
        <p:txBody>
          <a:bodyPr/>
          <a:lstStyle/>
          <a:p>
            <a:r>
              <a:rPr lang="en-US" dirty="0"/>
              <a:t>Quick review</a:t>
            </a:r>
          </a:p>
        </p:txBody>
      </p:sp>
      <p:sp>
        <p:nvSpPr>
          <p:cNvPr id="5" name="TextBox 4">
            <a:extLst>
              <a:ext uri="{FF2B5EF4-FFF2-40B4-BE49-F238E27FC236}">
                <a16:creationId xmlns:a16="http://schemas.microsoft.com/office/drawing/2014/main" id="{5C3AA07F-D694-46E5-950F-57BC991D6AAB}"/>
              </a:ext>
            </a:extLst>
          </p:cNvPr>
          <p:cNvSpPr txBox="1"/>
          <p:nvPr/>
        </p:nvSpPr>
        <p:spPr>
          <a:xfrm>
            <a:off x="895349" y="1759762"/>
            <a:ext cx="6505575" cy="584775"/>
          </a:xfrm>
          <a:prstGeom prst="rect">
            <a:avLst/>
          </a:prstGeom>
          <a:noFill/>
        </p:spPr>
        <p:txBody>
          <a:bodyPr wrap="square">
            <a:spAutoFit/>
          </a:bodyPr>
          <a:lstStyle/>
          <a:p>
            <a:pPr lvl="1" indent="-514350"/>
            <a:r>
              <a:rPr lang="en-US" altLang="zh-CN" sz="3200" dirty="0">
                <a:latin typeface="Arial" panose="020B0604020202020204" pitchFamily="34" charset="0"/>
                <a:ea typeface="ＭＳ Ｐゴシック" panose="020B0600070205080204" pitchFamily="34" charset="-128"/>
                <a:cs typeface="Arial" panose="020B0604020202020204" pitchFamily="34" charset="0"/>
              </a:rPr>
              <a:t>What’s the purpose of the </a:t>
            </a:r>
            <a:r>
              <a:rPr lang="en-US" altLang="zh-CN" sz="3200" b="1" dirty="0">
                <a:latin typeface="Arial" panose="020B0604020202020204" pitchFamily="34" charset="0"/>
                <a:ea typeface="ＭＳ Ｐゴシック" panose="020B0600070205080204" pitchFamily="34" charset="-128"/>
                <a:cs typeface="Arial" panose="020B0604020202020204" pitchFamily="34" charset="0"/>
              </a:rPr>
              <a:t>loader</a:t>
            </a:r>
            <a:r>
              <a:rPr lang="en-US" altLang="zh-CN" sz="3200" dirty="0">
                <a:latin typeface="Arial" panose="020B0604020202020204" pitchFamily="34" charset="0"/>
                <a:ea typeface="ＭＳ Ｐゴシック" panose="020B0600070205080204" pitchFamily="34" charset="-128"/>
                <a:cs typeface="Arial" panose="020B0604020202020204" pitchFamily="34" charset="0"/>
              </a:rPr>
              <a:t>? </a:t>
            </a:r>
            <a:endParaRPr lang="en-US" altLang="en-US" sz="32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TextBox 6">
            <a:extLst>
              <a:ext uri="{FF2B5EF4-FFF2-40B4-BE49-F238E27FC236}">
                <a16:creationId xmlns:a16="http://schemas.microsoft.com/office/drawing/2014/main" id="{F06DF373-9BD6-4933-9981-F8E94FE27FD8}"/>
              </a:ext>
            </a:extLst>
          </p:cNvPr>
          <p:cNvSpPr txBox="1"/>
          <p:nvPr/>
        </p:nvSpPr>
        <p:spPr>
          <a:xfrm>
            <a:off x="809624" y="2920484"/>
            <a:ext cx="7962901" cy="830997"/>
          </a:xfrm>
          <a:prstGeom prst="rect">
            <a:avLst/>
          </a:prstGeom>
          <a:noFill/>
        </p:spPr>
        <p:txBody>
          <a:bodyPr wrap="square">
            <a:spAutoFit/>
          </a:bodyPr>
          <a:lstStyle/>
          <a:p>
            <a:pPr marL="285750" lvl="1" indent="-285750">
              <a:buFont typeface="Arial" panose="020B0604020202020204" pitchFamily="34" charset="0"/>
              <a:buChar cha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to place the machine language program into memory</a:t>
            </a:r>
          </a:p>
          <a:p>
            <a:pPr marL="285750" lvl="1" indent="-285750">
              <a:buFont typeface="Arial" panose="020B0604020202020204" pitchFamily="34" charset="0"/>
              <a:buChar cha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send it to the hardware</a:t>
            </a:r>
          </a:p>
        </p:txBody>
      </p:sp>
    </p:spTree>
    <p:extLst>
      <p:ext uri="{BB962C8B-B14F-4D97-AF65-F5344CB8AC3E}">
        <p14:creationId xmlns:p14="http://schemas.microsoft.com/office/powerpoint/2010/main" val="2955076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8A1C-4A56-42AD-AC74-D5CD8CA1B7B7}"/>
              </a:ext>
            </a:extLst>
          </p:cNvPr>
          <p:cNvSpPr>
            <a:spLocks noGrp="1"/>
          </p:cNvSpPr>
          <p:nvPr>
            <p:ph type="title"/>
          </p:nvPr>
        </p:nvSpPr>
        <p:spPr/>
        <p:txBody>
          <a:bodyPr/>
          <a:lstStyle/>
          <a:p>
            <a:r>
              <a:rPr lang="en-US" dirty="0"/>
              <a:t>Quick review</a:t>
            </a:r>
          </a:p>
        </p:txBody>
      </p:sp>
      <p:sp>
        <p:nvSpPr>
          <p:cNvPr id="5" name="TextBox 4">
            <a:extLst>
              <a:ext uri="{FF2B5EF4-FFF2-40B4-BE49-F238E27FC236}">
                <a16:creationId xmlns:a16="http://schemas.microsoft.com/office/drawing/2014/main" id="{D6E65F14-268E-4541-A747-533C1550CEC9}"/>
              </a:ext>
            </a:extLst>
          </p:cNvPr>
          <p:cNvSpPr txBox="1"/>
          <p:nvPr/>
        </p:nvSpPr>
        <p:spPr>
          <a:xfrm>
            <a:off x="364330" y="2187059"/>
            <a:ext cx="8284369" cy="830997"/>
          </a:xfrm>
          <a:prstGeom prst="rect">
            <a:avLst/>
          </a:prstGeom>
          <a:noFill/>
        </p:spPr>
        <p:txBody>
          <a:bodyPr wrap="square">
            <a:spAutoFit/>
          </a:bodyPr>
          <a:lstStyle/>
          <a:p>
            <a:pPr lvl="1" indent="-514350"/>
            <a:r>
              <a:rPr lang="en-US" altLang="en-US" sz="2400" dirty="0">
                <a:latin typeface="Arial" panose="020B0604020202020204" pitchFamily="34" charset="0"/>
                <a:ea typeface="ＭＳ Ｐゴシック" panose="020B0600070205080204" pitchFamily="34" charset="-128"/>
                <a:cs typeface="Arial" panose="020B0604020202020204" pitchFamily="34" charset="0"/>
              </a:rPr>
              <a:t>A program written in assembly language is called a  </a:t>
            </a:r>
            <a:r>
              <a:rPr lang="en-US" altLang="en-US" sz="2400" u="sng"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source </a:t>
            </a:r>
            <a:r>
              <a:rPr lang="en-US" altLang="en-US" sz="2400" u="sng" dirty="0" err="1">
                <a:solidFill>
                  <a:srgbClr val="FF0000"/>
                </a:solidFill>
                <a:latin typeface="Arial" panose="020B0604020202020204" pitchFamily="34" charset="0"/>
                <a:ea typeface="ＭＳ Ｐゴシック" panose="020B0600070205080204" pitchFamily="34" charset="-128"/>
                <a:cs typeface="Arial" panose="020B0604020202020204" pitchFamily="34" charset="0"/>
              </a:rPr>
              <a:t>progeam</a:t>
            </a:r>
            <a:r>
              <a:rPr lang="en-US" altLang="en-US" sz="2400" u="sng"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a:t>
            </a:r>
          </a:p>
        </p:txBody>
      </p:sp>
      <p:sp>
        <p:nvSpPr>
          <p:cNvPr id="7" name="TextBox 6">
            <a:extLst>
              <a:ext uri="{FF2B5EF4-FFF2-40B4-BE49-F238E27FC236}">
                <a16:creationId xmlns:a16="http://schemas.microsoft.com/office/drawing/2014/main" id="{9EE6D098-7B87-4F50-B01C-6AA2E0CF0CB6}"/>
              </a:ext>
            </a:extLst>
          </p:cNvPr>
          <p:cNvSpPr txBox="1"/>
          <p:nvPr/>
        </p:nvSpPr>
        <p:spPr>
          <a:xfrm>
            <a:off x="790575" y="3625334"/>
            <a:ext cx="4572000" cy="830997"/>
          </a:xfrm>
          <a:prstGeom prst="rect">
            <a:avLst/>
          </a:prstGeom>
          <a:noFill/>
        </p:spPr>
        <p:txBody>
          <a:bodyPr wrap="square">
            <a:spAutoFit/>
          </a:bodyPr>
          <a:lstStyle/>
          <a:p>
            <a:pPr lvl="1" indent="-514350"/>
            <a:r>
              <a:rPr lang="en-US" altLang="en-US" sz="2400" dirty="0">
                <a:latin typeface="Arial" panose="020B0604020202020204" pitchFamily="34" charset="0"/>
                <a:ea typeface="ＭＳ Ｐゴシック" panose="020B0600070205080204" pitchFamily="34" charset="-128"/>
                <a:cs typeface="Arial" panose="020B0604020202020204" pitchFamily="34" charset="0"/>
              </a:rPr>
              <a:t>The output of assembler be </a:t>
            </a:r>
          </a:p>
          <a:p>
            <a:pPr lvl="1" indent="-514350"/>
            <a:r>
              <a:rPr lang="en-US" altLang="en-US" sz="2400" dirty="0">
                <a:latin typeface="Arial" panose="020B0604020202020204" pitchFamily="34" charset="0"/>
                <a:ea typeface="ＭＳ Ｐゴシック" panose="020B0600070205080204" pitchFamily="34" charset="-128"/>
                <a:cs typeface="Arial" panose="020B0604020202020204" pitchFamily="34" charset="0"/>
              </a:rPr>
              <a:t>It called </a:t>
            </a:r>
            <a:r>
              <a:rPr lang="en-US" altLang="en-US" sz="24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object program</a:t>
            </a:r>
          </a:p>
        </p:txBody>
      </p:sp>
    </p:spTree>
    <p:extLst>
      <p:ext uri="{BB962C8B-B14F-4D97-AF65-F5344CB8AC3E}">
        <p14:creationId xmlns:p14="http://schemas.microsoft.com/office/powerpoint/2010/main" val="34360149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CED43-0927-48D5-AA0C-319FFF5D1C27}"/>
              </a:ext>
            </a:extLst>
          </p:cNvPr>
          <p:cNvSpPr>
            <a:spLocks noGrp="1"/>
          </p:cNvSpPr>
          <p:nvPr>
            <p:ph type="title"/>
          </p:nvPr>
        </p:nvSpPr>
        <p:spPr/>
        <p:txBody>
          <a:bodyPr/>
          <a:lstStyle/>
          <a:p>
            <a:endParaRPr lang="en-US"/>
          </a:p>
        </p:txBody>
      </p:sp>
      <p:sp>
        <p:nvSpPr>
          <p:cNvPr id="5" name="TextBox 4">
            <a:extLst>
              <a:ext uri="{FF2B5EF4-FFF2-40B4-BE49-F238E27FC236}">
                <a16:creationId xmlns:a16="http://schemas.microsoft.com/office/drawing/2014/main" id="{76AE6CFD-38F1-4EBD-8C6B-0209F649E413}"/>
              </a:ext>
            </a:extLst>
          </p:cNvPr>
          <p:cNvSpPr txBox="1"/>
          <p:nvPr/>
        </p:nvSpPr>
        <p:spPr>
          <a:xfrm>
            <a:off x="971550" y="2228671"/>
            <a:ext cx="6657975" cy="1384995"/>
          </a:xfrm>
          <a:prstGeom prst="rect">
            <a:avLst/>
          </a:prstGeom>
          <a:noFill/>
        </p:spPr>
        <p:txBody>
          <a:bodyPr wrap="square" rtlCol="0">
            <a:spAutoFit/>
          </a:bodyPr>
          <a:lstStyle/>
          <a:p>
            <a:r>
              <a:rPr lang="en-US" sz="2800" dirty="0"/>
              <a:t>True or False?</a:t>
            </a:r>
          </a:p>
          <a:p>
            <a:r>
              <a:rPr lang="en-US" sz="2800" dirty="0"/>
              <a:t>Pseudo-ops are instructions for services provided by the assembler.  </a:t>
            </a:r>
          </a:p>
        </p:txBody>
      </p:sp>
      <p:sp>
        <p:nvSpPr>
          <p:cNvPr id="7" name="TextBox 6">
            <a:extLst>
              <a:ext uri="{FF2B5EF4-FFF2-40B4-BE49-F238E27FC236}">
                <a16:creationId xmlns:a16="http://schemas.microsoft.com/office/drawing/2014/main" id="{335BE7C9-B4CC-4821-ABA0-E263AB08E9E3}"/>
              </a:ext>
            </a:extLst>
          </p:cNvPr>
          <p:cNvSpPr txBox="1"/>
          <p:nvPr/>
        </p:nvSpPr>
        <p:spPr>
          <a:xfrm>
            <a:off x="1066800" y="4311574"/>
            <a:ext cx="1514475" cy="523220"/>
          </a:xfrm>
          <a:prstGeom prst="rect">
            <a:avLst/>
          </a:prstGeom>
          <a:noFill/>
        </p:spPr>
        <p:txBody>
          <a:bodyPr wrap="square" rtlCol="0">
            <a:spAutoFit/>
          </a:bodyPr>
          <a:lstStyle/>
          <a:p>
            <a:r>
              <a:rPr lang="en-US" sz="2800" dirty="0"/>
              <a:t>True </a:t>
            </a:r>
          </a:p>
        </p:txBody>
      </p:sp>
      <p:sp>
        <p:nvSpPr>
          <p:cNvPr id="6" name="TextBox 5">
            <a:extLst>
              <a:ext uri="{FF2B5EF4-FFF2-40B4-BE49-F238E27FC236}">
                <a16:creationId xmlns:a16="http://schemas.microsoft.com/office/drawing/2014/main" id="{FC6A9D62-67DC-4E79-B499-D59ED5F723ED}"/>
              </a:ext>
            </a:extLst>
          </p:cNvPr>
          <p:cNvSpPr txBox="1"/>
          <p:nvPr/>
        </p:nvSpPr>
        <p:spPr>
          <a:xfrm>
            <a:off x="1514475" y="3560505"/>
            <a:ext cx="4576762" cy="369332"/>
          </a:xfrm>
          <a:prstGeom prst="rect">
            <a:avLst/>
          </a:prstGeom>
          <a:noFill/>
        </p:spPr>
        <p:txBody>
          <a:bodyPr wrap="square">
            <a:spAutoFit/>
          </a:bodyPr>
          <a:lstStyle/>
          <a:p>
            <a:r>
              <a:rPr lang="en-US" dirty="0" err="1"/>
              <a:t>伪操作是汇编程序提供的服务说明</a:t>
            </a:r>
            <a:r>
              <a:rPr lang="en-US" dirty="0"/>
              <a:t>。</a:t>
            </a:r>
          </a:p>
        </p:txBody>
      </p:sp>
    </p:spTree>
    <p:extLst>
      <p:ext uri="{BB962C8B-B14F-4D97-AF65-F5344CB8AC3E}">
        <p14:creationId xmlns:p14="http://schemas.microsoft.com/office/powerpoint/2010/main" val="5387824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CD2D-E5E7-4776-AA9A-B57920A7C1F7}"/>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7465CEE8-1467-42DC-970E-6CB8FB29CCE3}"/>
              </a:ext>
            </a:extLst>
          </p:cNvPr>
          <p:cNvPicPr>
            <a:picLocks noChangeAspect="1"/>
          </p:cNvPicPr>
          <p:nvPr/>
        </p:nvPicPr>
        <p:blipFill>
          <a:blip r:embed="rId2"/>
          <a:stretch>
            <a:fillRect/>
          </a:stretch>
        </p:blipFill>
        <p:spPr>
          <a:xfrm>
            <a:off x="942975" y="1895475"/>
            <a:ext cx="7258050" cy="3543300"/>
          </a:xfrm>
          <a:prstGeom prst="rect">
            <a:avLst/>
          </a:prstGeom>
        </p:spPr>
      </p:pic>
    </p:spTree>
    <p:extLst>
      <p:ext uri="{BB962C8B-B14F-4D97-AF65-F5344CB8AC3E}">
        <p14:creationId xmlns:p14="http://schemas.microsoft.com/office/powerpoint/2010/main" val="3217583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D4AE6-2F77-4834-95DA-BB54CDAB38ED}"/>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78887445-70BF-4813-91B9-EB5472F15164}"/>
              </a:ext>
            </a:extLst>
          </p:cNvPr>
          <p:cNvPicPr>
            <a:picLocks noChangeAspect="1"/>
          </p:cNvPicPr>
          <p:nvPr/>
        </p:nvPicPr>
        <p:blipFill>
          <a:blip r:embed="rId2"/>
          <a:stretch>
            <a:fillRect/>
          </a:stretch>
        </p:blipFill>
        <p:spPr>
          <a:xfrm>
            <a:off x="200024" y="1509712"/>
            <a:ext cx="8794047" cy="3119438"/>
          </a:xfrm>
          <a:prstGeom prst="rect">
            <a:avLst/>
          </a:prstGeom>
        </p:spPr>
      </p:pic>
      <p:pic>
        <p:nvPicPr>
          <p:cNvPr id="5" name="Picture 4">
            <a:extLst>
              <a:ext uri="{FF2B5EF4-FFF2-40B4-BE49-F238E27FC236}">
                <a16:creationId xmlns:a16="http://schemas.microsoft.com/office/drawing/2014/main" id="{001E8703-9415-4AB8-92E3-033BAE8FC6DA}"/>
              </a:ext>
            </a:extLst>
          </p:cNvPr>
          <p:cNvPicPr>
            <a:picLocks noChangeAspect="1"/>
          </p:cNvPicPr>
          <p:nvPr/>
        </p:nvPicPr>
        <p:blipFill>
          <a:blip r:embed="rId3"/>
          <a:stretch>
            <a:fillRect/>
          </a:stretch>
        </p:blipFill>
        <p:spPr>
          <a:xfrm>
            <a:off x="757237" y="2657475"/>
            <a:ext cx="3533775" cy="3295650"/>
          </a:xfrm>
          <a:prstGeom prst="rect">
            <a:avLst/>
          </a:prstGeom>
        </p:spPr>
      </p:pic>
    </p:spTree>
    <p:extLst>
      <p:ext uri="{BB962C8B-B14F-4D97-AF65-F5344CB8AC3E}">
        <p14:creationId xmlns:p14="http://schemas.microsoft.com/office/powerpoint/2010/main" val="5099100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68886-C122-49C0-993B-3EEA9D1CA765}"/>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7B09A7B6-0431-4FFB-BC45-321EC42CAD94}"/>
              </a:ext>
            </a:extLst>
          </p:cNvPr>
          <p:cNvPicPr>
            <a:picLocks noChangeAspect="1"/>
          </p:cNvPicPr>
          <p:nvPr/>
        </p:nvPicPr>
        <p:blipFill>
          <a:blip r:embed="rId2"/>
          <a:stretch>
            <a:fillRect/>
          </a:stretch>
        </p:blipFill>
        <p:spPr>
          <a:xfrm>
            <a:off x="914219" y="1505311"/>
            <a:ext cx="6829425" cy="1162050"/>
          </a:xfrm>
          <a:prstGeom prst="rect">
            <a:avLst/>
          </a:prstGeom>
        </p:spPr>
      </p:pic>
      <p:pic>
        <p:nvPicPr>
          <p:cNvPr id="5" name="Picture 4">
            <a:extLst>
              <a:ext uri="{FF2B5EF4-FFF2-40B4-BE49-F238E27FC236}">
                <a16:creationId xmlns:a16="http://schemas.microsoft.com/office/drawing/2014/main" id="{81905679-BC85-498D-B276-93A271C40ED2}"/>
              </a:ext>
            </a:extLst>
          </p:cNvPr>
          <p:cNvPicPr>
            <a:picLocks noChangeAspect="1"/>
          </p:cNvPicPr>
          <p:nvPr/>
        </p:nvPicPr>
        <p:blipFill>
          <a:blip r:embed="rId3"/>
          <a:stretch>
            <a:fillRect/>
          </a:stretch>
        </p:blipFill>
        <p:spPr>
          <a:xfrm>
            <a:off x="914219" y="2338810"/>
            <a:ext cx="5981700" cy="3314700"/>
          </a:xfrm>
          <a:prstGeom prst="rect">
            <a:avLst/>
          </a:prstGeom>
        </p:spPr>
      </p:pic>
    </p:spTree>
    <p:extLst>
      <p:ext uri="{BB962C8B-B14F-4D97-AF65-F5344CB8AC3E}">
        <p14:creationId xmlns:p14="http://schemas.microsoft.com/office/powerpoint/2010/main" val="30631820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FD8DE-0085-4EAD-AE2E-F660A74A1942}"/>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C4159090-0E7E-4F96-AE46-B070425997F5}"/>
              </a:ext>
            </a:extLst>
          </p:cNvPr>
          <p:cNvPicPr>
            <a:picLocks noChangeAspect="1"/>
          </p:cNvPicPr>
          <p:nvPr/>
        </p:nvPicPr>
        <p:blipFill>
          <a:blip r:embed="rId2"/>
          <a:stretch>
            <a:fillRect/>
          </a:stretch>
        </p:blipFill>
        <p:spPr>
          <a:xfrm>
            <a:off x="557212" y="1349295"/>
            <a:ext cx="8029575" cy="4552950"/>
          </a:xfrm>
          <a:prstGeom prst="rect">
            <a:avLst/>
          </a:prstGeom>
        </p:spPr>
      </p:pic>
    </p:spTree>
    <p:extLst>
      <p:ext uri="{BB962C8B-B14F-4D97-AF65-F5344CB8AC3E}">
        <p14:creationId xmlns:p14="http://schemas.microsoft.com/office/powerpoint/2010/main" val="11490401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485E9-C67A-4B19-A7CA-B32D141A6B3C}"/>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B04464C8-84BC-4DEC-BF95-FEA545F280FA}"/>
              </a:ext>
            </a:extLst>
          </p:cNvPr>
          <p:cNvPicPr>
            <a:picLocks noChangeAspect="1"/>
          </p:cNvPicPr>
          <p:nvPr/>
        </p:nvPicPr>
        <p:blipFill rotWithShape="1">
          <a:blip r:embed="rId2"/>
          <a:srcRect b="7407"/>
          <a:stretch/>
        </p:blipFill>
        <p:spPr>
          <a:xfrm>
            <a:off x="690562" y="2019300"/>
            <a:ext cx="7762875" cy="2610573"/>
          </a:xfrm>
          <a:prstGeom prst="rect">
            <a:avLst/>
          </a:prstGeom>
        </p:spPr>
      </p:pic>
      <p:sp>
        <p:nvSpPr>
          <p:cNvPr id="3" name="TextBox 2">
            <a:extLst>
              <a:ext uri="{FF2B5EF4-FFF2-40B4-BE49-F238E27FC236}">
                <a16:creationId xmlns:a16="http://schemas.microsoft.com/office/drawing/2014/main" id="{FEE60777-7E89-4348-9840-FD64322A28EE}"/>
              </a:ext>
            </a:extLst>
          </p:cNvPr>
          <p:cNvSpPr txBox="1"/>
          <p:nvPr/>
        </p:nvSpPr>
        <p:spPr>
          <a:xfrm>
            <a:off x="4124325" y="1924050"/>
            <a:ext cx="1504950" cy="369332"/>
          </a:xfrm>
          <a:prstGeom prst="rect">
            <a:avLst/>
          </a:prstGeom>
          <a:noFill/>
        </p:spPr>
        <p:txBody>
          <a:bodyPr wrap="square" rtlCol="0">
            <a:spAutoFit/>
          </a:bodyPr>
          <a:lstStyle/>
          <a:p>
            <a:r>
              <a:rPr lang="zh-CN" altLang="en-US" dirty="0"/>
              <a:t>文字说明</a:t>
            </a:r>
            <a:endParaRPr lang="en-US" dirty="0"/>
          </a:p>
        </p:txBody>
      </p:sp>
    </p:spTree>
    <p:extLst>
      <p:ext uri="{BB962C8B-B14F-4D97-AF65-F5344CB8AC3E}">
        <p14:creationId xmlns:p14="http://schemas.microsoft.com/office/powerpoint/2010/main" val="33375938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3B610-B761-464D-95FC-8B3AEF4BDEE7}"/>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6EF9BD84-1FDA-4DA4-993E-F653770F7285}"/>
              </a:ext>
            </a:extLst>
          </p:cNvPr>
          <p:cNvPicPr>
            <a:picLocks noChangeAspect="1"/>
          </p:cNvPicPr>
          <p:nvPr/>
        </p:nvPicPr>
        <p:blipFill>
          <a:blip r:embed="rId2"/>
          <a:stretch>
            <a:fillRect/>
          </a:stretch>
        </p:blipFill>
        <p:spPr>
          <a:xfrm>
            <a:off x="402431" y="1675011"/>
            <a:ext cx="8339138" cy="3507977"/>
          </a:xfrm>
          <a:prstGeom prst="rect">
            <a:avLst/>
          </a:prstGeom>
        </p:spPr>
      </p:pic>
    </p:spTree>
    <p:extLst>
      <p:ext uri="{BB962C8B-B14F-4D97-AF65-F5344CB8AC3E}">
        <p14:creationId xmlns:p14="http://schemas.microsoft.com/office/powerpoint/2010/main" val="1653220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2549</TotalTime>
  <Words>3994</Words>
  <Application>Microsoft Office PowerPoint</Application>
  <PresentationFormat>On-screen Show (4:3)</PresentationFormat>
  <Paragraphs>614</Paragraphs>
  <Slides>71</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Arial</vt:lpstr>
      <vt:lpstr>Calibri</vt:lpstr>
      <vt:lpstr>Courier New</vt:lpstr>
      <vt:lpstr>Wingdings</vt:lpstr>
      <vt:lpstr>Office Theme</vt:lpstr>
      <vt:lpstr>Chapter 6</vt:lpstr>
      <vt:lpstr>Learning Objectives</vt:lpstr>
      <vt:lpstr> Introduction </vt:lpstr>
      <vt:lpstr> System Software (1 of 7)</vt:lpstr>
      <vt:lpstr> System Software (2 of 7)</vt:lpstr>
      <vt:lpstr> System Software (3 of 7)</vt:lpstr>
      <vt:lpstr> System Software (4 of 7)</vt:lpstr>
      <vt:lpstr> System Software (5 of 7)</vt:lpstr>
      <vt:lpstr> System Software (6 of 7)</vt:lpstr>
      <vt:lpstr> System Software (7 of 7)</vt:lpstr>
      <vt:lpstr>Assemblers and Assembly Language (1 of 20)</vt:lpstr>
      <vt:lpstr>Assemblers and Assembly Language (2 of 20)</vt:lpstr>
      <vt:lpstr>Assemblers and Assembly Language (3 of 20)</vt:lpstr>
      <vt:lpstr>Assemblers and Assembly Language (4 of 20)</vt:lpstr>
      <vt:lpstr>Assemblers and Assembly Language (5 of 20)</vt:lpstr>
      <vt:lpstr>Assemblers and Assembly Language (6 of 20)</vt:lpstr>
      <vt:lpstr>Assemblers and Assembly Language (7 of 20)</vt:lpstr>
      <vt:lpstr>Assemblers and Assembly Language (8 of 20)</vt:lpstr>
      <vt:lpstr>Assemblers and Assembly Language (9 of 20)</vt:lpstr>
      <vt:lpstr>Assemblers and Assembly Language (10 of 20)</vt:lpstr>
      <vt:lpstr>Assemblers and Assembly Language (11 of 20)</vt:lpstr>
      <vt:lpstr>Assemblers and Assembly Language (12 of 20)</vt:lpstr>
      <vt:lpstr>Assemblers and Assembly Language (13 of 20)</vt:lpstr>
      <vt:lpstr>Assemblers and Assembly Language (14 of 20)</vt:lpstr>
      <vt:lpstr>Assemblers and Assembly Language (15 of 20)</vt:lpstr>
      <vt:lpstr>PowerPoint Presentation</vt:lpstr>
      <vt:lpstr>Assemblers and Assembly Language (16 of 20)</vt:lpstr>
      <vt:lpstr>Assemblers and Assembly Language (17 of 20)</vt:lpstr>
      <vt:lpstr>Assemblers and Assembly Language (18 of 20)</vt:lpstr>
      <vt:lpstr>PowerPoint Presentation</vt:lpstr>
      <vt:lpstr>Assemblers and Assembly Language (19 of 20)</vt:lpstr>
      <vt:lpstr>Assemblers and Assembly Language (20 of 20)</vt:lpstr>
      <vt:lpstr>Operating Systems (1 of 21)</vt:lpstr>
      <vt:lpstr>Operating Systems (2 of 21)</vt:lpstr>
      <vt:lpstr>Operating Systems (3 of 21)</vt:lpstr>
      <vt:lpstr>Operating Systems (4 of 21)</vt:lpstr>
      <vt:lpstr>Operating Systems (5 of 21)</vt:lpstr>
      <vt:lpstr>Operating Systems (6 of 21)</vt:lpstr>
      <vt:lpstr>Operating Systems (7 of 21)</vt:lpstr>
      <vt:lpstr>PowerPoint Presentation</vt:lpstr>
      <vt:lpstr>PowerPoint Presentation</vt:lpstr>
      <vt:lpstr>PowerPoint Presentation</vt:lpstr>
      <vt:lpstr>Operating Systems (8 of 21)</vt:lpstr>
      <vt:lpstr>Operating Systems (9 of 21)</vt:lpstr>
      <vt:lpstr>Operating Systems (10 of 21)</vt:lpstr>
      <vt:lpstr>Operating Systems (11 of 21)</vt:lpstr>
      <vt:lpstr>Operating Systems (12 of 21)</vt:lpstr>
      <vt:lpstr>Operating Systems (13 of 21)</vt:lpstr>
      <vt:lpstr>Operating Systems (14 of 21)</vt:lpstr>
      <vt:lpstr>Operating Systems (15 of 21)</vt:lpstr>
      <vt:lpstr>Operating Systems (16 of 21)</vt:lpstr>
      <vt:lpstr>Operating Systems (17 of 21)</vt:lpstr>
      <vt:lpstr>Operating Systems (18 of 21)</vt:lpstr>
      <vt:lpstr>Operating Systems (19 of 21)</vt:lpstr>
      <vt:lpstr>Operating Systems (20 of 21)</vt:lpstr>
      <vt:lpstr>Operating Systems (21 of 21)</vt:lpstr>
      <vt:lpstr>Summary (1 of 2)</vt:lpstr>
      <vt:lpstr>Summary (2 of 2)</vt:lpstr>
      <vt:lpstr>Quickly review</vt:lpstr>
      <vt:lpstr>Quick review</vt:lpstr>
      <vt:lpstr>Quick review</vt:lpstr>
      <vt:lpstr>Quick review</vt:lpstr>
      <vt:lpstr>Quick review</vt:lpstr>
      <vt:lpstr>Quick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An Introduction to System Software and Virtual Machines</dc:title>
  <dc:creator>Schneider</dc:creator>
  <cp:lastModifiedBy>Jiahui Xia</cp:lastModifiedBy>
  <cp:revision>214</cp:revision>
  <dcterms:created xsi:type="dcterms:W3CDTF">2015-05-05T09:30:46Z</dcterms:created>
  <dcterms:modified xsi:type="dcterms:W3CDTF">2020-11-04T20:26:07Z</dcterms:modified>
</cp:coreProperties>
</file>