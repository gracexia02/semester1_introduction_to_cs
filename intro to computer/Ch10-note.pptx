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7"/>
  </p:notesMasterIdLst>
  <p:handoutMasterIdLst>
    <p:handoutMasterId r:id="rId58"/>
  </p:handoutMasterIdLst>
  <p:sldIdLst>
    <p:sldId id="307" r:id="rId2"/>
    <p:sldId id="257"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310" r:id="rId22"/>
    <p:sldId id="277" r:id="rId23"/>
    <p:sldId id="278" r:id="rId24"/>
    <p:sldId id="279" r:id="rId25"/>
    <p:sldId id="280" r:id="rId26"/>
    <p:sldId id="281" r:id="rId27"/>
    <p:sldId id="282" r:id="rId28"/>
    <p:sldId id="283" r:id="rId29"/>
    <p:sldId id="284" r:id="rId30"/>
    <p:sldId id="311" r:id="rId31"/>
    <p:sldId id="312" r:id="rId32"/>
    <p:sldId id="313" r:id="rId33"/>
    <p:sldId id="308" r:id="rId34"/>
    <p:sldId id="309"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8" r:id="rId48"/>
    <p:sldId id="299" r:id="rId49"/>
    <p:sldId id="300" r:id="rId50"/>
    <p:sldId id="301" r:id="rId51"/>
    <p:sldId id="302" r:id="rId52"/>
    <p:sldId id="303" r:id="rId53"/>
    <p:sldId id="304" r:id="rId54"/>
    <p:sldId id="305" r:id="rId55"/>
    <p:sldId id="306" r:id="rId5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05">
          <p15:clr>
            <a:srgbClr val="A4A3A4"/>
          </p15:clr>
        </p15:guide>
        <p15:guide id="2" pos="5612">
          <p15:clr>
            <a:srgbClr val="A4A3A4"/>
          </p15:clr>
        </p15:guide>
        <p15:guide id="3" pos="4085">
          <p15:clr>
            <a:srgbClr val="A4A3A4"/>
          </p15:clr>
        </p15:guide>
        <p15:guide id="4" pos="288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B14B"/>
    <a:srgbClr val="5FC3DA"/>
    <a:srgbClr val="536E75"/>
    <a:srgbClr val="D2D927"/>
    <a:srgbClr val="1F3668"/>
    <a:srgbClr val="D72229"/>
    <a:srgbClr val="5A7B36"/>
    <a:srgbClr val="2C3C22"/>
    <a:srgbClr val="A2D35D"/>
    <a:srgbClr val="F3702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15" autoAdjust="0"/>
    <p:restoredTop sz="91228" autoAdjust="0"/>
  </p:normalViewPr>
  <p:slideViewPr>
    <p:cSldViewPr snapToGrid="0">
      <p:cViewPr varScale="1">
        <p:scale>
          <a:sx n="61" d="100"/>
          <a:sy n="61" d="100"/>
        </p:scale>
        <p:origin x="1444" y="48"/>
      </p:cViewPr>
      <p:guideLst>
        <p:guide orient="horz" pos="705"/>
        <p:guide pos="5612"/>
        <p:guide pos="4085"/>
        <p:guide pos="2881"/>
      </p:guideLst>
    </p:cSldViewPr>
  </p:slideViewPr>
  <p:outlineViewPr>
    <p:cViewPr>
      <p:scale>
        <a:sx n="33" d="100"/>
        <a:sy n="33" d="100"/>
      </p:scale>
      <p:origin x="0" y="-37440"/>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p:cViewPr varScale="1">
        <p:scale>
          <a:sx n="114" d="100"/>
          <a:sy n="114" d="100"/>
        </p:scale>
        <p:origin x="-5032"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handoutMaster" Target="handoutMasters/handout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A65FDED-9808-2145-B21E-E47DA86996FE}" type="datetimeFigureOut">
              <a:rPr lang="en-US" smtClean="0"/>
              <a:pPr/>
              <a:t>11/15/2020</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CF5C2110-F9BA-5949-A42B-CE3DC41F2361}" type="slidenum">
              <a:rPr lang="en-US" smtClean="0"/>
              <a:pPr/>
              <a:t>‹#›</a:t>
            </a:fld>
            <a:endParaRPr lang="en-US" dirty="0"/>
          </a:p>
        </p:txBody>
      </p:sp>
    </p:spTree>
    <p:extLst>
      <p:ext uri="{BB962C8B-B14F-4D97-AF65-F5344CB8AC3E}">
        <p14:creationId xmlns:p14="http://schemas.microsoft.com/office/powerpoint/2010/main" val="293419997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82B3269-F868-1148-8D0F-00224D62984F}" type="datetimeFigureOut">
              <a:rPr lang="en-US" smtClean="0"/>
              <a:pPr/>
              <a:t>11/15/2020</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9483670-0D61-9349-97AC-A9731AA75D95}" type="slidenum">
              <a:rPr lang="en-US" smtClean="0"/>
              <a:pPr/>
              <a:t>‹#›</a:t>
            </a:fld>
            <a:endParaRPr lang="en-US" dirty="0"/>
          </a:p>
        </p:txBody>
      </p:sp>
    </p:spTree>
    <p:extLst>
      <p:ext uri="{BB962C8B-B14F-4D97-AF65-F5344CB8AC3E}">
        <p14:creationId xmlns:p14="http://schemas.microsoft.com/office/powerpoint/2010/main" val="3923824147"/>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9483670-0D61-9349-97AC-A9731AA75D95}" type="slidenum">
              <a:rPr lang="en-US" smtClean="0"/>
              <a:t>1</a:t>
            </a:fld>
            <a:endParaRPr lang="en-US" dirty="0"/>
          </a:p>
        </p:txBody>
      </p:sp>
    </p:spTree>
    <p:extLst>
      <p:ext uri="{BB962C8B-B14F-4D97-AF65-F5344CB8AC3E}">
        <p14:creationId xmlns:p14="http://schemas.microsoft.com/office/powerpoint/2010/main" val="39688617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解释为什么存在这么多编程语言</a:t>
            </a:r>
          </a:p>
          <a:p>
            <a:r>
              <a:rPr lang="zh-CN" altLang="en-US" dirty="0"/>
              <a:t>列出四种主要的程序语言以及每种语言的主要开发目的</a:t>
            </a:r>
          </a:p>
          <a:p>
            <a:r>
              <a:rPr lang="zh-CN" altLang="en-US" dirty="0"/>
              <a:t>描述每种特殊语言的目的：</a:t>
            </a:r>
            <a:r>
              <a:rPr lang="en-US" altLang="zh-CN" dirty="0"/>
              <a:t>SQL</a:t>
            </a:r>
            <a:r>
              <a:rPr lang="zh-CN" altLang="en-US" dirty="0"/>
              <a:t>，</a:t>
            </a:r>
            <a:r>
              <a:rPr lang="en-US" altLang="zh-CN" dirty="0"/>
              <a:t>HTML</a:t>
            </a:r>
            <a:r>
              <a:rPr lang="zh-CN" altLang="en-US" dirty="0"/>
              <a:t>，</a:t>
            </a:r>
            <a:r>
              <a:rPr lang="en-US" altLang="zh-CN" dirty="0"/>
              <a:t>JavaScript</a:t>
            </a:r>
            <a:r>
              <a:rPr lang="zh-CN" altLang="en-US" dirty="0"/>
              <a:t>和</a:t>
            </a:r>
            <a:r>
              <a:rPr lang="en-US" altLang="zh-CN" dirty="0"/>
              <a:t>R</a:t>
            </a:r>
          </a:p>
          <a:p>
            <a:r>
              <a:rPr lang="zh-CN" altLang="en-US" dirty="0"/>
              <a:t>描述编程语言的替代范例：功能，逻辑和并行</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pPr/>
              <a:t>2</a:t>
            </a:fld>
            <a:endParaRPr lang="en-US" dirty="0"/>
          </a:p>
        </p:txBody>
      </p:sp>
    </p:spTree>
    <p:extLst>
      <p:ext uri="{BB962C8B-B14F-4D97-AF65-F5344CB8AC3E}">
        <p14:creationId xmlns:p14="http://schemas.microsoft.com/office/powerpoint/2010/main" val="36287900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命名功能性编程语言和逻辑性编程语言</a:t>
            </a:r>
          </a:p>
          <a:p>
            <a:r>
              <a:rPr lang="zh-CN" altLang="en-US" dirty="0"/>
              <a:t>描述逻辑编程语言如何工作，并说明事实，规则和推论是什么</a:t>
            </a:r>
          </a:p>
          <a:p>
            <a:r>
              <a:rPr lang="zh-CN" altLang="en-US" dirty="0"/>
              <a:t>说明如何使用并行处理的</a:t>
            </a:r>
            <a:r>
              <a:rPr lang="en-US" altLang="zh-CN" dirty="0"/>
              <a:t>MIMD</a:t>
            </a:r>
            <a:r>
              <a:rPr lang="zh-CN" altLang="en-US" dirty="0"/>
              <a:t>模型查找列表中的最大数目</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pPr/>
              <a:t>3</a:t>
            </a:fld>
            <a:endParaRPr lang="en-US" dirty="0"/>
          </a:p>
        </p:txBody>
      </p:sp>
    </p:spTree>
    <p:extLst>
      <p:ext uri="{BB962C8B-B14F-4D97-AF65-F5344CB8AC3E}">
        <p14:creationId xmlns:p14="http://schemas.microsoft.com/office/powerpoint/2010/main" val="29329617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为什么不只有一种高级编程语言？</a:t>
            </a:r>
          </a:p>
          <a:p>
            <a:r>
              <a:rPr lang="zh-CN" altLang="en-US" dirty="0"/>
              <a:t>为什么不只有一种汽车模型？</a:t>
            </a:r>
          </a:p>
          <a:p>
            <a:r>
              <a:rPr lang="zh-CN" altLang="en-US" dirty="0"/>
              <a:t>每种语言都有出色的任务</a:t>
            </a:r>
          </a:p>
          <a:p>
            <a:r>
              <a:rPr lang="zh-CN" altLang="en-US" dirty="0"/>
              <a:t>实数的复杂计算</a:t>
            </a:r>
          </a:p>
          <a:p>
            <a:r>
              <a:rPr lang="zh-CN" altLang="en-US" dirty="0"/>
              <a:t>详细的页面布局</a:t>
            </a:r>
          </a:p>
          <a:p>
            <a:r>
              <a:rPr lang="zh-CN" altLang="en-US" dirty="0"/>
              <a:t>数据库交互</a:t>
            </a:r>
          </a:p>
          <a:p>
            <a:r>
              <a:rPr lang="zh-CN" altLang="en-US" dirty="0"/>
              <a:t>根据要完成的任务选择一种语言</a:t>
            </a:r>
          </a:p>
          <a:p>
            <a:r>
              <a:rPr lang="zh-CN" altLang="en-US" dirty="0"/>
              <a:t>根据计算方法（其哲学）选择一种语言</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pPr/>
              <a:t>4</a:t>
            </a:fld>
            <a:endParaRPr lang="en-US" dirty="0"/>
          </a:p>
        </p:txBody>
      </p:sp>
    </p:spTree>
    <p:extLst>
      <p:ext uri="{BB962C8B-B14F-4D97-AF65-F5344CB8AC3E}">
        <p14:creationId xmlns:p14="http://schemas.microsoft.com/office/powerpoint/2010/main" val="17349942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程序语言哲学</a:t>
            </a:r>
          </a:p>
          <a:p>
            <a:r>
              <a:rPr lang="zh-CN" altLang="en-US" dirty="0"/>
              <a:t>逐步告诉计算机如何操作变量（内存位置中的数据）</a:t>
            </a:r>
          </a:p>
          <a:p>
            <a:r>
              <a:rPr lang="zh-CN" altLang="en-US" dirty="0"/>
              <a:t>比喻为浪漫语言</a:t>
            </a:r>
          </a:p>
          <a:p>
            <a:r>
              <a:rPr lang="zh-CN" altLang="en-US" dirty="0"/>
              <a:t>在这里，我们从历史的角度和预期的目的来调查程序语言</a:t>
            </a:r>
          </a:p>
          <a:p>
            <a:r>
              <a:rPr lang="en-US" altLang="zh-CN" dirty="0" err="1"/>
              <a:t>Plankalkül</a:t>
            </a:r>
            <a:r>
              <a:rPr lang="zh-CN" altLang="en-US" dirty="0"/>
              <a:t>，</a:t>
            </a:r>
            <a:r>
              <a:rPr lang="en-US" altLang="zh-CN" dirty="0"/>
              <a:t>Fortran</a:t>
            </a:r>
            <a:r>
              <a:rPr lang="zh-CN" altLang="en-US" dirty="0"/>
              <a:t>，</a:t>
            </a:r>
            <a:r>
              <a:rPr lang="en-US" altLang="zh-CN" dirty="0"/>
              <a:t>COBOL</a:t>
            </a:r>
            <a:r>
              <a:rPr lang="zh-CN" altLang="en-US" dirty="0"/>
              <a:t>，</a:t>
            </a:r>
            <a:r>
              <a:rPr lang="en-US" altLang="zh-CN" dirty="0"/>
              <a:t>C / C ++</a:t>
            </a:r>
            <a:r>
              <a:rPr lang="zh-CN" altLang="en-US" dirty="0"/>
              <a:t>，</a:t>
            </a:r>
            <a:r>
              <a:rPr lang="en-US" altLang="zh-CN" dirty="0"/>
              <a:t>Ada</a:t>
            </a:r>
            <a:r>
              <a:rPr lang="zh-CN" altLang="en-US" dirty="0"/>
              <a:t>，</a:t>
            </a:r>
            <a:r>
              <a:rPr lang="en-US" altLang="zh-CN" dirty="0"/>
              <a:t>Java</a:t>
            </a:r>
            <a:r>
              <a:rPr lang="zh-CN" altLang="en-US" dirty="0"/>
              <a:t>，</a:t>
            </a:r>
            <a:r>
              <a:rPr lang="en-US" altLang="zh-CN" dirty="0"/>
              <a:t>Python</a:t>
            </a:r>
            <a:r>
              <a:rPr lang="zh-CN" altLang="en-US" dirty="0"/>
              <a:t>，</a:t>
            </a:r>
            <a:r>
              <a:rPr lang="en-US" altLang="zh-CN" dirty="0"/>
              <a:t>C</a:t>
            </a:r>
            <a:r>
              <a:rPr lang="zh-CN" altLang="en-US" dirty="0"/>
              <a:t>＃和</a:t>
            </a:r>
            <a:r>
              <a:rPr lang="en-US" altLang="zh-CN" dirty="0"/>
              <a:t>.NET</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pPr/>
              <a:t>5</a:t>
            </a:fld>
            <a:endParaRPr lang="en-US" dirty="0"/>
          </a:p>
        </p:txBody>
      </p:sp>
    </p:spTree>
    <p:extLst>
      <p:ext uri="{BB962C8B-B14F-4D97-AF65-F5344CB8AC3E}">
        <p14:creationId xmlns:p14="http://schemas.microsoft.com/office/powerpoint/2010/main" val="12606863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普兰卡库尔</a:t>
            </a:r>
          </a:p>
          <a:p>
            <a:r>
              <a:rPr lang="zh-CN" altLang="en-US" dirty="0"/>
              <a:t>翻译：“正式的计划系统”。</a:t>
            </a:r>
          </a:p>
          <a:p>
            <a:r>
              <a:rPr lang="en-US" altLang="zh-CN" dirty="0"/>
              <a:t>Konrad </a:t>
            </a:r>
            <a:r>
              <a:rPr lang="en-US" altLang="zh-CN" dirty="0" err="1"/>
              <a:t>Zuse</a:t>
            </a:r>
            <a:r>
              <a:rPr lang="zh-CN" altLang="en-US" dirty="0"/>
              <a:t>于</a:t>
            </a:r>
            <a:r>
              <a:rPr lang="en-US" altLang="zh-CN" dirty="0"/>
              <a:t>1945</a:t>
            </a:r>
            <a:r>
              <a:rPr lang="zh-CN" altLang="en-US" dirty="0"/>
              <a:t>年在德国设计</a:t>
            </a:r>
          </a:p>
          <a:p>
            <a:r>
              <a:rPr lang="zh-CN" altLang="en-US" dirty="0"/>
              <a:t>从未实施</a:t>
            </a:r>
          </a:p>
          <a:p>
            <a:r>
              <a:rPr lang="zh-CN" altLang="en-US" dirty="0"/>
              <a:t>如果在</a:t>
            </a:r>
            <a:r>
              <a:rPr lang="en-US" altLang="zh-CN" dirty="0"/>
              <a:t>1972</a:t>
            </a:r>
            <a:r>
              <a:rPr lang="zh-CN" altLang="en-US" dirty="0"/>
              <a:t>年之前就知道了手册中介绍的复杂概念，那么它们可能会改变编程语言的发展</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pPr/>
              <a:t>6</a:t>
            </a:fld>
            <a:endParaRPr lang="en-US" dirty="0"/>
          </a:p>
        </p:txBody>
      </p:sp>
    </p:spTree>
    <p:extLst>
      <p:ext uri="{BB962C8B-B14F-4D97-AF65-F5344CB8AC3E}">
        <p14:creationId xmlns:p14="http://schemas.microsoft.com/office/powerpoint/2010/main" val="11302252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Fortran</a:t>
            </a:r>
            <a:r>
              <a:rPr lang="zh-CN" altLang="en-US" dirty="0"/>
              <a:t>：公式翻译系统</a:t>
            </a:r>
          </a:p>
          <a:p>
            <a:r>
              <a:rPr lang="en-US" altLang="zh-CN" dirty="0"/>
              <a:t>1950</a:t>
            </a:r>
            <a:r>
              <a:rPr lang="zh-CN" altLang="en-US" dirty="0"/>
              <a:t>年代由</a:t>
            </a:r>
            <a:r>
              <a:rPr lang="en-US" altLang="zh-CN" dirty="0"/>
              <a:t>John Backus</a:t>
            </a:r>
            <a:r>
              <a:rPr lang="zh-CN" altLang="en-US" dirty="0"/>
              <a:t>在</a:t>
            </a:r>
            <a:r>
              <a:rPr lang="en-US" altLang="zh-CN" dirty="0"/>
              <a:t>IBM</a:t>
            </a:r>
            <a:r>
              <a:rPr lang="zh-CN" altLang="en-US" dirty="0"/>
              <a:t>开发</a:t>
            </a:r>
          </a:p>
          <a:p>
            <a:r>
              <a:rPr lang="zh-CN" altLang="en-US" dirty="0"/>
              <a:t>实际实施的第一种高级语言</a:t>
            </a:r>
          </a:p>
          <a:p>
            <a:r>
              <a:rPr lang="zh-CN" altLang="en-US" dirty="0"/>
              <a:t>专注于数值计算</a:t>
            </a:r>
          </a:p>
          <a:p>
            <a:r>
              <a:rPr lang="zh-CN" altLang="en-US" dirty="0"/>
              <a:t>控制结构类似于汇编语言</a:t>
            </a:r>
          </a:p>
          <a:p>
            <a:r>
              <a:rPr lang="zh-CN" altLang="en-US" dirty="0"/>
              <a:t>去</a:t>
            </a:r>
          </a:p>
          <a:p>
            <a:r>
              <a:rPr lang="zh-CN" altLang="en-US" dirty="0"/>
              <a:t>就像跳</a:t>
            </a:r>
          </a:p>
          <a:p>
            <a:r>
              <a:rPr lang="zh-CN" altLang="en-US" dirty="0"/>
              <a:t>可以创建意大利面条代码</a:t>
            </a:r>
          </a:p>
          <a:p>
            <a:r>
              <a:rPr lang="zh-CN" altLang="en-US" dirty="0"/>
              <a:t>外部库：经过测试的专用代码</a:t>
            </a:r>
          </a:p>
          <a:p>
            <a:r>
              <a:rPr lang="zh-CN" altLang="en-US" dirty="0"/>
              <a:t>存在如此众多的库，以至于编码人员有时无需编写太多实际代码</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pPr/>
              <a:t>7</a:t>
            </a:fld>
            <a:endParaRPr lang="en-US" dirty="0"/>
          </a:p>
        </p:txBody>
      </p:sp>
    </p:spTree>
    <p:extLst>
      <p:ext uri="{BB962C8B-B14F-4D97-AF65-F5344CB8AC3E}">
        <p14:creationId xmlns:p14="http://schemas.microsoft.com/office/powerpoint/2010/main" val="16342956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COBOL</a:t>
            </a:r>
            <a:r>
              <a:rPr lang="zh-CN" altLang="en-US" dirty="0"/>
              <a:t>：</a:t>
            </a:r>
            <a:r>
              <a:rPr lang="en-US" altLang="zh-CN" dirty="0" err="1"/>
              <a:t>COmmon</a:t>
            </a:r>
            <a:r>
              <a:rPr lang="zh-CN" altLang="en-US" dirty="0"/>
              <a:t>面向业务的语言</a:t>
            </a:r>
          </a:p>
          <a:p>
            <a:r>
              <a:rPr lang="zh-CN" altLang="en-US" dirty="0"/>
              <a:t>由海军上将格雷斯</a:t>
            </a:r>
            <a:r>
              <a:rPr lang="en-US" altLang="zh-CN" dirty="0"/>
              <a:t>·</a:t>
            </a:r>
            <a:r>
              <a:rPr lang="zh-CN" altLang="en-US" dirty="0"/>
              <a:t>默里</a:t>
            </a:r>
            <a:r>
              <a:rPr lang="en-US" altLang="zh-CN" dirty="0"/>
              <a:t>·</a:t>
            </a:r>
            <a:r>
              <a:rPr lang="zh-CN" altLang="en-US" dirty="0"/>
              <a:t>霍珀（</a:t>
            </a:r>
            <a:r>
              <a:rPr lang="en-US" altLang="zh-CN" dirty="0"/>
              <a:t>Grace Murray Hopper</a:t>
            </a:r>
            <a:r>
              <a:rPr lang="zh-CN" altLang="en-US" dirty="0"/>
              <a:t>）领导的小组在</a:t>
            </a:r>
            <a:r>
              <a:rPr lang="en-US" altLang="zh-CN" dirty="0"/>
              <a:t>1959</a:t>
            </a:r>
            <a:r>
              <a:rPr lang="zh-CN" altLang="en-US" dirty="0"/>
              <a:t>年和</a:t>
            </a:r>
            <a:r>
              <a:rPr lang="en-US" altLang="zh-CN" dirty="0"/>
              <a:t>1960</a:t>
            </a:r>
            <a:r>
              <a:rPr lang="zh-CN" altLang="en-US" dirty="0"/>
              <a:t>年由美国海军开发</a:t>
            </a:r>
          </a:p>
          <a:p>
            <a:r>
              <a:rPr lang="zh-CN" altLang="en-US" dirty="0"/>
              <a:t>专注于业务应用</a:t>
            </a:r>
          </a:p>
          <a:p>
            <a:r>
              <a:rPr lang="zh-CN" altLang="en-US" dirty="0"/>
              <a:t>库存或工资单</a:t>
            </a:r>
          </a:p>
          <a:p>
            <a:r>
              <a:rPr lang="zh-CN" altLang="en-US" dirty="0"/>
              <a:t>通过事务文件更新主文件：文件</a:t>
            </a:r>
            <a:r>
              <a:rPr lang="en-US" altLang="zh-CN" dirty="0"/>
              <a:t>I / O</a:t>
            </a:r>
            <a:r>
              <a:rPr lang="zh-CN" altLang="en-US" dirty="0"/>
              <a:t>密钥</a:t>
            </a:r>
          </a:p>
          <a:p>
            <a:r>
              <a:rPr lang="zh-CN" altLang="en-US" dirty="0"/>
              <a:t>遗留代码中的广泛使用（仍在使用旧代码）</a:t>
            </a:r>
          </a:p>
          <a:p>
            <a:r>
              <a:rPr lang="en-US" altLang="zh-CN" dirty="0"/>
              <a:t>2000</a:t>
            </a:r>
            <a:r>
              <a:rPr lang="zh-CN" altLang="en-US" dirty="0"/>
              <a:t>年（</a:t>
            </a:r>
            <a:r>
              <a:rPr lang="en-US" altLang="zh-CN" dirty="0"/>
              <a:t>Y2K</a:t>
            </a:r>
            <a:r>
              <a:rPr lang="zh-CN" altLang="en-US" dirty="0"/>
              <a:t>）问题</a:t>
            </a:r>
          </a:p>
          <a:p>
            <a:r>
              <a:rPr lang="zh-CN" altLang="en-US" dirty="0"/>
              <a:t>需要大规模更新旧的</a:t>
            </a:r>
            <a:r>
              <a:rPr lang="en-US" altLang="zh-CN" dirty="0"/>
              <a:t>COBOL</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pPr/>
              <a:t>8</a:t>
            </a:fld>
            <a:endParaRPr lang="en-US" dirty="0"/>
          </a:p>
        </p:txBody>
      </p:sp>
    </p:spTree>
    <p:extLst>
      <p:ext uri="{BB962C8B-B14F-4D97-AF65-F5344CB8AC3E}">
        <p14:creationId xmlns:p14="http://schemas.microsoft.com/office/powerpoint/2010/main" val="16251724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C / C ++</a:t>
            </a:r>
          </a:p>
          <a:p>
            <a:r>
              <a:rPr lang="en-US" altLang="zh-CN" dirty="0"/>
              <a:t>Dennis Ritchie</a:t>
            </a:r>
            <a:r>
              <a:rPr lang="zh-CN" altLang="en-US" dirty="0"/>
              <a:t>在</a:t>
            </a:r>
            <a:r>
              <a:rPr lang="en-US" altLang="zh-CN" dirty="0"/>
              <a:t>1970</a:t>
            </a:r>
            <a:r>
              <a:rPr lang="zh-CN" altLang="en-US" dirty="0"/>
              <a:t>年代初期在</a:t>
            </a:r>
            <a:r>
              <a:rPr lang="en-US" altLang="zh-CN" dirty="0"/>
              <a:t>AT</a:t>
            </a:r>
            <a:r>
              <a:rPr lang="zh-CN" altLang="en-US" dirty="0"/>
              <a:t>＆</a:t>
            </a:r>
            <a:r>
              <a:rPr lang="en-US" altLang="zh-CN" dirty="0"/>
              <a:t>T</a:t>
            </a:r>
            <a:r>
              <a:rPr lang="zh-CN" altLang="en-US" dirty="0"/>
              <a:t>实验室开发的</a:t>
            </a:r>
            <a:r>
              <a:rPr lang="en-US" altLang="zh-CN" dirty="0"/>
              <a:t>C</a:t>
            </a:r>
            <a:r>
              <a:rPr lang="zh-CN" altLang="en-US" dirty="0"/>
              <a:t>语言</a:t>
            </a:r>
          </a:p>
          <a:p>
            <a:r>
              <a:rPr lang="zh-CN" altLang="en-US" dirty="0"/>
              <a:t>专注于系统编程</a:t>
            </a:r>
          </a:p>
          <a:p>
            <a:r>
              <a:rPr lang="zh-CN" altLang="en-US" dirty="0"/>
              <a:t>与</a:t>
            </a:r>
            <a:r>
              <a:rPr lang="en-US" altLang="zh-CN" dirty="0"/>
              <a:t>UNIX</a:t>
            </a:r>
            <a:r>
              <a:rPr lang="zh-CN" altLang="en-US" dirty="0"/>
              <a:t>的紧密连接</a:t>
            </a:r>
          </a:p>
          <a:p>
            <a:r>
              <a:rPr lang="zh-CN" altLang="en-US" dirty="0"/>
              <a:t>高效率</a:t>
            </a:r>
          </a:p>
          <a:p>
            <a:r>
              <a:rPr lang="zh-CN" altLang="en-US" dirty="0"/>
              <a:t>所需的高级构造</a:t>
            </a:r>
          </a:p>
          <a:p>
            <a:r>
              <a:rPr lang="zh-CN" altLang="en-US" dirty="0"/>
              <a:t>需要效率时的底层构造</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pPr/>
              <a:t>9</a:t>
            </a:fld>
            <a:endParaRPr lang="en-US" dirty="0"/>
          </a:p>
        </p:txBody>
      </p:sp>
    </p:spTree>
    <p:extLst>
      <p:ext uri="{BB962C8B-B14F-4D97-AF65-F5344CB8AC3E}">
        <p14:creationId xmlns:p14="http://schemas.microsoft.com/office/powerpoint/2010/main" val="6677832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访问变量的值及其位置</a:t>
            </a:r>
          </a:p>
          <a:p>
            <a:r>
              <a:rPr lang="zh-CN" altLang="en-US" dirty="0"/>
              <a:t>数字是指其价值</a:t>
            </a:r>
          </a:p>
          <a:p>
            <a:r>
              <a:rPr lang="zh-CN" altLang="en-US" dirty="0"/>
              <a:t>＆</a:t>
            </a:r>
            <a:r>
              <a:rPr lang="en-US" altLang="zh-CN" dirty="0"/>
              <a:t>number</a:t>
            </a:r>
            <a:r>
              <a:rPr lang="zh-CN" altLang="en-US" dirty="0"/>
              <a:t>表示其内存位置</a:t>
            </a:r>
          </a:p>
          <a:p>
            <a:r>
              <a:rPr lang="zh-CN" altLang="en-US" dirty="0"/>
              <a:t>指针数据类型包含内存位置</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pPr/>
              <a:t>11</a:t>
            </a:fld>
            <a:endParaRPr lang="en-US" dirty="0"/>
          </a:p>
        </p:txBody>
      </p:sp>
    </p:spTree>
    <p:extLst>
      <p:ext uri="{BB962C8B-B14F-4D97-AF65-F5344CB8AC3E}">
        <p14:creationId xmlns:p14="http://schemas.microsoft.com/office/powerpoint/2010/main" val="13232607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C</a:t>
            </a:r>
            <a:r>
              <a:rPr lang="zh-CN" altLang="en-US" dirty="0"/>
              <a:t>专长：系统编程</a:t>
            </a:r>
          </a:p>
          <a:p>
            <a:r>
              <a:rPr lang="zh-CN" altLang="en-US" dirty="0"/>
              <a:t>示例：设备驱动程序</a:t>
            </a:r>
          </a:p>
          <a:p>
            <a:r>
              <a:rPr lang="zh-CN" altLang="en-US" dirty="0"/>
              <a:t>与底层硬件交互的能力</a:t>
            </a:r>
          </a:p>
          <a:p>
            <a:r>
              <a:rPr lang="en-US" altLang="zh-CN" dirty="0"/>
              <a:t>C ++</a:t>
            </a:r>
            <a:r>
              <a:rPr lang="zh-CN" altLang="en-US" dirty="0"/>
              <a:t>是由</a:t>
            </a:r>
            <a:r>
              <a:rPr lang="en-US" altLang="zh-CN" dirty="0"/>
              <a:t>Bjarne </a:t>
            </a:r>
            <a:r>
              <a:rPr lang="en-US" altLang="zh-CN" dirty="0" err="1"/>
              <a:t>Stroustrup</a:t>
            </a:r>
            <a:r>
              <a:rPr lang="zh-CN" altLang="en-US" dirty="0"/>
              <a:t>在</a:t>
            </a:r>
            <a:r>
              <a:rPr lang="en-US" altLang="zh-CN" dirty="0"/>
              <a:t>1980</a:t>
            </a:r>
            <a:r>
              <a:rPr lang="zh-CN" altLang="en-US" dirty="0"/>
              <a:t>年代初期在</a:t>
            </a:r>
            <a:r>
              <a:rPr lang="en-US" altLang="zh-CN" dirty="0"/>
              <a:t>AT</a:t>
            </a:r>
            <a:r>
              <a:rPr lang="zh-CN" altLang="en-US" dirty="0"/>
              <a:t>＆</a:t>
            </a:r>
            <a:r>
              <a:rPr lang="en-US" altLang="zh-CN" dirty="0"/>
              <a:t>T</a:t>
            </a:r>
            <a:r>
              <a:rPr lang="zh-CN" altLang="en-US" dirty="0"/>
              <a:t>实验室开发的</a:t>
            </a:r>
          </a:p>
          <a:p>
            <a:r>
              <a:rPr lang="en-US" altLang="zh-CN" dirty="0"/>
              <a:t>C ++</a:t>
            </a:r>
            <a:r>
              <a:rPr lang="zh-CN" altLang="en-US" dirty="0"/>
              <a:t>是</a:t>
            </a:r>
            <a:r>
              <a:rPr lang="en-US" altLang="zh-CN" dirty="0"/>
              <a:t>C</a:t>
            </a:r>
            <a:r>
              <a:rPr lang="zh-CN" altLang="en-US" dirty="0"/>
              <a:t>的超集</a:t>
            </a:r>
          </a:p>
          <a:p>
            <a:r>
              <a:rPr lang="zh-CN" altLang="en-US" dirty="0"/>
              <a:t>面向对象编程</a:t>
            </a:r>
          </a:p>
          <a:p>
            <a:r>
              <a:rPr lang="zh-CN" altLang="en-US" dirty="0"/>
              <a:t>代码库集合</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pPr/>
              <a:t>13</a:t>
            </a:fld>
            <a:endParaRPr lang="en-US" dirty="0"/>
          </a:p>
        </p:txBody>
      </p:sp>
    </p:spTree>
    <p:extLst>
      <p:ext uri="{BB962C8B-B14F-4D97-AF65-F5344CB8AC3E}">
        <p14:creationId xmlns:p14="http://schemas.microsoft.com/office/powerpoint/2010/main" val="6559398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阿达</a:t>
            </a:r>
          </a:p>
          <a:p>
            <a:r>
              <a:rPr lang="zh-CN" altLang="en-US" dirty="0"/>
              <a:t>在</a:t>
            </a:r>
            <a:r>
              <a:rPr lang="en-US" altLang="zh-CN" dirty="0"/>
              <a:t>1970</a:t>
            </a:r>
            <a:r>
              <a:rPr lang="zh-CN" altLang="en-US" dirty="0"/>
              <a:t>年代为美国军方开发</a:t>
            </a:r>
          </a:p>
          <a:p>
            <a:r>
              <a:rPr lang="zh-CN" altLang="en-US" dirty="0"/>
              <a:t>专长</a:t>
            </a:r>
          </a:p>
          <a:p>
            <a:r>
              <a:rPr lang="zh-CN" altLang="en-US" dirty="0"/>
              <a:t>多处理</a:t>
            </a:r>
          </a:p>
          <a:p>
            <a:r>
              <a:rPr lang="zh-CN" altLang="en-US" dirty="0"/>
              <a:t>强大的面向对象</a:t>
            </a:r>
          </a:p>
          <a:p>
            <a:r>
              <a:rPr lang="zh-CN" altLang="en-US" dirty="0"/>
              <a:t>安全可靠</a:t>
            </a:r>
          </a:p>
          <a:p>
            <a:r>
              <a:rPr lang="zh-CN" altLang="en-US" dirty="0"/>
              <a:t>被大量使用</a:t>
            </a:r>
          </a:p>
          <a:p>
            <a:r>
              <a:rPr lang="zh-CN" altLang="en-US" dirty="0"/>
              <a:t>国防部</a:t>
            </a:r>
          </a:p>
          <a:p>
            <a:r>
              <a:rPr lang="zh-CN" altLang="en-US" dirty="0"/>
              <a:t>运输业</a:t>
            </a:r>
          </a:p>
          <a:p>
            <a:r>
              <a:rPr lang="zh-CN" altLang="en-US" dirty="0"/>
              <a:t>金融业</a:t>
            </a:r>
          </a:p>
          <a:p>
            <a:r>
              <a:rPr lang="zh-CN" altLang="en-US" dirty="0"/>
              <a:t>通讯行业</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pPr/>
              <a:t>14</a:t>
            </a:fld>
            <a:endParaRPr lang="en-US" dirty="0"/>
          </a:p>
        </p:txBody>
      </p:sp>
    </p:spTree>
    <p:extLst>
      <p:ext uri="{BB962C8B-B14F-4D97-AF65-F5344CB8AC3E}">
        <p14:creationId xmlns:p14="http://schemas.microsoft.com/office/powerpoint/2010/main" val="14212008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爪哇</a:t>
            </a:r>
          </a:p>
          <a:p>
            <a:r>
              <a:rPr lang="zh-CN" altLang="en-US" dirty="0"/>
              <a:t>由</a:t>
            </a:r>
            <a:r>
              <a:rPr lang="en-US" altLang="zh-CN" dirty="0"/>
              <a:t>Sun Microsystems Inc.</a:t>
            </a:r>
            <a:r>
              <a:rPr lang="zh-CN" altLang="en-US" dirty="0"/>
              <a:t>在</a:t>
            </a:r>
            <a:r>
              <a:rPr lang="en-US" altLang="zh-CN" dirty="0"/>
              <a:t>1990</a:t>
            </a:r>
            <a:r>
              <a:rPr lang="zh-CN" altLang="en-US" dirty="0"/>
              <a:t>年代初期开发</a:t>
            </a:r>
          </a:p>
          <a:p>
            <a:r>
              <a:rPr lang="zh-CN" altLang="en-US" dirty="0"/>
              <a:t>专为</a:t>
            </a:r>
          </a:p>
          <a:p>
            <a:r>
              <a:rPr lang="zh-CN" altLang="en-US" dirty="0"/>
              <a:t>平台独立性</a:t>
            </a:r>
          </a:p>
          <a:p>
            <a:r>
              <a:rPr lang="zh-CN" altLang="en-US" dirty="0"/>
              <a:t>可靠性</a:t>
            </a:r>
          </a:p>
          <a:p>
            <a:r>
              <a:rPr lang="zh-CN" altLang="en-US" dirty="0"/>
              <a:t>安全</a:t>
            </a:r>
          </a:p>
          <a:p>
            <a:r>
              <a:rPr lang="zh-CN" altLang="en-US" dirty="0"/>
              <a:t>图形用户界面</a:t>
            </a:r>
          </a:p>
          <a:p>
            <a:r>
              <a:rPr lang="zh-CN" altLang="en-US" dirty="0"/>
              <a:t>与网络浏览器的强大集成</a:t>
            </a:r>
          </a:p>
          <a:p>
            <a:r>
              <a:rPr lang="zh-CN" altLang="en-US" dirty="0"/>
              <a:t>面向对象，例如</a:t>
            </a:r>
            <a:r>
              <a:rPr lang="en-US" altLang="zh-CN" dirty="0"/>
              <a:t>C ++</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pPr/>
              <a:t>15</a:t>
            </a:fld>
            <a:endParaRPr lang="en-US" dirty="0"/>
          </a:p>
        </p:txBody>
      </p:sp>
    </p:spTree>
    <p:extLst>
      <p:ext uri="{BB962C8B-B14F-4D97-AF65-F5344CB8AC3E}">
        <p14:creationId xmlns:p14="http://schemas.microsoft.com/office/powerpoint/2010/main" val="19038229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Java</a:t>
            </a:r>
            <a:r>
              <a:rPr lang="zh-CN" altLang="en-US" dirty="0"/>
              <a:t>程序可能是</a:t>
            </a:r>
          </a:p>
          <a:p>
            <a:r>
              <a:rPr lang="zh-CN" altLang="en-US" dirty="0"/>
              <a:t>应用程序：独立程序</a:t>
            </a:r>
          </a:p>
          <a:p>
            <a:r>
              <a:rPr lang="zh-CN" altLang="en-US" dirty="0"/>
              <a:t>小程序：可通过</a:t>
            </a:r>
            <a:r>
              <a:rPr lang="en-US" altLang="zh-CN" dirty="0"/>
              <a:t>Web</a:t>
            </a:r>
            <a:r>
              <a:rPr lang="zh-CN" altLang="en-US" dirty="0"/>
              <a:t>访问并使用</a:t>
            </a:r>
            <a:r>
              <a:rPr lang="en-US" altLang="zh-CN" dirty="0"/>
              <a:t>Java Web Start</a:t>
            </a:r>
            <a:r>
              <a:rPr lang="zh-CN" altLang="en-US" dirty="0"/>
              <a:t>执行的小程序</a:t>
            </a:r>
          </a:p>
          <a:p>
            <a:r>
              <a:rPr lang="zh-CN" altLang="en-US" dirty="0"/>
              <a:t>便携性是关键优势</a:t>
            </a:r>
          </a:p>
          <a:p>
            <a:r>
              <a:rPr lang="zh-CN" altLang="en-US" dirty="0"/>
              <a:t>应用程序和小程序可以在大多数平台和大多数浏览器上运行</a:t>
            </a:r>
          </a:p>
          <a:p>
            <a:r>
              <a:rPr lang="zh-CN" altLang="en-US" dirty="0"/>
              <a:t>源代码编译为平台无关的字节码（通用低级代码）</a:t>
            </a:r>
          </a:p>
          <a:p>
            <a:r>
              <a:rPr lang="en-US" altLang="zh-CN" dirty="0"/>
              <a:t>Java</a:t>
            </a:r>
            <a:r>
              <a:rPr lang="zh-CN" altLang="en-US" dirty="0"/>
              <a:t>字节码解释器转换为主机（小程序，集成到浏览器中）</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pPr/>
              <a:t>16</a:t>
            </a:fld>
            <a:endParaRPr lang="en-US" dirty="0"/>
          </a:p>
        </p:txBody>
      </p:sp>
    </p:spTree>
    <p:extLst>
      <p:ext uri="{BB962C8B-B14F-4D97-AF65-F5344CB8AC3E}">
        <p14:creationId xmlns:p14="http://schemas.microsoft.com/office/powerpoint/2010/main" val="10765947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蟒蛇</a:t>
            </a:r>
          </a:p>
          <a:p>
            <a:r>
              <a:rPr lang="zh-CN" altLang="en-US" dirty="0"/>
              <a:t>由</a:t>
            </a:r>
            <a:r>
              <a:rPr lang="en-US" altLang="zh-CN" dirty="0"/>
              <a:t>Guido van Rossum</a:t>
            </a:r>
            <a:r>
              <a:rPr lang="zh-CN" altLang="en-US" dirty="0"/>
              <a:t>在</a:t>
            </a:r>
            <a:r>
              <a:rPr lang="en-US" altLang="zh-CN" dirty="0"/>
              <a:t>1990</a:t>
            </a:r>
            <a:r>
              <a:rPr lang="zh-CN" altLang="en-US" dirty="0"/>
              <a:t>年代初期开发</a:t>
            </a:r>
          </a:p>
          <a:p>
            <a:r>
              <a:rPr lang="zh-CN" altLang="en-US" dirty="0"/>
              <a:t>开源：</a:t>
            </a:r>
            <a:r>
              <a:rPr lang="en-US" altLang="zh-CN" dirty="0"/>
              <a:t>Python</a:t>
            </a:r>
            <a:r>
              <a:rPr lang="zh-CN" altLang="en-US" dirty="0"/>
              <a:t>的源代码可免费获得，任何人都可以提出更改建议</a:t>
            </a:r>
          </a:p>
          <a:p>
            <a:r>
              <a:rPr lang="zh-CN" altLang="en-US" dirty="0"/>
              <a:t>语言进化现在由</a:t>
            </a:r>
            <a:r>
              <a:rPr lang="en-US" altLang="zh-CN" dirty="0"/>
              <a:t>Python Software Foundation</a:t>
            </a:r>
            <a:r>
              <a:rPr lang="zh-CN" altLang="en-US" dirty="0"/>
              <a:t>指导</a:t>
            </a:r>
          </a:p>
          <a:p>
            <a:r>
              <a:rPr lang="zh-CN" altLang="en-US" dirty="0"/>
              <a:t>专为系统管理员任务和</a:t>
            </a:r>
            <a:r>
              <a:rPr lang="en-US" altLang="zh-CN" dirty="0"/>
              <a:t>Web</a:t>
            </a:r>
            <a:r>
              <a:rPr lang="zh-CN" altLang="en-US" dirty="0"/>
              <a:t>界面而开发</a:t>
            </a:r>
          </a:p>
          <a:p>
            <a:r>
              <a:rPr lang="zh-CN" altLang="en-US" dirty="0"/>
              <a:t>解释语言：执行时将源代码转换为目标代码</a:t>
            </a:r>
          </a:p>
          <a:p>
            <a:r>
              <a:rPr lang="zh-CN" altLang="en-US" dirty="0"/>
              <a:t>轻松的语法，易于使用的扩展库</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pPr/>
              <a:t>17</a:t>
            </a:fld>
            <a:endParaRPr lang="en-US" dirty="0"/>
          </a:p>
        </p:txBody>
      </p:sp>
    </p:spTree>
    <p:extLst>
      <p:ext uri="{BB962C8B-B14F-4D97-AF65-F5344CB8AC3E}">
        <p14:creationId xmlns:p14="http://schemas.microsoft.com/office/powerpoint/2010/main" val="34643442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C</a:t>
            </a:r>
            <a:r>
              <a:rPr lang="zh-CN" altLang="en-US" dirty="0"/>
              <a:t>＃</a:t>
            </a:r>
          </a:p>
          <a:p>
            <a:r>
              <a:rPr lang="zh-CN" altLang="en-US" dirty="0"/>
              <a:t>由</a:t>
            </a:r>
            <a:r>
              <a:rPr lang="en-US" altLang="zh-CN" dirty="0"/>
              <a:t>Microsoft</a:t>
            </a:r>
            <a:r>
              <a:rPr lang="zh-CN" altLang="en-US" dirty="0"/>
              <a:t>在</a:t>
            </a:r>
            <a:r>
              <a:rPr lang="en-US" altLang="zh-CN" dirty="0"/>
              <a:t>2000</a:t>
            </a:r>
            <a:r>
              <a:rPr lang="zh-CN" altLang="en-US" dirty="0"/>
              <a:t>年开发</a:t>
            </a:r>
          </a:p>
          <a:p>
            <a:r>
              <a:rPr lang="en-US" altLang="zh-CN" dirty="0"/>
              <a:t>C ++</a:t>
            </a:r>
            <a:r>
              <a:rPr lang="zh-CN" altLang="en-US" dirty="0"/>
              <a:t>的后继者，但不是超集</a:t>
            </a:r>
          </a:p>
          <a:p>
            <a:r>
              <a:rPr lang="zh-CN" altLang="en-US" dirty="0"/>
              <a:t>在形式和目标上类似于</a:t>
            </a:r>
            <a:r>
              <a:rPr lang="en-US" altLang="zh-CN" dirty="0"/>
              <a:t>Java</a:t>
            </a:r>
          </a:p>
          <a:p>
            <a:r>
              <a:rPr lang="zh-CN" altLang="en-US" dirty="0"/>
              <a:t>安全</a:t>
            </a:r>
          </a:p>
          <a:p>
            <a:r>
              <a:rPr lang="zh-CN" altLang="en-US" dirty="0"/>
              <a:t>可靠性</a:t>
            </a:r>
          </a:p>
          <a:p>
            <a:r>
              <a:rPr lang="zh-CN" altLang="en-US" dirty="0"/>
              <a:t>集成到</a:t>
            </a:r>
            <a:r>
              <a:rPr lang="en-US" altLang="zh-CN" dirty="0"/>
              <a:t>.NET</a:t>
            </a:r>
            <a:r>
              <a:rPr lang="zh-CN" altLang="en-US" dirty="0"/>
              <a:t>框架中</a:t>
            </a:r>
          </a:p>
          <a:p>
            <a:r>
              <a:rPr lang="en-US" altLang="zh-CN" dirty="0"/>
              <a:t>Microsoft</a:t>
            </a:r>
            <a:r>
              <a:rPr lang="zh-CN" altLang="en-US" dirty="0"/>
              <a:t>支持多种语言的框架</a:t>
            </a:r>
          </a:p>
          <a:p>
            <a:r>
              <a:rPr lang="zh-CN" altLang="en-US" dirty="0"/>
              <a:t>大量的代码库和工具</a:t>
            </a:r>
          </a:p>
          <a:p>
            <a:r>
              <a:rPr lang="zh-CN" altLang="en-US" dirty="0"/>
              <a:t>垃圾回收：回收内存以进行重用</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pPr/>
              <a:t>18</a:t>
            </a:fld>
            <a:endParaRPr lang="en-US" dirty="0"/>
          </a:p>
        </p:txBody>
      </p:sp>
    </p:spTree>
    <p:extLst>
      <p:ext uri="{BB962C8B-B14F-4D97-AF65-F5344CB8AC3E}">
        <p14:creationId xmlns:p14="http://schemas.microsoft.com/office/powerpoint/2010/main" val="1146890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。净</a:t>
            </a:r>
          </a:p>
          <a:p>
            <a:r>
              <a:rPr lang="zh-CN" altLang="en-US" dirty="0"/>
              <a:t>所有</a:t>
            </a:r>
            <a:r>
              <a:rPr lang="en-US" altLang="zh-CN" dirty="0"/>
              <a:t>.NET</a:t>
            </a:r>
            <a:r>
              <a:rPr lang="zh-CN" altLang="en-US" dirty="0"/>
              <a:t>语言都被编译为</a:t>
            </a:r>
            <a:r>
              <a:rPr lang="en-US" altLang="zh-CN" dirty="0"/>
              <a:t>Microsoft</a:t>
            </a:r>
            <a:r>
              <a:rPr lang="zh-CN" altLang="en-US" dirty="0"/>
              <a:t>中间语言（</a:t>
            </a:r>
            <a:r>
              <a:rPr lang="en-US" altLang="zh-CN" dirty="0"/>
              <a:t>MSIL</a:t>
            </a:r>
            <a:r>
              <a:rPr lang="zh-CN" altLang="en-US" dirty="0"/>
              <a:t>）</a:t>
            </a:r>
          </a:p>
          <a:p>
            <a:r>
              <a:rPr lang="en-US" altLang="zh-CN" dirty="0"/>
              <a:t>MSIL</a:t>
            </a:r>
            <a:r>
              <a:rPr lang="zh-CN" altLang="en-US" dirty="0"/>
              <a:t>代码由即时（</a:t>
            </a:r>
            <a:r>
              <a:rPr lang="en-US" altLang="zh-CN" dirty="0"/>
              <a:t>JIT</a:t>
            </a:r>
            <a:r>
              <a:rPr lang="zh-CN" altLang="en-US" dirty="0"/>
              <a:t>）编译器编译，该小型程序生成特定于平台的目标代码</a:t>
            </a:r>
          </a:p>
          <a:p>
            <a:r>
              <a:rPr lang="en-US" altLang="zh-CN" dirty="0"/>
              <a:t>.NET</a:t>
            </a:r>
            <a:r>
              <a:rPr lang="zh-CN" altLang="en-US" dirty="0"/>
              <a:t>语言包括</a:t>
            </a:r>
            <a:r>
              <a:rPr lang="en-US" altLang="zh-CN" dirty="0"/>
              <a:t>Ada</a:t>
            </a:r>
            <a:r>
              <a:rPr lang="zh-CN" altLang="en-US" dirty="0"/>
              <a:t>，</a:t>
            </a:r>
            <a:r>
              <a:rPr lang="en-US" altLang="zh-CN" dirty="0"/>
              <a:t>COBOL</a:t>
            </a:r>
            <a:r>
              <a:rPr lang="zh-CN" altLang="en-US" dirty="0"/>
              <a:t>，</a:t>
            </a:r>
            <a:r>
              <a:rPr lang="en-US" altLang="zh-CN" dirty="0"/>
              <a:t>C ++</a:t>
            </a:r>
            <a:r>
              <a:rPr lang="zh-CN" altLang="en-US" dirty="0"/>
              <a:t>，</a:t>
            </a:r>
            <a:r>
              <a:rPr lang="en-US" altLang="zh-CN" dirty="0"/>
              <a:t>C</a:t>
            </a:r>
            <a:r>
              <a:rPr lang="zh-CN" altLang="en-US" dirty="0"/>
              <a:t>＃和</a:t>
            </a:r>
            <a:r>
              <a:rPr lang="en-US" altLang="zh-CN" dirty="0"/>
              <a:t>Visual Basic .NET</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pPr/>
              <a:t>19</a:t>
            </a:fld>
            <a:endParaRPr lang="en-US" dirty="0"/>
          </a:p>
        </p:txBody>
      </p:sp>
    </p:spTree>
    <p:extLst>
      <p:ext uri="{BB962C8B-B14F-4D97-AF65-F5344CB8AC3E}">
        <p14:creationId xmlns:p14="http://schemas.microsoft.com/office/powerpoint/2010/main" val="27768874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专为一种特定目的而设计的语言，而不是通用编程语言</a:t>
            </a:r>
          </a:p>
          <a:p>
            <a:r>
              <a:rPr lang="en-US" altLang="zh-CN" dirty="0"/>
              <a:t>SQL</a:t>
            </a:r>
            <a:r>
              <a:rPr lang="zh-CN" altLang="en-US" dirty="0"/>
              <a:t>，结构化查询语言</a:t>
            </a:r>
          </a:p>
          <a:p>
            <a:r>
              <a:rPr lang="zh-CN" altLang="en-US" dirty="0"/>
              <a:t>询问有关数据库中数据的问题</a:t>
            </a:r>
          </a:p>
          <a:p>
            <a:r>
              <a:rPr lang="en-US" altLang="zh-CN" dirty="0"/>
              <a:t>HTML</a:t>
            </a:r>
            <a:r>
              <a:rPr lang="zh-CN" altLang="en-US" dirty="0"/>
              <a:t>（超文本标记语言）</a:t>
            </a:r>
          </a:p>
          <a:p>
            <a:r>
              <a:rPr lang="zh-CN" altLang="en-US" dirty="0"/>
              <a:t>描述网页的格式</a:t>
            </a:r>
          </a:p>
          <a:p>
            <a:r>
              <a:rPr lang="en-US" altLang="zh-CN" dirty="0"/>
              <a:t>JavaScript</a:t>
            </a:r>
          </a:p>
          <a:p>
            <a:r>
              <a:rPr lang="zh-CN" altLang="en-US" dirty="0"/>
              <a:t>用于活动网页的轻量级脚本语言</a:t>
            </a:r>
          </a:p>
          <a:p>
            <a:r>
              <a:rPr lang="zh-CN" altLang="en-US" dirty="0"/>
              <a:t>代码嵌入在页面的</a:t>
            </a:r>
            <a:r>
              <a:rPr lang="en-US" altLang="zh-CN" dirty="0"/>
              <a:t>HTML</a:t>
            </a:r>
            <a:r>
              <a:rPr lang="zh-CN" altLang="en-US" dirty="0"/>
              <a:t>中</a:t>
            </a:r>
          </a:p>
          <a:p>
            <a:r>
              <a:rPr lang="en-US" altLang="zh-CN" dirty="0"/>
              <a:t>R</a:t>
            </a:r>
          </a:p>
          <a:p>
            <a:r>
              <a:rPr lang="zh-CN" altLang="en-US" dirty="0"/>
              <a:t>专为统计和图形设计的专业语言</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pPr/>
              <a:t>20</a:t>
            </a:fld>
            <a:endParaRPr lang="en-US" dirty="0"/>
          </a:p>
        </p:txBody>
      </p:sp>
    </p:spTree>
    <p:extLst>
      <p:ext uri="{BB962C8B-B14F-4D97-AF65-F5344CB8AC3E}">
        <p14:creationId xmlns:p14="http://schemas.microsoft.com/office/powerpoint/2010/main" val="29459554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的</a:t>
            </a:r>
            <a:r>
              <a:rPr lang="en-US" altLang="zh-CN" dirty="0"/>
              <a:t>SQL</a:t>
            </a:r>
          </a:p>
          <a:p>
            <a:r>
              <a:rPr lang="zh-CN" altLang="en-US" dirty="0"/>
              <a:t>由</a:t>
            </a:r>
            <a:r>
              <a:rPr lang="en-US" altLang="zh-CN" dirty="0"/>
              <a:t>IBM</a:t>
            </a:r>
            <a:r>
              <a:rPr lang="zh-CN" altLang="en-US" dirty="0"/>
              <a:t>在</a:t>
            </a:r>
            <a:r>
              <a:rPr lang="en-US" altLang="zh-CN" dirty="0"/>
              <a:t>1986</a:t>
            </a:r>
            <a:r>
              <a:rPr lang="zh-CN" altLang="en-US" dirty="0"/>
              <a:t>年开发</a:t>
            </a:r>
          </a:p>
          <a:p>
            <a:r>
              <a:rPr lang="zh-CN" altLang="en-US" dirty="0"/>
              <a:t>数据库存储数据</a:t>
            </a:r>
          </a:p>
          <a:p>
            <a:r>
              <a:rPr lang="zh-CN" altLang="en-US" dirty="0"/>
              <a:t>查询描述用户想要什么信息，而不是如何找到它</a:t>
            </a:r>
          </a:p>
          <a:p>
            <a:r>
              <a:rPr lang="zh-CN" altLang="en-US" dirty="0"/>
              <a:t>示例：查找与我们开展的业务总价值超过</a:t>
            </a:r>
            <a:r>
              <a:rPr lang="en-US" altLang="zh-CN" dirty="0"/>
              <a:t>40,000</a:t>
            </a:r>
            <a:r>
              <a:rPr lang="zh-CN" altLang="en-US" dirty="0"/>
              <a:t>美元的供应商的所有名称</a:t>
            </a:r>
          </a:p>
          <a:p>
            <a:r>
              <a:rPr lang="zh-CN" altLang="en-US" dirty="0"/>
              <a:t>选择名称</a:t>
            </a:r>
          </a:p>
          <a:p>
            <a:r>
              <a:rPr lang="zh-CN" altLang="en-US" dirty="0"/>
              <a:t>来自供应商</a:t>
            </a:r>
          </a:p>
          <a:p>
            <a:r>
              <a:rPr lang="zh-CN" altLang="en-US" dirty="0"/>
              <a:t>在哪里购买</a:t>
            </a:r>
            <a:r>
              <a:rPr lang="en-US" altLang="zh-CN" dirty="0"/>
              <a:t>&gt; 40000</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pPr/>
              <a:t>22</a:t>
            </a:fld>
            <a:endParaRPr lang="en-US" dirty="0"/>
          </a:p>
        </p:txBody>
      </p:sp>
    </p:spTree>
    <p:extLst>
      <p:ext uri="{BB962C8B-B14F-4D97-AF65-F5344CB8AC3E}">
        <p14:creationId xmlns:p14="http://schemas.microsoft.com/office/powerpoint/2010/main" val="224505142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的</a:t>
            </a:r>
            <a:r>
              <a:rPr lang="en-US" altLang="zh-CN" dirty="0"/>
              <a:t>HTML</a:t>
            </a:r>
          </a:p>
          <a:p>
            <a:r>
              <a:rPr lang="zh-CN" altLang="en-US" dirty="0"/>
              <a:t>包含要显示的文本和标签</a:t>
            </a:r>
          </a:p>
          <a:p>
            <a:r>
              <a:rPr lang="zh-CN" altLang="en-US" dirty="0"/>
              <a:t>标签描述</a:t>
            </a:r>
          </a:p>
          <a:p>
            <a:r>
              <a:rPr lang="zh-CN" altLang="en-US" dirty="0"/>
              <a:t>文字格式</a:t>
            </a:r>
          </a:p>
          <a:p>
            <a:r>
              <a:rPr lang="zh-CN" altLang="en-US" dirty="0"/>
              <a:t>特殊效果</a:t>
            </a:r>
          </a:p>
          <a:p>
            <a:r>
              <a:rPr lang="zh-CN" altLang="en-US" dirty="0"/>
              <a:t>链接到其他网页</a:t>
            </a:r>
          </a:p>
          <a:p>
            <a:r>
              <a:rPr lang="zh-CN" altLang="en-US" dirty="0"/>
              <a:t>标签成对出现：开始和结束</a:t>
            </a:r>
          </a:p>
          <a:p>
            <a:r>
              <a:rPr lang="zh-CN" altLang="en-US" dirty="0"/>
              <a:t>标签写在尖括号内</a:t>
            </a:r>
          </a:p>
          <a:p>
            <a:r>
              <a:rPr lang="en-US" altLang="zh-CN" dirty="0"/>
              <a:t>&lt;title&gt;</a:t>
            </a:r>
            <a:r>
              <a:rPr lang="zh-CN" altLang="en-US" dirty="0"/>
              <a:t>和</a:t>
            </a:r>
            <a:r>
              <a:rPr lang="en-US" altLang="zh-CN" dirty="0"/>
              <a:t>&lt;/ title&gt;</a:t>
            </a:r>
          </a:p>
          <a:p>
            <a:r>
              <a:rPr lang="en-US" altLang="zh-CN" dirty="0"/>
              <a:t>&lt;</a:t>
            </a:r>
            <a:r>
              <a:rPr lang="en-US" altLang="zh-CN" dirty="0" err="1"/>
              <a:t>em</a:t>
            </a:r>
            <a:r>
              <a:rPr lang="en-US" altLang="zh-CN" dirty="0"/>
              <a:t>&gt;</a:t>
            </a:r>
            <a:r>
              <a:rPr lang="zh-CN" altLang="en-US" dirty="0"/>
              <a:t>和</a:t>
            </a:r>
            <a:r>
              <a:rPr lang="en-US" altLang="zh-CN" dirty="0"/>
              <a:t>&lt;/ </a:t>
            </a:r>
            <a:r>
              <a:rPr lang="en-US" altLang="zh-CN" dirty="0" err="1"/>
              <a:t>em</a:t>
            </a:r>
            <a:r>
              <a:rPr lang="en-US" altLang="zh-CN" dirty="0"/>
              <a:t>&gt;</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pPr/>
              <a:t>23</a:t>
            </a:fld>
            <a:endParaRPr lang="en-US" dirty="0"/>
          </a:p>
        </p:txBody>
      </p:sp>
    </p:spTree>
    <p:extLst>
      <p:ext uri="{BB962C8B-B14F-4D97-AF65-F5344CB8AC3E}">
        <p14:creationId xmlns:p14="http://schemas.microsoft.com/office/powerpoint/2010/main" val="421349427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JavaScript</a:t>
            </a:r>
          </a:p>
          <a:p>
            <a:r>
              <a:rPr lang="zh-CN" altLang="en-US" dirty="0"/>
              <a:t>代码嵌入</a:t>
            </a:r>
            <a:r>
              <a:rPr lang="en-US" altLang="zh-CN" dirty="0"/>
              <a:t>HTML</a:t>
            </a:r>
          </a:p>
          <a:p>
            <a:r>
              <a:rPr lang="zh-CN" altLang="en-US" dirty="0"/>
              <a:t>使网页能够对用户做出反应</a:t>
            </a:r>
          </a:p>
          <a:p>
            <a:r>
              <a:rPr lang="zh-CN" altLang="en-US" dirty="0"/>
              <a:t>脚本语言</a:t>
            </a:r>
          </a:p>
          <a:p>
            <a:r>
              <a:rPr lang="zh-CN" altLang="en-US" dirty="0"/>
              <a:t>解释</a:t>
            </a:r>
          </a:p>
          <a:p>
            <a:r>
              <a:rPr lang="zh-CN" altLang="en-US" dirty="0"/>
              <a:t>轻量级（减少功能）</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pPr/>
              <a:t>27</a:t>
            </a:fld>
            <a:endParaRPr lang="en-US" dirty="0"/>
          </a:p>
        </p:txBody>
      </p:sp>
    </p:spTree>
    <p:extLst>
      <p:ext uri="{BB962C8B-B14F-4D97-AF65-F5344CB8AC3E}">
        <p14:creationId xmlns:p14="http://schemas.microsoft.com/office/powerpoint/2010/main" val="64822956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JavaScript</a:t>
            </a:r>
            <a:r>
              <a:rPr lang="zh-CN" altLang="en-US" dirty="0"/>
              <a:t>范例</a:t>
            </a:r>
          </a:p>
          <a:p>
            <a:r>
              <a:rPr lang="zh-CN" altLang="en-US" dirty="0"/>
              <a:t>当鼠标移到图像上时更改图像</a:t>
            </a:r>
          </a:p>
          <a:p>
            <a:r>
              <a:rPr lang="zh-CN" altLang="en-US" dirty="0"/>
              <a:t>事件处理程序：响应鼠标移动，按钮单击等事件的函数。</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pPr/>
              <a:t>28</a:t>
            </a:fld>
            <a:endParaRPr lang="en-US" dirty="0"/>
          </a:p>
        </p:txBody>
      </p:sp>
    </p:spTree>
    <p:extLst>
      <p:ext uri="{BB962C8B-B14F-4D97-AF65-F5344CB8AC3E}">
        <p14:creationId xmlns:p14="http://schemas.microsoft.com/office/powerpoint/2010/main" val="62229577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名称“ </a:t>
            </a:r>
            <a:r>
              <a:rPr lang="en-US" altLang="zh-CN" dirty="0"/>
              <a:t>R”</a:t>
            </a:r>
            <a:r>
              <a:rPr lang="zh-CN" altLang="en-US" dirty="0"/>
              <a:t>部分来自该语言的两位作者</a:t>
            </a:r>
            <a:r>
              <a:rPr lang="en-US" altLang="zh-CN" dirty="0"/>
              <a:t>Ross Ihaka</a:t>
            </a:r>
            <a:r>
              <a:rPr lang="zh-CN" altLang="en-US" dirty="0"/>
              <a:t>和</a:t>
            </a:r>
            <a:r>
              <a:rPr lang="en-US" altLang="zh-CN" dirty="0"/>
              <a:t>Robert Gentleman</a:t>
            </a:r>
            <a:r>
              <a:rPr lang="zh-CN" altLang="en-US" dirty="0"/>
              <a:t>的名字</a:t>
            </a:r>
          </a:p>
          <a:p>
            <a:r>
              <a:rPr lang="zh-CN" altLang="en-US" dirty="0"/>
              <a:t>一种开源语言，于</a:t>
            </a:r>
            <a:r>
              <a:rPr lang="en-US" altLang="zh-CN" dirty="0"/>
              <a:t>2000</a:t>
            </a:r>
            <a:r>
              <a:rPr lang="zh-CN" altLang="en-US" dirty="0"/>
              <a:t>年首次发布</a:t>
            </a:r>
          </a:p>
          <a:p>
            <a:r>
              <a:rPr lang="zh-CN" altLang="en-US" dirty="0"/>
              <a:t>给定一组数据，</a:t>
            </a:r>
          </a:p>
          <a:p>
            <a:r>
              <a:rPr lang="zh-CN" altLang="en-US" dirty="0"/>
              <a:t>可以计算最大，最小，标准偏差，其他统计函数</a:t>
            </a:r>
          </a:p>
          <a:p>
            <a:r>
              <a:rPr lang="zh-CN" altLang="en-US" dirty="0"/>
              <a:t>可以图形化显示数据集</a:t>
            </a:r>
          </a:p>
          <a:p>
            <a:r>
              <a:rPr lang="zh-CN" altLang="en-US" dirty="0"/>
              <a:t>在数据科学中很重要</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pPr/>
              <a:t>33</a:t>
            </a:fld>
            <a:endParaRPr lang="en-US" dirty="0"/>
          </a:p>
        </p:txBody>
      </p:sp>
    </p:spTree>
    <p:extLst>
      <p:ext uri="{BB962C8B-B14F-4D97-AF65-F5344CB8AC3E}">
        <p14:creationId xmlns:p14="http://schemas.microsoft.com/office/powerpoint/2010/main" val="132586660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范式：思考问题的模型或思维框架</a:t>
            </a:r>
          </a:p>
          <a:p>
            <a:r>
              <a:rPr lang="zh-CN" altLang="en-US" dirty="0"/>
              <a:t>过程编程范例</a:t>
            </a:r>
          </a:p>
          <a:p>
            <a:r>
              <a:rPr lang="zh-CN" altLang="en-US" dirty="0"/>
              <a:t>程序是一系列详细的指令，用于访问和修改内存位置</a:t>
            </a:r>
          </a:p>
          <a:p>
            <a:r>
              <a:rPr lang="zh-CN" altLang="en-US" dirty="0"/>
              <a:t>函数式编程范例</a:t>
            </a:r>
          </a:p>
          <a:p>
            <a:r>
              <a:rPr lang="zh-CN" altLang="en-US" dirty="0"/>
              <a:t>程序是对项目的一系列转换</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pPr/>
              <a:t>35</a:t>
            </a:fld>
            <a:endParaRPr lang="en-US" dirty="0"/>
          </a:p>
        </p:txBody>
      </p:sp>
    </p:spTree>
    <p:extLst>
      <p:ext uri="{BB962C8B-B14F-4D97-AF65-F5344CB8AC3E}">
        <p14:creationId xmlns:p14="http://schemas.microsoft.com/office/powerpoint/2010/main" val="286693355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逻辑编程范例</a:t>
            </a:r>
          </a:p>
          <a:p>
            <a:r>
              <a:rPr lang="zh-CN" altLang="en-US" dirty="0"/>
              <a:t>程序是从已知事实中得出的一系列逻辑推论</a:t>
            </a:r>
          </a:p>
          <a:p>
            <a:r>
              <a:rPr lang="zh-CN" altLang="en-US" dirty="0"/>
              <a:t>并行编程范例</a:t>
            </a:r>
          </a:p>
          <a:p>
            <a:r>
              <a:rPr lang="zh-CN" altLang="en-US" dirty="0"/>
              <a:t>一个程序是由</a:t>
            </a:r>
          </a:p>
          <a:p>
            <a:r>
              <a:rPr lang="zh-CN" altLang="en-US" dirty="0"/>
              <a:t>同一子任务的多个副本，或者</a:t>
            </a:r>
          </a:p>
          <a:p>
            <a:r>
              <a:rPr lang="zh-CN" altLang="en-US" dirty="0"/>
              <a:t>同一问题的多个子任务</a:t>
            </a:r>
          </a:p>
          <a:p>
            <a:r>
              <a:rPr lang="zh-CN" altLang="en-US" dirty="0"/>
              <a:t>由不同的处理器同时执行</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pPr/>
              <a:t>36</a:t>
            </a:fld>
            <a:endParaRPr lang="en-US" dirty="0"/>
          </a:p>
        </p:txBody>
      </p:sp>
    </p:spTree>
    <p:extLst>
      <p:ext uri="{BB962C8B-B14F-4D97-AF65-F5344CB8AC3E}">
        <p14:creationId xmlns:p14="http://schemas.microsoft.com/office/powerpoint/2010/main" val="112630414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anose="020B0604020202020204" pitchFamily="34" charset="0"/>
                <a:ea typeface="ＭＳ Ｐゴシック" pitchFamily="34" charset="-128"/>
                <a:cs typeface="Arial" panose="020B0604020202020204" pitchFamily="34" charset="0"/>
              </a:rPr>
              <a:t>Functional Programming</a:t>
            </a:r>
          </a:p>
          <a:p>
            <a:pPr lvl="1"/>
            <a:r>
              <a:rPr lang="en-US" altLang="en-US" dirty="0">
                <a:latin typeface="Arial" panose="020B0604020202020204" pitchFamily="34" charset="0"/>
                <a:ea typeface="ＭＳ Ｐゴシック" pitchFamily="34" charset="-128"/>
                <a:cs typeface="Arial" panose="020B0604020202020204" pitchFamily="34" charset="0"/>
              </a:rPr>
              <a:t>LISP was developed in 1958 at MIT by John McCarthy</a:t>
            </a:r>
          </a:p>
          <a:p>
            <a:pPr lvl="1"/>
            <a:r>
              <a:rPr lang="en-US" altLang="en-US" dirty="0">
                <a:latin typeface="Arial" panose="020B0604020202020204" pitchFamily="34" charset="0"/>
                <a:ea typeface="ＭＳ Ｐゴシック" pitchFamily="34" charset="-128"/>
                <a:cs typeface="Arial" panose="020B0604020202020204" pitchFamily="34" charset="0"/>
              </a:rPr>
              <a:t>Scheme is a variant of LISP developed in the 1970s</a:t>
            </a:r>
          </a:p>
          <a:p>
            <a:pPr lvl="1"/>
            <a:r>
              <a:rPr lang="en-US" altLang="en-US" b="1" dirty="0">
                <a:latin typeface="Arial" panose="020B0604020202020204" pitchFamily="34" charset="0"/>
                <a:ea typeface="ＭＳ Ｐゴシック" pitchFamily="34" charset="-128"/>
                <a:cs typeface="Arial" panose="020B0604020202020204" pitchFamily="34" charset="0"/>
              </a:rPr>
              <a:t>Functional programming language</a:t>
            </a:r>
            <a:endParaRPr lang="en-US" altLang="en-US" dirty="0">
              <a:latin typeface="Arial" panose="020B0604020202020204" pitchFamily="34" charset="0"/>
              <a:ea typeface="ＭＳ Ｐゴシック" pitchFamily="34" charset="-128"/>
              <a:cs typeface="Arial" panose="020B0604020202020204" pitchFamily="34" charset="0"/>
            </a:endParaRPr>
          </a:p>
          <a:p>
            <a:pPr marL="1071563" lvl="2" indent="-354013"/>
            <a:r>
              <a:rPr lang="en-US" altLang="en-US" dirty="0">
                <a:latin typeface="Arial" panose="020B0604020202020204" pitchFamily="34" charset="0"/>
                <a:ea typeface="ＭＳ Ｐゴシック" pitchFamily="34" charset="-128"/>
                <a:cs typeface="Arial" panose="020B0604020202020204" pitchFamily="34" charset="0"/>
              </a:rPr>
              <a:t>Organized around functions</a:t>
            </a:r>
          </a:p>
          <a:p>
            <a:pPr marL="1071563" lvl="2" indent="-354013"/>
            <a:r>
              <a:rPr lang="en-US" altLang="en-US" dirty="0">
                <a:latin typeface="Arial" panose="020B0604020202020204" pitchFamily="34" charset="0"/>
                <a:ea typeface="ＭＳ Ｐゴシック" pitchFamily="34" charset="-128"/>
                <a:cs typeface="Arial" panose="020B0604020202020204" pitchFamily="34" charset="0"/>
              </a:rPr>
              <a:t>A function takes inputs and produces a single value</a:t>
            </a:r>
          </a:p>
          <a:p>
            <a:pPr marL="1071563" lvl="2" indent="-354013"/>
            <a:r>
              <a:rPr lang="en-US" altLang="en-US" dirty="0">
                <a:latin typeface="Arial" panose="020B0604020202020204" pitchFamily="34" charset="0"/>
                <a:ea typeface="ＭＳ Ｐゴシック" pitchFamily="34" charset="-128"/>
                <a:cs typeface="Arial" panose="020B0604020202020204" pitchFamily="34" charset="0"/>
              </a:rPr>
              <a:t>Define functions</a:t>
            </a:r>
          </a:p>
          <a:p>
            <a:pPr marL="1071563" lvl="2" indent="-354013"/>
            <a:r>
              <a:rPr lang="en-US" altLang="en-US" dirty="0">
                <a:latin typeface="Arial" panose="020B0604020202020204" pitchFamily="34" charset="0"/>
                <a:ea typeface="ＭＳ Ｐゴシック" pitchFamily="34" charset="-128"/>
                <a:cs typeface="Arial" panose="020B0604020202020204" pitchFamily="34" charset="0"/>
              </a:rPr>
              <a:t>Call, or apply, functions</a:t>
            </a:r>
          </a:p>
          <a:p>
            <a:pPr marL="1071563" lvl="2" indent="-354013"/>
            <a:r>
              <a:rPr lang="en-US" altLang="en-US" dirty="0">
                <a:latin typeface="Arial" panose="020B0604020202020204" pitchFamily="34" charset="0"/>
                <a:ea typeface="ＭＳ Ｐゴシック" pitchFamily="34" charset="-128"/>
                <a:cs typeface="Arial" panose="020B0604020202020204" pitchFamily="34" charset="0"/>
              </a:rPr>
              <a:t>Combine function calls</a:t>
            </a:r>
          </a:p>
          <a:p>
            <a:pPr lvl="1"/>
            <a:r>
              <a:rPr lang="en-US" altLang="en-US" b="1" dirty="0">
                <a:latin typeface="Arial" panose="020B0604020202020204" pitchFamily="34" charset="0"/>
                <a:ea typeface="ＭＳ Ｐゴシック" pitchFamily="34" charset="-128"/>
                <a:cs typeface="Arial" panose="020B0604020202020204" pitchFamily="34" charset="0"/>
              </a:rPr>
              <a:t>Applicative languages</a:t>
            </a:r>
          </a:p>
          <a:p>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pPr/>
              <a:t>37</a:t>
            </a:fld>
            <a:endParaRPr lang="en-US" dirty="0"/>
          </a:p>
        </p:txBody>
      </p:sp>
    </p:spTree>
    <p:extLst>
      <p:ext uri="{BB962C8B-B14F-4D97-AF65-F5344CB8AC3E}">
        <p14:creationId xmlns:p14="http://schemas.microsoft.com/office/powerpoint/2010/main" val="29053647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anose="020B0604020202020204" pitchFamily="34" charset="0"/>
                <a:ea typeface="ＭＳ Ｐゴシック" pitchFamily="34" charset="-128"/>
                <a:cs typeface="Arial" panose="020B0604020202020204" pitchFamily="34" charset="0"/>
              </a:rPr>
              <a:t>Lists: linear collections of data</a:t>
            </a:r>
          </a:p>
          <a:p>
            <a:pPr lvl="1"/>
            <a:r>
              <a:rPr lang="en-US" altLang="en-US" dirty="0">
                <a:latin typeface="Arial" panose="020B0604020202020204" pitchFamily="34" charset="0"/>
                <a:ea typeface="ＭＳ Ｐゴシック" pitchFamily="34" charset="-128"/>
                <a:cs typeface="Arial" panose="020B0604020202020204" pitchFamily="34" charset="0"/>
              </a:rPr>
              <a:t>(list 5 1 2)  = (5 1 2)</a:t>
            </a:r>
          </a:p>
          <a:p>
            <a:pPr lvl="1"/>
            <a:r>
              <a:rPr lang="en-US" altLang="en-US" dirty="0">
                <a:latin typeface="Arial" panose="020B0604020202020204" pitchFamily="34" charset="0"/>
                <a:ea typeface="ＭＳ Ｐゴシック" pitchFamily="34" charset="-128"/>
                <a:cs typeface="Arial" panose="020B0604020202020204" pitchFamily="34" charset="0"/>
              </a:rPr>
              <a:t>(car (list 5 1 2)) = 5</a:t>
            </a:r>
          </a:p>
          <a:p>
            <a:pPr lvl="1"/>
            <a:r>
              <a:rPr lang="en-US" altLang="en-US" dirty="0">
                <a:latin typeface="Arial" panose="020B0604020202020204" pitchFamily="34" charset="0"/>
                <a:ea typeface="ＭＳ Ｐゴシック" pitchFamily="34" charset="-128"/>
                <a:cs typeface="Arial" panose="020B0604020202020204" pitchFamily="34" charset="0"/>
              </a:rPr>
              <a:t>(</a:t>
            </a:r>
            <a:r>
              <a:rPr lang="en-US" altLang="en-US" dirty="0" err="1">
                <a:latin typeface="Arial" panose="020B0604020202020204" pitchFamily="34" charset="0"/>
                <a:ea typeface="ＭＳ Ｐゴシック" pitchFamily="34" charset="-128"/>
                <a:cs typeface="Arial" panose="020B0604020202020204" pitchFamily="34" charset="0"/>
              </a:rPr>
              <a:t>cdr</a:t>
            </a:r>
            <a:r>
              <a:rPr lang="en-US" altLang="en-US" dirty="0">
                <a:latin typeface="Arial" panose="020B0604020202020204" pitchFamily="34" charset="0"/>
                <a:ea typeface="ＭＳ Ｐゴシック" pitchFamily="34" charset="-128"/>
                <a:cs typeface="Arial" panose="020B0604020202020204" pitchFamily="34" charset="0"/>
              </a:rPr>
              <a:t> (list 5 1 2)) = (1 2)</a:t>
            </a:r>
          </a:p>
          <a:p>
            <a:pPr lvl="1"/>
            <a:r>
              <a:rPr lang="en-US" altLang="en-US" dirty="0">
                <a:latin typeface="Arial" panose="020B0604020202020204" pitchFamily="34" charset="0"/>
                <a:ea typeface="ＭＳ Ｐゴシック" pitchFamily="34" charset="-128"/>
                <a:cs typeface="Arial" panose="020B0604020202020204" pitchFamily="34" charset="0"/>
              </a:rPr>
              <a:t>(null (list 5 1 2)) = false</a:t>
            </a:r>
          </a:p>
          <a:p>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pPr/>
              <a:t>38</a:t>
            </a:fld>
            <a:endParaRPr lang="en-US" dirty="0"/>
          </a:p>
        </p:txBody>
      </p:sp>
    </p:spTree>
    <p:extLst>
      <p:ext uri="{BB962C8B-B14F-4D97-AF65-F5344CB8AC3E}">
        <p14:creationId xmlns:p14="http://schemas.microsoft.com/office/powerpoint/2010/main" val="393072814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例：</a:t>
            </a:r>
          </a:p>
          <a:p>
            <a:r>
              <a:rPr lang="zh-CN" altLang="en-US" dirty="0"/>
              <a:t>（加法器（</a:t>
            </a:r>
            <a:r>
              <a:rPr lang="en-US" altLang="zh-CN" dirty="0"/>
              <a:t>5 10</a:t>
            </a:r>
            <a:r>
              <a:rPr lang="zh-CN" altLang="en-US" dirty="0"/>
              <a:t>））</a:t>
            </a:r>
          </a:p>
          <a:p>
            <a:r>
              <a:rPr lang="en-US" altLang="zh-CN" dirty="0"/>
              <a:t>=</a:t>
            </a:r>
            <a:r>
              <a:rPr lang="zh-CN" altLang="en-US" dirty="0"/>
              <a:t>（</a:t>
            </a:r>
            <a:r>
              <a:rPr lang="en-US" altLang="zh-CN" dirty="0"/>
              <a:t>+ 5</a:t>
            </a:r>
            <a:r>
              <a:rPr lang="zh-CN" altLang="en-US" dirty="0"/>
              <a:t>（加法器（</a:t>
            </a:r>
            <a:r>
              <a:rPr lang="en-US" altLang="zh-CN" dirty="0"/>
              <a:t>10</a:t>
            </a:r>
            <a:r>
              <a:rPr lang="zh-CN" altLang="en-US" dirty="0"/>
              <a:t>）））</a:t>
            </a:r>
            <a:r>
              <a:rPr lang="en-US" altLang="zh-CN" dirty="0"/>
              <a:t>= 5 +</a:t>
            </a:r>
            <a:r>
              <a:rPr lang="zh-CN" altLang="en-US" dirty="0"/>
              <a:t>（加法器（</a:t>
            </a:r>
            <a:r>
              <a:rPr lang="en-US" altLang="zh-CN" dirty="0"/>
              <a:t>10</a:t>
            </a:r>
            <a:r>
              <a:rPr lang="zh-CN" altLang="en-US" dirty="0"/>
              <a:t>））</a:t>
            </a:r>
          </a:p>
          <a:p>
            <a:r>
              <a:rPr lang="en-US" altLang="zh-CN" dirty="0"/>
              <a:t>= 5 +</a:t>
            </a:r>
            <a:r>
              <a:rPr lang="zh-CN" altLang="en-US" dirty="0"/>
              <a:t>（</a:t>
            </a:r>
            <a:r>
              <a:rPr lang="en-US" altLang="zh-CN" dirty="0"/>
              <a:t>+ 10</a:t>
            </a:r>
            <a:r>
              <a:rPr lang="zh-CN" altLang="en-US" dirty="0"/>
              <a:t>（加法器（）））</a:t>
            </a:r>
            <a:r>
              <a:rPr lang="en-US" altLang="zh-CN" dirty="0"/>
              <a:t>= 5 + 10 +</a:t>
            </a:r>
            <a:r>
              <a:rPr lang="zh-CN" altLang="en-US" dirty="0"/>
              <a:t>（加法器（））</a:t>
            </a:r>
          </a:p>
          <a:p>
            <a:r>
              <a:rPr lang="en-US" altLang="zh-CN" dirty="0"/>
              <a:t>= 5 + 10 + 0 = 15</a:t>
            </a:r>
          </a:p>
          <a:p>
            <a:r>
              <a:rPr lang="zh-CN" altLang="en-US" dirty="0"/>
              <a:t>递归：根据自身的较小版本定义</a:t>
            </a:r>
          </a:p>
          <a:p>
            <a:r>
              <a:rPr lang="zh-CN" altLang="en-US" dirty="0"/>
              <a:t>在这里没有副作用：计算外的值没有变化</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pPr/>
              <a:t>39</a:t>
            </a:fld>
            <a:endParaRPr lang="en-US" dirty="0"/>
          </a:p>
        </p:txBody>
      </p:sp>
    </p:spTree>
    <p:extLst>
      <p:ext uri="{BB962C8B-B14F-4D97-AF65-F5344CB8AC3E}">
        <p14:creationId xmlns:p14="http://schemas.microsoft.com/office/powerpoint/2010/main" val="321887811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逻辑编程语言</a:t>
            </a:r>
          </a:p>
          <a:p>
            <a:r>
              <a:rPr lang="zh-CN" altLang="en-US" dirty="0"/>
              <a:t>程序描述规则和事实，而不是如何做某事</a:t>
            </a:r>
          </a:p>
          <a:p>
            <a:r>
              <a:rPr lang="zh-CN" altLang="en-US" dirty="0"/>
              <a:t>查询使用逻辑推论来产生遵循给定规则和事实的输出</a:t>
            </a:r>
          </a:p>
          <a:p>
            <a:r>
              <a:rPr lang="zh-CN" altLang="en-US" dirty="0"/>
              <a:t>声明式编程语言</a:t>
            </a:r>
          </a:p>
          <a:p>
            <a:r>
              <a:rPr lang="zh-CN" altLang="en-US" dirty="0"/>
              <a:t>程序声明什么是正确的</a:t>
            </a:r>
          </a:p>
          <a:p>
            <a:r>
              <a:rPr lang="zh-CN" altLang="en-US" dirty="0"/>
              <a:t>人工智能应用</a:t>
            </a:r>
          </a:p>
          <a:p>
            <a:r>
              <a:rPr lang="zh-CN" altLang="en-US" dirty="0"/>
              <a:t>专家系统通过逻辑推理解决问题</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pPr/>
              <a:t>40</a:t>
            </a:fld>
            <a:endParaRPr lang="en-US" dirty="0"/>
          </a:p>
        </p:txBody>
      </p:sp>
    </p:spTree>
    <p:extLst>
      <p:ext uri="{BB962C8B-B14F-4D97-AF65-F5344CB8AC3E}">
        <p14:creationId xmlns:p14="http://schemas.microsoft.com/office/powerpoint/2010/main" val="206753978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Prolog</a:t>
            </a:r>
            <a:r>
              <a:rPr lang="zh-CN" altLang="en-US" dirty="0"/>
              <a:t>由</a:t>
            </a:r>
            <a:r>
              <a:rPr lang="en-US" dirty="0"/>
              <a:t>A. </a:t>
            </a:r>
            <a:r>
              <a:rPr lang="en-US" dirty="0" err="1"/>
              <a:t>Colmerauer</a:t>
            </a:r>
            <a:r>
              <a:rPr lang="zh-CN" altLang="en-US" dirty="0"/>
              <a:t>在</a:t>
            </a:r>
            <a:r>
              <a:rPr lang="en-US" altLang="zh-CN" dirty="0"/>
              <a:t>1972</a:t>
            </a:r>
            <a:r>
              <a:rPr lang="zh-CN" altLang="en-US" dirty="0"/>
              <a:t>年于马赛大学开发</a:t>
            </a:r>
          </a:p>
          <a:p>
            <a:r>
              <a:rPr lang="zh-CN" altLang="en-US" dirty="0"/>
              <a:t>事实描述特定对象之间的关系</a:t>
            </a:r>
          </a:p>
          <a:p>
            <a:r>
              <a:rPr lang="zh-CN" altLang="en-US" dirty="0"/>
              <a:t>总统（尼克松，越战）。</a:t>
            </a:r>
          </a:p>
          <a:p>
            <a:r>
              <a:rPr lang="zh-CN" altLang="en-US" dirty="0"/>
              <a:t>规则使用变量描述一般关系</a:t>
            </a:r>
          </a:p>
          <a:p>
            <a:r>
              <a:rPr lang="en-US" dirty="0" err="1"/>
              <a:t>befores（X，Y</a:t>
            </a:r>
            <a:r>
              <a:rPr lang="en-US" dirty="0"/>
              <a:t>）：-</a:t>
            </a:r>
            <a:r>
              <a:rPr lang="en-US" dirty="0" err="1"/>
              <a:t>before（X，Y</a:t>
            </a:r>
            <a:r>
              <a:rPr lang="en-US" dirty="0"/>
              <a:t>）。</a:t>
            </a:r>
          </a:p>
          <a:p>
            <a:r>
              <a:rPr lang="zh-CN" altLang="en-US" dirty="0"/>
              <a:t>如果</a:t>
            </a:r>
            <a:r>
              <a:rPr lang="en-US" dirty="0"/>
              <a:t>X</a:t>
            </a:r>
            <a:r>
              <a:rPr lang="zh-CN" altLang="en-US" dirty="0"/>
              <a:t>在</a:t>
            </a:r>
            <a:r>
              <a:rPr lang="en-US" dirty="0"/>
              <a:t>Y</a:t>
            </a:r>
            <a:r>
              <a:rPr lang="zh-CN" altLang="en-US" dirty="0"/>
              <a:t>之前，则</a:t>
            </a:r>
            <a:r>
              <a:rPr lang="en-US" dirty="0"/>
              <a:t>X</a:t>
            </a:r>
            <a:r>
              <a:rPr lang="zh-CN" altLang="en-US" dirty="0"/>
              <a:t>在</a:t>
            </a:r>
            <a:r>
              <a:rPr lang="en-US" dirty="0"/>
              <a:t>Y</a:t>
            </a:r>
            <a:r>
              <a:rPr lang="zh-CN" altLang="en-US" dirty="0"/>
              <a:t>之前</a:t>
            </a:r>
          </a:p>
          <a:p>
            <a:r>
              <a:rPr lang="en-US" dirty="0" err="1"/>
              <a:t>befores（X，Y</a:t>
            </a:r>
            <a:r>
              <a:rPr lang="en-US" dirty="0"/>
              <a:t>）：-</a:t>
            </a:r>
            <a:r>
              <a:rPr lang="en-US" dirty="0" err="1"/>
              <a:t>before（X，Z</a:t>
            </a:r>
            <a:r>
              <a:rPr lang="en-US" dirty="0"/>
              <a:t>），</a:t>
            </a:r>
            <a:r>
              <a:rPr lang="en-US" dirty="0" err="1"/>
              <a:t>befores（Z，Y</a:t>
            </a:r>
            <a:r>
              <a:rPr lang="en-US" dirty="0"/>
              <a:t>）。</a:t>
            </a:r>
          </a:p>
          <a:p>
            <a:r>
              <a:rPr lang="zh-CN" altLang="en-US" dirty="0"/>
              <a:t>如果</a:t>
            </a:r>
            <a:r>
              <a:rPr lang="en-US" dirty="0"/>
              <a:t>X</a:t>
            </a:r>
            <a:r>
              <a:rPr lang="zh-CN" altLang="en-US" dirty="0"/>
              <a:t>在</a:t>
            </a:r>
            <a:r>
              <a:rPr lang="en-US" dirty="0"/>
              <a:t>Z</a:t>
            </a:r>
            <a:r>
              <a:rPr lang="zh-CN" altLang="en-US" dirty="0"/>
              <a:t>之前并且</a:t>
            </a:r>
            <a:r>
              <a:rPr lang="en-US" dirty="0"/>
              <a:t>X</a:t>
            </a:r>
            <a:r>
              <a:rPr lang="zh-CN" altLang="en-US" dirty="0"/>
              <a:t>在</a:t>
            </a:r>
            <a:r>
              <a:rPr lang="en-US" dirty="0"/>
              <a:t>Y</a:t>
            </a:r>
            <a:r>
              <a:rPr lang="zh-CN" altLang="en-US" dirty="0"/>
              <a:t>之前，则</a:t>
            </a:r>
            <a:r>
              <a:rPr lang="en-US" dirty="0"/>
              <a:t>X</a:t>
            </a:r>
            <a:r>
              <a:rPr lang="zh-CN" altLang="en-US" dirty="0"/>
              <a:t>在</a:t>
            </a:r>
            <a:r>
              <a:rPr lang="en-US" dirty="0"/>
              <a:t>Y</a:t>
            </a:r>
            <a:r>
              <a:rPr lang="zh-CN" altLang="en-US" dirty="0"/>
              <a:t>之前</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pPr/>
              <a:t>41</a:t>
            </a:fld>
            <a:endParaRPr lang="en-US" dirty="0"/>
          </a:p>
        </p:txBody>
      </p:sp>
    </p:spTree>
    <p:extLst>
      <p:ext uri="{BB962C8B-B14F-4D97-AF65-F5344CB8AC3E}">
        <p14:creationId xmlns:p14="http://schemas.microsoft.com/office/powerpoint/2010/main" val="356098086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在</a:t>
            </a:r>
            <a:r>
              <a:rPr lang="en-US" altLang="zh-CN" dirty="0"/>
              <a:t>Prolog</a:t>
            </a:r>
            <a:r>
              <a:rPr lang="zh-CN" altLang="en-US" dirty="0"/>
              <a:t>中编程</a:t>
            </a:r>
          </a:p>
          <a:p>
            <a:r>
              <a:rPr lang="zh-CN" altLang="en-US" dirty="0"/>
              <a:t>程序员建立事实和规则的知识库</a:t>
            </a:r>
          </a:p>
          <a:p>
            <a:r>
              <a:rPr lang="zh-CN" altLang="en-US" dirty="0"/>
              <a:t>要“运行”程序，向推理引擎提出查询，</a:t>
            </a:r>
            <a:r>
              <a:rPr lang="en-US" altLang="zh-CN" dirty="0"/>
              <a:t>Prolog</a:t>
            </a:r>
            <a:r>
              <a:rPr lang="zh-CN" altLang="en-US" dirty="0"/>
              <a:t>中提供了演绎算法</a:t>
            </a:r>
          </a:p>
          <a:p>
            <a:r>
              <a:rPr lang="zh-CN" altLang="en-US" dirty="0"/>
              <a:t>查询结果从</a:t>
            </a:r>
            <a:r>
              <a:rPr lang="en-US" altLang="zh-CN" dirty="0"/>
              <a:t>Prolog</a:t>
            </a:r>
            <a:r>
              <a:rPr lang="zh-CN" altLang="en-US" dirty="0"/>
              <a:t>返回</a:t>
            </a:r>
          </a:p>
          <a:p>
            <a:r>
              <a:rPr lang="zh-CN" altLang="en-US" dirty="0"/>
              <a:t>使用固定规则的演绎推理示例</a:t>
            </a:r>
          </a:p>
          <a:p>
            <a:r>
              <a:rPr lang="zh-CN" altLang="en-US" dirty="0"/>
              <a:t>方法：如果我们知道规则“如果</a:t>
            </a:r>
            <a:r>
              <a:rPr lang="en-US" altLang="zh-CN" dirty="0"/>
              <a:t>A</a:t>
            </a:r>
            <a:r>
              <a:rPr lang="zh-CN" altLang="en-US" dirty="0"/>
              <a:t>那么</a:t>
            </a:r>
            <a:r>
              <a:rPr lang="en-US" altLang="zh-CN" dirty="0"/>
              <a:t>B”</a:t>
            </a:r>
            <a:r>
              <a:rPr lang="zh-CN" altLang="en-US" dirty="0"/>
              <a:t>，并且我们知道</a:t>
            </a:r>
            <a:r>
              <a:rPr lang="en-US" altLang="zh-CN" dirty="0"/>
              <a:t>A</a:t>
            </a:r>
            <a:r>
              <a:rPr lang="zh-CN" altLang="en-US" dirty="0"/>
              <a:t>为真，那么我们就可以推论</a:t>
            </a:r>
            <a:r>
              <a:rPr lang="en-US" altLang="zh-CN" dirty="0"/>
              <a:t>B</a:t>
            </a:r>
            <a:r>
              <a:rPr lang="zh-CN" altLang="en-US" dirty="0"/>
              <a:t>为真</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pPr/>
              <a:t>43</a:t>
            </a:fld>
            <a:endParaRPr lang="en-US" dirty="0"/>
          </a:p>
        </p:txBody>
      </p:sp>
    </p:spTree>
    <p:extLst>
      <p:ext uri="{BB962C8B-B14F-4D97-AF65-F5344CB8AC3E}">
        <p14:creationId xmlns:p14="http://schemas.microsoft.com/office/powerpoint/2010/main" val="222509791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MIMD</a:t>
            </a:r>
            <a:r>
              <a:rPr lang="zh-CN" altLang="en-US" dirty="0"/>
              <a:t>：多指令，多数据</a:t>
            </a:r>
          </a:p>
          <a:p>
            <a:r>
              <a:rPr lang="zh-CN" altLang="en-US" dirty="0"/>
              <a:t>许多</a:t>
            </a:r>
            <a:r>
              <a:rPr lang="en-US" altLang="zh-CN" dirty="0"/>
              <a:t>CPU</a:t>
            </a:r>
            <a:r>
              <a:rPr lang="zh-CN" altLang="en-US" dirty="0"/>
              <a:t>，每个</a:t>
            </a:r>
            <a:r>
              <a:rPr lang="en-US" altLang="zh-CN" dirty="0"/>
              <a:t>CPU</a:t>
            </a:r>
            <a:r>
              <a:rPr lang="zh-CN" altLang="en-US" dirty="0"/>
              <a:t>都使用自己的数据</a:t>
            </a:r>
          </a:p>
          <a:p>
            <a:r>
              <a:rPr lang="zh-CN" altLang="en-US" dirty="0"/>
              <a:t>多核计算</a:t>
            </a:r>
          </a:p>
          <a:p>
            <a:r>
              <a:rPr lang="zh-CN" altLang="en-US" dirty="0"/>
              <a:t>一块芯片上有多个处理器</a:t>
            </a:r>
          </a:p>
          <a:p>
            <a:r>
              <a:rPr lang="zh-CN" altLang="en-US" dirty="0"/>
              <a:t>集群计算</a:t>
            </a:r>
          </a:p>
          <a:p>
            <a:r>
              <a:rPr lang="zh-CN" altLang="en-US" dirty="0"/>
              <a:t>处理器可能是异构的</a:t>
            </a:r>
          </a:p>
          <a:p>
            <a:r>
              <a:rPr lang="zh-CN" altLang="en-US" dirty="0"/>
              <a:t>通过局域网或广域网连接</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pPr/>
              <a:t>46</a:t>
            </a:fld>
            <a:endParaRPr lang="en-US" dirty="0"/>
          </a:p>
        </p:txBody>
      </p:sp>
    </p:spTree>
    <p:extLst>
      <p:ext uri="{BB962C8B-B14F-4D97-AF65-F5344CB8AC3E}">
        <p14:creationId xmlns:p14="http://schemas.microsoft.com/office/powerpoint/2010/main" val="371224781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MIMD</a:t>
            </a:r>
            <a:r>
              <a:rPr lang="zh-CN" altLang="en-US" dirty="0"/>
              <a:t>示例：在纽约市电话簿中搜索名称</a:t>
            </a:r>
          </a:p>
          <a:p>
            <a:r>
              <a:rPr lang="en-US" altLang="zh-CN" dirty="0"/>
              <a:t>101</a:t>
            </a:r>
            <a:r>
              <a:rPr lang="zh-CN" altLang="en-US" dirty="0"/>
              <a:t>个处理器</a:t>
            </a:r>
          </a:p>
          <a:p>
            <a:r>
              <a:rPr lang="zh-CN" altLang="en-US" dirty="0"/>
              <a:t>处理器</a:t>
            </a:r>
            <a:r>
              <a:rPr lang="en-US" altLang="zh-CN" dirty="0"/>
              <a:t>101</a:t>
            </a:r>
            <a:r>
              <a:rPr lang="zh-CN" altLang="en-US" dirty="0"/>
              <a:t>处理输入</a:t>
            </a:r>
            <a:r>
              <a:rPr lang="en-US" altLang="zh-CN" dirty="0"/>
              <a:t>/</a:t>
            </a:r>
            <a:r>
              <a:rPr lang="zh-CN" altLang="en-US" dirty="0"/>
              <a:t>输出</a:t>
            </a:r>
          </a:p>
          <a:p>
            <a:r>
              <a:rPr lang="zh-CN" altLang="en-US" dirty="0"/>
              <a:t>划分数据并告诉处理器要搜索的内容</a:t>
            </a:r>
          </a:p>
          <a:p>
            <a:r>
              <a:rPr lang="zh-CN" altLang="en-US" dirty="0"/>
              <a:t>等待来自某个处理器的结果</a:t>
            </a:r>
          </a:p>
          <a:p>
            <a:r>
              <a:rPr lang="zh-CN" altLang="en-US" dirty="0"/>
              <a:t>输出结果</a:t>
            </a:r>
          </a:p>
          <a:p>
            <a:r>
              <a:rPr lang="zh-CN" altLang="en-US" dirty="0"/>
              <a:t>处理器</a:t>
            </a:r>
            <a:r>
              <a:rPr lang="en-US" altLang="zh-CN" dirty="0"/>
              <a:t>1</a:t>
            </a:r>
            <a:r>
              <a:rPr lang="zh-CN" altLang="en-US" dirty="0"/>
              <a:t>到</a:t>
            </a:r>
            <a:r>
              <a:rPr lang="en-US" altLang="zh-CN" dirty="0"/>
              <a:t>100</a:t>
            </a:r>
            <a:r>
              <a:rPr lang="zh-CN" altLang="en-US" dirty="0"/>
              <a:t>搜索他们的数据部分</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pPr/>
              <a:t>47</a:t>
            </a:fld>
            <a:endParaRPr lang="en-US" dirty="0"/>
          </a:p>
        </p:txBody>
      </p:sp>
    </p:spTree>
    <p:extLst>
      <p:ext uri="{BB962C8B-B14F-4D97-AF65-F5344CB8AC3E}">
        <p14:creationId xmlns:p14="http://schemas.microsoft.com/office/powerpoint/2010/main" val="334856646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MIMD</a:t>
            </a:r>
            <a:r>
              <a:rPr lang="zh-CN" altLang="en-US" dirty="0"/>
              <a:t>更好的例子：在列表中找到最大的数字</a:t>
            </a:r>
          </a:p>
          <a:p>
            <a:r>
              <a:rPr lang="zh-CN" altLang="en-US" dirty="0"/>
              <a:t>分而治之：将问题分成更小的部分并发送给其他处理器</a:t>
            </a:r>
          </a:p>
          <a:p>
            <a:r>
              <a:rPr lang="zh-CN" altLang="en-US" dirty="0"/>
              <a:t>顶级处理器将数据一分为二，发送给两个子处理器</a:t>
            </a:r>
          </a:p>
          <a:p>
            <a:r>
              <a:rPr lang="zh-CN" altLang="en-US" dirty="0"/>
              <a:t>重复执行直到处理器获得一份数据</a:t>
            </a:r>
          </a:p>
          <a:p>
            <a:r>
              <a:rPr lang="zh-CN" altLang="en-US" dirty="0"/>
              <a:t>孩子们给父母最大的价值</a:t>
            </a:r>
          </a:p>
          <a:p>
            <a:r>
              <a:rPr lang="zh-CN" altLang="en-US" dirty="0"/>
              <a:t>父级比较两个最大的父级，然后将较大的返回给父级</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pPr/>
              <a:t>48</a:t>
            </a:fld>
            <a:endParaRPr lang="en-US" dirty="0"/>
          </a:p>
        </p:txBody>
      </p:sp>
    </p:spTree>
    <p:extLst>
      <p:ext uri="{BB962C8B-B14F-4D97-AF65-F5344CB8AC3E}">
        <p14:creationId xmlns:p14="http://schemas.microsoft.com/office/powerpoint/2010/main" val="262417041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Go</a:t>
            </a:r>
            <a:r>
              <a:rPr lang="zh-CN" altLang="en-US" dirty="0"/>
              <a:t>由</a:t>
            </a:r>
            <a:r>
              <a:rPr lang="en-US" altLang="zh-CN" dirty="0"/>
              <a:t>Ken Thompson</a:t>
            </a:r>
            <a:r>
              <a:rPr lang="zh-CN" altLang="en-US" dirty="0"/>
              <a:t>于</a:t>
            </a:r>
            <a:r>
              <a:rPr lang="en-US" altLang="zh-CN" dirty="0"/>
              <a:t>2009</a:t>
            </a:r>
            <a:r>
              <a:rPr lang="zh-CN" altLang="en-US" dirty="0"/>
              <a:t>年在</a:t>
            </a:r>
            <a:r>
              <a:rPr lang="en-US" altLang="zh-CN" dirty="0"/>
              <a:t>Google</a:t>
            </a:r>
            <a:r>
              <a:rPr lang="zh-CN" altLang="en-US" dirty="0"/>
              <a:t>开发。</a:t>
            </a:r>
          </a:p>
          <a:p>
            <a:r>
              <a:rPr lang="zh-CN" altLang="en-US" dirty="0"/>
              <a:t>结合轻松编程和安全性</a:t>
            </a:r>
          </a:p>
          <a:p>
            <a:r>
              <a:rPr lang="zh-CN" altLang="en-US" dirty="0"/>
              <a:t>支持网络和多核计算</a:t>
            </a:r>
          </a:p>
          <a:p>
            <a:r>
              <a:rPr lang="zh-CN" altLang="en-US" dirty="0"/>
              <a:t>快速编译，开源</a:t>
            </a:r>
          </a:p>
          <a:p>
            <a:r>
              <a:rPr lang="en-US" altLang="zh-CN" dirty="0"/>
              <a:t>Swift</a:t>
            </a:r>
            <a:r>
              <a:rPr lang="zh-CN" altLang="en-US" dirty="0"/>
              <a:t>：用于在</a:t>
            </a:r>
            <a:r>
              <a:rPr lang="en-US" altLang="zh-CN" dirty="0"/>
              <a:t>iOS</a:t>
            </a:r>
            <a:r>
              <a:rPr lang="zh-CN" altLang="en-US" dirty="0"/>
              <a:t>和</a:t>
            </a:r>
            <a:r>
              <a:rPr lang="en-US" altLang="zh-CN" dirty="0"/>
              <a:t>macOS</a:t>
            </a:r>
            <a:r>
              <a:rPr lang="zh-CN" altLang="en-US" dirty="0"/>
              <a:t>中构建应用程序的新</a:t>
            </a:r>
            <a:r>
              <a:rPr lang="en-US" altLang="zh-CN" dirty="0"/>
              <a:t>Apple</a:t>
            </a:r>
            <a:r>
              <a:rPr lang="zh-CN" altLang="en-US" dirty="0"/>
              <a:t>语言</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pPr/>
              <a:t>50</a:t>
            </a:fld>
            <a:endParaRPr lang="en-US" dirty="0"/>
          </a:p>
        </p:txBody>
      </p:sp>
    </p:spTree>
    <p:extLst>
      <p:ext uri="{BB962C8B-B14F-4D97-AF65-F5344CB8AC3E}">
        <p14:creationId xmlns:p14="http://schemas.microsoft.com/office/powerpoint/2010/main" val="66233312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语言因</a:t>
            </a:r>
          </a:p>
          <a:p>
            <a:r>
              <a:rPr lang="zh-CN" altLang="en-US" dirty="0"/>
              <a:t>哲学</a:t>
            </a:r>
          </a:p>
          <a:p>
            <a:r>
              <a:rPr lang="zh-CN" altLang="en-US" dirty="0"/>
              <a:t>预期的应用领域</a:t>
            </a:r>
          </a:p>
          <a:p>
            <a:r>
              <a:rPr lang="zh-CN" altLang="en-US" dirty="0"/>
              <a:t>优点和目的</a:t>
            </a:r>
          </a:p>
          <a:p>
            <a:r>
              <a:rPr lang="zh-CN" altLang="en-US" dirty="0"/>
              <a:t>样式，语法和语义</a:t>
            </a:r>
          </a:p>
          <a:p>
            <a:r>
              <a:rPr lang="zh-CN" altLang="en-US" dirty="0"/>
              <a:t>类型，变量和内存的方法</a:t>
            </a:r>
          </a:p>
          <a:p>
            <a:r>
              <a:rPr lang="zh-CN" altLang="en-US" dirty="0"/>
              <a:t>提供或可访问的工具</a:t>
            </a:r>
          </a:p>
          <a:p>
            <a:r>
              <a:rPr lang="zh-CN" altLang="en-US" dirty="0"/>
              <a:t>语言跨范式</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pPr/>
              <a:t>53</a:t>
            </a:fld>
            <a:endParaRPr lang="en-US" dirty="0"/>
          </a:p>
        </p:txBody>
      </p:sp>
    </p:spTree>
    <p:extLst>
      <p:ext uri="{BB962C8B-B14F-4D97-AF65-F5344CB8AC3E}">
        <p14:creationId xmlns:p14="http://schemas.microsoft.com/office/powerpoint/2010/main" val="134155119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存在许多编程语言是因为它们反映了不同的预期用途或不同的哲学观点。</a:t>
            </a:r>
          </a:p>
          <a:p>
            <a:r>
              <a:rPr lang="zh-CN" altLang="en-US" dirty="0"/>
              <a:t>过程编程语言包括</a:t>
            </a:r>
          </a:p>
          <a:p>
            <a:r>
              <a:rPr lang="en-US" altLang="zh-CN" dirty="0" err="1"/>
              <a:t>Plankalkül</a:t>
            </a:r>
            <a:r>
              <a:rPr lang="zh-CN" altLang="en-US" dirty="0"/>
              <a:t>，</a:t>
            </a:r>
            <a:r>
              <a:rPr lang="en-US" altLang="zh-CN" dirty="0"/>
              <a:t>Fortran</a:t>
            </a:r>
            <a:r>
              <a:rPr lang="zh-CN" altLang="en-US" dirty="0"/>
              <a:t>，</a:t>
            </a:r>
            <a:r>
              <a:rPr lang="en-US" altLang="zh-CN" dirty="0"/>
              <a:t>COBOL</a:t>
            </a:r>
            <a:r>
              <a:rPr lang="zh-CN" altLang="en-US" dirty="0"/>
              <a:t>，</a:t>
            </a:r>
            <a:r>
              <a:rPr lang="en-US" altLang="zh-CN" dirty="0"/>
              <a:t>C / C ++</a:t>
            </a:r>
            <a:r>
              <a:rPr lang="zh-CN" altLang="en-US" dirty="0"/>
              <a:t>，</a:t>
            </a:r>
            <a:r>
              <a:rPr lang="en-US" altLang="zh-CN" dirty="0"/>
              <a:t>Ada</a:t>
            </a:r>
            <a:r>
              <a:rPr lang="zh-CN" altLang="en-US" dirty="0"/>
              <a:t>，</a:t>
            </a:r>
            <a:r>
              <a:rPr lang="en-US" altLang="zh-CN" dirty="0"/>
              <a:t>Java</a:t>
            </a:r>
            <a:r>
              <a:rPr lang="zh-CN" altLang="en-US" dirty="0"/>
              <a:t>，</a:t>
            </a:r>
            <a:r>
              <a:rPr lang="en-US" altLang="zh-CN" dirty="0"/>
              <a:t>Python</a:t>
            </a:r>
            <a:r>
              <a:rPr lang="zh-CN" altLang="en-US" dirty="0"/>
              <a:t>和</a:t>
            </a:r>
            <a:r>
              <a:rPr lang="en-US" altLang="zh-CN" dirty="0"/>
              <a:t>C</a:t>
            </a:r>
            <a:r>
              <a:rPr lang="zh-CN" altLang="en-US" dirty="0"/>
              <a:t>＃。</a:t>
            </a:r>
          </a:p>
          <a:p>
            <a:r>
              <a:rPr lang="zh-CN" altLang="en-US" dirty="0"/>
              <a:t>专用编程语言的使用范围有限：</a:t>
            </a:r>
            <a:r>
              <a:rPr lang="en-US" altLang="zh-CN" dirty="0"/>
              <a:t>SQL</a:t>
            </a:r>
            <a:r>
              <a:rPr lang="zh-CN" altLang="en-US" dirty="0"/>
              <a:t>，</a:t>
            </a:r>
            <a:r>
              <a:rPr lang="en-US" altLang="zh-CN" dirty="0"/>
              <a:t>HTML</a:t>
            </a:r>
            <a:r>
              <a:rPr lang="zh-CN" altLang="en-US" dirty="0"/>
              <a:t>，</a:t>
            </a:r>
            <a:r>
              <a:rPr lang="en-US" altLang="zh-CN" dirty="0"/>
              <a:t>JavaScript</a:t>
            </a:r>
            <a:r>
              <a:rPr lang="zh-CN" altLang="en-US" dirty="0"/>
              <a:t>和</a:t>
            </a:r>
            <a:r>
              <a:rPr lang="en-US" altLang="zh-CN" dirty="0"/>
              <a:t>R</a:t>
            </a:r>
            <a:r>
              <a:rPr lang="zh-CN" altLang="en-US" dirty="0"/>
              <a:t>。</a:t>
            </a:r>
          </a:p>
          <a:p>
            <a:r>
              <a:rPr lang="zh-CN" altLang="en-US" dirty="0"/>
              <a:t>其他范式包括</a:t>
            </a:r>
          </a:p>
          <a:p>
            <a:r>
              <a:rPr lang="zh-CN" altLang="en-US" dirty="0"/>
              <a:t>功能，逻辑和并行编程。</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pPr/>
              <a:t>54</a:t>
            </a:fld>
            <a:endParaRPr lang="en-US" dirty="0"/>
          </a:p>
        </p:txBody>
      </p:sp>
    </p:spTree>
    <p:extLst>
      <p:ext uri="{BB962C8B-B14F-4D97-AF65-F5344CB8AC3E}">
        <p14:creationId xmlns:p14="http://schemas.microsoft.com/office/powerpoint/2010/main" val="87943327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函数式编程语言围绕函数，函数调用和函数组合来组织程序。</a:t>
            </a:r>
          </a:p>
          <a:p>
            <a:r>
              <a:rPr lang="zh-CN" altLang="en-US" dirty="0"/>
              <a:t>逻辑编程语言没有指定如何执行操作，而是给出了事实和规则，并让程序推断出结果。</a:t>
            </a:r>
          </a:p>
          <a:p>
            <a:r>
              <a:rPr lang="zh-CN" altLang="en-US" dirty="0"/>
              <a:t>并行编程语言支持</a:t>
            </a:r>
            <a:r>
              <a:rPr lang="en-US" altLang="zh-CN" dirty="0"/>
              <a:t>MIMD</a:t>
            </a:r>
            <a:r>
              <a:rPr lang="zh-CN" altLang="en-US" dirty="0"/>
              <a:t>并行处理。</a:t>
            </a:r>
          </a:p>
          <a:p>
            <a:r>
              <a:rPr lang="zh-CN" altLang="en-US" dirty="0"/>
              <a:t>新的编程语言出于新的或不断发展的目的而不断发展。</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pPr/>
              <a:t>55</a:t>
            </a:fld>
            <a:endParaRPr lang="en-US" dirty="0"/>
          </a:p>
        </p:txBody>
      </p:sp>
    </p:spTree>
    <p:extLst>
      <p:ext uri="{BB962C8B-B14F-4D97-AF65-F5344CB8AC3E}">
        <p14:creationId xmlns:p14="http://schemas.microsoft.com/office/powerpoint/2010/main" val="240351200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4" name="Picture 3" descr="Article_PPT_Template-1.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Subtitle 2"/>
          <p:cNvSpPr>
            <a:spLocks noGrp="1"/>
          </p:cNvSpPr>
          <p:nvPr>
            <p:ph type="subTitle" idx="1"/>
          </p:nvPr>
        </p:nvSpPr>
        <p:spPr>
          <a:xfrm>
            <a:off x="5438414" y="3422664"/>
            <a:ext cx="3709317" cy="1982154"/>
          </a:xfrm>
        </p:spPr>
        <p:txBody>
          <a:bodyPr>
            <a:noAutofit/>
          </a:bodyPr>
          <a:lstStyle>
            <a:lvl1pPr marL="0" indent="0" algn="l">
              <a:buNone/>
              <a:defRPr sz="4000" b="1">
                <a:solidFill>
                  <a:srgbClr val="536E75"/>
                </a:solidFill>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24" name="Text Placeholder 23"/>
          <p:cNvSpPr>
            <a:spLocks noGrp="1"/>
          </p:cNvSpPr>
          <p:nvPr>
            <p:ph type="body" sz="quarter" idx="12"/>
          </p:nvPr>
        </p:nvSpPr>
        <p:spPr>
          <a:xfrm>
            <a:off x="5438415" y="1465263"/>
            <a:ext cx="3705585" cy="1708160"/>
          </a:xfrm>
        </p:spPr>
        <p:txBody>
          <a:bodyPr>
            <a:noAutofit/>
          </a:bodyPr>
          <a:lstStyle>
            <a:lvl1pPr marL="0" indent="0">
              <a:buNone/>
              <a:defRPr sz="3500" b="1" baseline="0">
                <a:solidFill>
                  <a:srgbClr val="34B14B"/>
                </a:solidFill>
                <a:latin typeface="Arial"/>
                <a:cs typeface="Arial"/>
              </a:defRPr>
            </a:lvl1pPr>
          </a:lstStyle>
          <a:p>
            <a:pPr lvl="0"/>
            <a:r>
              <a:rPr lang="en-US" dirty="0"/>
              <a:t>Click to edit Master text styles</a:t>
            </a:r>
          </a:p>
        </p:txBody>
      </p:sp>
    </p:spTree>
    <p:extLst>
      <p:ext uri="{BB962C8B-B14F-4D97-AF65-F5344CB8AC3E}">
        <p14:creationId xmlns:p14="http://schemas.microsoft.com/office/powerpoint/2010/main" val="29455476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4" name="Picture 3" descr="Article_PPT_Template-2.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0" y="1"/>
            <a:ext cx="9144000" cy="1060704"/>
          </a:xfrm>
          <a:noFill/>
          <a:ln>
            <a:noFill/>
          </a:ln>
        </p:spPr>
        <p:txBody>
          <a:bodyPr anchor="t" anchorCtr="0">
            <a:normAutofit/>
          </a:bodyPr>
          <a:lstStyle>
            <a:lvl1pPr algn="l">
              <a:lnSpc>
                <a:spcPct val="100000"/>
              </a:lnSpc>
              <a:defRPr sz="2500" b="1" i="0">
                <a:solidFill>
                  <a:schemeClr val="bg1"/>
                </a:solidFill>
                <a:latin typeface="Arial"/>
                <a:cs typeface="Arial"/>
              </a:defRPr>
            </a:lvl1pPr>
          </a:lstStyle>
          <a:p>
            <a:r>
              <a:rPr lang="en-US" dirty="0"/>
              <a:t>Click to edit Master title style</a:t>
            </a:r>
          </a:p>
        </p:txBody>
      </p:sp>
      <p:sp>
        <p:nvSpPr>
          <p:cNvPr id="3" name="Content Placeholder 2"/>
          <p:cNvSpPr>
            <a:spLocks noGrp="1"/>
          </p:cNvSpPr>
          <p:nvPr>
            <p:ph idx="1"/>
          </p:nvPr>
        </p:nvSpPr>
        <p:spPr>
          <a:xfrm>
            <a:off x="457203" y="1231266"/>
            <a:ext cx="8229600" cy="4894898"/>
          </a:xfrm>
        </p:spPr>
        <p:txBody>
          <a:bodyPr/>
          <a:lstStyle>
            <a:lvl1pPr>
              <a:buClr>
                <a:srgbClr val="34B14B"/>
              </a:buClr>
              <a:defRPr sz="2600" b="0" i="0">
                <a:latin typeface="Arial"/>
                <a:cs typeface="Arial"/>
              </a:defRPr>
            </a:lvl1pPr>
            <a:lvl2pPr>
              <a:buClr>
                <a:srgbClr val="34B14B"/>
              </a:buClr>
              <a:defRPr sz="2400" b="0" i="0">
                <a:latin typeface="Arial"/>
                <a:cs typeface="Arial"/>
              </a:defRPr>
            </a:lvl2pPr>
            <a:lvl3pPr marL="1143000" indent="-228600">
              <a:buClr>
                <a:srgbClr val="34B14B"/>
              </a:buClr>
              <a:buFont typeface="Wingdings" pitchFamily="2" charset="2"/>
              <a:buChar char="§"/>
              <a:defRPr sz="2200" b="0" i="0">
                <a:latin typeface="Arial"/>
                <a:cs typeface="Arial"/>
              </a:defRPr>
            </a:lvl3pPr>
            <a:lvl4pPr marL="1600200" indent="-228600">
              <a:buClr>
                <a:srgbClr val="34B14B"/>
              </a:buClr>
              <a:buFont typeface="Courier New" pitchFamily="49" charset="0"/>
              <a:buChar char="o"/>
              <a:defRPr b="0" i="0">
                <a:latin typeface="Arial"/>
                <a:cs typeface="Arial"/>
              </a:defRPr>
            </a:lvl4pPr>
            <a:lvl5pPr>
              <a:buClr>
                <a:srgbClr val="34B14B"/>
              </a:buClr>
              <a:defRPr sz="1800" b="0" i="0">
                <a:latin typeface="Arial"/>
                <a:cs typeface="Aria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779375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pic>
        <p:nvPicPr>
          <p:cNvPr id="3" name="Picture 2" descr="Article_PPT_Template-2.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2" name="Content Placeholder 2"/>
          <p:cNvSpPr>
            <a:spLocks noGrp="1"/>
          </p:cNvSpPr>
          <p:nvPr>
            <p:ph sz="half" idx="1"/>
          </p:nvPr>
        </p:nvSpPr>
        <p:spPr>
          <a:xfrm>
            <a:off x="457200" y="1234440"/>
            <a:ext cx="4038600" cy="4892040"/>
          </a:xfrm>
        </p:spPr>
        <p:txBody>
          <a:bodyPr/>
          <a:lstStyle>
            <a:lvl1pPr>
              <a:buClr>
                <a:srgbClr val="34B14B"/>
              </a:buClr>
              <a:defRPr sz="3000">
                <a:latin typeface="Arial"/>
                <a:cs typeface="Arial"/>
              </a:defRPr>
            </a:lvl1pPr>
            <a:lvl2pPr>
              <a:buClr>
                <a:srgbClr val="34B14B"/>
              </a:buClr>
              <a:defRPr sz="2800">
                <a:latin typeface="Arial"/>
                <a:cs typeface="Arial"/>
              </a:defRPr>
            </a:lvl2pPr>
            <a:lvl3pPr>
              <a:buClr>
                <a:srgbClr val="34B14B"/>
              </a:buClr>
              <a:defRPr sz="2400">
                <a:latin typeface="Arial"/>
                <a:cs typeface="Arial"/>
              </a:defRPr>
            </a:lvl3pPr>
            <a:lvl4pPr>
              <a:buClr>
                <a:srgbClr val="34B14B"/>
              </a:buClr>
              <a:defRPr sz="2000">
                <a:latin typeface="Arial"/>
                <a:cs typeface="Arial"/>
              </a:defRPr>
            </a:lvl4pPr>
            <a:lvl5pPr>
              <a:buClr>
                <a:srgbClr val="34B14B"/>
              </a:buClr>
              <a:defRPr sz="2000">
                <a:latin typeface="Arial"/>
                <a:cs typeface="Arial"/>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3"/>
          <p:cNvSpPr>
            <a:spLocks noGrp="1"/>
          </p:cNvSpPr>
          <p:nvPr>
            <p:ph sz="half" idx="2"/>
          </p:nvPr>
        </p:nvSpPr>
        <p:spPr>
          <a:xfrm>
            <a:off x="4648200" y="1234440"/>
            <a:ext cx="4038600" cy="4892040"/>
          </a:xfrm>
        </p:spPr>
        <p:txBody>
          <a:bodyPr/>
          <a:lstStyle>
            <a:lvl1pPr>
              <a:buClr>
                <a:srgbClr val="34B14B"/>
              </a:buClr>
              <a:defRPr sz="3000">
                <a:latin typeface="Arial"/>
                <a:cs typeface="Arial"/>
              </a:defRPr>
            </a:lvl1pPr>
            <a:lvl2pPr>
              <a:buClr>
                <a:srgbClr val="34B14B"/>
              </a:buClr>
              <a:defRPr sz="2800">
                <a:latin typeface="Arial"/>
                <a:cs typeface="Arial"/>
              </a:defRPr>
            </a:lvl2pPr>
            <a:lvl3pPr>
              <a:buClr>
                <a:srgbClr val="34B14B"/>
              </a:buClr>
              <a:defRPr sz="2400">
                <a:latin typeface="Arial"/>
                <a:cs typeface="Arial"/>
              </a:defRPr>
            </a:lvl3pPr>
            <a:lvl4pPr>
              <a:buClr>
                <a:srgbClr val="34B14B"/>
              </a:buClr>
              <a:defRPr sz="2000">
                <a:latin typeface="Arial"/>
                <a:cs typeface="Arial"/>
              </a:defRPr>
            </a:lvl4pPr>
            <a:lvl5pPr>
              <a:buClr>
                <a:srgbClr val="34B14B"/>
              </a:buClr>
              <a:defRPr sz="2000">
                <a:latin typeface="Arial"/>
                <a:cs typeface="Arial"/>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itle 1"/>
          <p:cNvSpPr>
            <a:spLocks noGrp="1"/>
          </p:cNvSpPr>
          <p:nvPr>
            <p:ph type="title"/>
          </p:nvPr>
        </p:nvSpPr>
        <p:spPr>
          <a:xfrm>
            <a:off x="0" y="1"/>
            <a:ext cx="9144000" cy="1060704"/>
          </a:xfrm>
          <a:ln>
            <a:noFill/>
          </a:ln>
        </p:spPr>
        <p:txBody>
          <a:bodyPr anchor="t" anchorCtr="0">
            <a:normAutofit/>
          </a:bodyPr>
          <a:lstStyle>
            <a:lvl1pPr algn="l">
              <a:lnSpc>
                <a:spcPct val="100000"/>
              </a:lnSpc>
              <a:defRPr sz="2500" b="1" i="0">
                <a:solidFill>
                  <a:srgbClr val="FFFFFF"/>
                </a:solidFill>
                <a:latin typeface="Arial"/>
                <a:cs typeface="Arial"/>
              </a:defRPr>
            </a:lvl1pPr>
          </a:lstStyle>
          <a:p>
            <a:r>
              <a:rPr lang="en-US" dirty="0"/>
              <a:t>Click to edit Master title style</a:t>
            </a:r>
          </a:p>
        </p:txBody>
      </p:sp>
    </p:spTree>
    <p:extLst>
      <p:ext uri="{BB962C8B-B14F-4D97-AF65-F5344CB8AC3E}">
        <p14:creationId xmlns:p14="http://schemas.microsoft.com/office/powerpoint/2010/main" val="2302061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5" y="4406901"/>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5" y="2906716"/>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315F8B6-4AEF-1F4D-AC2D-D10919A1A67B}" type="slidenum">
              <a:rPr lang="en-US" smtClean="0"/>
              <a:pPr/>
              <a:t>‹#›</a:t>
            </a:fld>
            <a:endParaRPr lang="en-US" dirty="0"/>
          </a:p>
        </p:txBody>
      </p:sp>
      <p:sp>
        <p:nvSpPr>
          <p:cNvPr id="7" name="Text Placeholder 5"/>
          <p:cNvSpPr>
            <a:spLocks noGrp="1"/>
          </p:cNvSpPr>
          <p:nvPr>
            <p:ph type="body" sz="quarter" idx="13"/>
          </p:nvPr>
        </p:nvSpPr>
        <p:spPr>
          <a:xfrm>
            <a:off x="2833433" y="6313295"/>
            <a:ext cx="3477134" cy="379413"/>
          </a:xfrm>
        </p:spPr>
        <p:txBody>
          <a:bodyPr/>
          <a:lstStyle>
            <a:lvl1pPr marL="0" indent="0" algn="ctr">
              <a:buNone/>
              <a:defRPr sz="1800" b="1">
                <a:solidFill>
                  <a:schemeClr val="bg1"/>
                </a:solidFill>
                <a:latin typeface="Arial"/>
                <a:cs typeface="Aria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styles</a:t>
            </a:r>
          </a:p>
        </p:txBody>
      </p:sp>
    </p:spTree>
    <p:extLst>
      <p:ext uri="{BB962C8B-B14F-4D97-AF65-F5344CB8AC3E}">
        <p14:creationId xmlns:p14="http://schemas.microsoft.com/office/powerpoint/2010/main" val="23472610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315F8B6-4AEF-1F4D-AC2D-D10919A1A67B}" type="slidenum">
              <a:rPr lang="en-US" smtClean="0"/>
              <a:pPr/>
              <a:t>‹#›</a:t>
            </a:fld>
            <a:endParaRPr lang="en-US" dirty="0"/>
          </a:p>
        </p:txBody>
      </p:sp>
    </p:spTree>
    <p:extLst>
      <p:ext uri="{BB962C8B-B14F-4D97-AF65-F5344CB8AC3E}">
        <p14:creationId xmlns:p14="http://schemas.microsoft.com/office/powerpoint/2010/main" val="20128408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2" y="1535117"/>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2" y="2174879"/>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6" y="1535117"/>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174879"/>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315F8B6-4AEF-1F4D-AC2D-D10919A1A67B}" type="slidenum">
              <a:rPr lang="en-US" smtClean="0"/>
              <a:pPr/>
              <a:t>‹#›</a:t>
            </a:fld>
            <a:endParaRPr lang="en-US" dirty="0"/>
          </a:p>
        </p:txBody>
      </p:sp>
    </p:spTree>
    <p:extLst>
      <p:ext uri="{BB962C8B-B14F-4D97-AF65-F5344CB8AC3E}">
        <p14:creationId xmlns:p14="http://schemas.microsoft.com/office/powerpoint/2010/main" val="2968310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315F8B6-4AEF-1F4D-AC2D-D10919A1A67B}" type="slidenum">
              <a:rPr lang="en-US" smtClean="0"/>
              <a:pPr/>
              <a:t>‹#›</a:t>
            </a:fld>
            <a:endParaRPr lang="en-US" dirty="0"/>
          </a:p>
        </p:txBody>
      </p:sp>
    </p:spTree>
    <p:extLst>
      <p:ext uri="{BB962C8B-B14F-4D97-AF65-F5344CB8AC3E}">
        <p14:creationId xmlns:p14="http://schemas.microsoft.com/office/powerpoint/2010/main" val="19339936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315F8B6-4AEF-1F4D-AC2D-D10919A1A67B}" type="slidenum">
              <a:rPr lang="en-US" smtClean="0"/>
              <a:pPr/>
              <a:t>‹#›</a:t>
            </a:fld>
            <a:endParaRPr lang="en-US" dirty="0"/>
          </a:p>
        </p:txBody>
      </p:sp>
    </p:spTree>
    <p:extLst>
      <p:ext uri="{BB962C8B-B14F-4D97-AF65-F5344CB8AC3E}">
        <p14:creationId xmlns:p14="http://schemas.microsoft.com/office/powerpoint/2010/main" val="18567072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4"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4"/>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4" y="1435103"/>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315F8B6-4AEF-1F4D-AC2D-D10919A1A67B}" type="slidenum">
              <a:rPr lang="en-US" smtClean="0"/>
              <a:pPr/>
              <a:t>‹#›</a:t>
            </a:fld>
            <a:endParaRPr lang="en-US" dirty="0"/>
          </a:p>
        </p:txBody>
      </p:sp>
    </p:spTree>
    <p:extLst>
      <p:ext uri="{BB962C8B-B14F-4D97-AF65-F5344CB8AC3E}">
        <p14:creationId xmlns:p14="http://schemas.microsoft.com/office/powerpoint/2010/main" val="24482398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90" y="4800604"/>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90"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90" y="5367342"/>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315F8B6-4AEF-1F4D-AC2D-D10919A1A67B}" type="slidenum">
              <a:rPr lang="en-US" smtClean="0"/>
              <a:pPr/>
              <a:t>‹#›</a:t>
            </a:fld>
            <a:endParaRPr lang="en-US" dirty="0"/>
          </a:p>
        </p:txBody>
      </p:sp>
    </p:spTree>
    <p:extLst>
      <p:ext uri="{BB962C8B-B14F-4D97-AF65-F5344CB8AC3E}">
        <p14:creationId xmlns:p14="http://schemas.microsoft.com/office/powerpoint/2010/main" val="1433191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315F8B6-4AEF-1F4D-AC2D-D10919A1A67B}" type="slidenum">
              <a:rPr lang="en-US" smtClean="0"/>
              <a:pPr/>
              <a:t>‹#›</a:t>
            </a:fld>
            <a:endParaRPr lang="en-US" dirty="0"/>
          </a:p>
        </p:txBody>
      </p:sp>
    </p:spTree>
    <p:extLst>
      <p:ext uri="{BB962C8B-B14F-4D97-AF65-F5344CB8AC3E}">
        <p14:creationId xmlns:p14="http://schemas.microsoft.com/office/powerpoint/2010/main" val="3809092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2"/>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2" y="274642"/>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315F8B6-4AEF-1F4D-AC2D-D10919A1A67B}" type="slidenum">
              <a:rPr lang="en-US" smtClean="0"/>
              <a:pPr/>
              <a:t>‹#›</a:t>
            </a:fld>
            <a:endParaRPr lang="en-US" dirty="0"/>
          </a:p>
        </p:txBody>
      </p:sp>
    </p:spTree>
    <p:extLst>
      <p:ext uri="{BB962C8B-B14F-4D97-AF65-F5344CB8AC3E}">
        <p14:creationId xmlns:p14="http://schemas.microsoft.com/office/powerpoint/2010/main" val="25180352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pic>
        <p:nvPicPr>
          <p:cNvPr id="4" name="Picture 3" descr="Article_PPT_Template-1.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Subtitle 2"/>
          <p:cNvSpPr>
            <a:spLocks noGrp="1"/>
          </p:cNvSpPr>
          <p:nvPr>
            <p:ph type="subTitle" idx="1"/>
          </p:nvPr>
        </p:nvSpPr>
        <p:spPr>
          <a:xfrm>
            <a:off x="5438414" y="3422664"/>
            <a:ext cx="3709317" cy="1982154"/>
          </a:xfrm>
        </p:spPr>
        <p:txBody>
          <a:bodyPr>
            <a:noAutofit/>
          </a:bodyPr>
          <a:lstStyle>
            <a:lvl1pPr marL="0" indent="0" algn="l">
              <a:buNone/>
              <a:defRPr sz="4000" b="1">
                <a:solidFill>
                  <a:srgbClr val="536E75"/>
                </a:solidFill>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24" name="Text Placeholder 23"/>
          <p:cNvSpPr>
            <a:spLocks noGrp="1"/>
          </p:cNvSpPr>
          <p:nvPr>
            <p:ph type="body" sz="quarter" idx="12"/>
          </p:nvPr>
        </p:nvSpPr>
        <p:spPr>
          <a:xfrm>
            <a:off x="5438415" y="1465263"/>
            <a:ext cx="3705585" cy="1708160"/>
          </a:xfrm>
        </p:spPr>
        <p:txBody>
          <a:bodyPr>
            <a:noAutofit/>
          </a:bodyPr>
          <a:lstStyle>
            <a:lvl1pPr marL="0" indent="0">
              <a:buNone/>
              <a:defRPr sz="3500" b="1" baseline="0">
                <a:solidFill>
                  <a:srgbClr val="34B14B"/>
                </a:solidFill>
                <a:latin typeface="Arial"/>
                <a:cs typeface="Arial"/>
              </a:defRPr>
            </a:lvl1pPr>
          </a:lstStyle>
          <a:p>
            <a:pPr lvl="0"/>
            <a:r>
              <a:rPr lang="en-US" dirty="0"/>
              <a:t>Click to edit Master text styles</a:t>
            </a:r>
          </a:p>
        </p:txBody>
      </p:sp>
      <p:sp>
        <p:nvSpPr>
          <p:cNvPr id="2" name="Title 1"/>
          <p:cNvSpPr>
            <a:spLocks noGrp="1"/>
          </p:cNvSpPr>
          <p:nvPr>
            <p:ph type="title"/>
          </p:nvPr>
        </p:nvSpPr>
        <p:spPr>
          <a:xfrm>
            <a:off x="4498605" y="248195"/>
            <a:ext cx="4645395" cy="1143000"/>
          </a:xfrm>
        </p:spPr>
        <p:txBody>
          <a:bodyPr>
            <a:normAutofit/>
          </a:bodyPr>
          <a:lstStyle>
            <a:lvl1pPr>
              <a:defRPr lang="en-US" sz="3500" b="1" kern="1200" baseline="0" dirty="0">
                <a:solidFill>
                  <a:srgbClr val="34B14B"/>
                </a:solidFill>
                <a:latin typeface="Arial"/>
                <a:ea typeface="+mn-ea"/>
                <a:cs typeface="Arial"/>
              </a:defRPr>
            </a:lvl1pPr>
          </a:lstStyle>
          <a:p>
            <a:pPr marL="0" lvl="0" indent="0" algn="l" defTabSz="457200" rtl="0" eaLnBrk="1" latinLnBrk="0" hangingPunct="1">
              <a:spcBef>
                <a:spcPct val="20000"/>
              </a:spcBef>
              <a:buClr>
                <a:srgbClr val="3C5AA8"/>
              </a:buClr>
              <a:buFont typeface="Arial"/>
              <a:buNone/>
            </a:pPr>
            <a:r>
              <a:rPr lang="en-US" dirty="0"/>
              <a:t>Click to edit Master title style</a:t>
            </a:r>
          </a:p>
        </p:txBody>
      </p:sp>
    </p:spTree>
    <p:extLst>
      <p:ext uri="{BB962C8B-B14F-4D97-AF65-F5344CB8AC3E}">
        <p14:creationId xmlns:p14="http://schemas.microsoft.com/office/powerpoint/2010/main" val="15924745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 y="0"/>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3"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3" y="6356354"/>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5" name="Footer Placeholder 4"/>
          <p:cNvSpPr>
            <a:spLocks noGrp="1"/>
          </p:cNvSpPr>
          <p:nvPr>
            <p:ph type="ftr" sz="quarter" idx="3"/>
          </p:nvPr>
        </p:nvSpPr>
        <p:spPr>
          <a:xfrm>
            <a:off x="3124202" y="6356354"/>
            <a:ext cx="2895601"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3" y="6356354"/>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315F8B6-4AEF-1F4D-AC2D-D10919A1A67B}" type="slidenum">
              <a:rPr lang="en-US" smtClean="0"/>
              <a:pPr/>
              <a:t>‹#›</a:t>
            </a:fld>
            <a:endParaRPr lang="en-US" dirty="0"/>
          </a:p>
        </p:txBody>
      </p:sp>
    </p:spTree>
    <p:extLst>
      <p:ext uri="{BB962C8B-B14F-4D97-AF65-F5344CB8AC3E}">
        <p14:creationId xmlns:p14="http://schemas.microsoft.com/office/powerpoint/2010/main" val="764846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1" r:id="rId13"/>
  </p:sldLayoutIdLst>
  <p:hf sldNum="0"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Clr>
          <a:srgbClr val="3C5AA8"/>
        </a:buClr>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Clr>
          <a:srgbClr val="3C5AA8"/>
        </a:buClr>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Clr>
          <a:srgbClr val="3C5AA8"/>
        </a:buClr>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Clr>
          <a:srgbClr val="3C5AA8"/>
        </a:buClr>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Clr>
          <a:srgbClr val="3C5AA8"/>
        </a:buClr>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Subtitle 16"/>
          <p:cNvSpPr>
            <a:spLocks noGrp="1"/>
          </p:cNvSpPr>
          <p:nvPr>
            <p:ph type="subTitle" idx="1"/>
          </p:nvPr>
        </p:nvSpPr>
        <p:spPr>
          <a:xfrm>
            <a:off x="5333910" y="3422664"/>
            <a:ext cx="3709317" cy="1322757"/>
          </a:xfrm>
        </p:spPr>
        <p:txBody>
          <a:bodyPr/>
          <a:lstStyle/>
          <a:p>
            <a:pPr marL="115888" lvl="1">
              <a:spcBef>
                <a:spcPts val="624"/>
              </a:spcBef>
              <a:buClr>
                <a:srgbClr val="FFFFFF"/>
              </a:buClr>
              <a:buSzPct val="100000"/>
              <a:tabLst>
                <a:tab pos="290513"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a:pPr>
            <a:r>
              <a:rPr lang="en-US" sz="3600" dirty="0">
                <a:solidFill>
                  <a:schemeClr val="tx1"/>
                </a:solidFill>
                <a:latin typeface="Arial" pitchFamily="34" charset="0"/>
                <a:cs typeface="Arial" pitchFamily="34" charset="0"/>
              </a:rPr>
              <a:t>The Tower of Babel</a:t>
            </a:r>
          </a:p>
        </p:txBody>
      </p:sp>
      <p:sp>
        <p:nvSpPr>
          <p:cNvPr id="2" name="Title 1"/>
          <p:cNvSpPr>
            <a:spLocks noGrp="1"/>
          </p:cNvSpPr>
          <p:nvPr>
            <p:ph type="title"/>
          </p:nvPr>
        </p:nvSpPr>
        <p:spPr>
          <a:xfrm>
            <a:off x="5665944" y="1528356"/>
            <a:ext cx="3172867" cy="1143000"/>
          </a:xfrm>
        </p:spPr>
        <p:txBody>
          <a:bodyPr>
            <a:normAutofit/>
          </a:bodyPr>
          <a:lstStyle/>
          <a:p>
            <a:r>
              <a:rPr lang="en-US" sz="4000" dirty="0">
                <a:latin typeface="Arial" panose="020B0604020202020204" pitchFamily="34" charset="0"/>
                <a:cs typeface="Arial" panose="020B0604020202020204" pitchFamily="34" charset="0"/>
              </a:rPr>
              <a:t>Chapter 10</a:t>
            </a:r>
            <a:endParaRPr lang="en-US" sz="4000" dirty="0"/>
          </a:p>
        </p:txBody>
      </p:sp>
    </p:spTree>
    <p:extLst>
      <p:ext uri="{BB962C8B-B14F-4D97-AF65-F5344CB8AC3E}">
        <p14:creationId xmlns:p14="http://schemas.microsoft.com/office/powerpoint/2010/main" val="14638149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rm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Learning Objectives (1 of 2)</a:t>
            </a:r>
            <a:endParaRPr lang="en-US" sz="3600" b="0" dirty="0">
              <a:latin typeface="Arial" panose="020B0604020202020204" pitchFamily="34" charset="0"/>
              <a:cs typeface="Arial" panose="020B0604020202020204" pitchFamily="34" charset="0"/>
            </a:endParaRPr>
          </a:p>
        </p:txBody>
      </p:sp>
      <p:sp>
        <p:nvSpPr>
          <p:cNvPr id="7" name="Content Placeholder 6"/>
          <p:cNvSpPr>
            <a:spLocks noGrp="1"/>
          </p:cNvSpPr>
          <p:nvPr>
            <p:ph idx="1"/>
          </p:nvPr>
        </p:nvSpPr>
        <p:spPr>
          <a:xfrm>
            <a:off x="294968" y="1231266"/>
            <a:ext cx="8391835" cy="4894898"/>
          </a:xfrm>
        </p:spPr>
        <p:txBody>
          <a:bodyPr>
            <a:noAutofit/>
          </a:bodyPr>
          <a:lstStyle/>
          <a:p>
            <a:r>
              <a:rPr lang="en-US" altLang="en-US" dirty="0">
                <a:latin typeface="Arial" panose="020B0604020202020204" pitchFamily="34" charset="0"/>
                <a:ea typeface="ＭＳ Ｐゴシック" pitchFamily="34" charset="-128"/>
                <a:cs typeface="Arial" panose="020B0604020202020204" pitchFamily="34" charset="0"/>
              </a:rPr>
              <a:t>Explain why so many programming languages exist </a:t>
            </a:r>
          </a:p>
          <a:p>
            <a:r>
              <a:rPr lang="en-US" altLang="en-US" dirty="0">
                <a:latin typeface="Arial" panose="020B0604020202020204" pitchFamily="34" charset="0"/>
                <a:ea typeface="ＭＳ Ｐゴシック" pitchFamily="34" charset="-128"/>
                <a:cs typeface="Arial" panose="020B0604020202020204" pitchFamily="34" charset="0"/>
              </a:rPr>
              <a:t>List four key procedural languages and the main purpose for the development of each </a:t>
            </a:r>
          </a:p>
          <a:p>
            <a:r>
              <a:rPr lang="en-US" altLang="en-US" dirty="0">
                <a:latin typeface="Arial" panose="020B0604020202020204" pitchFamily="34" charset="0"/>
                <a:ea typeface="ＭＳ Ｐゴシック" pitchFamily="34" charset="-128"/>
                <a:cs typeface="Arial" panose="020B0604020202020204" pitchFamily="34" charset="0"/>
              </a:rPr>
              <a:t>Describe the purpose of each special-purpose language: SQL, HTML, JavaScript, and R </a:t>
            </a:r>
          </a:p>
          <a:p>
            <a:r>
              <a:rPr lang="en-US" altLang="en-US" dirty="0">
                <a:latin typeface="Arial" panose="020B0604020202020204" pitchFamily="34" charset="0"/>
                <a:ea typeface="ＭＳ Ｐゴシック" pitchFamily="34" charset="-128"/>
                <a:cs typeface="Arial" panose="020B0604020202020204" pitchFamily="34" charset="0"/>
              </a:rPr>
              <a:t>Describe the alternative paradigms for programming languages: functional, logic, and parallel </a:t>
            </a:r>
          </a:p>
        </p:txBody>
      </p:sp>
    </p:spTree>
    <p:extLst>
      <p:ext uri="{BB962C8B-B14F-4D97-AF65-F5344CB8AC3E}">
        <p14:creationId xmlns:p14="http://schemas.microsoft.com/office/powerpoint/2010/main" val="20778236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rm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Learning Objectives (2 of 2)</a:t>
            </a:r>
            <a:endParaRPr lang="en-US" sz="3600" b="0" dirty="0">
              <a:latin typeface="Arial" panose="020B0604020202020204" pitchFamily="34" charset="0"/>
              <a:cs typeface="Arial" panose="020B0604020202020204" pitchFamily="34" charset="0"/>
            </a:endParaRPr>
          </a:p>
        </p:txBody>
      </p:sp>
      <p:sp>
        <p:nvSpPr>
          <p:cNvPr id="7" name="Content Placeholder 6"/>
          <p:cNvSpPr>
            <a:spLocks noGrp="1"/>
          </p:cNvSpPr>
          <p:nvPr>
            <p:ph idx="1"/>
          </p:nvPr>
        </p:nvSpPr>
        <p:spPr>
          <a:xfrm>
            <a:off x="294968" y="1231266"/>
            <a:ext cx="8391835" cy="4894898"/>
          </a:xfrm>
        </p:spPr>
        <p:txBody>
          <a:bodyPr>
            <a:noAutofit/>
          </a:bodyPr>
          <a:lstStyle/>
          <a:p>
            <a:r>
              <a:rPr lang="en-US" altLang="en-US" dirty="0">
                <a:latin typeface="Arial" panose="020B0604020202020204" pitchFamily="34" charset="0"/>
                <a:ea typeface="ＭＳ Ｐゴシック" pitchFamily="34" charset="-128"/>
                <a:cs typeface="Arial" panose="020B0604020202020204" pitchFamily="34" charset="0"/>
              </a:rPr>
              <a:t>Name a functional programming language and a logic programming language </a:t>
            </a:r>
          </a:p>
          <a:p>
            <a:r>
              <a:rPr lang="en-US" altLang="en-US" dirty="0">
                <a:latin typeface="Arial" panose="020B0604020202020204" pitchFamily="34" charset="0"/>
                <a:ea typeface="ＭＳ Ｐゴシック" pitchFamily="34" charset="-128"/>
                <a:cs typeface="Arial" panose="020B0604020202020204" pitchFamily="34" charset="0"/>
              </a:rPr>
              <a:t>Describe how logic programming languages work, and explain what facts, rules, and inference are </a:t>
            </a:r>
          </a:p>
          <a:p>
            <a:r>
              <a:rPr lang="en-US" altLang="en-US" dirty="0">
                <a:latin typeface="Arial" panose="020B0604020202020204" pitchFamily="34" charset="0"/>
                <a:ea typeface="ＭＳ Ｐゴシック" pitchFamily="34" charset="-128"/>
                <a:cs typeface="Arial" panose="020B0604020202020204" pitchFamily="34" charset="0"/>
              </a:rPr>
              <a:t>Explain how the MIMD model of parallel processing could be used to find the largest number in a list</a:t>
            </a:r>
          </a:p>
        </p:txBody>
      </p:sp>
    </p:spTree>
    <p:extLst>
      <p:ext uri="{BB962C8B-B14F-4D97-AF65-F5344CB8AC3E}">
        <p14:creationId xmlns:p14="http://schemas.microsoft.com/office/powerpoint/2010/main" val="34541840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rm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Why Babel?</a:t>
            </a:r>
            <a:endParaRPr lang="en-US" sz="3600" b="0" dirty="0">
              <a:latin typeface="Arial" panose="020B0604020202020204" pitchFamily="34" charset="0"/>
              <a:cs typeface="Arial" panose="020B0604020202020204" pitchFamily="34" charset="0"/>
            </a:endParaRPr>
          </a:p>
        </p:txBody>
      </p:sp>
      <p:sp>
        <p:nvSpPr>
          <p:cNvPr id="7" name="Content Placeholder 6"/>
          <p:cNvSpPr>
            <a:spLocks noGrp="1"/>
          </p:cNvSpPr>
          <p:nvPr>
            <p:ph idx="1"/>
          </p:nvPr>
        </p:nvSpPr>
        <p:spPr>
          <a:xfrm>
            <a:off x="294968" y="1231266"/>
            <a:ext cx="8391835" cy="4894898"/>
          </a:xfrm>
        </p:spPr>
        <p:txBody>
          <a:bodyPr>
            <a:noAutofit/>
          </a:bodyPr>
          <a:lstStyle/>
          <a:p>
            <a:r>
              <a:rPr lang="en-US" altLang="en-US" dirty="0">
                <a:latin typeface="Arial" panose="020B0604020202020204" pitchFamily="34" charset="0"/>
                <a:ea typeface="ＭＳ Ｐゴシック" pitchFamily="34" charset="-128"/>
                <a:cs typeface="Arial" panose="020B0604020202020204" pitchFamily="34" charset="0"/>
              </a:rPr>
              <a:t>Why isn’t there just one high-level programming language?</a:t>
            </a:r>
          </a:p>
          <a:p>
            <a:pPr lvl="1"/>
            <a:r>
              <a:rPr lang="en-US" altLang="en-US" dirty="0">
                <a:latin typeface="Arial" panose="020B0604020202020204" pitchFamily="34" charset="0"/>
                <a:ea typeface="ＭＳ Ｐゴシック" pitchFamily="34" charset="-128"/>
                <a:cs typeface="Arial" panose="020B0604020202020204" pitchFamily="34" charset="0"/>
              </a:rPr>
              <a:t>Why isn’t there just one model of automobile?</a:t>
            </a:r>
          </a:p>
          <a:p>
            <a:r>
              <a:rPr lang="en-US" altLang="en-US" dirty="0">
                <a:latin typeface="Arial" panose="020B0604020202020204" pitchFamily="34" charset="0"/>
                <a:ea typeface="ＭＳ Ｐゴシック" pitchFamily="34" charset="-128"/>
                <a:cs typeface="Arial" panose="020B0604020202020204" pitchFamily="34" charset="0"/>
              </a:rPr>
              <a:t>Each language has tasks it performs well</a:t>
            </a:r>
          </a:p>
          <a:p>
            <a:pPr lvl="1"/>
            <a:r>
              <a:rPr lang="en-US" altLang="en-US" dirty="0">
                <a:latin typeface="Arial" panose="020B0604020202020204" pitchFamily="34" charset="0"/>
                <a:ea typeface="ＭＳ Ｐゴシック" pitchFamily="34" charset="-128"/>
                <a:cs typeface="Arial" panose="020B0604020202020204" pitchFamily="34" charset="0"/>
              </a:rPr>
              <a:t>Complex computations on real numbers</a:t>
            </a:r>
          </a:p>
          <a:p>
            <a:pPr lvl="1"/>
            <a:r>
              <a:rPr lang="en-US" altLang="en-US" dirty="0">
                <a:latin typeface="Arial" panose="020B0604020202020204" pitchFamily="34" charset="0"/>
                <a:ea typeface="ＭＳ Ｐゴシック" pitchFamily="34" charset="-128"/>
                <a:cs typeface="Arial" panose="020B0604020202020204" pitchFamily="34" charset="0"/>
              </a:rPr>
              <a:t>Detailed page layout</a:t>
            </a:r>
          </a:p>
          <a:p>
            <a:pPr lvl="1"/>
            <a:r>
              <a:rPr lang="en-US" altLang="en-US" dirty="0">
                <a:latin typeface="Arial" panose="020B0604020202020204" pitchFamily="34" charset="0"/>
                <a:ea typeface="ＭＳ Ｐゴシック" pitchFamily="34" charset="-128"/>
                <a:cs typeface="Arial" panose="020B0604020202020204" pitchFamily="34" charset="0"/>
              </a:rPr>
              <a:t>Database interactions</a:t>
            </a:r>
          </a:p>
          <a:p>
            <a:r>
              <a:rPr lang="en-US" altLang="en-US" dirty="0">
                <a:latin typeface="Arial" panose="020B0604020202020204" pitchFamily="34" charset="0"/>
                <a:ea typeface="ＭＳ Ｐゴシック" pitchFamily="34" charset="-128"/>
                <a:cs typeface="Arial" panose="020B0604020202020204" pitchFamily="34" charset="0"/>
              </a:rPr>
              <a:t>Choose a language based on the tasks to be done</a:t>
            </a:r>
          </a:p>
          <a:p>
            <a:r>
              <a:rPr lang="en-US" altLang="en-US" dirty="0">
                <a:latin typeface="Arial" panose="020B0604020202020204" pitchFamily="34" charset="0"/>
                <a:ea typeface="ＭＳ Ｐゴシック" pitchFamily="34" charset="-128"/>
                <a:cs typeface="Arial" panose="020B0604020202020204" pitchFamily="34" charset="0"/>
              </a:rPr>
              <a:t>Choose a language based on its approach to computation (its philosophy)</a:t>
            </a:r>
          </a:p>
        </p:txBody>
      </p:sp>
    </p:spTree>
    <p:extLst>
      <p:ext uri="{BB962C8B-B14F-4D97-AF65-F5344CB8AC3E}">
        <p14:creationId xmlns:p14="http://schemas.microsoft.com/office/powerpoint/2010/main" val="42739127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rm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Procedural Languages (1 of </a:t>
            </a:r>
            <a:r>
              <a:rPr lang="en-US" altLang="en-US" sz="3600" b="0" dirty="0">
                <a:latin typeface="Arial" panose="020B0604020202020204" pitchFamily="34" charset="0"/>
                <a:cs typeface="Arial" panose="020B0604020202020204" pitchFamily="34" charset="0"/>
              </a:rPr>
              <a:t>15</a:t>
            </a:r>
            <a:r>
              <a:rPr lang="en-US" altLang="en-US" sz="3600" b="0" dirty="0">
                <a:latin typeface="Arial" panose="020B0604020202020204" pitchFamily="34" charset="0"/>
                <a:ea typeface="ＭＳ Ｐゴシック" pitchFamily="34" charset="-128"/>
                <a:cs typeface="Arial" panose="020B0604020202020204" pitchFamily="34" charset="0"/>
              </a:rPr>
              <a:t>)</a:t>
            </a:r>
            <a:endParaRPr lang="en-US" sz="3600" b="0" dirty="0">
              <a:latin typeface="Arial" panose="020B0604020202020204" pitchFamily="34" charset="0"/>
              <a:cs typeface="Arial" panose="020B0604020202020204" pitchFamily="34" charset="0"/>
            </a:endParaRPr>
          </a:p>
        </p:txBody>
      </p:sp>
      <p:sp>
        <p:nvSpPr>
          <p:cNvPr id="7" name="Content Placeholder 6"/>
          <p:cNvSpPr>
            <a:spLocks noGrp="1"/>
          </p:cNvSpPr>
          <p:nvPr>
            <p:ph idx="1"/>
          </p:nvPr>
        </p:nvSpPr>
        <p:spPr>
          <a:xfrm>
            <a:off x="294968" y="1231266"/>
            <a:ext cx="8391835" cy="4894898"/>
          </a:xfrm>
        </p:spPr>
        <p:txBody>
          <a:bodyPr>
            <a:noAutofit/>
          </a:bodyPr>
          <a:lstStyle/>
          <a:p>
            <a:r>
              <a:rPr lang="en-US" altLang="en-US" dirty="0">
                <a:latin typeface="Arial" panose="020B0604020202020204" pitchFamily="34" charset="0"/>
                <a:ea typeface="ＭＳ Ｐゴシック" pitchFamily="34" charset="-128"/>
                <a:cs typeface="Arial" panose="020B0604020202020204" pitchFamily="34" charset="0"/>
              </a:rPr>
              <a:t>Procedural language philosophy</a:t>
            </a:r>
          </a:p>
          <a:p>
            <a:pPr lvl="1"/>
            <a:r>
              <a:rPr lang="en-US" altLang="en-US" dirty="0">
                <a:latin typeface="Arial" panose="020B0604020202020204" pitchFamily="34" charset="0"/>
                <a:ea typeface="ＭＳ Ｐゴシック" pitchFamily="34" charset="-128"/>
                <a:cs typeface="Arial" panose="020B0604020202020204" pitchFamily="34" charset="0"/>
              </a:rPr>
              <a:t>Tell the computer step by step how to manipulate variables (data in memory locations)</a:t>
            </a:r>
          </a:p>
          <a:p>
            <a:r>
              <a:rPr lang="en-US" altLang="en-US" dirty="0">
                <a:latin typeface="Arial" panose="020B0604020202020204" pitchFamily="34" charset="0"/>
                <a:ea typeface="ＭＳ Ｐゴシック" pitchFamily="34" charset="-128"/>
                <a:cs typeface="Arial" panose="020B0604020202020204" pitchFamily="34" charset="0"/>
              </a:rPr>
              <a:t>Analogy to Romance languages</a:t>
            </a:r>
          </a:p>
          <a:p>
            <a:r>
              <a:rPr lang="en-US" altLang="en-US" dirty="0">
                <a:latin typeface="Arial" panose="020B0604020202020204" pitchFamily="34" charset="0"/>
                <a:ea typeface="ＭＳ Ｐゴシック" pitchFamily="34" charset="-128"/>
                <a:cs typeface="Arial" panose="020B0604020202020204" pitchFamily="34" charset="0"/>
              </a:rPr>
              <a:t>Here we survey procedural languages by historical perspective and intended purpose</a:t>
            </a:r>
          </a:p>
          <a:p>
            <a:pPr lvl="1"/>
            <a:r>
              <a:rPr lang="en-US" altLang="en-US" dirty="0">
                <a:latin typeface="Arial" panose="020B0604020202020204" pitchFamily="34" charset="0"/>
                <a:ea typeface="ＭＳ Ｐゴシック" pitchFamily="34" charset="-128"/>
                <a:cs typeface="Arial" panose="020B0604020202020204" pitchFamily="34" charset="0"/>
              </a:rPr>
              <a:t>Plankalkül, Fortran, COBOL, C/C++, Ada, Java, Python, C# and .NET</a:t>
            </a:r>
          </a:p>
        </p:txBody>
      </p:sp>
    </p:spTree>
    <p:extLst>
      <p:ext uri="{BB962C8B-B14F-4D97-AF65-F5344CB8AC3E}">
        <p14:creationId xmlns:p14="http://schemas.microsoft.com/office/powerpoint/2010/main" val="17281389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rm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Procedural Languages (2 of </a:t>
            </a:r>
            <a:r>
              <a:rPr lang="en-US" sz="3600" b="0" i="0" kern="1200" dirty="0">
                <a:solidFill>
                  <a:schemeClr val="bg1"/>
                </a:solidFill>
                <a:effectLst/>
                <a:latin typeface="Arial" panose="020B0604020202020204" pitchFamily="34" charset="0"/>
                <a:ea typeface="+mj-ea"/>
                <a:cs typeface="Arial" panose="020B0604020202020204" pitchFamily="34" charset="0"/>
              </a:rPr>
              <a:t>15</a:t>
            </a:r>
            <a:r>
              <a:rPr lang="en-US" altLang="en-US" sz="3600" b="0" dirty="0">
                <a:latin typeface="Arial" panose="020B0604020202020204" pitchFamily="34" charset="0"/>
                <a:ea typeface="ＭＳ Ｐゴシック" pitchFamily="34" charset="-128"/>
                <a:cs typeface="Arial" panose="020B0604020202020204" pitchFamily="34" charset="0"/>
              </a:rPr>
              <a:t>)</a:t>
            </a:r>
            <a:endParaRPr lang="en-US" sz="3600" b="0" dirty="0">
              <a:latin typeface="Arial" panose="020B0604020202020204" pitchFamily="34" charset="0"/>
              <a:cs typeface="Arial" panose="020B0604020202020204" pitchFamily="34" charset="0"/>
            </a:endParaRPr>
          </a:p>
        </p:txBody>
      </p:sp>
      <p:sp>
        <p:nvSpPr>
          <p:cNvPr id="7" name="Content Placeholder 6"/>
          <p:cNvSpPr>
            <a:spLocks noGrp="1"/>
          </p:cNvSpPr>
          <p:nvPr>
            <p:ph idx="1"/>
          </p:nvPr>
        </p:nvSpPr>
        <p:spPr>
          <a:xfrm>
            <a:off x="294968" y="1231266"/>
            <a:ext cx="8391835" cy="4894898"/>
          </a:xfrm>
        </p:spPr>
        <p:txBody>
          <a:bodyPr>
            <a:noAutofit/>
          </a:bodyPr>
          <a:lstStyle/>
          <a:p>
            <a:r>
              <a:rPr lang="en-US" altLang="en-US" dirty="0">
                <a:latin typeface="Arial" panose="020B0604020202020204" pitchFamily="34" charset="0"/>
                <a:ea typeface="ＭＳ Ｐゴシック" pitchFamily="34" charset="-128"/>
                <a:cs typeface="Arial" panose="020B0604020202020204" pitchFamily="34" charset="0"/>
              </a:rPr>
              <a:t>Plankalkül</a:t>
            </a:r>
          </a:p>
          <a:p>
            <a:pPr lvl="1"/>
            <a:r>
              <a:rPr lang="en-US" altLang="en-US" dirty="0">
                <a:latin typeface="Arial" panose="020B0604020202020204" pitchFamily="34" charset="0"/>
                <a:ea typeface="ＭＳ Ｐゴシック" pitchFamily="34" charset="-128"/>
                <a:cs typeface="Arial" panose="020B0604020202020204" pitchFamily="34" charset="0"/>
              </a:rPr>
              <a:t>Translation: “formal planning system.”</a:t>
            </a:r>
          </a:p>
          <a:p>
            <a:pPr lvl="1"/>
            <a:r>
              <a:rPr lang="en-US" altLang="en-US" dirty="0">
                <a:latin typeface="Arial" panose="020B0604020202020204" pitchFamily="34" charset="0"/>
                <a:ea typeface="ＭＳ Ｐゴシック" pitchFamily="34" charset="-128"/>
                <a:cs typeface="Arial" panose="020B0604020202020204" pitchFamily="34" charset="0"/>
              </a:rPr>
              <a:t>Designed in Germany in 1945 by Konrad Zuse</a:t>
            </a:r>
          </a:p>
          <a:p>
            <a:pPr lvl="1"/>
            <a:r>
              <a:rPr lang="en-US" altLang="en-US" dirty="0">
                <a:latin typeface="Arial" panose="020B0604020202020204" pitchFamily="34" charset="0"/>
                <a:ea typeface="ＭＳ Ｐゴシック" pitchFamily="34" charset="-128"/>
                <a:cs typeface="Arial" panose="020B0604020202020204" pitchFamily="34" charset="0"/>
              </a:rPr>
              <a:t>Never implemented</a:t>
            </a:r>
          </a:p>
          <a:p>
            <a:pPr lvl="1"/>
            <a:r>
              <a:rPr lang="en-US" altLang="en-US" dirty="0">
                <a:latin typeface="Arial" panose="020B0604020202020204" pitchFamily="34" charset="0"/>
                <a:ea typeface="ＭＳ Ｐゴシック" pitchFamily="34" charset="-128"/>
                <a:cs typeface="Arial" panose="020B0604020202020204" pitchFamily="34" charset="0"/>
              </a:rPr>
              <a:t>Had the sophisticated concepts presented in the manual been known prior to 1972, they may have changed the development of programming languages</a:t>
            </a:r>
          </a:p>
        </p:txBody>
      </p:sp>
    </p:spTree>
    <p:extLst>
      <p:ext uri="{BB962C8B-B14F-4D97-AF65-F5344CB8AC3E}">
        <p14:creationId xmlns:p14="http://schemas.microsoft.com/office/powerpoint/2010/main" val="23386637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rm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Procedural Languages (3 of </a:t>
            </a:r>
            <a:r>
              <a:rPr lang="en-US" altLang="en-US" sz="3600" b="0" dirty="0">
                <a:latin typeface="Arial" panose="020B0604020202020204" pitchFamily="34" charset="0"/>
                <a:cs typeface="Arial" panose="020B0604020202020204" pitchFamily="34" charset="0"/>
              </a:rPr>
              <a:t>15</a:t>
            </a:r>
            <a:r>
              <a:rPr lang="en-US" altLang="en-US" sz="3600" b="0" dirty="0">
                <a:latin typeface="Arial" panose="020B0604020202020204" pitchFamily="34" charset="0"/>
                <a:ea typeface="ＭＳ Ｐゴシック" pitchFamily="34" charset="-128"/>
                <a:cs typeface="Arial" panose="020B0604020202020204" pitchFamily="34" charset="0"/>
              </a:rPr>
              <a:t>)</a:t>
            </a:r>
            <a:endParaRPr lang="en-US" sz="3600" b="0" dirty="0">
              <a:latin typeface="Arial" panose="020B0604020202020204" pitchFamily="34" charset="0"/>
              <a:cs typeface="Arial" panose="020B0604020202020204" pitchFamily="34" charset="0"/>
            </a:endParaRPr>
          </a:p>
        </p:txBody>
      </p:sp>
      <p:sp>
        <p:nvSpPr>
          <p:cNvPr id="7" name="Content Placeholder 6"/>
          <p:cNvSpPr>
            <a:spLocks noGrp="1"/>
          </p:cNvSpPr>
          <p:nvPr>
            <p:ph idx="1"/>
          </p:nvPr>
        </p:nvSpPr>
        <p:spPr>
          <a:xfrm>
            <a:off x="294968" y="1231266"/>
            <a:ext cx="8391835" cy="4894898"/>
          </a:xfrm>
        </p:spPr>
        <p:txBody>
          <a:bodyPr>
            <a:noAutofit/>
          </a:bodyPr>
          <a:lstStyle/>
          <a:p>
            <a:pPr>
              <a:defRPr/>
            </a:pPr>
            <a:r>
              <a:rPr lang="en-US" altLang="en-US" dirty="0">
                <a:latin typeface="Arial" panose="020B0604020202020204" pitchFamily="34" charset="0"/>
                <a:ea typeface="ＭＳ Ｐゴシック" panose="020B0600070205080204" pitchFamily="34" charset="-128"/>
                <a:cs typeface="Arial" panose="020B0604020202020204" pitchFamily="34" charset="0"/>
              </a:rPr>
              <a:t>Fortran: Formula Translating System</a:t>
            </a:r>
          </a:p>
          <a:p>
            <a:pPr marL="717550" indent="-363538">
              <a:buFont typeface="Arial" panose="020B0604020202020204" pitchFamily="34" charset="0"/>
              <a:buChar char="–"/>
              <a:tabLst>
                <a:tab pos="717550" algn="l"/>
              </a:tabLst>
              <a:defRPr/>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Developed at IBM in the 1950s by John Backus</a:t>
            </a:r>
          </a:p>
          <a:p>
            <a:pPr marL="717550" indent="-363538">
              <a:buFont typeface="Arial" panose="020B0604020202020204" pitchFamily="34" charset="0"/>
              <a:buChar char="–"/>
              <a:tabLst>
                <a:tab pos="717550" algn="l"/>
              </a:tabLst>
              <a:defRPr/>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First high-level language actually implemented</a:t>
            </a:r>
          </a:p>
          <a:p>
            <a:pPr marL="717550" indent="-363538">
              <a:buFont typeface="Arial" panose="020B0604020202020204" pitchFamily="34" charset="0"/>
              <a:buChar char="–"/>
              <a:tabLst>
                <a:tab pos="717550" algn="l"/>
              </a:tabLst>
              <a:defRPr/>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Focus on numerical computation</a:t>
            </a:r>
          </a:p>
          <a:p>
            <a:pPr marL="717550" indent="-363538">
              <a:buFont typeface="Arial" panose="020B0604020202020204" pitchFamily="34" charset="0"/>
              <a:buChar char="–"/>
              <a:tabLst>
                <a:tab pos="717550" algn="l"/>
              </a:tabLst>
              <a:defRPr/>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Control structures similar to assembly language</a:t>
            </a:r>
          </a:p>
          <a:p>
            <a:pPr marL="717550" indent="-363538">
              <a:buFont typeface="Arial" panose="020B0604020202020204" pitchFamily="34" charset="0"/>
              <a:buChar char="–"/>
              <a:tabLst>
                <a:tab pos="717550" algn="l"/>
              </a:tabLst>
              <a:defRPr/>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GO TO</a:t>
            </a:r>
          </a:p>
          <a:p>
            <a:pPr marL="1071563" lvl="1" indent="-363538">
              <a:buFont typeface="Wingdings" pitchFamily="2" charset="2"/>
              <a:buChar char="§"/>
              <a:tabLst>
                <a:tab pos="717550" algn="l"/>
              </a:tabLst>
              <a:defRPr/>
            </a:pPr>
            <a:r>
              <a:rPr lang="en-US" altLang="en-US" sz="2200" dirty="0">
                <a:latin typeface="Arial" panose="020B0604020202020204" pitchFamily="34" charset="0"/>
                <a:ea typeface="ＭＳ Ｐゴシック" panose="020B0600070205080204" pitchFamily="34" charset="-128"/>
                <a:cs typeface="Arial" panose="020B0604020202020204" pitchFamily="34" charset="0"/>
              </a:rPr>
              <a:t>Like a JUMP</a:t>
            </a:r>
          </a:p>
          <a:p>
            <a:pPr marL="1071563" lvl="1" indent="-363538">
              <a:buFont typeface="Wingdings" pitchFamily="2" charset="2"/>
              <a:buChar char="§"/>
              <a:tabLst>
                <a:tab pos="717550" algn="l"/>
              </a:tabLst>
              <a:defRPr/>
            </a:pPr>
            <a:r>
              <a:rPr lang="en-US" altLang="en-US" sz="2200" dirty="0">
                <a:latin typeface="Arial" panose="020B0604020202020204" pitchFamily="34" charset="0"/>
                <a:ea typeface="ＭＳ Ｐゴシック" panose="020B0600070205080204" pitchFamily="34" charset="-128"/>
                <a:cs typeface="Arial" panose="020B0604020202020204" pitchFamily="34" charset="0"/>
              </a:rPr>
              <a:t>Can create spaghetti code</a:t>
            </a:r>
          </a:p>
          <a:p>
            <a:pPr marL="717550" indent="-363538">
              <a:buFont typeface="Arial" panose="020B0604020202020204" pitchFamily="34" charset="0"/>
              <a:buChar char="–"/>
              <a:tabLst>
                <a:tab pos="717550" algn="l"/>
              </a:tabLst>
              <a:defRPr/>
            </a:pPr>
            <a:r>
              <a:rPr lang="en-US" altLang="en-US" sz="2400" b="1" dirty="0">
                <a:latin typeface="Arial" panose="020B0604020202020204" pitchFamily="34" charset="0"/>
                <a:ea typeface="ＭＳ Ｐゴシック" panose="020B0600070205080204" pitchFamily="34" charset="-128"/>
                <a:cs typeface="Arial" panose="020B0604020202020204" pitchFamily="34" charset="0"/>
              </a:rPr>
              <a:t>External libraries</a:t>
            </a:r>
            <a:r>
              <a:rPr lang="en-US" altLang="en-US" sz="2400" dirty="0">
                <a:latin typeface="Arial" panose="020B0604020202020204" pitchFamily="34" charset="0"/>
                <a:ea typeface="ＭＳ Ｐゴシック" panose="020B0600070205080204" pitchFamily="34" charset="-128"/>
                <a:cs typeface="Arial" panose="020B0604020202020204" pitchFamily="34" charset="0"/>
              </a:rPr>
              <a:t>: tested special-purpose code</a:t>
            </a:r>
          </a:p>
          <a:p>
            <a:pPr marL="1071563" lvl="1" indent="-354013">
              <a:buFont typeface="Wingdings" pitchFamily="2" charset="2"/>
              <a:buChar char="§"/>
              <a:defRPr/>
            </a:pPr>
            <a:r>
              <a:rPr lang="en-US" altLang="en-US" sz="2200" dirty="0">
                <a:latin typeface="Arial" panose="020B0604020202020204" pitchFamily="34" charset="0"/>
                <a:ea typeface="ＭＳ Ｐゴシック" panose="020B0600070205080204" pitchFamily="34" charset="-128"/>
                <a:cs typeface="Arial" panose="020B0604020202020204" pitchFamily="34" charset="0"/>
              </a:rPr>
              <a:t>So many libraries exist that coders sometimes don’t need to write much actual code</a:t>
            </a:r>
          </a:p>
        </p:txBody>
      </p:sp>
    </p:spTree>
    <p:extLst>
      <p:ext uri="{BB962C8B-B14F-4D97-AF65-F5344CB8AC3E}">
        <p14:creationId xmlns:p14="http://schemas.microsoft.com/office/powerpoint/2010/main" val="6442699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rm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Procedural Languages (4 of </a:t>
            </a:r>
            <a:r>
              <a:rPr lang="en-US" sz="3600" b="0" i="0" kern="1200" dirty="0">
                <a:solidFill>
                  <a:schemeClr val="bg1"/>
                </a:solidFill>
                <a:effectLst/>
                <a:latin typeface="Arial" panose="020B0604020202020204" pitchFamily="34" charset="0"/>
                <a:ea typeface="+mj-ea"/>
                <a:cs typeface="Arial" panose="020B0604020202020204" pitchFamily="34" charset="0"/>
              </a:rPr>
              <a:t>15</a:t>
            </a:r>
            <a:r>
              <a:rPr lang="en-US" altLang="en-US" sz="3600" b="0" dirty="0">
                <a:latin typeface="Arial" panose="020B0604020202020204" pitchFamily="34" charset="0"/>
                <a:ea typeface="ＭＳ Ｐゴシック" pitchFamily="34" charset="-128"/>
                <a:cs typeface="Arial" panose="020B0604020202020204" pitchFamily="34" charset="0"/>
              </a:rPr>
              <a:t>)</a:t>
            </a:r>
            <a:endParaRPr lang="en-US" sz="3600" b="0" dirty="0">
              <a:latin typeface="Arial" panose="020B0604020202020204" pitchFamily="34" charset="0"/>
              <a:cs typeface="Arial" panose="020B0604020202020204" pitchFamily="34" charset="0"/>
            </a:endParaRPr>
          </a:p>
        </p:txBody>
      </p:sp>
      <p:sp>
        <p:nvSpPr>
          <p:cNvPr id="7" name="Content Placeholder 6"/>
          <p:cNvSpPr>
            <a:spLocks noGrp="1"/>
          </p:cNvSpPr>
          <p:nvPr>
            <p:ph idx="1"/>
          </p:nvPr>
        </p:nvSpPr>
        <p:spPr>
          <a:xfrm>
            <a:off x="294968" y="1231266"/>
            <a:ext cx="8391835" cy="4894898"/>
          </a:xfrm>
        </p:spPr>
        <p:txBody>
          <a:bodyPr>
            <a:noAutofit/>
          </a:bodyPr>
          <a:lstStyle/>
          <a:p>
            <a:pPr>
              <a:defRPr/>
            </a:pPr>
            <a:r>
              <a:rPr lang="en-US" altLang="en-US" dirty="0">
                <a:latin typeface="Arial" panose="020B0604020202020204" pitchFamily="34" charset="0"/>
                <a:ea typeface="ＭＳ Ｐゴシック" panose="020B0600070205080204" pitchFamily="34" charset="-128"/>
                <a:cs typeface="Arial" panose="020B0604020202020204" pitchFamily="34" charset="0"/>
              </a:rPr>
              <a:t>COBOL: COmmon Business-Oriented Language</a:t>
            </a:r>
          </a:p>
          <a:p>
            <a:pPr marL="717550" indent="-363538">
              <a:buFont typeface="Arial" panose="020B0604020202020204" pitchFamily="34" charset="0"/>
              <a:buChar char="–"/>
              <a:defRPr/>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Developed by the U.S. Navy in 1959 and 1960 by a group headed by Admiral Grace Murray Hopper</a:t>
            </a:r>
          </a:p>
          <a:p>
            <a:pPr marL="717550" indent="-363538">
              <a:buFont typeface="Arial" panose="020B0604020202020204" pitchFamily="34" charset="0"/>
              <a:buChar char="–"/>
              <a:defRPr/>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Focus on business applications</a:t>
            </a:r>
          </a:p>
          <a:p>
            <a:pPr marL="1071563" lvl="1" indent="-354013">
              <a:buFont typeface="Wingdings" pitchFamily="2" charset="2"/>
              <a:buChar char="§"/>
              <a:defRPr/>
            </a:pPr>
            <a:r>
              <a:rPr lang="en-US" altLang="en-US" sz="2200" dirty="0">
                <a:latin typeface="Arial" panose="020B0604020202020204" pitchFamily="34" charset="0"/>
                <a:ea typeface="ＭＳ Ｐゴシック" panose="020B0600070205080204" pitchFamily="34" charset="-128"/>
                <a:cs typeface="Arial" panose="020B0604020202020204" pitchFamily="34" charset="0"/>
              </a:rPr>
              <a:t>Inventory or payroll</a:t>
            </a:r>
          </a:p>
          <a:p>
            <a:pPr marL="1071563" lvl="1" indent="-354013">
              <a:buFont typeface="Wingdings" pitchFamily="2" charset="2"/>
              <a:buChar char="§"/>
              <a:defRPr/>
            </a:pPr>
            <a:r>
              <a:rPr lang="en-US" altLang="en-US" sz="2200" dirty="0">
                <a:latin typeface="Arial" panose="020B0604020202020204" pitchFamily="34" charset="0"/>
                <a:ea typeface="ＭＳ Ｐゴシック" panose="020B0600070205080204" pitchFamily="34" charset="-128"/>
                <a:cs typeface="Arial" panose="020B0604020202020204" pitchFamily="34" charset="0"/>
              </a:rPr>
              <a:t>Master file updated by transaction files: file I/O key</a:t>
            </a:r>
          </a:p>
          <a:p>
            <a:pPr marL="717550" indent="-363538">
              <a:buFont typeface="Arial" panose="020B0604020202020204" pitchFamily="34" charset="0"/>
              <a:buChar char="–"/>
              <a:defRPr/>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Wide use in </a:t>
            </a:r>
            <a:r>
              <a:rPr lang="en-US" altLang="en-US" sz="2400" b="1" dirty="0">
                <a:latin typeface="Arial" panose="020B0604020202020204" pitchFamily="34" charset="0"/>
                <a:ea typeface="ＭＳ Ｐゴシック" panose="020B0600070205080204" pitchFamily="34" charset="-128"/>
                <a:cs typeface="Arial" panose="020B0604020202020204" pitchFamily="34" charset="0"/>
              </a:rPr>
              <a:t>legacy code </a:t>
            </a:r>
            <a:r>
              <a:rPr lang="en-US" altLang="en-US" sz="2400" dirty="0">
                <a:latin typeface="Arial" panose="020B0604020202020204" pitchFamily="34" charset="0"/>
                <a:ea typeface="ＭＳ Ｐゴシック" panose="020B0600070205080204" pitchFamily="34" charset="-128"/>
                <a:cs typeface="Arial" panose="020B0604020202020204" pitchFamily="34" charset="0"/>
              </a:rPr>
              <a:t>(old code still in use)</a:t>
            </a:r>
          </a:p>
          <a:p>
            <a:pPr marL="717550" indent="-363538">
              <a:buFont typeface="Arial" panose="020B0604020202020204" pitchFamily="34" charset="0"/>
              <a:buChar char="–"/>
              <a:defRPr/>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Year 2000 (Y2K) issues</a:t>
            </a:r>
          </a:p>
          <a:p>
            <a:pPr marL="1071563" lvl="1" indent="-354013">
              <a:buFont typeface="Wingdings" pitchFamily="2" charset="2"/>
              <a:buChar char="§"/>
              <a:defRPr/>
            </a:pPr>
            <a:r>
              <a:rPr lang="en-US" altLang="en-US" sz="2200" dirty="0">
                <a:latin typeface="Arial" panose="020B0604020202020204" pitchFamily="34" charset="0"/>
                <a:ea typeface="ＭＳ Ｐゴシック" panose="020B0600070205080204" pitchFamily="34" charset="-128"/>
                <a:cs typeface="Arial" panose="020B0604020202020204" pitchFamily="34" charset="0"/>
              </a:rPr>
              <a:t>Required massive updating of old COBOL</a:t>
            </a:r>
          </a:p>
        </p:txBody>
      </p:sp>
    </p:spTree>
    <p:extLst>
      <p:ext uri="{BB962C8B-B14F-4D97-AF65-F5344CB8AC3E}">
        <p14:creationId xmlns:p14="http://schemas.microsoft.com/office/powerpoint/2010/main" val="28194636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rm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Procedural Languages (5 of </a:t>
            </a:r>
            <a:r>
              <a:rPr lang="en-US" sz="3600" b="0" i="0" kern="1200" dirty="0">
                <a:solidFill>
                  <a:schemeClr val="bg1"/>
                </a:solidFill>
                <a:effectLst/>
                <a:latin typeface="Arial" panose="020B0604020202020204" pitchFamily="34" charset="0"/>
                <a:ea typeface="+mj-ea"/>
                <a:cs typeface="Arial" panose="020B0604020202020204" pitchFamily="34" charset="0"/>
              </a:rPr>
              <a:t>15</a:t>
            </a:r>
            <a:r>
              <a:rPr lang="en-US" altLang="en-US" sz="3600" b="0" dirty="0">
                <a:latin typeface="Arial" panose="020B0604020202020204" pitchFamily="34" charset="0"/>
                <a:ea typeface="ＭＳ Ｐゴシック" pitchFamily="34" charset="-128"/>
                <a:cs typeface="Arial" panose="020B0604020202020204" pitchFamily="34" charset="0"/>
              </a:rPr>
              <a:t>)</a:t>
            </a:r>
            <a:endParaRPr lang="en-US" sz="3600" b="0" dirty="0">
              <a:latin typeface="Arial" panose="020B0604020202020204" pitchFamily="34" charset="0"/>
              <a:cs typeface="Arial" panose="020B0604020202020204" pitchFamily="34" charset="0"/>
            </a:endParaRPr>
          </a:p>
        </p:txBody>
      </p:sp>
      <p:sp>
        <p:nvSpPr>
          <p:cNvPr id="7" name="Content Placeholder 6"/>
          <p:cNvSpPr>
            <a:spLocks noGrp="1"/>
          </p:cNvSpPr>
          <p:nvPr>
            <p:ph idx="1"/>
          </p:nvPr>
        </p:nvSpPr>
        <p:spPr>
          <a:xfrm>
            <a:off x="294968" y="1231266"/>
            <a:ext cx="8391835" cy="4894898"/>
          </a:xfrm>
        </p:spPr>
        <p:txBody>
          <a:bodyPr>
            <a:noAutofit/>
          </a:bodyPr>
          <a:lstStyle/>
          <a:p>
            <a:pPr>
              <a:defRPr/>
            </a:pPr>
            <a:r>
              <a:rPr lang="en-US" altLang="en-US" dirty="0">
                <a:latin typeface="Arial" panose="020B0604020202020204" pitchFamily="34" charset="0"/>
                <a:ea typeface="ＭＳ Ｐゴシック" panose="020B0600070205080204" pitchFamily="34" charset="-128"/>
                <a:cs typeface="Arial" panose="020B0604020202020204" pitchFamily="34" charset="0"/>
              </a:rPr>
              <a:t>C/C++</a:t>
            </a:r>
          </a:p>
          <a:p>
            <a:pPr marL="717550" indent="-363538">
              <a:buFont typeface="Arial" panose="020B0604020202020204" pitchFamily="34" charset="0"/>
              <a:buChar char="–"/>
              <a:defRPr/>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C developed in the early 1970s at AT&amp;T Labs by Dennis Ritchie</a:t>
            </a:r>
          </a:p>
          <a:p>
            <a:pPr marL="717550" indent="-363538">
              <a:buFont typeface="Arial" panose="020B0604020202020204" pitchFamily="34" charset="0"/>
              <a:buChar char="–"/>
              <a:defRPr/>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Focuses on system programming</a:t>
            </a:r>
          </a:p>
          <a:p>
            <a:pPr marL="717550" indent="-363538">
              <a:buFont typeface="Arial" panose="020B0604020202020204" pitchFamily="34" charset="0"/>
              <a:buChar char="–"/>
              <a:defRPr/>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Close connection to UNIX</a:t>
            </a:r>
          </a:p>
          <a:p>
            <a:pPr marL="717550" indent="-363538">
              <a:buFont typeface="Arial" panose="020B0604020202020204" pitchFamily="34" charset="0"/>
              <a:buChar char="–"/>
              <a:defRPr/>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Highly efficient</a:t>
            </a:r>
          </a:p>
          <a:p>
            <a:pPr marL="1071563" lvl="1" indent="-354013">
              <a:buFont typeface="Wingdings" pitchFamily="2" charset="2"/>
              <a:buChar char="§"/>
              <a:defRPr/>
            </a:pPr>
            <a:r>
              <a:rPr lang="en-US" altLang="en-US" sz="2200" dirty="0">
                <a:latin typeface="Arial" panose="020B0604020202020204" pitchFamily="34" charset="0"/>
                <a:ea typeface="ＭＳ Ｐゴシック" panose="020B0600070205080204" pitchFamily="34" charset="-128"/>
                <a:cs typeface="Arial" panose="020B0604020202020204" pitchFamily="34" charset="0"/>
              </a:rPr>
              <a:t>High-level constructs as desired</a:t>
            </a:r>
          </a:p>
          <a:p>
            <a:pPr marL="1071563" lvl="1" indent="-354013">
              <a:buFont typeface="Wingdings" pitchFamily="2" charset="2"/>
              <a:buChar char="§"/>
              <a:defRPr/>
            </a:pPr>
            <a:r>
              <a:rPr lang="en-US" altLang="en-US" sz="2200" dirty="0">
                <a:latin typeface="Arial" panose="020B0604020202020204" pitchFamily="34" charset="0"/>
                <a:ea typeface="ＭＳ Ｐゴシック" panose="020B0600070205080204" pitchFamily="34" charset="-128"/>
                <a:cs typeface="Arial" panose="020B0604020202020204" pitchFamily="34" charset="0"/>
              </a:rPr>
              <a:t>Low-level constructs when efficiency is needed</a:t>
            </a:r>
          </a:p>
        </p:txBody>
      </p:sp>
    </p:spTree>
    <p:extLst>
      <p:ext uri="{BB962C8B-B14F-4D97-AF65-F5344CB8AC3E}">
        <p14:creationId xmlns:p14="http://schemas.microsoft.com/office/powerpoint/2010/main" val="40517257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rm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Procedural Languages (6 of </a:t>
            </a:r>
            <a:r>
              <a:rPr lang="en-US" sz="3600" b="0" i="0" kern="1200" dirty="0">
                <a:solidFill>
                  <a:schemeClr val="bg1"/>
                </a:solidFill>
                <a:effectLst/>
                <a:latin typeface="Arial" panose="020B0604020202020204" pitchFamily="34" charset="0"/>
                <a:ea typeface="+mj-ea"/>
                <a:cs typeface="Arial" panose="020B0604020202020204" pitchFamily="34" charset="0"/>
              </a:rPr>
              <a:t>15</a:t>
            </a:r>
            <a:r>
              <a:rPr lang="en-US" altLang="en-US" sz="3600" b="0" dirty="0">
                <a:latin typeface="Arial" panose="020B0604020202020204" pitchFamily="34" charset="0"/>
                <a:ea typeface="ＭＳ Ｐゴシック" pitchFamily="34" charset="-128"/>
                <a:cs typeface="Arial" panose="020B0604020202020204" pitchFamily="34" charset="0"/>
              </a:rPr>
              <a:t>)</a:t>
            </a:r>
            <a:endParaRPr lang="en-US" sz="3600" b="0" dirty="0">
              <a:latin typeface="Arial" panose="020B0604020202020204" pitchFamily="34" charset="0"/>
              <a:cs typeface="Arial" panose="020B0604020202020204" pitchFamily="34" charset="0"/>
            </a:endParaRPr>
          </a:p>
        </p:txBody>
      </p:sp>
      <p:pic>
        <p:nvPicPr>
          <p:cNvPr id="5" name="Picture 5" descr="A figure shows two illustrations are as follows&#10;The first illustration shows a human silhouette connected to a text box labeled “Hardware” through a cloud shaped text box between labeled “High-level language.” The text below reads: “A high-level language shields the programmer from the hardware.”&#10;The second illustration shows a human silhouette connected to a text box labeled “Hardware” through a cloud shaped text box between labeled “High-level C language.” A second connection connects the human silhouette and Hardware directly and is labeled “Low-level C construct.” &#10;The text given below the figure reads as “C can shield the programmer or allow direct access to hardwar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1888" y="1453693"/>
            <a:ext cx="6473825" cy="466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41727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rm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Procedural Languages (7 of </a:t>
            </a:r>
            <a:r>
              <a:rPr lang="en-US" sz="3600" b="0" i="0" kern="1200" dirty="0">
                <a:solidFill>
                  <a:schemeClr val="bg1"/>
                </a:solidFill>
                <a:effectLst/>
                <a:latin typeface="Arial" panose="020B0604020202020204" pitchFamily="34" charset="0"/>
                <a:ea typeface="+mj-ea"/>
                <a:cs typeface="Arial" panose="020B0604020202020204" pitchFamily="34" charset="0"/>
              </a:rPr>
              <a:t>15</a:t>
            </a:r>
            <a:r>
              <a:rPr lang="en-US" altLang="en-US" sz="3600" b="0" dirty="0">
                <a:latin typeface="Arial" panose="020B0604020202020204" pitchFamily="34" charset="0"/>
                <a:ea typeface="ＭＳ Ｐゴシック" pitchFamily="34" charset="-128"/>
                <a:cs typeface="Arial" panose="020B0604020202020204" pitchFamily="34" charset="0"/>
              </a:rPr>
              <a:t>)</a:t>
            </a:r>
            <a:endParaRPr lang="en-US" sz="3600" b="0" dirty="0">
              <a:latin typeface="Arial" panose="020B0604020202020204" pitchFamily="34" charset="0"/>
              <a:cs typeface="Arial" panose="020B0604020202020204" pitchFamily="34" charset="0"/>
            </a:endParaRPr>
          </a:p>
        </p:txBody>
      </p:sp>
      <p:sp>
        <p:nvSpPr>
          <p:cNvPr id="7" name="Content Placeholder 6"/>
          <p:cNvSpPr>
            <a:spLocks noGrp="1"/>
          </p:cNvSpPr>
          <p:nvPr>
            <p:ph idx="1"/>
          </p:nvPr>
        </p:nvSpPr>
        <p:spPr>
          <a:xfrm>
            <a:off x="280454" y="1274808"/>
            <a:ext cx="4262518" cy="4704397"/>
          </a:xfrm>
        </p:spPr>
        <p:txBody>
          <a:bodyPr>
            <a:noAutofit/>
          </a:bodyPr>
          <a:lstStyle/>
          <a:p>
            <a:r>
              <a:rPr lang="en-US" altLang="en-US" dirty="0">
                <a:latin typeface="Arial" panose="020B0604020202020204" pitchFamily="34" charset="0"/>
                <a:ea typeface="ＭＳ Ｐゴシック" pitchFamily="34" charset="-128"/>
                <a:cs typeface="Arial" panose="020B0604020202020204" pitchFamily="34" charset="0"/>
              </a:rPr>
              <a:t>Access to variable’s value and its location</a:t>
            </a:r>
          </a:p>
          <a:p>
            <a:pPr lvl="1"/>
            <a:r>
              <a:rPr lang="en-US" altLang="en-US" i="1" dirty="0">
                <a:latin typeface="Arial" panose="020B0604020202020204" pitchFamily="34" charset="0"/>
                <a:ea typeface="ＭＳ Ｐゴシック" pitchFamily="34" charset="-128"/>
                <a:cs typeface="Arial" panose="020B0604020202020204" pitchFamily="34" charset="0"/>
              </a:rPr>
              <a:t>number </a:t>
            </a:r>
            <a:r>
              <a:rPr lang="en-US" altLang="en-US" dirty="0">
                <a:latin typeface="Arial" panose="020B0604020202020204" pitchFamily="34" charset="0"/>
                <a:ea typeface="ＭＳ Ｐゴシック" pitchFamily="34" charset="-128"/>
                <a:cs typeface="Arial" panose="020B0604020202020204" pitchFamily="34" charset="0"/>
              </a:rPr>
              <a:t>refers to its value</a:t>
            </a:r>
          </a:p>
          <a:p>
            <a:pPr lvl="1"/>
            <a:r>
              <a:rPr lang="en-US" altLang="en-US" i="1" dirty="0">
                <a:latin typeface="Arial" panose="020B0604020202020204" pitchFamily="34" charset="0"/>
                <a:ea typeface="ＭＳ Ｐゴシック" pitchFamily="34" charset="-128"/>
                <a:cs typeface="Arial" panose="020B0604020202020204" pitchFamily="34" charset="0"/>
              </a:rPr>
              <a:t>&amp;number</a:t>
            </a:r>
            <a:r>
              <a:rPr lang="en-US" altLang="en-US" dirty="0">
                <a:latin typeface="Arial" panose="020B0604020202020204" pitchFamily="34" charset="0"/>
                <a:ea typeface="ＭＳ Ｐゴシック" pitchFamily="34" charset="-128"/>
                <a:cs typeface="Arial" panose="020B0604020202020204" pitchFamily="34" charset="0"/>
              </a:rPr>
              <a:t> refers to its memory location</a:t>
            </a:r>
          </a:p>
          <a:p>
            <a:r>
              <a:rPr lang="en-US" altLang="en-US" dirty="0">
                <a:latin typeface="Arial" panose="020B0604020202020204" pitchFamily="34" charset="0"/>
                <a:ea typeface="ＭＳ Ｐゴシック" pitchFamily="34" charset="-128"/>
                <a:cs typeface="Arial" panose="020B0604020202020204" pitchFamily="34" charset="0"/>
              </a:rPr>
              <a:t>Pointer data type contains memory locations</a:t>
            </a:r>
          </a:p>
        </p:txBody>
      </p:sp>
      <p:pic>
        <p:nvPicPr>
          <p:cNvPr id="4" name="Picture 7" descr="An illustration shows two column header reads “Identifier, Address.” The first column shows the text “number.” The second column shows “1000.” An illustrated memory port shows “234.”&#10;Text below shows the following: C allows access to a memory cell address as well as to its conten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10200" y="1346200"/>
            <a:ext cx="2744788" cy="4589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750749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rm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Procedural Languages (8 of </a:t>
            </a:r>
            <a:r>
              <a:rPr lang="en-US" sz="3600" b="0" i="0" kern="1200" dirty="0">
                <a:solidFill>
                  <a:schemeClr val="bg1"/>
                </a:solidFill>
                <a:effectLst/>
                <a:latin typeface="Arial" panose="020B0604020202020204" pitchFamily="34" charset="0"/>
                <a:ea typeface="+mj-ea"/>
                <a:cs typeface="Arial" panose="020B0604020202020204" pitchFamily="34" charset="0"/>
              </a:rPr>
              <a:t>15</a:t>
            </a:r>
            <a:r>
              <a:rPr lang="en-US" altLang="en-US" sz="3600" b="0" dirty="0">
                <a:latin typeface="Arial" panose="020B0604020202020204" pitchFamily="34" charset="0"/>
                <a:ea typeface="ＭＳ Ｐゴシック" pitchFamily="34" charset="-128"/>
                <a:cs typeface="Arial" panose="020B0604020202020204" pitchFamily="34" charset="0"/>
              </a:rPr>
              <a:t>)</a:t>
            </a:r>
            <a:endParaRPr lang="en-US" sz="3600" b="0" dirty="0">
              <a:latin typeface="Arial" panose="020B0604020202020204" pitchFamily="34" charset="0"/>
              <a:cs typeface="Arial" panose="020B0604020202020204" pitchFamily="34" charset="0"/>
            </a:endParaRPr>
          </a:p>
        </p:txBody>
      </p:sp>
      <p:pic>
        <p:nvPicPr>
          <p:cNvPr id="8" name="Picture 5" descr="A figure shows two illustrations with the header column reads “Identifier: Address” with the illustrated memory ports. A break is shown within the memory ports.&#10;The first illustration shows the following data:&#10;Before the break in the memory port in first illustration: intPointer, question mark, 800&#10;After the break in the memory port: intPointer, 800, question mark.&#10;The second illustration shows the following data reads:&#10;Before the break in the memory port in second illustration: intPointer, question mark, 800&#10;After the break in the memory port: intPointer, 800, 3.&#10;The third and the seventh section of each port are connected with the forward arrow.&#10;The text below shows the following: (a) The value 800 is assigned to intPointer; (b) The value 3 is assigned to intPoint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28511" y="1235075"/>
            <a:ext cx="6254750" cy="4937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55784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rm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Procedural Languages (9 of </a:t>
            </a:r>
            <a:r>
              <a:rPr lang="en-US" sz="3600" b="0" i="0" kern="1200" dirty="0">
                <a:solidFill>
                  <a:schemeClr val="bg1"/>
                </a:solidFill>
                <a:effectLst/>
                <a:latin typeface="Arial" panose="020B0604020202020204" pitchFamily="34" charset="0"/>
                <a:ea typeface="+mj-ea"/>
                <a:cs typeface="Arial" panose="020B0604020202020204" pitchFamily="34" charset="0"/>
              </a:rPr>
              <a:t>15</a:t>
            </a:r>
            <a:r>
              <a:rPr lang="en-US" altLang="en-US" sz="3600" b="0" dirty="0">
                <a:latin typeface="Arial" panose="020B0604020202020204" pitchFamily="34" charset="0"/>
                <a:ea typeface="ＭＳ Ｐゴシック" pitchFamily="34" charset="-128"/>
                <a:cs typeface="Arial" panose="020B0604020202020204" pitchFamily="34" charset="0"/>
              </a:rPr>
              <a:t>)</a:t>
            </a:r>
            <a:endParaRPr lang="en-US" sz="3600" b="0" dirty="0">
              <a:latin typeface="Arial" panose="020B0604020202020204" pitchFamily="34" charset="0"/>
              <a:cs typeface="Arial" panose="020B0604020202020204" pitchFamily="34" charset="0"/>
            </a:endParaRPr>
          </a:p>
        </p:txBody>
      </p:sp>
      <p:sp>
        <p:nvSpPr>
          <p:cNvPr id="7" name="Content Placeholder 6"/>
          <p:cNvSpPr>
            <a:spLocks noGrp="1"/>
          </p:cNvSpPr>
          <p:nvPr>
            <p:ph idx="1"/>
          </p:nvPr>
        </p:nvSpPr>
        <p:spPr>
          <a:xfrm>
            <a:off x="294968" y="1231266"/>
            <a:ext cx="8391835" cy="4894898"/>
          </a:xfrm>
        </p:spPr>
        <p:txBody>
          <a:bodyPr>
            <a:noAutofit/>
          </a:bodyPr>
          <a:lstStyle/>
          <a:p>
            <a:pPr>
              <a:defRPr/>
            </a:pPr>
            <a:r>
              <a:rPr lang="en-US" altLang="en-US" dirty="0">
                <a:latin typeface="Arial" panose="020B0604020202020204" pitchFamily="34" charset="0"/>
                <a:ea typeface="ＭＳ Ｐゴシック" panose="020B0600070205080204" pitchFamily="34" charset="-128"/>
                <a:cs typeface="Arial" panose="020B0604020202020204" pitchFamily="34" charset="0"/>
              </a:rPr>
              <a:t>C specialty: system programming</a:t>
            </a:r>
          </a:p>
          <a:p>
            <a:pPr lvl="1">
              <a:defRPr/>
            </a:pPr>
            <a:r>
              <a:rPr lang="en-US" altLang="en-US" dirty="0">
                <a:latin typeface="Arial" panose="020B0604020202020204" pitchFamily="34" charset="0"/>
                <a:ea typeface="ＭＳ Ｐゴシック" panose="020B0600070205080204" pitchFamily="34" charset="-128"/>
                <a:cs typeface="Arial" panose="020B0604020202020204" pitchFamily="34" charset="0"/>
              </a:rPr>
              <a:t>Example: </a:t>
            </a:r>
            <a:r>
              <a:rPr lang="en-US" altLang="en-US" b="1" dirty="0">
                <a:latin typeface="Arial" panose="020B0604020202020204" pitchFamily="34" charset="0"/>
                <a:ea typeface="ＭＳ Ｐゴシック" panose="020B0600070205080204" pitchFamily="34" charset="-128"/>
                <a:cs typeface="Arial" panose="020B0604020202020204" pitchFamily="34" charset="0"/>
              </a:rPr>
              <a:t>device drivers</a:t>
            </a:r>
            <a:endParaRPr lang="en-US" altLang="en-US" dirty="0">
              <a:latin typeface="Arial" panose="020B0604020202020204" pitchFamily="34" charset="0"/>
              <a:ea typeface="ＭＳ Ｐゴシック" panose="020B0600070205080204" pitchFamily="34" charset="-128"/>
              <a:cs typeface="Arial" panose="020B0604020202020204" pitchFamily="34" charset="0"/>
            </a:endParaRPr>
          </a:p>
          <a:p>
            <a:pPr lvl="1">
              <a:defRPr/>
            </a:pPr>
            <a:r>
              <a:rPr lang="en-US" altLang="en-US" dirty="0">
                <a:latin typeface="Arial" panose="020B0604020202020204" pitchFamily="34" charset="0"/>
                <a:ea typeface="ＭＳ Ｐゴシック" panose="020B0600070205080204" pitchFamily="34" charset="-128"/>
                <a:cs typeface="Arial" panose="020B0604020202020204" pitchFamily="34" charset="0"/>
              </a:rPr>
              <a:t>Ability to interact with low-level hardware</a:t>
            </a:r>
          </a:p>
          <a:p>
            <a:pPr>
              <a:defRPr/>
            </a:pPr>
            <a:r>
              <a:rPr lang="en-US" altLang="en-US" dirty="0">
                <a:latin typeface="Arial" panose="020B0604020202020204" pitchFamily="34" charset="0"/>
                <a:ea typeface="ＭＳ Ｐゴシック" panose="020B0600070205080204" pitchFamily="34" charset="-128"/>
                <a:cs typeface="Arial" panose="020B0604020202020204" pitchFamily="34" charset="0"/>
              </a:rPr>
              <a:t>C++ was developed in the early 1980s at AT&amp;T Labs by Bjarne Stroustrup</a:t>
            </a:r>
          </a:p>
          <a:p>
            <a:pPr marL="717550" indent="-363538">
              <a:buFont typeface="Arial" panose="020B0604020202020204" pitchFamily="34" charset="0"/>
              <a:buChar char="–"/>
              <a:defRPr/>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C++ is a superset of C</a:t>
            </a:r>
          </a:p>
          <a:p>
            <a:pPr marL="717550" indent="-363538">
              <a:buFont typeface="Arial" panose="020B0604020202020204" pitchFamily="34" charset="0"/>
              <a:buChar char="–"/>
              <a:defRPr/>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Object-oriented programming</a:t>
            </a:r>
          </a:p>
          <a:p>
            <a:pPr marL="717550" indent="-363538">
              <a:buFont typeface="Arial" panose="020B0604020202020204" pitchFamily="34" charset="0"/>
              <a:buChar char="–"/>
              <a:defRPr/>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Collections of code libraries</a:t>
            </a:r>
          </a:p>
        </p:txBody>
      </p:sp>
    </p:spTree>
    <p:extLst>
      <p:ext uri="{BB962C8B-B14F-4D97-AF65-F5344CB8AC3E}">
        <p14:creationId xmlns:p14="http://schemas.microsoft.com/office/powerpoint/2010/main" val="33652573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rm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Procedural Languages (10 of </a:t>
            </a:r>
            <a:r>
              <a:rPr lang="en-US" sz="3600" b="0" i="0" kern="1200" dirty="0">
                <a:solidFill>
                  <a:schemeClr val="bg1"/>
                </a:solidFill>
                <a:effectLst/>
                <a:latin typeface="Arial" panose="020B0604020202020204" pitchFamily="34" charset="0"/>
                <a:ea typeface="+mj-ea"/>
                <a:cs typeface="Arial" panose="020B0604020202020204" pitchFamily="34" charset="0"/>
              </a:rPr>
              <a:t>15</a:t>
            </a:r>
            <a:r>
              <a:rPr lang="en-US" altLang="en-US" sz="3600" b="0" dirty="0">
                <a:latin typeface="Arial" panose="020B0604020202020204" pitchFamily="34" charset="0"/>
                <a:ea typeface="ＭＳ Ｐゴシック" pitchFamily="34" charset="-128"/>
                <a:cs typeface="Arial" panose="020B0604020202020204" pitchFamily="34" charset="0"/>
              </a:rPr>
              <a:t>)</a:t>
            </a:r>
            <a:endParaRPr lang="en-US" sz="3600" b="0" dirty="0">
              <a:latin typeface="Arial" panose="020B0604020202020204" pitchFamily="34" charset="0"/>
              <a:cs typeface="Arial" panose="020B0604020202020204" pitchFamily="34" charset="0"/>
            </a:endParaRPr>
          </a:p>
        </p:txBody>
      </p:sp>
      <p:sp>
        <p:nvSpPr>
          <p:cNvPr id="7" name="Content Placeholder 6"/>
          <p:cNvSpPr>
            <a:spLocks noGrp="1"/>
          </p:cNvSpPr>
          <p:nvPr>
            <p:ph idx="1"/>
          </p:nvPr>
        </p:nvSpPr>
        <p:spPr>
          <a:xfrm>
            <a:off x="294968" y="1231266"/>
            <a:ext cx="8391835" cy="4894898"/>
          </a:xfrm>
        </p:spPr>
        <p:txBody>
          <a:bodyPr>
            <a:noAutofit/>
          </a:bodyPr>
          <a:lstStyle/>
          <a:p>
            <a:pPr>
              <a:defRPr/>
            </a:pPr>
            <a:r>
              <a:rPr lang="en-US" altLang="en-US" dirty="0">
                <a:latin typeface="Arial" panose="020B0604020202020204" pitchFamily="34" charset="0"/>
                <a:ea typeface="ＭＳ Ｐゴシック" panose="020B0600070205080204" pitchFamily="34" charset="-128"/>
                <a:cs typeface="Arial" panose="020B0604020202020204" pitchFamily="34" charset="0"/>
              </a:rPr>
              <a:t>Ada</a:t>
            </a:r>
          </a:p>
          <a:p>
            <a:pPr marL="717550" indent="-363538">
              <a:buFont typeface="Arial" panose="020B0604020202020204" pitchFamily="34" charset="0"/>
              <a:buChar char="–"/>
              <a:defRPr/>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Developed in the 1970s for the U.S. military</a:t>
            </a:r>
          </a:p>
          <a:p>
            <a:pPr marL="717550" indent="-363538">
              <a:buFont typeface="Arial" panose="020B0604020202020204" pitchFamily="34" charset="0"/>
              <a:buChar char="–"/>
              <a:defRPr/>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Specialties</a:t>
            </a:r>
          </a:p>
          <a:p>
            <a:pPr marL="1071563" lvl="1" indent="-354013">
              <a:buFont typeface="Wingdings" pitchFamily="2" charset="2"/>
              <a:buChar char="§"/>
              <a:defRPr/>
            </a:pPr>
            <a:r>
              <a:rPr lang="en-US" altLang="en-US" sz="2200" dirty="0">
                <a:latin typeface="Arial" panose="020B0604020202020204" pitchFamily="34" charset="0"/>
                <a:ea typeface="ＭＳ Ｐゴシック" panose="020B0600070205080204" pitchFamily="34" charset="-128"/>
                <a:cs typeface="Arial" panose="020B0604020202020204" pitchFamily="34" charset="0"/>
              </a:rPr>
              <a:t>Multiprocessing</a:t>
            </a:r>
          </a:p>
          <a:p>
            <a:pPr marL="1071563" lvl="1" indent="-354013">
              <a:buFont typeface="Wingdings" pitchFamily="2" charset="2"/>
              <a:buChar char="§"/>
              <a:defRPr/>
            </a:pPr>
            <a:r>
              <a:rPr lang="en-US" altLang="en-US" sz="2200" dirty="0">
                <a:latin typeface="Arial" panose="020B0604020202020204" pitchFamily="34" charset="0"/>
                <a:ea typeface="ＭＳ Ｐゴシック" panose="020B0600070205080204" pitchFamily="34" charset="-128"/>
                <a:cs typeface="Arial" panose="020B0604020202020204" pitchFamily="34" charset="0"/>
              </a:rPr>
              <a:t>Strong object-oriented</a:t>
            </a:r>
          </a:p>
          <a:p>
            <a:pPr marL="1071563" lvl="1" indent="-354013">
              <a:buFont typeface="Wingdings" pitchFamily="2" charset="2"/>
              <a:buChar char="§"/>
              <a:defRPr/>
            </a:pPr>
            <a:r>
              <a:rPr lang="en-US" altLang="en-US" sz="2200" dirty="0">
                <a:latin typeface="Arial" panose="020B0604020202020204" pitchFamily="34" charset="0"/>
                <a:ea typeface="ＭＳ Ｐゴシック" panose="020B0600070205080204" pitchFamily="34" charset="-128"/>
                <a:cs typeface="Arial" panose="020B0604020202020204" pitchFamily="34" charset="0"/>
              </a:rPr>
              <a:t>Safety and reliability</a:t>
            </a:r>
          </a:p>
          <a:p>
            <a:pPr marL="717550" indent="-363538">
              <a:buFont typeface="Arial" panose="020B0604020202020204" pitchFamily="34" charset="0"/>
              <a:buChar char="–"/>
              <a:defRPr/>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Used heavily by</a:t>
            </a:r>
          </a:p>
          <a:p>
            <a:pPr marL="1071563" lvl="1" indent="-354013">
              <a:buFont typeface="Wingdings" pitchFamily="2" charset="2"/>
              <a:buChar char="§"/>
              <a:defRPr/>
            </a:pPr>
            <a:r>
              <a:rPr lang="en-US" altLang="en-US" sz="2200" dirty="0">
                <a:latin typeface="Arial" panose="020B0604020202020204" pitchFamily="34" charset="0"/>
                <a:ea typeface="ＭＳ Ｐゴシック" panose="020B0600070205080204" pitchFamily="34" charset="-128"/>
                <a:cs typeface="Arial" panose="020B0604020202020204" pitchFamily="34" charset="0"/>
              </a:rPr>
              <a:t>Defense Department</a:t>
            </a:r>
          </a:p>
          <a:p>
            <a:pPr marL="1071563" lvl="1" indent="-354013">
              <a:buFont typeface="Wingdings" pitchFamily="2" charset="2"/>
              <a:buChar char="§"/>
              <a:defRPr/>
            </a:pPr>
            <a:r>
              <a:rPr lang="en-US" altLang="en-US" sz="2200" dirty="0">
                <a:latin typeface="Arial" panose="020B0604020202020204" pitchFamily="34" charset="0"/>
                <a:ea typeface="ＭＳ Ｐゴシック" panose="020B0600070205080204" pitchFamily="34" charset="-128"/>
                <a:cs typeface="Arial" panose="020B0604020202020204" pitchFamily="34" charset="0"/>
              </a:rPr>
              <a:t>Transportation industry</a:t>
            </a:r>
          </a:p>
          <a:p>
            <a:pPr marL="1071563" lvl="1" indent="-354013">
              <a:buFont typeface="Wingdings" pitchFamily="2" charset="2"/>
              <a:buChar char="§"/>
              <a:defRPr/>
            </a:pPr>
            <a:r>
              <a:rPr lang="en-US" altLang="en-US" sz="2200" dirty="0">
                <a:latin typeface="Arial" panose="020B0604020202020204" pitchFamily="34" charset="0"/>
                <a:ea typeface="ＭＳ Ｐゴシック" panose="020B0600070205080204" pitchFamily="34" charset="-128"/>
                <a:cs typeface="Arial" panose="020B0604020202020204" pitchFamily="34" charset="0"/>
              </a:rPr>
              <a:t>Financial industry</a:t>
            </a:r>
          </a:p>
          <a:p>
            <a:pPr marL="1071563" lvl="1" indent="-354013">
              <a:buFont typeface="Wingdings" pitchFamily="2" charset="2"/>
              <a:buChar char="§"/>
              <a:defRPr/>
            </a:pPr>
            <a:r>
              <a:rPr lang="en-US" altLang="en-US" sz="2200" dirty="0">
                <a:latin typeface="Arial" panose="020B0604020202020204" pitchFamily="34" charset="0"/>
                <a:ea typeface="ＭＳ Ｐゴシック" panose="020B0600070205080204" pitchFamily="34" charset="-128"/>
                <a:cs typeface="Arial" panose="020B0604020202020204" pitchFamily="34" charset="0"/>
              </a:rPr>
              <a:t>Communications industry</a:t>
            </a:r>
          </a:p>
        </p:txBody>
      </p:sp>
    </p:spTree>
    <p:extLst>
      <p:ext uri="{BB962C8B-B14F-4D97-AF65-F5344CB8AC3E}">
        <p14:creationId xmlns:p14="http://schemas.microsoft.com/office/powerpoint/2010/main" val="36905243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rm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Procedural Languages (11 of </a:t>
            </a:r>
            <a:r>
              <a:rPr lang="en-US" sz="3600" b="0" i="0" kern="1200" dirty="0">
                <a:solidFill>
                  <a:schemeClr val="bg1"/>
                </a:solidFill>
                <a:effectLst/>
                <a:latin typeface="Arial" panose="020B0604020202020204" pitchFamily="34" charset="0"/>
                <a:ea typeface="+mj-ea"/>
                <a:cs typeface="Arial" panose="020B0604020202020204" pitchFamily="34" charset="0"/>
              </a:rPr>
              <a:t>15</a:t>
            </a:r>
            <a:r>
              <a:rPr lang="en-US" altLang="en-US" sz="3600" b="0" dirty="0">
                <a:latin typeface="Arial" panose="020B0604020202020204" pitchFamily="34" charset="0"/>
                <a:ea typeface="ＭＳ Ｐゴシック" pitchFamily="34" charset="-128"/>
                <a:cs typeface="Arial" panose="020B0604020202020204" pitchFamily="34" charset="0"/>
              </a:rPr>
              <a:t>)</a:t>
            </a:r>
            <a:endParaRPr lang="en-US" sz="3600" b="0" dirty="0">
              <a:latin typeface="Arial" panose="020B0604020202020204" pitchFamily="34" charset="0"/>
              <a:cs typeface="Arial" panose="020B0604020202020204" pitchFamily="34" charset="0"/>
            </a:endParaRPr>
          </a:p>
        </p:txBody>
      </p:sp>
      <p:sp>
        <p:nvSpPr>
          <p:cNvPr id="7" name="Content Placeholder 6"/>
          <p:cNvSpPr>
            <a:spLocks noGrp="1"/>
          </p:cNvSpPr>
          <p:nvPr>
            <p:ph idx="1"/>
          </p:nvPr>
        </p:nvSpPr>
        <p:spPr>
          <a:xfrm>
            <a:off x="294968" y="1231266"/>
            <a:ext cx="8391835" cy="4894898"/>
          </a:xfrm>
        </p:spPr>
        <p:txBody>
          <a:bodyPr>
            <a:noAutofit/>
          </a:bodyPr>
          <a:lstStyle/>
          <a:p>
            <a:r>
              <a:rPr lang="en-US" altLang="en-US" dirty="0">
                <a:latin typeface="Arial" panose="020B0604020202020204" pitchFamily="34" charset="0"/>
                <a:ea typeface="ＭＳ Ｐゴシック" pitchFamily="34" charset="-128"/>
                <a:cs typeface="Arial" panose="020B0604020202020204" pitchFamily="34" charset="0"/>
              </a:rPr>
              <a:t>JAVA</a:t>
            </a:r>
          </a:p>
          <a:p>
            <a:pPr lvl="1"/>
            <a:r>
              <a:rPr lang="en-US" altLang="en-US" dirty="0">
                <a:latin typeface="Arial" panose="020B0604020202020204" pitchFamily="34" charset="0"/>
                <a:ea typeface="ＭＳ Ｐゴシック" pitchFamily="34" charset="-128"/>
                <a:cs typeface="Arial" panose="020B0604020202020204" pitchFamily="34" charset="0"/>
              </a:rPr>
              <a:t>Developed by Sun Microsystems Inc. in the early 1990s</a:t>
            </a:r>
          </a:p>
          <a:p>
            <a:pPr lvl="1"/>
            <a:r>
              <a:rPr lang="en-US" altLang="en-US" dirty="0">
                <a:latin typeface="Arial" panose="020B0604020202020204" pitchFamily="34" charset="0"/>
                <a:ea typeface="ＭＳ Ｐゴシック" pitchFamily="34" charset="-128"/>
                <a:cs typeface="Arial" panose="020B0604020202020204" pitchFamily="34" charset="0"/>
              </a:rPr>
              <a:t>Designed for</a:t>
            </a:r>
          </a:p>
          <a:p>
            <a:pPr marL="1071563" lvl="2" indent="-354013"/>
            <a:r>
              <a:rPr lang="en-US" altLang="en-US" dirty="0">
                <a:latin typeface="Arial" panose="020B0604020202020204" pitchFamily="34" charset="0"/>
                <a:ea typeface="ＭＳ Ｐゴシック" pitchFamily="34" charset="-128"/>
                <a:cs typeface="Arial" panose="020B0604020202020204" pitchFamily="34" charset="0"/>
              </a:rPr>
              <a:t>Platform independence</a:t>
            </a:r>
          </a:p>
          <a:p>
            <a:pPr marL="1071563" lvl="2" indent="-354013"/>
            <a:r>
              <a:rPr lang="en-US" altLang="en-US" dirty="0">
                <a:latin typeface="Arial" panose="020B0604020202020204" pitchFamily="34" charset="0"/>
                <a:ea typeface="ＭＳ Ｐゴシック" pitchFamily="34" charset="-128"/>
                <a:cs typeface="Arial" panose="020B0604020202020204" pitchFamily="34" charset="0"/>
              </a:rPr>
              <a:t>Reliability</a:t>
            </a:r>
          </a:p>
          <a:p>
            <a:pPr marL="1071563" lvl="2" indent="-354013"/>
            <a:r>
              <a:rPr lang="en-US" altLang="en-US" dirty="0">
                <a:latin typeface="Arial" panose="020B0604020202020204" pitchFamily="34" charset="0"/>
                <a:ea typeface="ＭＳ Ｐゴシック" pitchFamily="34" charset="-128"/>
                <a:cs typeface="Arial" panose="020B0604020202020204" pitchFamily="34" charset="0"/>
              </a:rPr>
              <a:t>Security</a:t>
            </a:r>
          </a:p>
          <a:p>
            <a:pPr marL="1071563" lvl="2" indent="-354013"/>
            <a:r>
              <a:rPr lang="en-US" altLang="en-US" dirty="0">
                <a:latin typeface="Arial" panose="020B0604020202020204" pitchFamily="34" charset="0"/>
                <a:ea typeface="ＭＳ Ｐゴシック" pitchFamily="34" charset="-128"/>
                <a:cs typeface="Arial" panose="020B0604020202020204" pitchFamily="34" charset="0"/>
              </a:rPr>
              <a:t>Graphical user interfaces</a:t>
            </a:r>
          </a:p>
          <a:p>
            <a:pPr lvl="1"/>
            <a:r>
              <a:rPr lang="en-US" altLang="en-US" dirty="0">
                <a:latin typeface="Arial" panose="020B0604020202020204" pitchFamily="34" charset="0"/>
                <a:ea typeface="ＭＳ Ｐゴシック" pitchFamily="34" charset="-128"/>
                <a:cs typeface="Arial" panose="020B0604020202020204" pitchFamily="34" charset="0"/>
              </a:rPr>
              <a:t>Strong integration with web browsers</a:t>
            </a:r>
          </a:p>
          <a:p>
            <a:pPr lvl="1"/>
            <a:r>
              <a:rPr lang="en-US" altLang="en-US" dirty="0">
                <a:latin typeface="Arial" panose="020B0604020202020204" pitchFamily="34" charset="0"/>
                <a:ea typeface="ＭＳ Ｐゴシック" pitchFamily="34" charset="-128"/>
                <a:cs typeface="Arial" panose="020B0604020202020204" pitchFamily="34" charset="0"/>
              </a:rPr>
              <a:t>Object-oriented, like C++</a:t>
            </a:r>
          </a:p>
        </p:txBody>
      </p:sp>
    </p:spTree>
    <p:extLst>
      <p:ext uri="{BB962C8B-B14F-4D97-AF65-F5344CB8AC3E}">
        <p14:creationId xmlns:p14="http://schemas.microsoft.com/office/powerpoint/2010/main" val="30471753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rm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Procedural Languages (12 of </a:t>
            </a:r>
            <a:r>
              <a:rPr lang="en-US" sz="3600" b="0" i="0" kern="1200" dirty="0">
                <a:solidFill>
                  <a:schemeClr val="bg1"/>
                </a:solidFill>
                <a:effectLst/>
                <a:latin typeface="Arial" panose="020B0604020202020204" pitchFamily="34" charset="0"/>
                <a:ea typeface="+mj-ea"/>
                <a:cs typeface="Arial" panose="020B0604020202020204" pitchFamily="34" charset="0"/>
              </a:rPr>
              <a:t>15</a:t>
            </a:r>
            <a:r>
              <a:rPr lang="en-US" altLang="en-US" sz="3600" b="0" dirty="0">
                <a:latin typeface="Arial" panose="020B0604020202020204" pitchFamily="34" charset="0"/>
                <a:ea typeface="ＭＳ Ｐゴシック" pitchFamily="34" charset="-128"/>
                <a:cs typeface="Arial" panose="020B0604020202020204" pitchFamily="34" charset="0"/>
              </a:rPr>
              <a:t>)</a:t>
            </a:r>
            <a:endParaRPr lang="en-US" sz="3600" b="0" dirty="0">
              <a:latin typeface="Arial" panose="020B0604020202020204" pitchFamily="34" charset="0"/>
              <a:cs typeface="Arial" panose="020B0604020202020204" pitchFamily="34" charset="0"/>
            </a:endParaRPr>
          </a:p>
        </p:txBody>
      </p:sp>
      <p:sp>
        <p:nvSpPr>
          <p:cNvPr id="7" name="Content Placeholder 6"/>
          <p:cNvSpPr>
            <a:spLocks noGrp="1"/>
          </p:cNvSpPr>
          <p:nvPr>
            <p:ph idx="1"/>
          </p:nvPr>
        </p:nvSpPr>
        <p:spPr>
          <a:xfrm>
            <a:off x="294968" y="1231266"/>
            <a:ext cx="8391835" cy="4894898"/>
          </a:xfrm>
        </p:spPr>
        <p:txBody>
          <a:bodyPr>
            <a:noAutofit/>
          </a:bodyPr>
          <a:lstStyle/>
          <a:p>
            <a:pPr lvl="1"/>
            <a:r>
              <a:rPr lang="en-US" altLang="en-US" dirty="0">
                <a:latin typeface="Arial" panose="020B0604020202020204" pitchFamily="34" charset="0"/>
                <a:ea typeface="ＭＳ Ｐゴシック" pitchFamily="34" charset="-128"/>
                <a:cs typeface="Arial" panose="020B0604020202020204" pitchFamily="34" charset="0"/>
              </a:rPr>
              <a:t>Java programs may be</a:t>
            </a:r>
          </a:p>
          <a:p>
            <a:pPr marL="1071563" lvl="2" indent="-354013"/>
            <a:r>
              <a:rPr lang="en-US" altLang="en-US" b="1" dirty="0">
                <a:latin typeface="Arial" panose="020B0604020202020204" pitchFamily="34" charset="0"/>
                <a:ea typeface="ＭＳ Ｐゴシック" pitchFamily="34" charset="-128"/>
                <a:cs typeface="Arial" panose="020B0604020202020204" pitchFamily="34" charset="0"/>
              </a:rPr>
              <a:t>Applications</a:t>
            </a:r>
            <a:r>
              <a:rPr lang="en-US" altLang="en-US" dirty="0">
                <a:latin typeface="Arial" panose="020B0604020202020204" pitchFamily="34" charset="0"/>
                <a:ea typeface="ＭＳ Ｐゴシック" pitchFamily="34" charset="-128"/>
                <a:cs typeface="Arial" panose="020B0604020202020204" pitchFamily="34" charset="0"/>
              </a:rPr>
              <a:t>:</a:t>
            </a:r>
            <a:r>
              <a:rPr lang="en-US" altLang="en-US" b="1" dirty="0">
                <a:latin typeface="Arial" panose="020B0604020202020204" pitchFamily="34" charset="0"/>
                <a:ea typeface="ＭＳ Ｐゴシック" pitchFamily="34" charset="-128"/>
                <a:cs typeface="Arial" panose="020B0604020202020204" pitchFamily="34" charset="0"/>
              </a:rPr>
              <a:t> </a:t>
            </a:r>
            <a:r>
              <a:rPr lang="en-US" altLang="en-US" dirty="0">
                <a:latin typeface="Arial" panose="020B0604020202020204" pitchFamily="34" charset="0"/>
                <a:ea typeface="ＭＳ Ｐゴシック" pitchFamily="34" charset="-128"/>
                <a:cs typeface="Arial" panose="020B0604020202020204" pitchFamily="34" charset="0"/>
              </a:rPr>
              <a:t>stand-alone programs</a:t>
            </a:r>
          </a:p>
          <a:p>
            <a:pPr marL="1071563" lvl="2" indent="-354013"/>
            <a:r>
              <a:rPr lang="en-US" altLang="en-US" b="1" dirty="0">
                <a:latin typeface="Arial" panose="020B0604020202020204" pitchFamily="34" charset="0"/>
                <a:ea typeface="ＭＳ Ｐゴシック" pitchFamily="34" charset="-128"/>
                <a:cs typeface="Arial" panose="020B0604020202020204" pitchFamily="34" charset="0"/>
              </a:rPr>
              <a:t>Applets</a:t>
            </a:r>
            <a:r>
              <a:rPr lang="en-US" altLang="en-US" dirty="0">
                <a:latin typeface="Arial" panose="020B0604020202020204" pitchFamily="34" charset="0"/>
                <a:ea typeface="ＭＳ Ｐゴシック" pitchFamily="34" charset="-128"/>
                <a:cs typeface="Arial" panose="020B0604020202020204" pitchFamily="34" charset="0"/>
              </a:rPr>
              <a:t>: small programs that are accessed from the web and executed using </a:t>
            </a:r>
            <a:r>
              <a:rPr lang="en-US" altLang="en-US" b="1" dirty="0">
                <a:latin typeface="Arial" panose="020B0604020202020204" pitchFamily="34" charset="0"/>
                <a:ea typeface="ＭＳ Ｐゴシック" pitchFamily="34" charset="-128"/>
                <a:cs typeface="Arial" panose="020B0604020202020204" pitchFamily="34" charset="0"/>
              </a:rPr>
              <a:t>Java Web Start</a:t>
            </a:r>
          </a:p>
          <a:p>
            <a:pPr lvl="1"/>
            <a:r>
              <a:rPr lang="en-US" altLang="en-US" dirty="0">
                <a:latin typeface="Arial" panose="020B0604020202020204" pitchFamily="34" charset="0"/>
                <a:ea typeface="ＭＳ Ｐゴシック" pitchFamily="34" charset="-128"/>
                <a:cs typeface="Arial" panose="020B0604020202020204" pitchFamily="34" charset="0"/>
              </a:rPr>
              <a:t>Portability is a key strength</a:t>
            </a:r>
          </a:p>
          <a:p>
            <a:pPr marL="1071563" lvl="2" indent="-354013"/>
            <a:r>
              <a:rPr lang="en-US" altLang="en-US" dirty="0">
                <a:latin typeface="Arial" panose="020B0604020202020204" pitchFamily="34" charset="0"/>
                <a:ea typeface="ＭＳ Ｐゴシック" pitchFamily="34" charset="-128"/>
                <a:cs typeface="Arial" panose="020B0604020202020204" pitchFamily="34" charset="0"/>
              </a:rPr>
              <a:t>Applications and applets run on most platforms and through most browsers</a:t>
            </a:r>
          </a:p>
          <a:p>
            <a:pPr marL="1071563" lvl="2" indent="-354013"/>
            <a:r>
              <a:rPr lang="en-US" altLang="en-US" dirty="0">
                <a:latin typeface="Arial" panose="020B0604020202020204" pitchFamily="34" charset="0"/>
                <a:ea typeface="ＭＳ Ｐゴシック" pitchFamily="34" charset="-128"/>
                <a:cs typeface="Arial" panose="020B0604020202020204" pitchFamily="34" charset="0"/>
              </a:rPr>
              <a:t>Source code compiles to platform-independent </a:t>
            </a:r>
            <a:r>
              <a:rPr lang="en-US" altLang="en-US" b="1" dirty="0">
                <a:latin typeface="Arial" panose="020B0604020202020204" pitchFamily="34" charset="0"/>
                <a:ea typeface="ＭＳ Ｐゴシック" pitchFamily="34" charset="-128"/>
                <a:cs typeface="Arial" panose="020B0604020202020204" pitchFamily="34" charset="0"/>
              </a:rPr>
              <a:t>bytecode</a:t>
            </a:r>
            <a:r>
              <a:rPr lang="en-US" altLang="en-US" dirty="0">
                <a:latin typeface="Arial" panose="020B0604020202020204" pitchFamily="34" charset="0"/>
                <a:ea typeface="ＭＳ Ｐゴシック" pitchFamily="34" charset="-128"/>
                <a:cs typeface="Arial" panose="020B0604020202020204" pitchFamily="34" charset="0"/>
              </a:rPr>
              <a:t> (generic low-level code)</a:t>
            </a:r>
          </a:p>
          <a:p>
            <a:pPr marL="1071563" lvl="2" indent="-354013"/>
            <a:r>
              <a:rPr lang="en-US" altLang="en-US" b="1" dirty="0">
                <a:latin typeface="Arial" panose="020B0604020202020204" pitchFamily="34" charset="0"/>
                <a:ea typeface="ＭＳ Ｐゴシック" pitchFamily="34" charset="-128"/>
                <a:cs typeface="Arial" panose="020B0604020202020204" pitchFamily="34" charset="0"/>
              </a:rPr>
              <a:t>Java bytecode interpreter</a:t>
            </a:r>
            <a:r>
              <a:rPr lang="en-US" altLang="en-US" dirty="0">
                <a:latin typeface="Arial" panose="020B0604020202020204" pitchFamily="34" charset="0"/>
                <a:ea typeface="ＭＳ Ｐゴシック" pitchFamily="34" charset="-128"/>
                <a:cs typeface="Arial" panose="020B0604020202020204" pitchFamily="34" charset="0"/>
              </a:rPr>
              <a:t> translates to host machine (small program, integrated into browsers)</a:t>
            </a:r>
          </a:p>
        </p:txBody>
      </p:sp>
    </p:spTree>
    <p:extLst>
      <p:ext uri="{BB962C8B-B14F-4D97-AF65-F5344CB8AC3E}">
        <p14:creationId xmlns:p14="http://schemas.microsoft.com/office/powerpoint/2010/main" val="40259308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rm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Procedural Languages (13 of </a:t>
            </a:r>
            <a:r>
              <a:rPr lang="en-US" sz="3600" b="0" i="0" kern="1200" dirty="0">
                <a:solidFill>
                  <a:schemeClr val="bg1"/>
                </a:solidFill>
                <a:effectLst/>
                <a:latin typeface="Arial" panose="020B0604020202020204" pitchFamily="34" charset="0"/>
                <a:ea typeface="+mj-ea"/>
                <a:cs typeface="Arial" panose="020B0604020202020204" pitchFamily="34" charset="0"/>
              </a:rPr>
              <a:t>15</a:t>
            </a:r>
            <a:r>
              <a:rPr lang="en-US" altLang="en-US" sz="3600" b="0" dirty="0">
                <a:latin typeface="Arial" panose="020B0604020202020204" pitchFamily="34" charset="0"/>
                <a:ea typeface="ＭＳ Ｐゴシック" pitchFamily="34" charset="-128"/>
                <a:cs typeface="Arial" panose="020B0604020202020204" pitchFamily="34" charset="0"/>
              </a:rPr>
              <a:t>)</a:t>
            </a:r>
            <a:endParaRPr lang="en-US" sz="3600" b="0" dirty="0">
              <a:latin typeface="Arial" panose="020B0604020202020204" pitchFamily="34" charset="0"/>
              <a:cs typeface="Arial" panose="020B0604020202020204" pitchFamily="34" charset="0"/>
            </a:endParaRPr>
          </a:p>
        </p:txBody>
      </p:sp>
      <p:sp>
        <p:nvSpPr>
          <p:cNvPr id="7" name="Content Placeholder 6"/>
          <p:cNvSpPr>
            <a:spLocks noGrp="1"/>
          </p:cNvSpPr>
          <p:nvPr>
            <p:ph idx="1"/>
          </p:nvPr>
        </p:nvSpPr>
        <p:spPr>
          <a:xfrm>
            <a:off x="294968" y="1231266"/>
            <a:ext cx="8391835" cy="4894898"/>
          </a:xfrm>
        </p:spPr>
        <p:txBody>
          <a:bodyPr>
            <a:noAutofit/>
          </a:bodyPr>
          <a:lstStyle/>
          <a:p>
            <a:r>
              <a:rPr lang="en-US" altLang="en-US" dirty="0">
                <a:latin typeface="Arial" panose="020B0604020202020204" pitchFamily="34" charset="0"/>
                <a:ea typeface="ＭＳ Ｐゴシック" pitchFamily="34" charset="-128"/>
                <a:cs typeface="Arial" panose="020B0604020202020204" pitchFamily="34" charset="0"/>
              </a:rPr>
              <a:t>Python</a:t>
            </a:r>
          </a:p>
          <a:p>
            <a:pPr lvl="1"/>
            <a:r>
              <a:rPr lang="en-US" altLang="en-US" dirty="0">
                <a:latin typeface="Arial" panose="020B0604020202020204" pitchFamily="34" charset="0"/>
                <a:ea typeface="ＭＳ Ｐゴシック" pitchFamily="34" charset="-128"/>
                <a:cs typeface="Arial" panose="020B0604020202020204" pitchFamily="34" charset="0"/>
              </a:rPr>
              <a:t>Developed by Guido van Rossum in the early 1990s</a:t>
            </a:r>
          </a:p>
          <a:p>
            <a:pPr lvl="1"/>
            <a:r>
              <a:rPr lang="en-US" altLang="en-US" b="1" dirty="0">
                <a:latin typeface="Arial" panose="020B0604020202020204" pitchFamily="34" charset="0"/>
                <a:ea typeface="ＭＳ Ｐゴシック" pitchFamily="34" charset="-128"/>
                <a:cs typeface="Arial" panose="020B0604020202020204" pitchFamily="34" charset="0"/>
              </a:rPr>
              <a:t>Open source</a:t>
            </a:r>
            <a:r>
              <a:rPr lang="en-US" altLang="en-US" dirty="0">
                <a:latin typeface="Arial" panose="020B0604020202020204" pitchFamily="34" charset="0"/>
                <a:ea typeface="ＭＳ Ｐゴシック" pitchFamily="34" charset="-128"/>
                <a:cs typeface="Arial" panose="020B0604020202020204" pitchFamily="34" charset="0"/>
              </a:rPr>
              <a:t>: source code for Python is freely available and anyone may suggest changes</a:t>
            </a:r>
          </a:p>
          <a:p>
            <a:pPr marL="1071563" lvl="2" indent="-354013"/>
            <a:r>
              <a:rPr lang="en-US" altLang="en-US" dirty="0">
                <a:latin typeface="Arial" panose="020B0604020202020204" pitchFamily="34" charset="0"/>
                <a:ea typeface="ＭＳ Ｐゴシック" pitchFamily="34" charset="-128"/>
                <a:cs typeface="Arial" panose="020B0604020202020204" pitchFamily="34" charset="0"/>
              </a:rPr>
              <a:t>Language evolution is now guided by the Python Software Foundation</a:t>
            </a:r>
          </a:p>
          <a:p>
            <a:pPr lvl="1"/>
            <a:r>
              <a:rPr lang="en-US" altLang="en-US" dirty="0">
                <a:latin typeface="Arial" panose="020B0604020202020204" pitchFamily="34" charset="0"/>
                <a:ea typeface="ＭＳ Ｐゴシック" pitchFamily="34" charset="-128"/>
                <a:cs typeface="Arial" panose="020B0604020202020204" pitchFamily="34" charset="0"/>
              </a:rPr>
              <a:t>Developed for system administrator tasks and web interfaces</a:t>
            </a:r>
          </a:p>
          <a:p>
            <a:pPr lvl="1"/>
            <a:r>
              <a:rPr lang="en-US" altLang="en-US" dirty="0">
                <a:latin typeface="Arial" panose="020B0604020202020204" pitchFamily="34" charset="0"/>
                <a:ea typeface="ＭＳ Ｐゴシック" pitchFamily="34" charset="-128"/>
                <a:cs typeface="Arial" panose="020B0604020202020204" pitchFamily="34" charset="0"/>
              </a:rPr>
              <a:t>Interpreted language: source code is translated to object code when executed</a:t>
            </a:r>
          </a:p>
          <a:p>
            <a:pPr lvl="1"/>
            <a:r>
              <a:rPr lang="en-US" altLang="en-US" dirty="0">
                <a:latin typeface="Arial" panose="020B0604020202020204" pitchFamily="34" charset="0"/>
                <a:ea typeface="ＭＳ Ｐゴシック" pitchFamily="34" charset="-128"/>
                <a:cs typeface="Arial" panose="020B0604020202020204" pitchFamily="34" charset="0"/>
              </a:rPr>
              <a:t>Relaxed syntax, easy to use, extensive libraries</a:t>
            </a:r>
          </a:p>
        </p:txBody>
      </p:sp>
    </p:spTree>
    <p:extLst>
      <p:ext uri="{BB962C8B-B14F-4D97-AF65-F5344CB8AC3E}">
        <p14:creationId xmlns:p14="http://schemas.microsoft.com/office/powerpoint/2010/main" val="16454939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rm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Procedural Languages (14 of 15)</a:t>
            </a:r>
            <a:endParaRPr lang="en-US" sz="3600" b="0" dirty="0">
              <a:latin typeface="Arial" panose="020B0604020202020204" pitchFamily="34" charset="0"/>
              <a:cs typeface="Arial" panose="020B0604020202020204" pitchFamily="34" charset="0"/>
            </a:endParaRPr>
          </a:p>
        </p:txBody>
      </p:sp>
      <p:sp>
        <p:nvSpPr>
          <p:cNvPr id="7" name="Content Placeholder 6"/>
          <p:cNvSpPr>
            <a:spLocks noGrp="1"/>
          </p:cNvSpPr>
          <p:nvPr>
            <p:ph idx="1"/>
          </p:nvPr>
        </p:nvSpPr>
        <p:spPr>
          <a:xfrm>
            <a:off x="294968" y="1231266"/>
            <a:ext cx="8391835" cy="4894898"/>
          </a:xfrm>
        </p:spPr>
        <p:txBody>
          <a:bodyPr>
            <a:noAutofit/>
          </a:bodyPr>
          <a:lstStyle/>
          <a:p>
            <a:pPr>
              <a:buFont typeface="Arial" panose="020B0604020202020204" pitchFamily="34" charset="0"/>
              <a:buChar char="•"/>
              <a:defRPr/>
            </a:pPr>
            <a:r>
              <a:rPr lang="en-US" altLang="en-US" dirty="0">
                <a:latin typeface="Arial" panose="020B0604020202020204" pitchFamily="34" charset="0"/>
                <a:ea typeface="ＭＳ Ｐゴシック" panose="020B0600070205080204" pitchFamily="34" charset="-128"/>
                <a:cs typeface="Arial" panose="020B0604020202020204" pitchFamily="34" charset="0"/>
              </a:rPr>
              <a:t>C#</a:t>
            </a:r>
          </a:p>
          <a:p>
            <a:pPr marL="717550" indent="-363538">
              <a:buFont typeface="Arial" panose="020B0604020202020204" pitchFamily="34" charset="0"/>
              <a:buChar char="–"/>
              <a:defRPr/>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Developed by Microsoft in 2000</a:t>
            </a:r>
          </a:p>
          <a:p>
            <a:pPr marL="717550" indent="-363538">
              <a:buFont typeface="Arial" panose="020B0604020202020204" pitchFamily="34" charset="0"/>
              <a:buChar char="–"/>
              <a:defRPr/>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Successor to C++ but not a superset</a:t>
            </a:r>
          </a:p>
          <a:p>
            <a:pPr marL="717550" indent="-363538">
              <a:buFont typeface="Arial" panose="020B0604020202020204" pitchFamily="34" charset="0"/>
              <a:buChar char="–"/>
              <a:defRPr/>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Similar to Java in form and goals</a:t>
            </a:r>
          </a:p>
          <a:p>
            <a:pPr marL="1071563" lvl="1" indent="-354013">
              <a:buFont typeface="Wingdings" pitchFamily="2" charset="2"/>
              <a:buChar char="§"/>
              <a:defRPr/>
            </a:pPr>
            <a:r>
              <a:rPr lang="en-US" altLang="en-US" sz="2200" dirty="0">
                <a:latin typeface="Arial" panose="020B0604020202020204" pitchFamily="34" charset="0"/>
                <a:ea typeface="ＭＳ Ｐゴシック" panose="020B0600070205080204" pitchFamily="34" charset="-128"/>
                <a:cs typeface="Arial" panose="020B0604020202020204" pitchFamily="34" charset="0"/>
              </a:rPr>
              <a:t>Security</a:t>
            </a:r>
          </a:p>
          <a:p>
            <a:pPr marL="1071563" lvl="1" indent="-354013">
              <a:buFont typeface="Wingdings" pitchFamily="2" charset="2"/>
              <a:buChar char="§"/>
              <a:defRPr/>
            </a:pPr>
            <a:r>
              <a:rPr lang="en-US" altLang="en-US" sz="2200" dirty="0">
                <a:latin typeface="Arial" panose="020B0604020202020204" pitchFamily="34" charset="0"/>
                <a:ea typeface="ＭＳ Ｐゴシック" panose="020B0600070205080204" pitchFamily="34" charset="-128"/>
                <a:cs typeface="Arial" panose="020B0604020202020204" pitchFamily="34" charset="0"/>
              </a:rPr>
              <a:t>Reliability</a:t>
            </a:r>
          </a:p>
          <a:p>
            <a:pPr marL="717550" indent="-363538">
              <a:buFont typeface="Arial" panose="020B0604020202020204" pitchFamily="34" charset="0"/>
              <a:buChar char="–"/>
              <a:defRPr/>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Integrated into the .NET framework</a:t>
            </a:r>
          </a:p>
          <a:p>
            <a:pPr marL="1071563" lvl="1" indent="-363538">
              <a:buFont typeface="Wingdings" pitchFamily="2" charset="2"/>
              <a:buChar char="§"/>
              <a:defRPr/>
            </a:pPr>
            <a:r>
              <a:rPr lang="en-US" altLang="en-US" sz="2200" dirty="0">
                <a:latin typeface="Arial" panose="020B0604020202020204" pitchFamily="34" charset="0"/>
                <a:ea typeface="ＭＳ Ｐゴシック" panose="020B0600070205080204" pitchFamily="34" charset="-128"/>
                <a:cs typeface="Arial" panose="020B0604020202020204" pitchFamily="34" charset="0"/>
              </a:rPr>
              <a:t>Microsoft support framework for many languages</a:t>
            </a:r>
          </a:p>
          <a:p>
            <a:pPr marL="1071563" lvl="1" indent="-363538">
              <a:buFont typeface="Wingdings" pitchFamily="2" charset="2"/>
              <a:buChar char="§"/>
              <a:defRPr/>
            </a:pPr>
            <a:r>
              <a:rPr lang="en-US" altLang="en-US" sz="2200" dirty="0">
                <a:latin typeface="Arial" panose="020B0604020202020204" pitchFamily="34" charset="0"/>
                <a:ea typeface="ＭＳ Ｐゴシック" panose="020B0600070205080204" pitchFamily="34" charset="-128"/>
                <a:cs typeface="Arial" panose="020B0604020202020204" pitchFamily="34" charset="0"/>
              </a:rPr>
              <a:t>Large collection of code libraries and tools </a:t>
            </a:r>
          </a:p>
          <a:p>
            <a:pPr marL="717550" indent="-363538">
              <a:buFont typeface="Arial" panose="020B0604020202020204" pitchFamily="34" charset="0"/>
              <a:buChar char="–"/>
              <a:defRPr/>
            </a:pPr>
            <a:r>
              <a:rPr lang="en-US" altLang="en-US" sz="2400" b="1" dirty="0">
                <a:latin typeface="Arial" panose="020B0604020202020204" pitchFamily="34" charset="0"/>
                <a:ea typeface="ＭＳ Ｐゴシック" panose="020B0600070205080204" pitchFamily="34" charset="-128"/>
                <a:cs typeface="Arial" panose="020B0604020202020204" pitchFamily="34" charset="0"/>
              </a:rPr>
              <a:t>Garbage collection</a:t>
            </a:r>
            <a:r>
              <a:rPr lang="en-US" altLang="en-US" sz="2400" dirty="0">
                <a:latin typeface="Arial" panose="020B0604020202020204" pitchFamily="34" charset="0"/>
                <a:ea typeface="ＭＳ Ｐゴシック" panose="020B0600070205080204" pitchFamily="34" charset="-128"/>
                <a:cs typeface="Arial" panose="020B0604020202020204" pitchFamily="34" charset="0"/>
              </a:rPr>
              <a:t>: reclaiming memory for reuse</a:t>
            </a:r>
          </a:p>
        </p:txBody>
      </p:sp>
    </p:spTree>
    <p:extLst>
      <p:ext uri="{BB962C8B-B14F-4D97-AF65-F5344CB8AC3E}">
        <p14:creationId xmlns:p14="http://schemas.microsoft.com/office/powerpoint/2010/main" val="40583211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rm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Procedural Languages (15 of 15)</a:t>
            </a:r>
            <a:endParaRPr lang="en-US" sz="3600" b="0" dirty="0">
              <a:latin typeface="Arial" panose="020B0604020202020204" pitchFamily="34" charset="0"/>
              <a:cs typeface="Arial" panose="020B0604020202020204" pitchFamily="34" charset="0"/>
            </a:endParaRPr>
          </a:p>
        </p:txBody>
      </p:sp>
      <p:sp>
        <p:nvSpPr>
          <p:cNvPr id="7" name="Content Placeholder 6"/>
          <p:cNvSpPr>
            <a:spLocks noGrp="1"/>
          </p:cNvSpPr>
          <p:nvPr>
            <p:ph idx="1"/>
          </p:nvPr>
        </p:nvSpPr>
        <p:spPr>
          <a:xfrm>
            <a:off x="294968" y="1231266"/>
            <a:ext cx="8391835" cy="4894898"/>
          </a:xfrm>
        </p:spPr>
        <p:txBody>
          <a:bodyPr>
            <a:noAutofit/>
          </a:bodyPr>
          <a:lstStyle/>
          <a:p>
            <a:pPr>
              <a:buFontTx/>
              <a:buNone/>
              <a:defRPr/>
            </a:pPr>
            <a:r>
              <a:rPr lang="en-US" altLang="en-US" dirty="0">
                <a:latin typeface="Arial" panose="020B0604020202020204" pitchFamily="34" charset="0"/>
                <a:ea typeface="ＭＳ Ｐゴシック" panose="020B0600070205080204" pitchFamily="34" charset="-128"/>
                <a:cs typeface="Arial" panose="020B0604020202020204" pitchFamily="34" charset="0"/>
              </a:rPr>
              <a:t>.NET</a:t>
            </a:r>
          </a:p>
          <a:p>
            <a:pPr marL="717550" indent="-363538">
              <a:buFont typeface="Arial" panose="020B0604020202020204" pitchFamily="34" charset="0"/>
              <a:buChar char="–"/>
              <a:defRPr/>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All .NET languages are compiled into </a:t>
            </a:r>
            <a:r>
              <a:rPr lang="en-US" altLang="en-US" sz="2400" b="1" dirty="0">
                <a:latin typeface="Arial" panose="020B0604020202020204" pitchFamily="34" charset="0"/>
                <a:ea typeface="ＭＳ Ｐゴシック" panose="020B0600070205080204" pitchFamily="34" charset="-128"/>
                <a:cs typeface="Arial" panose="020B0604020202020204" pitchFamily="34" charset="0"/>
              </a:rPr>
              <a:t>Microsoft Intermediate Language (MSIL)</a:t>
            </a:r>
          </a:p>
          <a:p>
            <a:pPr marL="717550" indent="-363538">
              <a:buFont typeface="Arial" panose="020B0604020202020204" pitchFamily="34" charset="0"/>
              <a:buChar char="–"/>
              <a:defRPr/>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MSIL code is compiled by a </a:t>
            </a:r>
            <a:r>
              <a:rPr lang="en-US" altLang="en-US" sz="2400" b="1" dirty="0">
                <a:latin typeface="Arial" panose="020B0604020202020204" pitchFamily="34" charset="0"/>
                <a:ea typeface="ＭＳ Ｐゴシック" panose="020B0600070205080204" pitchFamily="34" charset="-128"/>
                <a:cs typeface="Arial" panose="020B0604020202020204" pitchFamily="34" charset="0"/>
              </a:rPr>
              <a:t>just-in-time (JIT) compiler</a:t>
            </a:r>
            <a:r>
              <a:rPr lang="en-US" altLang="en-US" sz="2400" dirty="0">
                <a:latin typeface="Arial" panose="020B0604020202020204" pitchFamily="34" charset="0"/>
                <a:ea typeface="ＭＳ Ｐゴシック" panose="020B0600070205080204" pitchFamily="34" charset="-128"/>
                <a:cs typeface="Arial" panose="020B0604020202020204" pitchFamily="34" charset="0"/>
              </a:rPr>
              <a:t>, small program that produces platform-specific object code</a:t>
            </a:r>
          </a:p>
          <a:p>
            <a:pPr marL="717550" indent="-363538">
              <a:buFont typeface="Arial" panose="020B0604020202020204" pitchFamily="34" charset="0"/>
              <a:buChar char="–"/>
              <a:defRPr/>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.NET languages include Ada, COBOL, C++, C#, and Visual Basic .NET</a:t>
            </a:r>
          </a:p>
        </p:txBody>
      </p:sp>
    </p:spTree>
    <p:extLst>
      <p:ext uri="{BB962C8B-B14F-4D97-AF65-F5344CB8AC3E}">
        <p14:creationId xmlns:p14="http://schemas.microsoft.com/office/powerpoint/2010/main" val="16724772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rm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Special-Purpose Languages (1 of 10)</a:t>
            </a:r>
            <a:endParaRPr lang="en-US" sz="3600" b="0" dirty="0">
              <a:latin typeface="Arial" panose="020B0604020202020204" pitchFamily="34" charset="0"/>
              <a:cs typeface="Arial" panose="020B0604020202020204" pitchFamily="34" charset="0"/>
            </a:endParaRPr>
          </a:p>
        </p:txBody>
      </p:sp>
      <p:sp>
        <p:nvSpPr>
          <p:cNvPr id="7" name="Content Placeholder 6"/>
          <p:cNvSpPr>
            <a:spLocks noGrp="1"/>
          </p:cNvSpPr>
          <p:nvPr>
            <p:ph idx="1"/>
          </p:nvPr>
        </p:nvSpPr>
        <p:spPr>
          <a:xfrm>
            <a:off x="294968" y="1231266"/>
            <a:ext cx="8391835" cy="4894898"/>
          </a:xfrm>
        </p:spPr>
        <p:txBody>
          <a:bodyPr>
            <a:noAutofit/>
          </a:bodyPr>
          <a:lstStyle/>
          <a:p>
            <a:pPr>
              <a:defRPr/>
            </a:pPr>
            <a:r>
              <a:rPr lang="en-US" altLang="en-US" dirty="0">
                <a:latin typeface="Arial" panose="020B0604020202020204" pitchFamily="34" charset="0"/>
                <a:ea typeface="ＭＳ Ｐゴシック" panose="020B0600070205080204" pitchFamily="34" charset="-128"/>
                <a:cs typeface="Arial" panose="020B0604020202020204" pitchFamily="34" charset="0"/>
              </a:rPr>
              <a:t>Languages designed for one specific purpose, not general-purpose programming languages</a:t>
            </a:r>
          </a:p>
          <a:p>
            <a:pPr marL="717550">
              <a:buFont typeface="Arial" panose="020B0604020202020204" pitchFamily="34" charset="0"/>
              <a:buChar char="–"/>
              <a:defRPr/>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SQL, Structured Query Language</a:t>
            </a:r>
          </a:p>
          <a:p>
            <a:pPr marL="1071563" lvl="1" indent="-342900">
              <a:buFont typeface="Wingdings" pitchFamily="2" charset="2"/>
              <a:buChar char="§"/>
              <a:defRPr/>
            </a:pPr>
            <a:r>
              <a:rPr lang="en-US" altLang="en-US" sz="2200" dirty="0">
                <a:latin typeface="Arial" panose="020B0604020202020204" pitchFamily="34" charset="0"/>
                <a:ea typeface="ＭＳ Ｐゴシック" panose="020B0600070205080204" pitchFamily="34" charset="-128"/>
                <a:cs typeface="Arial" panose="020B0604020202020204" pitchFamily="34" charset="0"/>
              </a:rPr>
              <a:t>Ask questions about data in a database</a:t>
            </a:r>
          </a:p>
          <a:p>
            <a:pPr marL="717550">
              <a:buFont typeface="Arial" panose="020B0604020202020204" pitchFamily="34" charset="0"/>
              <a:buChar char="–"/>
              <a:defRPr/>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HTML (HyperText Markup Language)</a:t>
            </a:r>
          </a:p>
          <a:p>
            <a:pPr marL="1071563" lvl="1" indent="-342900">
              <a:buFont typeface="Wingdings" pitchFamily="2" charset="2"/>
              <a:buChar char="§"/>
              <a:defRPr/>
            </a:pPr>
            <a:r>
              <a:rPr lang="en-US" altLang="en-US" sz="2200" dirty="0">
                <a:latin typeface="Arial" panose="020B0604020202020204" pitchFamily="34" charset="0"/>
                <a:ea typeface="ＭＳ Ｐゴシック" panose="020B0600070205080204" pitchFamily="34" charset="-128"/>
                <a:cs typeface="Arial" panose="020B0604020202020204" pitchFamily="34" charset="0"/>
              </a:rPr>
              <a:t>Describes the formatting of webpages</a:t>
            </a:r>
          </a:p>
          <a:p>
            <a:pPr marL="717550">
              <a:buFont typeface="Arial" panose="020B0604020202020204" pitchFamily="34" charset="0"/>
              <a:buChar char="–"/>
              <a:defRPr/>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JavaScript</a:t>
            </a:r>
          </a:p>
          <a:p>
            <a:pPr marL="1071563" lvl="1" indent="-354013">
              <a:buFont typeface="Wingdings" pitchFamily="2" charset="2"/>
              <a:buChar char="§"/>
              <a:defRPr/>
            </a:pPr>
            <a:r>
              <a:rPr lang="en-US" altLang="en-US" sz="2200" dirty="0">
                <a:latin typeface="Arial" panose="020B0604020202020204" pitchFamily="34" charset="0"/>
                <a:ea typeface="ＭＳ Ｐゴシック" panose="020B0600070205080204" pitchFamily="34" charset="-128"/>
                <a:cs typeface="Arial" panose="020B0604020202020204" pitchFamily="34" charset="0"/>
              </a:rPr>
              <a:t>Lightweight scripting language for active webpages</a:t>
            </a:r>
          </a:p>
          <a:p>
            <a:pPr marL="1071563" lvl="1" indent="-354013">
              <a:buFont typeface="Wingdings" pitchFamily="2" charset="2"/>
              <a:buChar char="§"/>
              <a:defRPr/>
            </a:pPr>
            <a:r>
              <a:rPr lang="en-US" altLang="en-US" sz="2200" dirty="0">
                <a:latin typeface="Arial" panose="020B0604020202020204" pitchFamily="34" charset="0"/>
                <a:ea typeface="ＭＳ Ｐゴシック" panose="020B0600070205080204" pitchFamily="34" charset="-128"/>
                <a:cs typeface="Arial" panose="020B0604020202020204" pitchFamily="34" charset="0"/>
              </a:rPr>
              <a:t>Code is embedded in the HTML for the page</a:t>
            </a:r>
          </a:p>
          <a:p>
            <a:pPr marL="660400">
              <a:buFont typeface="Symbol" panose="05050102010706020507" pitchFamily="18" charset="2"/>
              <a:buChar char=""/>
              <a:defRPr/>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R</a:t>
            </a:r>
          </a:p>
          <a:p>
            <a:pPr marL="1117600" lvl="1" indent="-342900">
              <a:buFont typeface="Wingdings" panose="05000000000000000000" pitchFamily="2" charset="2"/>
              <a:buChar char="§"/>
              <a:defRPr/>
            </a:pPr>
            <a:r>
              <a:rPr lang="en-US" altLang="en-US" sz="2200" dirty="0">
                <a:latin typeface="Arial" panose="020B0604020202020204" pitchFamily="34" charset="0"/>
                <a:ea typeface="ＭＳ Ｐゴシック" panose="020B0600070205080204" pitchFamily="34" charset="-128"/>
                <a:cs typeface="Arial" panose="020B0604020202020204" pitchFamily="34" charset="0"/>
              </a:rPr>
              <a:t>Specialized language designed for statistics and graphics</a:t>
            </a:r>
          </a:p>
          <a:p>
            <a:pPr marL="671513" indent="-354013">
              <a:buFont typeface="Wingdings" pitchFamily="2" charset="2"/>
              <a:buChar char="§"/>
              <a:defRPr/>
            </a:pPr>
            <a:endParaRPr lang="en-US" altLang="en-US" sz="2400" dirty="0">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37948067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5DF955B-ABAA-4DC6-8B1F-00B88C6AB212}"/>
              </a:ext>
            </a:extLst>
          </p:cNvPr>
          <p:cNvPicPr>
            <a:picLocks noChangeAspect="1"/>
          </p:cNvPicPr>
          <p:nvPr/>
        </p:nvPicPr>
        <p:blipFill>
          <a:blip r:embed="rId2"/>
          <a:stretch>
            <a:fillRect/>
          </a:stretch>
        </p:blipFill>
        <p:spPr>
          <a:xfrm>
            <a:off x="0" y="46433"/>
            <a:ext cx="9144000" cy="6765131"/>
          </a:xfrm>
          <a:prstGeom prst="rect">
            <a:avLst/>
          </a:prstGeom>
        </p:spPr>
      </p:pic>
      <p:sp>
        <p:nvSpPr>
          <p:cNvPr id="5" name="TextBox 4">
            <a:extLst>
              <a:ext uri="{FF2B5EF4-FFF2-40B4-BE49-F238E27FC236}">
                <a16:creationId xmlns:a16="http://schemas.microsoft.com/office/drawing/2014/main" id="{5BDB6A53-6B33-42E0-A78D-D572DC078395}"/>
              </a:ext>
            </a:extLst>
          </p:cNvPr>
          <p:cNvSpPr txBox="1"/>
          <p:nvPr/>
        </p:nvSpPr>
        <p:spPr>
          <a:xfrm>
            <a:off x="2702104" y="4643919"/>
            <a:ext cx="1869896" cy="369332"/>
          </a:xfrm>
          <a:prstGeom prst="rect">
            <a:avLst/>
          </a:prstGeom>
          <a:noFill/>
        </p:spPr>
        <p:txBody>
          <a:bodyPr wrap="square" rtlCol="0">
            <a:spAutoFit/>
          </a:bodyPr>
          <a:lstStyle/>
          <a:p>
            <a:r>
              <a:rPr lang="zh-CN" altLang="en-US" dirty="0">
                <a:solidFill>
                  <a:srgbClr val="FF0000"/>
                </a:solidFill>
              </a:rPr>
              <a:t>外观</a:t>
            </a:r>
            <a:r>
              <a:rPr lang="en-US" altLang="zh-CN" dirty="0">
                <a:solidFill>
                  <a:srgbClr val="FF0000"/>
                </a:solidFill>
              </a:rPr>
              <a:t>/</a:t>
            </a:r>
            <a:r>
              <a:rPr lang="zh-CN" altLang="en-US" dirty="0">
                <a:solidFill>
                  <a:srgbClr val="FF0000"/>
                </a:solidFill>
              </a:rPr>
              <a:t>外貌</a:t>
            </a:r>
            <a:endParaRPr lang="en-US" dirty="0">
              <a:solidFill>
                <a:srgbClr val="FF0000"/>
              </a:solidFill>
            </a:endParaRPr>
          </a:p>
        </p:txBody>
      </p:sp>
    </p:spTree>
    <p:extLst>
      <p:ext uri="{BB962C8B-B14F-4D97-AF65-F5344CB8AC3E}">
        <p14:creationId xmlns:p14="http://schemas.microsoft.com/office/powerpoint/2010/main" val="5296803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rm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Special-Purpose Languages (2 of 10)</a:t>
            </a:r>
            <a:endParaRPr lang="en-US" sz="3600" b="0" dirty="0">
              <a:latin typeface="Arial" panose="020B0604020202020204" pitchFamily="34" charset="0"/>
              <a:cs typeface="Arial" panose="020B0604020202020204" pitchFamily="34" charset="0"/>
            </a:endParaRPr>
          </a:p>
        </p:txBody>
      </p:sp>
      <p:sp>
        <p:nvSpPr>
          <p:cNvPr id="7" name="Content Placeholder 6"/>
          <p:cNvSpPr>
            <a:spLocks noGrp="1"/>
          </p:cNvSpPr>
          <p:nvPr>
            <p:ph idx="1"/>
          </p:nvPr>
        </p:nvSpPr>
        <p:spPr>
          <a:xfrm>
            <a:off x="294968" y="1231266"/>
            <a:ext cx="8391835" cy="4894898"/>
          </a:xfrm>
        </p:spPr>
        <p:txBody>
          <a:bodyPr>
            <a:noAutofit/>
          </a:bodyPr>
          <a:lstStyle/>
          <a:p>
            <a:pPr>
              <a:defRPr/>
            </a:pPr>
            <a:r>
              <a:rPr lang="en-US" altLang="en-US" dirty="0">
                <a:latin typeface="Arial" panose="020B0604020202020204" pitchFamily="34" charset="0"/>
                <a:ea typeface="ＭＳ Ｐゴシック" panose="020B0600070205080204" pitchFamily="34" charset="-128"/>
                <a:cs typeface="Arial" panose="020B0604020202020204" pitchFamily="34" charset="0"/>
              </a:rPr>
              <a:t>SQL</a:t>
            </a:r>
          </a:p>
          <a:p>
            <a:pPr marL="717550">
              <a:buFont typeface="Arial" panose="020B0604020202020204" pitchFamily="34" charset="0"/>
              <a:buChar char="–"/>
              <a:defRPr/>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Developed by IBM in 1986</a:t>
            </a:r>
          </a:p>
          <a:p>
            <a:pPr marL="717550">
              <a:buFont typeface="Arial" panose="020B0604020202020204" pitchFamily="34" charset="0"/>
              <a:buChar char="–"/>
              <a:defRPr/>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Databases store data</a:t>
            </a:r>
          </a:p>
          <a:p>
            <a:pPr marL="717550">
              <a:buFont typeface="Arial" panose="020B0604020202020204" pitchFamily="34" charset="0"/>
              <a:buChar char="–"/>
              <a:defRPr/>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A query describes what information the user wants, not how to find it</a:t>
            </a:r>
          </a:p>
          <a:p>
            <a:pPr marL="717550">
              <a:buFont typeface="Arial" panose="020B0604020202020204" pitchFamily="34" charset="0"/>
              <a:buChar char="–"/>
              <a:defRPr/>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Example: Find all names of vendors with whom we do more than $40,000 worth of business</a:t>
            </a:r>
          </a:p>
          <a:p>
            <a:pPr marL="1071563" lvl="1" indent="-265113">
              <a:buFontTx/>
              <a:buNone/>
              <a:defRPr/>
            </a:pPr>
            <a:r>
              <a:rPr lang="en-US" altLang="en-US" sz="2200" b="1" dirty="0">
                <a:latin typeface="Arial" panose="020B0604020202020204" pitchFamily="34" charset="0"/>
                <a:ea typeface="ＭＳ Ｐゴシック" panose="020B0600070205080204" pitchFamily="34" charset="-128"/>
                <a:cs typeface="Arial" panose="020B0604020202020204" pitchFamily="34" charset="0"/>
              </a:rPr>
              <a:t>SELECT NAME </a:t>
            </a:r>
          </a:p>
          <a:p>
            <a:pPr marL="1071563" lvl="1" indent="-265113">
              <a:buFontTx/>
              <a:buNone/>
              <a:defRPr/>
            </a:pPr>
            <a:r>
              <a:rPr lang="en-US" altLang="en-US" sz="2200" b="1" dirty="0">
                <a:latin typeface="Arial" panose="020B0604020202020204" pitchFamily="34" charset="0"/>
                <a:ea typeface="ＭＳ Ｐゴシック" panose="020B0600070205080204" pitchFamily="34" charset="-128"/>
                <a:cs typeface="Arial" panose="020B0604020202020204" pitchFamily="34" charset="0"/>
              </a:rPr>
              <a:t>FROM VENDOR</a:t>
            </a:r>
          </a:p>
          <a:p>
            <a:pPr marL="1071563" lvl="1" indent="-265113">
              <a:buFontTx/>
              <a:buNone/>
              <a:defRPr/>
            </a:pPr>
            <a:r>
              <a:rPr lang="en-US" altLang="en-US" sz="2200" b="1" dirty="0">
                <a:latin typeface="Arial" panose="020B0604020202020204" pitchFamily="34" charset="0"/>
                <a:ea typeface="ＭＳ Ｐゴシック" panose="020B0600070205080204" pitchFamily="34" charset="-128"/>
                <a:cs typeface="Arial" panose="020B0604020202020204" pitchFamily="34" charset="0"/>
              </a:rPr>
              <a:t>WHERE PURCHASE &gt; 40000</a:t>
            </a:r>
          </a:p>
        </p:txBody>
      </p:sp>
    </p:spTree>
    <p:extLst>
      <p:ext uri="{BB962C8B-B14F-4D97-AF65-F5344CB8AC3E}">
        <p14:creationId xmlns:p14="http://schemas.microsoft.com/office/powerpoint/2010/main" val="13844012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rm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Special-Purpose Languages (3 of 10)</a:t>
            </a:r>
            <a:endParaRPr lang="en-US" sz="3600" b="0" dirty="0">
              <a:latin typeface="Arial" panose="020B0604020202020204" pitchFamily="34" charset="0"/>
              <a:cs typeface="Arial" panose="020B0604020202020204" pitchFamily="34" charset="0"/>
            </a:endParaRPr>
          </a:p>
        </p:txBody>
      </p:sp>
      <p:sp>
        <p:nvSpPr>
          <p:cNvPr id="7" name="Content Placeholder 6"/>
          <p:cNvSpPr>
            <a:spLocks noGrp="1"/>
          </p:cNvSpPr>
          <p:nvPr>
            <p:ph idx="1"/>
          </p:nvPr>
        </p:nvSpPr>
        <p:spPr>
          <a:xfrm>
            <a:off x="294968" y="1231266"/>
            <a:ext cx="8391835" cy="4894898"/>
          </a:xfrm>
        </p:spPr>
        <p:txBody>
          <a:bodyPr>
            <a:noAutofit/>
          </a:bodyPr>
          <a:lstStyle/>
          <a:p>
            <a:pPr>
              <a:defRPr/>
            </a:pPr>
            <a:r>
              <a:rPr lang="en-US" altLang="en-US" dirty="0">
                <a:latin typeface="Arial" panose="020B0604020202020204" pitchFamily="34" charset="0"/>
                <a:ea typeface="ＭＳ Ｐゴシック" panose="020B0600070205080204" pitchFamily="34" charset="-128"/>
                <a:cs typeface="Arial" panose="020B0604020202020204" pitchFamily="34" charset="0"/>
              </a:rPr>
              <a:t>HTML</a:t>
            </a:r>
          </a:p>
          <a:p>
            <a:pPr marL="717550">
              <a:buFont typeface="Arial" panose="020B0604020202020204" pitchFamily="34" charset="0"/>
              <a:buChar char="–"/>
              <a:defRPr/>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Contains text to be displayed and </a:t>
            </a:r>
            <a:r>
              <a:rPr lang="en-US" altLang="en-US" sz="2400" b="1" dirty="0">
                <a:latin typeface="Arial" panose="020B0604020202020204" pitchFamily="34" charset="0"/>
                <a:ea typeface="ＭＳ Ｐゴシック" panose="020B0600070205080204" pitchFamily="34" charset="-128"/>
                <a:cs typeface="Arial" panose="020B0604020202020204" pitchFamily="34" charset="0"/>
              </a:rPr>
              <a:t>tags</a:t>
            </a:r>
          </a:p>
          <a:p>
            <a:pPr marL="717550">
              <a:buFont typeface="Arial" panose="020B0604020202020204" pitchFamily="34" charset="0"/>
              <a:buChar char="–"/>
              <a:defRPr/>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Tags describe</a:t>
            </a:r>
          </a:p>
          <a:p>
            <a:pPr marL="1071563" lvl="1" indent="-342900">
              <a:buFont typeface="Wingdings" pitchFamily="2" charset="2"/>
              <a:buChar char="§"/>
              <a:defRPr/>
            </a:pPr>
            <a:r>
              <a:rPr lang="en-US" altLang="en-US" sz="2200" dirty="0">
                <a:latin typeface="Arial" panose="020B0604020202020204" pitchFamily="34" charset="0"/>
                <a:ea typeface="ＭＳ Ｐゴシック" panose="020B0600070205080204" pitchFamily="34" charset="-128"/>
                <a:cs typeface="Arial" panose="020B0604020202020204" pitchFamily="34" charset="0"/>
              </a:rPr>
              <a:t>Formatting of text</a:t>
            </a:r>
          </a:p>
          <a:p>
            <a:pPr marL="1071563" lvl="1" indent="-342900">
              <a:buFont typeface="Wingdings" pitchFamily="2" charset="2"/>
              <a:buChar char="§"/>
              <a:defRPr/>
            </a:pPr>
            <a:r>
              <a:rPr lang="en-US" altLang="en-US" sz="2200" dirty="0">
                <a:latin typeface="Arial" panose="020B0604020202020204" pitchFamily="34" charset="0"/>
                <a:ea typeface="ＭＳ Ｐゴシック" panose="020B0600070205080204" pitchFamily="34" charset="-128"/>
                <a:cs typeface="Arial" panose="020B0604020202020204" pitchFamily="34" charset="0"/>
              </a:rPr>
              <a:t>Special effects</a:t>
            </a:r>
          </a:p>
          <a:p>
            <a:pPr marL="1071563" lvl="1" indent="-342900">
              <a:buFont typeface="Wingdings" pitchFamily="2" charset="2"/>
              <a:buChar char="§"/>
              <a:defRPr/>
            </a:pPr>
            <a:r>
              <a:rPr lang="en-US" altLang="en-US" sz="2200" dirty="0">
                <a:latin typeface="Arial" panose="020B0604020202020204" pitchFamily="34" charset="0"/>
                <a:ea typeface="ＭＳ Ｐゴシック" panose="020B0600070205080204" pitchFamily="34" charset="-128"/>
                <a:cs typeface="Arial" panose="020B0604020202020204" pitchFamily="34" charset="0"/>
              </a:rPr>
              <a:t>Links to other webpages</a:t>
            </a:r>
          </a:p>
          <a:p>
            <a:pPr marL="717550">
              <a:buFont typeface="Arial" panose="020B0604020202020204" pitchFamily="34" charset="0"/>
              <a:buChar char="–"/>
              <a:defRPr/>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Tags come in pairs: begin and end</a:t>
            </a:r>
          </a:p>
          <a:p>
            <a:pPr marL="717550">
              <a:buFont typeface="Arial" panose="020B0604020202020204" pitchFamily="34" charset="0"/>
              <a:buChar char="–"/>
              <a:defRPr/>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Tags are written within angle brackets</a:t>
            </a:r>
          </a:p>
          <a:p>
            <a:pPr marL="1071563" lvl="1" indent="-354013">
              <a:buFont typeface="Wingdings" pitchFamily="2" charset="2"/>
              <a:buChar char="§"/>
              <a:defRPr/>
            </a:pPr>
            <a:r>
              <a:rPr lang="en-US" altLang="en-US" sz="2200" dirty="0">
                <a:latin typeface="Arial" panose="020B0604020202020204" pitchFamily="34" charset="0"/>
                <a:ea typeface="ＭＳ Ｐゴシック" panose="020B0600070205080204" pitchFamily="34" charset="-128"/>
                <a:cs typeface="Arial" panose="020B0604020202020204" pitchFamily="34" charset="0"/>
              </a:rPr>
              <a:t>&lt;title&gt; and &lt;/title&gt;</a:t>
            </a:r>
          </a:p>
          <a:p>
            <a:pPr marL="1071563" lvl="1" indent="-354013">
              <a:buFont typeface="Wingdings" pitchFamily="2" charset="2"/>
              <a:buChar char="§"/>
              <a:defRPr/>
            </a:pPr>
            <a:r>
              <a:rPr lang="en-US" altLang="en-US" sz="2200" dirty="0">
                <a:latin typeface="Arial" panose="020B0604020202020204" pitchFamily="34" charset="0"/>
                <a:ea typeface="ＭＳ Ｐゴシック" panose="020B0600070205080204" pitchFamily="34" charset="-128"/>
                <a:cs typeface="Arial" panose="020B0604020202020204" pitchFamily="34" charset="0"/>
              </a:rPr>
              <a:t>&lt;em&gt; and &lt;/em&gt;</a:t>
            </a:r>
          </a:p>
        </p:txBody>
      </p:sp>
    </p:spTree>
    <p:extLst>
      <p:ext uri="{BB962C8B-B14F-4D97-AF65-F5344CB8AC3E}">
        <p14:creationId xmlns:p14="http://schemas.microsoft.com/office/powerpoint/2010/main" val="25342902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rm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Special-Purpose Languages (4 of 10)</a:t>
            </a:r>
            <a:endParaRPr lang="en-US" sz="3600" b="0" dirty="0">
              <a:latin typeface="Arial" panose="020B0604020202020204" pitchFamily="34" charset="0"/>
              <a:cs typeface="Arial" panose="020B0604020202020204" pitchFamily="34" charset="0"/>
            </a:endParaRPr>
          </a:p>
        </p:txBody>
      </p:sp>
      <p:pic>
        <p:nvPicPr>
          <p:cNvPr id="5" name="Picture 5" descr="Line 1: &lt; h t m l &gt;. Line 2, indented once: &lt; head &gt;. Line 3, indented twice: &lt; title &gt; first page &lt;, forward slash, title &gt;. Line 4, indented once: &lt;, forward slash, head &gt;. Line 5: blank. Line 6, indented once: &lt; body &gt;. Line 7, indented twice: &lt; h 1 &gt; this is an h 1 heading &lt;, forward slash, h 1 &gt;. Line 8, indented twice: &lt; p &gt; this text is &lt; strong &gt; important &lt;, forward slash, strong &gt; and. Line 9, indented 3 times: this text is &lt; e m &gt; emphasized &lt;, forward slash, e m &gt; &lt;, forward slash, p &gt;. Line 10, indented twice: &lt; p &gt; below is a bulleted list, colon, &lt;, forward slash, p &gt;. Line 11, indented twice: &lt; u l &gt;. Line 12, indented 3 times: &lt; l i &gt; first item &lt;, forward slash, l i &gt;. Line 13, indented 3 times: &lt; l i &gt; second item &lt;, forward slash, l i &gt;. Line 14, indented twice: &lt;, forward slash, u l &gt;. Line 15, indented twice: &lt; p &gt; here is a link to another web page, comma. Line 16, indented 3 times: &lt; ay h r e f =, open quotes, h t t p, colon, forward slash, forward slash, p b s, period, o r g, close quotes, &gt; p b s &lt;, forward slash, ay &gt; &lt;, forward slash, p &gt;. Line 17, indented twice: &lt; p &gt;and here is an image, colon, &lt;, forward slash, p &gt;. Line 18, indented 3 times: &lt; i m g s r c =, open quotes, flower 1, period, j p g, close quotes. Line 19, indented 3 times: alt =, open quotes, sunflowers in a field, close quotes, &gt;. Line 20, indented once: &lt;, forward slash, body &gt;. Line 21: &lt;, forward slash, h t m l &g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32942" y="1411512"/>
            <a:ext cx="5616864"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302491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rm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Special-Purpose Languages (5 of 10)</a:t>
            </a:r>
            <a:endParaRPr lang="en-US" sz="3600" b="0" dirty="0">
              <a:latin typeface="Arial" panose="020B0604020202020204" pitchFamily="34" charset="0"/>
              <a:cs typeface="Arial" panose="020B0604020202020204" pitchFamily="34" charset="0"/>
            </a:endParaRPr>
          </a:p>
        </p:txBody>
      </p:sp>
      <p:pic>
        <p:nvPicPr>
          <p:cNvPr id="4" name="Picture 5" descr="The screenshot of a webpage generated by H T M L code shows a webpage page with a headline with text below. There is also an image inserted in the pa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0552" y="1407885"/>
            <a:ext cx="6513512" cy="447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369058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rm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Special-Purpose Languages (6 of 10)</a:t>
            </a:r>
            <a:endParaRPr lang="en-US" sz="3600" b="0" dirty="0">
              <a:latin typeface="Arial" panose="020B0604020202020204" pitchFamily="34" charset="0"/>
              <a:cs typeface="Arial" panose="020B0604020202020204" pitchFamily="34" charset="0"/>
            </a:endParaRPr>
          </a:p>
        </p:txBody>
      </p:sp>
      <p:pic>
        <p:nvPicPr>
          <p:cNvPr id="5" name="Picture 5" descr="H T M L Tag, h 1; purpose, Create H1 heading, bold with largest font size. H T M L Tag, p; purpose, New paragraph. H T M L Tag, strong; purpose Important. H T M L Tag, e m; purpose, Emphasized. H T M L Tag, u l; purpose, Unordered list, bulleted list. H T M L Tag, l I; purpose, List item. H T M L Tag, ay h r e f = open quotes, ellipsis, close quotes; purpose, Provides hyperlink address. H T M L Tag, I m g, s r c = open quotes, ellipsis, close quotes; Gives the source, location, for the image file.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8437" y="1812164"/>
            <a:ext cx="7638098" cy="33196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798777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rm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Special-Purpose Languages (7 of 10)</a:t>
            </a:r>
            <a:endParaRPr lang="en-US" sz="3600" b="0" dirty="0">
              <a:latin typeface="Arial" panose="020B0604020202020204" pitchFamily="34" charset="0"/>
              <a:cs typeface="Arial" panose="020B0604020202020204" pitchFamily="34" charset="0"/>
            </a:endParaRPr>
          </a:p>
        </p:txBody>
      </p:sp>
      <p:sp>
        <p:nvSpPr>
          <p:cNvPr id="7" name="Content Placeholder 6"/>
          <p:cNvSpPr>
            <a:spLocks noGrp="1"/>
          </p:cNvSpPr>
          <p:nvPr>
            <p:ph idx="1"/>
          </p:nvPr>
        </p:nvSpPr>
        <p:spPr>
          <a:xfrm>
            <a:off x="294968" y="1231266"/>
            <a:ext cx="8391835" cy="4894898"/>
          </a:xfrm>
        </p:spPr>
        <p:txBody>
          <a:bodyPr>
            <a:noAutofit/>
          </a:bodyPr>
          <a:lstStyle/>
          <a:p>
            <a:pPr>
              <a:defRPr/>
            </a:pPr>
            <a:r>
              <a:rPr lang="en-US" altLang="en-US" dirty="0">
                <a:latin typeface="Arial" panose="020B0604020202020204" pitchFamily="34" charset="0"/>
                <a:ea typeface="ＭＳ Ｐゴシック" panose="020B0600070205080204" pitchFamily="34" charset="-128"/>
                <a:cs typeface="Arial" panose="020B0604020202020204" pitchFamily="34" charset="0"/>
              </a:rPr>
              <a:t>JavaScript</a:t>
            </a:r>
          </a:p>
          <a:p>
            <a:pPr marL="717550" indent="-363538">
              <a:buFont typeface="Arial" panose="020B0604020202020204" pitchFamily="34" charset="0"/>
              <a:buChar char="–"/>
              <a:defRPr/>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Code embeds in HTML </a:t>
            </a:r>
          </a:p>
          <a:p>
            <a:pPr marL="717550" indent="-363538">
              <a:buFont typeface="Arial" panose="020B0604020202020204" pitchFamily="34" charset="0"/>
              <a:buChar char="–"/>
              <a:defRPr/>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Enables webpages to react to users</a:t>
            </a:r>
          </a:p>
          <a:p>
            <a:pPr marL="717550" indent="-363538">
              <a:buFont typeface="Arial" panose="020B0604020202020204" pitchFamily="34" charset="0"/>
              <a:buChar char="–"/>
              <a:defRPr/>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Scripting language</a:t>
            </a:r>
          </a:p>
          <a:p>
            <a:pPr marL="1071563" lvl="1" indent="-354013">
              <a:buFont typeface="Wingdings" pitchFamily="2" charset="2"/>
              <a:buChar char="§"/>
              <a:defRPr/>
            </a:pPr>
            <a:r>
              <a:rPr lang="en-US" altLang="en-US" sz="2200"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Interpreted</a:t>
            </a:r>
          </a:p>
          <a:p>
            <a:pPr marL="1071563" lvl="1" indent="-354013">
              <a:buFont typeface="Wingdings" pitchFamily="2" charset="2"/>
              <a:buChar char="§"/>
              <a:defRPr/>
            </a:pPr>
            <a:r>
              <a:rPr lang="en-US" altLang="en-US" sz="2200" dirty="0">
                <a:latin typeface="Arial" panose="020B0604020202020204" pitchFamily="34" charset="0"/>
                <a:ea typeface="ＭＳ Ｐゴシック" panose="020B0600070205080204" pitchFamily="34" charset="-128"/>
                <a:cs typeface="Arial" panose="020B0604020202020204" pitchFamily="34" charset="0"/>
              </a:rPr>
              <a:t>Lightweight (reduced features)</a:t>
            </a:r>
          </a:p>
        </p:txBody>
      </p:sp>
    </p:spTree>
    <p:extLst>
      <p:ext uri="{BB962C8B-B14F-4D97-AF65-F5344CB8AC3E}">
        <p14:creationId xmlns:p14="http://schemas.microsoft.com/office/powerpoint/2010/main" val="13335591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rm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Special-Purpose Languages (8 of 10)</a:t>
            </a:r>
            <a:endParaRPr lang="en-US" sz="3600" b="0" dirty="0">
              <a:latin typeface="Arial" panose="020B0604020202020204" pitchFamily="34" charset="0"/>
              <a:cs typeface="Arial" panose="020B0604020202020204" pitchFamily="34" charset="0"/>
            </a:endParaRPr>
          </a:p>
        </p:txBody>
      </p:sp>
      <p:sp>
        <p:nvSpPr>
          <p:cNvPr id="7" name="Content Placeholder 6"/>
          <p:cNvSpPr>
            <a:spLocks noGrp="1"/>
          </p:cNvSpPr>
          <p:nvPr>
            <p:ph idx="1"/>
          </p:nvPr>
        </p:nvSpPr>
        <p:spPr>
          <a:xfrm>
            <a:off x="294968" y="1231266"/>
            <a:ext cx="8391835" cy="1773191"/>
          </a:xfrm>
        </p:spPr>
        <p:txBody>
          <a:bodyPr>
            <a:noAutofit/>
          </a:bodyPr>
          <a:lstStyle/>
          <a:p>
            <a:pPr>
              <a:buFontTx/>
              <a:buNone/>
            </a:pPr>
            <a:r>
              <a:rPr lang="en-US" altLang="en-US" dirty="0">
                <a:latin typeface="Arial" panose="020B0604020202020204" pitchFamily="34" charset="0"/>
                <a:ea typeface="ＭＳ Ｐゴシック" pitchFamily="34" charset="-128"/>
                <a:cs typeface="Arial" panose="020B0604020202020204" pitchFamily="34" charset="0"/>
              </a:rPr>
              <a:t>JavaScript example</a:t>
            </a:r>
          </a:p>
          <a:p>
            <a:pPr lvl="1">
              <a:buFont typeface="Arial" pitchFamily="34" charset="0"/>
              <a:buChar char="–"/>
            </a:pPr>
            <a:r>
              <a:rPr lang="en-US" altLang="en-US" dirty="0">
                <a:latin typeface="Arial" panose="020B0604020202020204" pitchFamily="34" charset="0"/>
                <a:ea typeface="ＭＳ Ｐゴシック" pitchFamily="34" charset="-128"/>
                <a:cs typeface="Arial" panose="020B0604020202020204" pitchFamily="34" charset="0"/>
              </a:rPr>
              <a:t>Change image when mouse moves over it</a:t>
            </a:r>
          </a:p>
          <a:p>
            <a:pPr lvl="1">
              <a:buFont typeface="Arial" pitchFamily="34" charset="0"/>
              <a:buChar char="–"/>
            </a:pPr>
            <a:r>
              <a:rPr lang="en-US" altLang="en-US" b="1" dirty="0">
                <a:latin typeface="Arial" panose="020B0604020202020204" pitchFamily="34" charset="0"/>
                <a:ea typeface="ＭＳ Ｐゴシック" pitchFamily="34" charset="-128"/>
                <a:cs typeface="Arial" panose="020B0604020202020204" pitchFamily="34" charset="0"/>
              </a:rPr>
              <a:t>Event handler</a:t>
            </a:r>
            <a:r>
              <a:rPr lang="en-US" altLang="en-US" dirty="0">
                <a:latin typeface="Arial" panose="020B0604020202020204" pitchFamily="34" charset="0"/>
                <a:ea typeface="ＭＳ Ｐゴシック" pitchFamily="34" charset="-128"/>
                <a:cs typeface="Arial" panose="020B0604020202020204" pitchFamily="34" charset="0"/>
              </a:rPr>
              <a:t>: a function that responds to an event like mouse movement, button clicks, etc.</a:t>
            </a:r>
            <a:endParaRPr lang="en-US" altLang="en-US" b="1" dirty="0">
              <a:latin typeface="Arial" panose="020B0604020202020204" pitchFamily="34" charset="0"/>
              <a:ea typeface="ＭＳ Ｐゴシック" pitchFamily="34" charset="-128"/>
              <a:cs typeface="Arial" panose="020B0604020202020204" pitchFamily="34" charset="0"/>
            </a:endParaRPr>
          </a:p>
        </p:txBody>
      </p:sp>
      <p:pic>
        <p:nvPicPr>
          <p:cNvPr id="4" name="Picture 7" descr="Line 1: &lt; i m g, s r c =, open quotes, flower 1, period, j p g, close quotes, i d =, open quotes, main image, close quotes. Line 2, indented once: alt =, open quotes, sun flowers in a field, close quotes. Line 3, indented once: on mouse out =, open quotes, images witch, left parenthesis, right parenthesis, close quotes. Line 4, indented once: on mouse over =, open quotes, images witch, left parenthesis, right parenthesis, close quotes &g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0612" y="3733799"/>
            <a:ext cx="6962775" cy="192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40846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Autofit/>
          </a:bodyPr>
          <a:lstStyle/>
          <a:p>
            <a:pPr algn="ctr" defTabSz="914400">
              <a:defRPr/>
            </a:pPr>
            <a:r>
              <a:rPr lang="en-US" altLang="en-US" sz="3600" b="0" kern="0" dirty="0">
                <a:latin typeface="Arial" panose="020B0604020202020204" pitchFamily="34" charset="0"/>
                <a:cs typeface="Arial" panose="020B0604020202020204" pitchFamily="34" charset="0"/>
              </a:rPr>
              <a:t>Figure 10.8 JavaScript embedded in an HTML page</a:t>
            </a:r>
          </a:p>
        </p:txBody>
      </p:sp>
      <p:pic>
        <p:nvPicPr>
          <p:cNvPr id="9" name="Picture 7" descr="Line 1: &lt; h t m l &gt;. Line 2, indented once: &lt; head &gt;. Line 3, indented twice: &lt; title &gt; first page &lt;, forward slash, title &gt;. Line 4: blank. Line 5, indented twice: &lt; script language =, open quotes, java script, close quotes, &gt;. Line 6: blank. Line 7, indented twice: function start value, left parenthesis, right parenthesis. Line 8, indented twice: left brace. Line 9, indented 3 times: next p i c name =, open quotes, flower 2, period, j p g, close quotes, semicolon. Line 10, indented twice: right brace. Line 11: blank. Line 12, indented twice: function images witch, left parenthesis, right parenthesis. Line 13, indented twice: left brace. Line 14, indented 3 times: forward slash, forward slash, switch photo to next p i c name. Line 15, indented 3 times: document, period, get element by i d, left parenthesis, open quotes, main image, close quotes, right parenthesis. Line 16, indented 4 times: period, s r c = next p i c name, semicolon. Line 17: blank. Line 18, indented 3 times: forward slash, forward slash, set up for the next switch. Line 19, indented 3 times: if, left parenthesis, next p i c name = =, open quotes, flower 2, period, j p g, close quotes, right parenthesis. Line 20, indented 3 times: left brace. Line 21, indented 4 times: next p i c name =, open quotes, flower 1, period, j p g, close quotes, semicolon. Line 22, indented 3 times: right brace. Line 23, indented 3 times: else. Line 24, indented 3 times: left brace. Line 25, indented 4 times: next p i c name =, open quotes, flower 2, period, j p g, close quotes, semicolon. Line 26, indented 3 times: right brace. Line 27, indented twice: right brace. Line 28, indented twice: &lt;, forward slash, script &gt;. Line 29: blank. Line 30, indented once: &lt;, forward slash, head &gt;. Line 31: blank. Line 32, indented once: &lt; body on load =, open quotes, start value, left parenthesis, right parenthesis, close quotes, &gt;. Line 33, indented twice: &lt; h 1 &gt; this is an h 1 heading &lt;, forward slash, h 1 &gt;. Line 34, indented twice: &lt; p &gt; this text is &lt; strong &gt; important &lt;, forward slash, strong &gt; and. Line 35, indented 3 times: this text is &lt; e m &gt; emphasized &lt;, forward slash, e m &gt; &lt;, forward slash, p &gt;. Line 36, indented twice: &lt; p &gt;below is a bulleted list, colon, &lt;, forward slash, p &gt;. Line 37, indented twice: &lt; u l &gt;. Line 38, indented 3 times: &lt; l i &gt; first item &lt;, forward slash, l i &gt;. Line 39, indented 3 times: &lt; l i &gt; second item &lt;, forward slash, l i &gt;. Line 40, indented twice: &lt;, forward slash, u l &gt;. Line 41, indented twice: &lt; p &gt;here is a link to another web page, comma. Line 42, indented 3 times: &lt; ay h r e f =, open quotes, h t t p, colon, forward slash, forward slash, p b s, period, o r g, close quotes, &gt; p b s &lt;, forward slash, ay &gt; &lt;, forward slash, p &gt;. Line 43, indented twice: &lt; p &gt; and here is an image, colon, &lt;, forward slash, p &gt;. Line 44, indented twice: &lt; i m g s r c =, open quotes, flower, 1, period, j p g, close quotes i d =, open quotes, main image, close quotes. Line 45, indented 3 times: ay l t =, open quotes, sunflowers in a field, close quotes. Line 46, indented 3 times: on mouse out =, open quotes, images witch, left parenthesis, right parenthesis, close quotes. Line 47, indented 3 times: on mouse over =, open quotes, images witch, left parenthesis, right parenthesis, close quotes, &gt;. Line 48, indented once: &lt;, forward slash, body &gt;. Line 49: &lt;, forward slash, h t m l &gt;.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45395" y="1348723"/>
            <a:ext cx="2831287" cy="48116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41728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D44AFCF-F4D8-44C7-81BB-1005F42B885F}"/>
              </a:ext>
            </a:extLst>
          </p:cNvPr>
          <p:cNvPicPr>
            <a:picLocks noChangeAspect="1"/>
          </p:cNvPicPr>
          <p:nvPr/>
        </p:nvPicPr>
        <p:blipFill>
          <a:blip r:embed="rId2"/>
          <a:stretch>
            <a:fillRect/>
          </a:stretch>
        </p:blipFill>
        <p:spPr>
          <a:xfrm>
            <a:off x="7034" y="0"/>
            <a:ext cx="9129932" cy="6858000"/>
          </a:xfrm>
          <a:prstGeom prst="rect">
            <a:avLst/>
          </a:prstGeom>
        </p:spPr>
      </p:pic>
      <p:sp>
        <p:nvSpPr>
          <p:cNvPr id="6" name="TextBox 5">
            <a:extLst>
              <a:ext uri="{FF2B5EF4-FFF2-40B4-BE49-F238E27FC236}">
                <a16:creationId xmlns:a16="http://schemas.microsoft.com/office/drawing/2014/main" id="{4FBC9970-DB25-4E5A-8C5B-16B4D2E6C5EE}"/>
              </a:ext>
            </a:extLst>
          </p:cNvPr>
          <p:cNvSpPr txBox="1"/>
          <p:nvPr/>
        </p:nvSpPr>
        <p:spPr>
          <a:xfrm>
            <a:off x="3128554" y="1232653"/>
            <a:ext cx="4689566" cy="461665"/>
          </a:xfrm>
          <a:prstGeom prst="rect">
            <a:avLst/>
          </a:prstGeom>
          <a:noFill/>
        </p:spPr>
        <p:txBody>
          <a:bodyPr wrap="square">
            <a:spAutoFit/>
          </a:bodyPr>
          <a:lstStyle/>
          <a:p>
            <a:pPr marL="717550" lvl="1">
              <a:defRPr/>
            </a:pPr>
            <a:r>
              <a:rPr lang="en-US" altLang="en-US" sz="2400"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Interpreted </a:t>
            </a:r>
            <a:r>
              <a:rPr lang="en-US" altLang="zh-CN" sz="2400" dirty="0">
                <a:solidFill>
                  <a:srgbClr val="FF0000"/>
                </a:solidFill>
                <a:latin typeface="Arial" panose="020B0604020202020204" pitchFamily="34" charset="0"/>
                <a:ea typeface="ＭＳ Ｐゴシック" panose="020B0600070205080204" pitchFamily="34" charset="-128"/>
                <a:cs typeface="Arial" panose="020B0604020202020204" pitchFamily="34" charset="0"/>
              </a:rPr>
              <a:t>language</a:t>
            </a:r>
            <a:endParaRPr lang="en-US" altLang="en-US" sz="2400" dirty="0">
              <a:solidFill>
                <a:srgbClr val="FF0000"/>
              </a:solidFill>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23169069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AD351CA-506F-4E05-B1D3-67E9B122785D}"/>
              </a:ext>
            </a:extLst>
          </p:cNvPr>
          <p:cNvPicPr>
            <a:picLocks noChangeAspect="1"/>
          </p:cNvPicPr>
          <p:nvPr/>
        </p:nvPicPr>
        <p:blipFill>
          <a:blip r:embed="rId2"/>
          <a:stretch>
            <a:fillRect/>
          </a:stretch>
        </p:blipFill>
        <p:spPr>
          <a:xfrm>
            <a:off x="0" y="0"/>
            <a:ext cx="9144000" cy="2516038"/>
          </a:xfrm>
          <a:prstGeom prst="rect">
            <a:avLst/>
          </a:prstGeom>
        </p:spPr>
      </p:pic>
      <p:pic>
        <p:nvPicPr>
          <p:cNvPr id="5" name="Picture 4">
            <a:extLst>
              <a:ext uri="{FF2B5EF4-FFF2-40B4-BE49-F238E27FC236}">
                <a16:creationId xmlns:a16="http://schemas.microsoft.com/office/drawing/2014/main" id="{C026BE7C-26EE-4970-929F-58590613480B}"/>
              </a:ext>
            </a:extLst>
          </p:cNvPr>
          <p:cNvPicPr>
            <a:picLocks noChangeAspect="1"/>
          </p:cNvPicPr>
          <p:nvPr/>
        </p:nvPicPr>
        <p:blipFill rotWithShape="1">
          <a:blip r:embed="rId3"/>
          <a:srcRect t="15323" b="13871"/>
          <a:stretch/>
        </p:blipFill>
        <p:spPr>
          <a:xfrm>
            <a:off x="829379" y="2655139"/>
            <a:ext cx="6317655" cy="3817736"/>
          </a:xfrm>
          <a:prstGeom prst="rect">
            <a:avLst/>
          </a:prstGeom>
        </p:spPr>
      </p:pic>
    </p:spTree>
    <p:extLst>
      <p:ext uri="{BB962C8B-B14F-4D97-AF65-F5344CB8AC3E}">
        <p14:creationId xmlns:p14="http://schemas.microsoft.com/office/powerpoint/2010/main" val="31630556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732F32-11AB-4566-8FE3-9FE355960A4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958E87F-EC87-4B27-9C94-B2B4D5EDB06A}"/>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4684386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431DB-913C-41E6-806C-0A4279B323FD}"/>
              </a:ext>
            </a:extLst>
          </p:cNvPr>
          <p:cNvSpPr>
            <a:spLocks noGrp="1"/>
          </p:cNvSpPr>
          <p:nvPr>
            <p:ph type="title"/>
          </p:nvPr>
        </p:nvSpPr>
        <p:spPr>
          <a:xfrm>
            <a:off x="0" y="0"/>
            <a:ext cx="9144000" cy="1060704"/>
          </a:xfrm>
        </p:spPr>
        <p:txBody>
          <a:bodyPr anchor="ctr" anchorCtr="0"/>
          <a:lstStyle/>
          <a:p>
            <a:pPr algn="ctr"/>
            <a:r>
              <a:rPr lang="en-US" altLang="en-US" sz="3600" b="0" dirty="0">
                <a:solidFill>
                  <a:prstClr val="white"/>
                </a:solidFill>
                <a:latin typeface="Arial" panose="020B0604020202020204" pitchFamily="34" charset="0"/>
                <a:ea typeface="ＭＳ Ｐゴシック" pitchFamily="34" charset="-128"/>
                <a:cs typeface="Arial" panose="020B0604020202020204" pitchFamily="34" charset="0"/>
              </a:rPr>
              <a:t>Special-Purpose Languages (9 of 10)</a:t>
            </a:r>
            <a:endParaRPr lang="en-US" dirty="0"/>
          </a:p>
        </p:txBody>
      </p:sp>
      <p:sp>
        <p:nvSpPr>
          <p:cNvPr id="3" name="Content Placeholder 2">
            <a:extLst>
              <a:ext uri="{FF2B5EF4-FFF2-40B4-BE49-F238E27FC236}">
                <a16:creationId xmlns:a16="http://schemas.microsoft.com/office/drawing/2014/main" id="{C9EA842A-14F4-4450-8946-4A3A5E8CEAA6}"/>
              </a:ext>
            </a:extLst>
          </p:cNvPr>
          <p:cNvSpPr>
            <a:spLocks noGrp="1"/>
          </p:cNvSpPr>
          <p:nvPr>
            <p:ph idx="1"/>
          </p:nvPr>
        </p:nvSpPr>
        <p:spPr/>
        <p:txBody>
          <a:bodyPr/>
          <a:lstStyle/>
          <a:p>
            <a:r>
              <a:rPr lang="en-US" dirty="0"/>
              <a:t>The name “R” comes in part from the first names of the two authors of the language, Ross Ihaka and Robert Gentleman </a:t>
            </a:r>
          </a:p>
          <a:p>
            <a:r>
              <a:rPr lang="en-US" dirty="0"/>
              <a:t>An open source language, first released in 2000</a:t>
            </a:r>
          </a:p>
          <a:p>
            <a:r>
              <a:rPr lang="en-US" dirty="0"/>
              <a:t>Given a set of data, </a:t>
            </a:r>
          </a:p>
          <a:p>
            <a:pPr lvl="1"/>
            <a:r>
              <a:rPr lang="en-US" dirty="0"/>
              <a:t>can compute maximum, minimum, standard deviation, other statistical functions</a:t>
            </a:r>
          </a:p>
          <a:p>
            <a:pPr lvl="1"/>
            <a:r>
              <a:rPr lang="en-US" dirty="0"/>
              <a:t>Can graphically visualize data sets</a:t>
            </a:r>
          </a:p>
          <a:p>
            <a:r>
              <a:rPr lang="en-US" dirty="0"/>
              <a:t>Important in Data Science</a:t>
            </a:r>
          </a:p>
          <a:p>
            <a:pPr marL="0" indent="0">
              <a:buNone/>
            </a:pPr>
            <a:endParaRPr lang="en-US" dirty="0"/>
          </a:p>
        </p:txBody>
      </p:sp>
    </p:spTree>
    <p:extLst>
      <p:ext uri="{BB962C8B-B14F-4D97-AF65-F5344CB8AC3E}">
        <p14:creationId xmlns:p14="http://schemas.microsoft.com/office/powerpoint/2010/main" val="16570801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431DB-913C-41E6-806C-0A4279B323FD}"/>
              </a:ext>
            </a:extLst>
          </p:cNvPr>
          <p:cNvSpPr>
            <a:spLocks noGrp="1"/>
          </p:cNvSpPr>
          <p:nvPr>
            <p:ph type="title"/>
          </p:nvPr>
        </p:nvSpPr>
        <p:spPr>
          <a:xfrm>
            <a:off x="0" y="0"/>
            <a:ext cx="9144000" cy="1060704"/>
          </a:xfrm>
        </p:spPr>
        <p:txBody>
          <a:bodyPr anchor="ctr" anchorCtr="0"/>
          <a:lstStyle/>
          <a:p>
            <a:pPr algn="ctr"/>
            <a:r>
              <a:rPr lang="en-US" altLang="en-US" sz="3600" b="0" dirty="0">
                <a:solidFill>
                  <a:prstClr val="white"/>
                </a:solidFill>
                <a:latin typeface="Arial" panose="020B0604020202020204" pitchFamily="34" charset="0"/>
                <a:ea typeface="ＭＳ Ｐゴシック" pitchFamily="34" charset="-128"/>
                <a:cs typeface="Arial" panose="020B0604020202020204" pitchFamily="34" charset="0"/>
              </a:rPr>
              <a:t>Special-Purpose Languages (10 of 10)</a:t>
            </a:r>
            <a:endParaRPr lang="en-US" dirty="0"/>
          </a:p>
        </p:txBody>
      </p:sp>
      <p:sp>
        <p:nvSpPr>
          <p:cNvPr id="3" name="Content Placeholder 2">
            <a:extLst>
              <a:ext uri="{FF2B5EF4-FFF2-40B4-BE49-F238E27FC236}">
                <a16:creationId xmlns:a16="http://schemas.microsoft.com/office/drawing/2014/main" id="{C9EA842A-14F4-4450-8946-4A3A5E8CEAA6}"/>
              </a:ext>
            </a:extLst>
          </p:cNvPr>
          <p:cNvSpPr>
            <a:spLocks noGrp="1"/>
          </p:cNvSpPr>
          <p:nvPr>
            <p:ph idx="1"/>
          </p:nvPr>
        </p:nvSpPr>
        <p:spPr/>
        <p:txBody>
          <a:bodyPr/>
          <a:lstStyle/>
          <a:p>
            <a:r>
              <a:rPr lang="en-US" dirty="0"/>
              <a:t>R can produce a colorful bar graph as shown below</a:t>
            </a:r>
          </a:p>
          <a:p>
            <a:endParaRPr lang="en-US" dirty="0"/>
          </a:p>
        </p:txBody>
      </p:sp>
      <p:pic>
        <p:nvPicPr>
          <p:cNvPr id="4" name="Picture 3" descr="A screenshot of a bar graph shows the results in percent for five variables: X, Y, smoker, overweight and low income. Each variable is further divided into 6 smaller variables namely: site 1, site 2, site 3, site 4, site 5 and site 6. Each site has a separate corresponding bar with a unique color. ">
            <a:extLst>
              <a:ext uri="{FF2B5EF4-FFF2-40B4-BE49-F238E27FC236}">
                <a16:creationId xmlns:a16="http://schemas.microsoft.com/office/drawing/2014/main" id="{33D024A7-1A0A-4367-84F8-D00038BAC35A}"/>
              </a:ext>
            </a:extLst>
          </p:cNvPr>
          <p:cNvPicPr>
            <a:picLocks noChangeAspect="1"/>
          </p:cNvPicPr>
          <p:nvPr/>
        </p:nvPicPr>
        <p:blipFill>
          <a:blip r:embed="rId2"/>
          <a:stretch>
            <a:fillRect/>
          </a:stretch>
        </p:blipFill>
        <p:spPr>
          <a:xfrm>
            <a:off x="2509943" y="1747138"/>
            <a:ext cx="4124114" cy="4379026"/>
          </a:xfrm>
          <a:prstGeom prst="rect">
            <a:avLst/>
          </a:prstGeom>
        </p:spPr>
      </p:pic>
    </p:spTree>
    <p:extLst>
      <p:ext uri="{BB962C8B-B14F-4D97-AF65-F5344CB8AC3E}">
        <p14:creationId xmlns:p14="http://schemas.microsoft.com/office/powerpoint/2010/main" val="118652724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793488" y="1"/>
            <a:ext cx="7557025" cy="1060704"/>
          </a:xfrm>
        </p:spPr>
        <p:txBody>
          <a:bodyPr anchor="ctr">
            <a:no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Alternative Programming Paradigms (1 of 16)</a:t>
            </a:r>
            <a:endParaRPr lang="en-US" sz="3600" b="0" dirty="0">
              <a:latin typeface="Arial" panose="020B0604020202020204" pitchFamily="34" charset="0"/>
              <a:cs typeface="Arial" panose="020B0604020202020204" pitchFamily="34" charset="0"/>
            </a:endParaRPr>
          </a:p>
        </p:txBody>
      </p:sp>
      <p:sp>
        <p:nvSpPr>
          <p:cNvPr id="7" name="Content Placeholder 6"/>
          <p:cNvSpPr>
            <a:spLocks noGrp="1"/>
          </p:cNvSpPr>
          <p:nvPr>
            <p:ph idx="1"/>
          </p:nvPr>
        </p:nvSpPr>
        <p:spPr>
          <a:xfrm>
            <a:off x="294968" y="1231266"/>
            <a:ext cx="8391835" cy="4894898"/>
          </a:xfrm>
        </p:spPr>
        <p:txBody>
          <a:bodyPr>
            <a:noAutofit/>
          </a:bodyPr>
          <a:lstStyle/>
          <a:p>
            <a:r>
              <a:rPr lang="en-US" altLang="en-US" b="1" dirty="0">
                <a:latin typeface="Arial" panose="020B0604020202020204" pitchFamily="34" charset="0"/>
                <a:ea typeface="ＭＳ Ｐゴシック" pitchFamily="34" charset="-128"/>
                <a:cs typeface="Arial" panose="020B0604020202020204" pitchFamily="34" charset="0"/>
              </a:rPr>
              <a:t>Paradigm</a:t>
            </a:r>
            <a:r>
              <a:rPr lang="en-US" altLang="en-US" dirty="0">
                <a:latin typeface="Arial" panose="020B0604020202020204" pitchFamily="34" charset="0"/>
                <a:ea typeface="ＭＳ Ｐゴシック" pitchFamily="34" charset="-128"/>
                <a:cs typeface="Arial" panose="020B0604020202020204" pitchFamily="34" charset="0"/>
              </a:rPr>
              <a:t>: model or mental framework for thinking about something</a:t>
            </a:r>
          </a:p>
          <a:p>
            <a:r>
              <a:rPr lang="en-US" altLang="en-US" dirty="0">
                <a:latin typeface="Arial" panose="020B0604020202020204" pitchFamily="34" charset="0"/>
                <a:ea typeface="ＭＳ Ｐゴシック" pitchFamily="34" charset="-128"/>
                <a:cs typeface="Arial" panose="020B0604020202020204" pitchFamily="34" charset="0"/>
              </a:rPr>
              <a:t>Procedural programming paradigm</a:t>
            </a:r>
          </a:p>
          <a:p>
            <a:pPr lvl="1"/>
            <a:r>
              <a:rPr lang="en-US" altLang="en-US" dirty="0">
                <a:latin typeface="Arial" panose="020B0604020202020204" pitchFamily="34" charset="0"/>
                <a:ea typeface="ＭＳ Ｐゴシック" pitchFamily="34" charset="-128"/>
                <a:cs typeface="Arial" panose="020B0604020202020204" pitchFamily="34" charset="0"/>
              </a:rPr>
              <a:t>A program is a sequence of detailed instructions, accessing and modifying memory locations</a:t>
            </a:r>
          </a:p>
          <a:p>
            <a:r>
              <a:rPr lang="en-US" altLang="en-US" dirty="0">
                <a:latin typeface="Arial" panose="020B0604020202020204" pitchFamily="34" charset="0"/>
                <a:ea typeface="ＭＳ Ｐゴシック" pitchFamily="34" charset="-128"/>
                <a:cs typeface="Arial" panose="020B0604020202020204" pitchFamily="34" charset="0"/>
              </a:rPr>
              <a:t>Functional programming paradigm</a:t>
            </a:r>
          </a:p>
          <a:p>
            <a:pPr lvl="1"/>
            <a:r>
              <a:rPr lang="en-US" altLang="en-US" dirty="0">
                <a:latin typeface="Arial" panose="020B0604020202020204" pitchFamily="34" charset="0"/>
                <a:ea typeface="ＭＳ Ｐゴシック" pitchFamily="34" charset="-128"/>
                <a:cs typeface="Arial" panose="020B0604020202020204" pitchFamily="34" charset="0"/>
              </a:rPr>
              <a:t>A program is a series of transformations on items</a:t>
            </a:r>
          </a:p>
        </p:txBody>
      </p:sp>
    </p:spTree>
    <p:extLst>
      <p:ext uri="{BB962C8B-B14F-4D97-AF65-F5344CB8AC3E}">
        <p14:creationId xmlns:p14="http://schemas.microsoft.com/office/powerpoint/2010/main" val="86928255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793488" y="1"/>
            <a:ext cx="7557025" cy="1060704"/>
          </a:xfrm>
        </p:spPr>
        <p:txBody>
          <a:bodyPr anchor="ctr">
            <a:no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Alternative Programming Paradigms (2 of </a:t>
            </a:r>
            <a:r>
              <a:rPr lang="en-US" sz="3600" b="0" i="0" kern="1200" dirty="0">
                <a:solidFill>
                  <a:schemeClr val="bg1"/>
                </a:solidFill>
                <a:effectLst/>
                <a:latin typeface="Arial" panose="020B0604020202020204" pitchFamily="34" charset="0"/>
                <a:cs typeface="Arial" panose="020B0604020202020204" pitchFamily="34" charset="0"/>
              </a:rPr>
              <a:t>16</a:t>
            </a:r>
            <a:r>
              <a:rPr lang="en-US" altLang="en-US" sz="3600" b="0" dirty="0">
                <a:latin typeface="Arial" panose="020B0604020202020204" pitchFamily="34" charset="0"/>
                <a:ea typeface="ＭＳ Ｐゴシック" pitchFamily="34" charset="-128"/>
                <a:cs typeface="Arial" panose="020B0604020202020204" pitchFamily="34" charset="0"/>
              </a:rPr>
              <a:t>)</a:t>
            </a:r>
            <a:endParaRPr lang="en-US" sz="3600" b="0" dirty="0">
              <a:latin typeface="Arial" panose="020B0604020202020204" pitchFamily="34" charset="0"/>
              <a:cs typeface="Arial" panose="020B0604020202020204" pitchFamily="34" charset="0"/>
            </a:endParaRPr>
          </a:p>
        </p:txBody>
      </p:sp>
      <p:sp>
        <p:nvSpPr>
          <p:cNvPr id="7" name="Content Placeholder 6"/>
          <p:cNvSpPr>
            <a:spLocks noGrp="1"/>
          </p:cNvSpPr>
          <p:nvPr>
            <p:ph idx="1"/>
          </p:nvPr>
        </p:nvSpPr>
        <p:spPr>
          <a:xfrm>
            <a:off x="294968" y="1231266"/>
            <a:ext cx="8391835" cy="4894898"/>
          </a:xfrm>
        </p:spPr>
        <p:txBody>
          <a:bodyPr>
            <a:noAutofit/>
          </a:bodyPr>
          <a:lstStyle/>
          <a:p>
            <a:r>
              <a:rPr lang="en-US" altLang="en-US" dirty="0">
                <a:latin typeface="Arial" panose="020B0604020202020204" pitchFamily="34" charset="0"/>
                <a:ea typeface="ＭＳ Ｐゴシック" pitchFamily="34" charset="-128"/>
                <a:cs typeface="Arial" panose="020B0604020202020204" pitchFamily="34" charset="0"/>
              </a:rPr>
              <a:t>Logic programming paradigm</a:t>
            </a:r>
          </a:p>
          <a:p>
            <a:pPr lvl="1"/>
            <a:r>
              <a:rPr lang="en-US" altLang="en-US" dirty="0">
                <a:latin typeface="Arial" panose="020B0604020202020204" pitchFamily="34" charset="0"/>
                <a:ea typeface="ＭＳ Ｐゴシック" pitchFamily="34" charset="-128"/>
                <a:cs typeface="Arial" panose="020B0604020202020204" pitchFamily="34" charset="0"/>
              </a:rPr>
              <a:t>A program is a series of logical deductions from known facts</a:t>
            </a:r>
          </a:p>
          <a:p>
            <a:r>
              <a:rPr lang="en-US" altLang="en-US" dirty="0">
                <a:latin typeface="Arial" panose="020B0604020202020204" pitchFamily="34" charset="0"/>
                <a:ea typeface="ＭＳ Ｐゴシック" pitchFamily="34" charset="-128"/>
                <a:cs typeface="Arial" panose="020B0604020202020204" pitchFamily="34" charset="0"/>
              </a:rPr>
              <a:t>Parallel programming paradigm</a:t>
            </a:r>
          </a:p>
          <a:p>
            <a:pPr lvl="1"/>
            <a:r>
              <a:rPr lang="en-US" altLang="en-US" dirty="0">
                <a:latin typeface="Arial" panose="020B0604020202020204" pitchFamily="34" charset="0"/>
                <a:ea typeface="ＭＳ Ｐゴシック" pitchFamily="34" charset="-128"/>
                <a:cs typeface="Arial" panose="020B0604020202020204" pitchFamily="34" charset="0"/>
              </a:rPr>
              <a:t>A program is made up of </a:t>
            </a:r>
          </a:p>
          <a:p>
            <a:pPr marL="1071563" lvl="2" indent="-354013"/>
            <a:r>
              <a:rPr lang="en-US" altLang="en-US" dirty="0">
                <a:latin typeface="Arial" panose="020B0604020202020204" pitchFamily="34" charset="0"/>
                <a:ea typeface="ＭＳ Ｐゴシック" pitchFamily="34" charset="-128"/>
                <a:cs typeface="Arial" panose="020B0604020202020204" pitchFamily="34" charset="0"/>
              </a:rPr>
              <a:t>Multiple copies of the same subtask OR</a:t>
            </a:r>
          </a:p>
          <a:p>
            <a:pPr marL="1071563" lvl="2" indent="-354013"/>
            <a:r>
              <a:rPr lang="en-US" altLang="en-US" dirty="0">
                <a:latin typeface="Arial" panose="020B0604020202020204" pitchFamily="34" charset="0"/>
                <a:ea typeface="ＭＳ Ｐゴシック" pitchFamily="34" charset="-128"/>
                <a:cs typeface="Arial" panose="020B0604020202020204" pitchFamily="34" charset="0"/>
              </a:rPr>
              <a:t>Multiple subtasks of the same problem</a:t>
            </a:r>
          </a:p>
          <a:p>
            <a:pPr marL="1071563" lvl="2" indent="-354013"/>
            <a:r>
              <a:rPr lang="en-US" altLang="en-US" dirty="0">
                <a:latin typeface="Arial" panose="020B0604020202020204" pitchFamily="34" charset="0"/>
                <a:ea typeface="ＭＳ Ｐゴシック" pitchFamily="34" charset="-128"/>
                <a:cs typeface="Arial" panose="020B0604020202020204" pitchFamily="34" charset="0"/>
              </a:rPr>
              <a:t>Performed simultaneously by different processors</a:t>
            </a:r>
          </a:p>
        </p:txBody>
      </p:sp>
    </p:spTree>
    <p:extLst>
      <p:ext uri="{BB962C8B-B14F-4D97-AF65-F5344CB8AC3E}">
        <p14:creationId xmlns:p14="http://schemas.microsoft.com/office/powerpoint/2010/main" val="2994257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793488" y="1"/>
            <a:ext cx="7557025" cy="1060704"/>
          </a:xfrm>
        </p:spPr>
        <p:txBody>
          <a:bodyPr anchor="ctr">
            <a:no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Alternative Programming Paradigms (3 of </a:t>
            </a:r>
            <a:r>
              <a:rPr lang="en-US" sz="3600" b="0" i="0" kern="1200" dirty="0">
                <a:solidFill>
                  <a:schemeClr val="bg1"/>
                </a:solidFill>
                <a:effectLst/>
                <a:latin typeface="Arial" panose="020B0604020202020204" pitchFamily="34" charset="0"/>
                <a:cs typeface="Arial" panose="020B0604020202020204" pitchFamily="34" charset="0"/>
              </a:rPr>
              <a:t>16</a:t>
            </a:r>
            <a:r>
              <a:rPr lang="en-US" altLang="en-US" sz="3600" b="0" dirty="0">
                <a:latin typeface="Arial" panose="020B0604020202020204" pitchFamily="34" charset="0"/>
                <a:ea typeface="ＭＳ Ｐゴシック" pitchFamily="34" charset="-128"/>
                <a:cs typeface="Arial" panose="020B0604020202020204" pitchFamily="34" charset="0"/>
              </a:rPr>
              <a:t>)</a:t>
            </a:r>
            <a:endParaRPr lang="en-US" sz="3600" b="0" dirty="0">
              <a:latin typeface="Arial" panose="020B0604020202020204" pitchFamily="34" charset="0"/>
              <a:cs typeface="Arial" panose="020B0604020202020204" pitchFamily="34" charset="0"/>
            </a:endParaRPr>
          </a:p>
        </p:txBody>
      </p:sp>
      <p:sp>
        <p:nvSpPr>
          <p:cNvPr id="7" name="Content Placeholder 6"/>
          <p:cNvSpPr>
            <a:spLocks noGrp="1"/>
          </p:cNvSpPr>
          <p:nvPr>
            <p:ph idx="1"/>
          </p:nvPr>
        </p:nvSpPr>
        <p:spPr>
          <a:xfrm>
            <a:off x="294968" y="1231266"/>
            <a:ext cx="8391835" cy="4894898"/>
          </a:xfrm>
        </p:spPr>
        <p:txBody>
          <a:bodyPr>
            <a:noAutofit/>
          </a:bodyPr>
          <a:lstStyle/>
          <a:p>
            <a:r>
              <a:rPr lang="en-US" altLang="en-US" dirty="0">
                <a:latin typeface="Arial" panose="020B0604020202020204" pitchFamily="34" charset="0"/>
                <a:ea typeface="ＭＳ Ｐゴシック" pitchFamily="34" charset="-128"/>
                <a:cs typeface="Arial" panose="020B0604020202020204" pitchFamily="34" charset="0"/>
              </a:rPr>
              <a:t>Functional Programming</a:t>
            </a:r>
          </a:p>
          <a:p>
            <a:pPr lvl="1"/>
            <a:r>
              <a:rPr lang="en-US" altLang="en-US" dirty="0">
                <a:latin typeface="Arial" panose="020B0604020202020204" pitchFamily="34" charset="0"/>
                <a:ea typeface="ＭＳ Ｐゴシック" pitchFamily="34" charset="-128"/>
                <a:cs typeface="Arial" panose="020B0604020202020204" pitchFamily="34" charset="0"/>
              </a:rPr>
              <a:t>LISP was developed in 1958 at MIT by John McCarthy</a:t>
            </a:r>
          </a:p>
          <a:p>
            <a:pPr lvl="1"/>
            <a:r>
              <a:rPr lang="en-US" altLang="en-US" dirty="0">
                <a:latin typeface="Arial" panose="020B0604020202020204" pitchFamily="34" charset="0"/>
                <a:ea typeface="ＭＳ Ｐゴシック" pitchFamily="34" charset="-128"/>
                <a:cs typeface="Arial" panose="020B0604020202020204" pitchFamily="34" charset="0"/>
              </a:rPr>
              <a:t>Scheme is a variant of LISP developed in the 1970s</a:t>
            </a:r>
          </a:p>
          <a:p>
            <a:pPr lvl="1"/>
            <a:r>
              <a:rPr lang="en-US" altLang="en-US" b="1" dirty="0">
                <a:latin typeface="Arial" panose="020B0604020202020204" pitchFamily="34" charset="0"/>
                <a:ea typeface="ＭＳ Ｐゴシック" pitchFamily="34" charset="-128"/>
                <a:cs typeface="Arial" panose="020B0604020202020204" pitchFamily="34" charset="0"/>
              </a:rPr>
              <a:t>Functional programming language</a:t>
            </a:r>
            <a:endParaRPr lang="en-US" altLang="en-US" dirty="0">
              <a:latin typeface="Arial" panose="020B0604020202020204" pitchFamily="34" charset="0"/>
              <a:ea typeface="ＭＳ Ｐゴシック" pitchFamily="34" charset="-128"/>
              <a:cs typeface="Arial" panose="020B0604020202020204" pitchFamily="34" charset="0"/>
            </a:endParaRPr>
          </a:p>
          <a:p>
            <a:pPr marL="1071563" lvl="2" indent="-354013"/>
            <a:r>
              <a:rPr lang="en-US" altLang="en-US" dirty="0">
                <a:latin typeface="Arial" panose="020B0604020202020204" pitchFamily="34" charset="0"/>
                <a:ea typeface="ＭＳ Ｐゴシック" pitchFamily="34" charset="-128"/>
                <a:cs typeface="Arial" panose="020B0604020202020204" pitchFamily="34" charset="0"/>
              </a:rPr>
              <a:t>Organized around functions</a:t>
            </a:r>
          </a:p>
          <a:p>
            <a:pPr marL="1071563" lvl="2" indent="-354013"/>
            <a:r>
              <a:rPr lang="en-US" altLang="en-US" dirty="0">
                <a:latin typeface="Arial" panose="020B0604020202020204" pitchFamily="34" charset="0"/>
                <a:ea typeface="ＭＳ Ｐゴシック" pitchFamily="34" charset="-128"/>
                <a:cs typeface="Arial" panose="020B0604020202020204" pitchFamily="34" charset="0"/>
              </a:rPr>
              <a:t>A function takes inputs and produces a single value</a:t>
            </a:r>
          </a:p>
          <a:p>
            <a:pPr marL="1071563" lvl="2" indent="-354013"/>
            <a:r>
              <a:rPr lang="en-US" altLang="en-US" dirty="0">
                <a:latin typeface="Arial" panose="020B0604020202020204" pitchFamily="34" charset="0"/>
                <a:ea typeface="ＭＳ Ｐゴシック" pitchFamily="34" charset="-128"/>
                <a:cs typeface="Arial" panose="020B0604020202020204" pitchFamily="34" charset="0"/>
              </a:rPr>
              <a:t>Define functions</a:t>
            </a:r>
          </a:p>
          <a:p>
            <a:pPr marL="1071563" lvl="2" indent="-354013"/>
            <a:r>
              <a:rPr lang="en-US" altLang="en-US" dirty="0">
                <a:latin typeface="Arial" panose="020B0604020202020204" pitchFamily="34" charset="0"/>
                <a:ea typeface="ＭＳ Ｐゴシック" pitchFamily="34" charset="-128"/>
                <a:cs typeface="Arial" panose="020B0604020202020204" pitchFamily="34" charset="0"/>
              </a:rPr>
              <a:t>Call, or apply, functions</a:t>
            </a:r>
          </a:p>
          <a:p>
            <a:pPr marL="1071563" lvl="2" indent="-354013"/>
            <a:r>
              <a:rPr lang="en-US" altLang="en-US" dirty="0">
                <a:latin typeface="Arial" panose="020B0604020202020204" pitchFamily="34" charset="0"/>
                <a:ea typeface="ＭＳ Ｐゴシック" pitchFamily="34" charset="-128"/>
                <a:cs typeface="Arial" panose="020B0604020202020204" pitchFamily="34" charset="0"/>
              </a:rPr>
              <a:t>Combine function calls</a:t>
            </a:r>
          </a:p>
          <a:p>
            <a:pPr lvl="1"/>
            <a:r>
              <a:rPr lang="en-US" altLang="en-US" b="1" dirty="0">
                <a:latin typeface="Arial" panose="020B0604020202020204" pitchFamily="34" charset="0"/>
                <a:ea typeface="ＭＳ Ｐゴシック" pitchFamily="34" charset="-128"/>
                <a:cs typeface="Arial" panose="020B0604020202020204" pitchFamily="34" charset="0"/>
              </a:rPr>
              <a:t>Applicative languages</a:t>
            </a:r>
          </a:p>
        </p:txBody>
      </p:sp>
    </p:spTree>
    <p:extLst>
      <p:ext uri="{BB962C8B-B14F-4D97-AF65-F5344CB8AC3E}">
        <p14:creationId xmlns:p14="http://schemas.microsoft.com/office/powerpoint/2010/main" val="282080989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793488" y="1"/>
            <a:ext cx="7557025" cy="1060704"/>
          </a:xfrm>
        </p:spPr>
        <p:txBody>
          <a:bodyPr anchor="ctr">
            <a:no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Alternative Programming Paradigms (4 of </a:t>
            </a:r>
            <a:r>
              <a:rPr lang="en-US" sz="3600" b="0" i="0" kern="1200" dirty="0">
                <a:solidFill>
                  <a:schemeClr val="bg1"/>
                </a:solidFill>
                <a:effectLst/>
                <a:latin typeface="Arial" panose="020B0604020202020204" pitchFamily="34" charset="0"/>
                <a:cs typeface="Arial" panose="020B0604020202020204" pitchFamily="34" charset="0"/>
              </a:rPr>
              <a:t>16</a:t>
            </a:r>
            <a:r>
              <a:rPr lang="en-US" altLang="en-US" sz="3600" b="0" dirty="0">
                <a:latin typeface="Arial" panose="020B0604020202020204" pitchFamily="34" charset="0"/>
                <a:ea typeface="ＭＳ Ｐゴシック" pitchFamily="34" charset="-128"/>
                <a:cs typeface="Arial" panose="020B0604020202020204" pitchFamily="34" charset="0"/>
              </a:rPr>
              <a:t>)</a:t>
            </a:r>
            <a:endParaRPr lang="en-US" sz="3600" b="0" dirty="0">
              <a:latin typeface="Arial" panose="020B0604020202020204" pitchFamily="34" charset="0"/>
              <a:cs typeface="Arial" panose="020B0604020202020204" pitchFamily="34" charset="0"/>
            </a:endParaRPr>
          </a:p>
        </p:txBody>
      </p:sp>
      <p:sp>
        <p:nvSpPr>
          <p:cNvPr id="7" name="Content Placeholder 6"/>
          <p:cNvSpPr>
            <a:spLocks noGrp="1"/>
          </p:cNvSpPr>
          <p:nvPr>
            <p:ph idx="1"/>
          </p:nvPr>
        </p:nvSpPr>
        <p:spPr>
          <a:xfrm>
            <a:off x="294968" y="1231266"/>
            <a:ext cx="8391835" cy="2266677"/>
          </a:xfrm>
        </p:spPr>
        <p:txBody>
          <a:bodyPr>
            <a:noAutofit/>
          </a:bodyPr>
          <a:lstStyle/>
          <a:p>
            <a:r>
              <a:rPr lang="en-US" altLang="en-US" dirty="0">
                <a:latin typeface="Arial" panose="020B0604020202020204" pitchFamily="34" charset="0"/>
                <a:ea typeface="ＭＳ Ｐゴシック" pitchFamily="34" charset="-128"/>
                <a:cs typeface="Arial" panose="020B0604020202020204" pitchFamily="34" charset="0"/>
              </a:rPr>
              <a:t>Lists: linear collections of data</a:t>
            </a:r>
          </a:p>
          <a:p>
            <a:pPr lvl="1"/>
            <a:r>
              <a:rPr lang="en-US" altLang="en-US" dirty="0">
                <a:latin typeface="Arial" panose="020B0604020202020204" pitchFamily="34" charset="0"/>
                <a:ea typeface="ＭＳ Ｐゴシック" pitchFamily="34" charset="-128"/>
                <a:cs typeface="Arial" panose="020B0604020202020204" pitchFamily="34" charset="0"/>
              </a:rPr>
              <a:t>(list 5 1 2)  = (5 1 2)</a:t>
            </a:r>
          </a:p>
          <a:p>
            <a:pPr lvl="1"/>
            <a:r>
              <a:rPr lang="en-US" altLang="en-US" dirty="0">
                <a:latin typeface="Arial" panose="020B0604020202020204" pitchFamily="34" charset="0"/>
                <a:ea typeface="ＭＳ Ｐゴシック" pitchFamily="34" charset="-128"/>
                <a:cs typeface="Arial" panose="020B0604020202020204" pitchFamily="34" charset="0"/>
              </a:rPr>
              <a:t>(car (list 5 1 2)) = 5</a:t>
            </a:r>
          </a:p>
          <a:p>
            <a:pPr lvl="1"/>
            <a:r>
              <a:rPr lang="en-US" altLang="en-US" dirty="0">
                <a:latin typeface="Arial" panose="020B0604020202020204" pitchFamily="34" charset="0"/>
                <a:ea typeface="ＭＳ Ｐゴシック" pitchFamily="34" charset="-128"/>
                <a:cs typeface="Arial" panose="020B0604020202020204" pitchFamily="34" charset="0"/>
              </a:rPr>
              <a:t>(cdr (list 5 1 2)) = (1 2)</a:t>
            </a:r>
          </a:p>
          <a:p>
            <a:pPr lvl="1"/>
            <a:r>
              <a:rPr lang="en-US" altLang="en-US" dirty="0">
                <a:latin typeface="Arial" panose="020B0604020202020204" pitchFamily="34" charset="0"/>
                <a:ea typeface="ＭＳ Ｐゴシック" pitchFamily="34" charset="-128"/>
                <a:cs typeface="Arial" panose="020B0604020202020204" pitchFamily="34" charset="0"/>
              </a:rPr>
              <a:t>(null (list 5 1 2)) = false</a:t>
            </a:r>
          </a:p>
        </p:txBody>
      </p:sp>
      <p:pic>
        <p:nvPicPr>
          <p:cNvPr id="2" name="Picture 1" descr="Line 1: left parenthesis, define, left parenthesis, adder input - list, right parenthesis. Line 2, indented once: left parenthesis, c o n d, left parenthesis, left parenthesis, null, question mark, input - list, right parenthesis, 0, right parenthesis. Line 3, indented twice: left parenthesis, else, left parenthesis, +, left parenthesis, car input - list, right parenthesis. Line 4, indented 3 times: left parenthesis, adder, left parenthesis, c d r input - list, right parenthesis, right parenthesis, right parenthesis, right parenthesis, right parenthesis, right parenthesis.">
            <a:extLst>
              <a:ext uri="{FF2B5EF4-FFF2-40B4-BE49-F238E27FC236}">
                <a16:creationId xmlns:a16="http://schemas.microsoft.com/office/drawing/2014/main" id="{B406260C-4CBD-478E-A5CF-6A4811ED3170}"/>
              </a:ext>
            </a:extLst>
          </p:cNvPr>
          <p:cNvPicPr>
            <a:picLocks noChangeAspect="1"/>
          </p:cNvPicPr>
          <p:nvPr/>
        </p:nvPicPr>
        <p:blipFill>
          <a:blip r:embed="rId3"/>
          <a:stretch>
            <a:fillRect/>
          </a:stretch>
        </p:blipFill>
        <p:spPr>
          <a:xfrm>
            <a:off x="1054289" y="3668504"/>
            <a:ext cx="7440170" cy="2135396"/>
          </a:xfrm>
          <a:prstGeom prst="rect">
            <a:avLst/>
          </a:prstGeom>
        </p:spPr>
      </p:pic>
    </p:spTree>
    <p:extLst>
      <p:ext uri="{BB962C8B-B14F-4D97-AF65-F5344CB8AC3E}">
        <p14:creationId xmlns:p14="http://schemas.microsoft.com/office/powerpoint/2010/main" val="89635281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793488" y="1"/>
            <a:ext cx="7557025" cy="1060704"/>
          </a:xfrm>
        </p:spPr>
        <p:txBody>
          <a:bodyPr anchor="ctr">
            <a:no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Alternative Programming Paradigms (5 of </a:t>
            </a:r>
            <a:r>
              <a:rPr lang="en-US" sz="3600" b="0" i="0" kern="1200" dirty="0">
                <a:solidFill>
                  <a:schemeClr val="bg1"/>
                </a:solidFill>
                <a:effectLst/>
                <a:latin typeface="Arial" panose="020B0604020202020204" pitchFamily="34" charset="0"/>
                <a:cs typeface="Arial" panose="020B0604020202020204" pitchFamily="34" charset="0"/>
              </a:rPr>
              <a:t>16</a:t>
            </a:r>
            <a:r>
              <a:rPr lang="en-US" altLang="en-US" sz="3600" b="0" dirty="0">
                <a:latin typeface="Arial" panose="020B0604020202020204" pitchFamily="34" charset="0"/>
                <a:ea typeface="ＭＳ Ｐゴシック" pitchFamily="34" charset="-128"/>
                <a:cs typeface="Arial" panose="020B0604020202020204" pitchFamily="34" charset="0"/>
              </a:rPr>
              <a:t>)</a:t>
            </a:r>
            <a:endParaRPr lang="en-US" sz="3600" b="0" dirty="0">
              <a:latin typeface="Arial" panose="020B0604020202020204" pitchFamily="34" charset="0"/>
              <a:cs typeface="Arial" panose="020B0604020202020204" pitchFamily="34" charset="0"/>
            </a:endParaRPr>
          </a:p>
        </p:txBody>
      </p:sp>
      <p:sp>
        <p:nvSpPr>
          <p:cNvPr id="7" name="Content Placeholder 6"/>
          <p:cNvSpPr>
            <a:spLocks noGrp="1"/>
          </p:cNvSpPr>
          <p:nvPr>
            <p:ph idx="1"/>
          </p:nvPr>
        </p:nvSpPr>
        <p:spPr>
          <a:xfrm>
            <a:off x="294968" y="1231266"/>
            <a:ext cx="8660346" cy="4995363"/>
          </a:xfrm>
        </p:spPr>
        <p:txBody>
          <a:bodyPr>
            <a:noAutofit/>
          </a:bodyPr>
          <a:lstStyle/>
          <a:p>
            <a:pPr>
              <a:buFontTx/>
              <a:buNone/>
            </a:pPr>
            <a:r>
              <a:rPr lang="en-US" altLang="en-US" dirty="0">
                <a:latin typeface="Arial" panose="020B0604020202020204" pitchFamily="34" charset="0"/>
                <a:ea typeface="ＭＳ Ｐゴシック" pitchFamily="34" charset="-128"/>
                <a:cs typeface="Arial" panose="020B0604020202020204" pitchFamily="34" charset="0"/>
              </a:rPr>
              <a:t>Example:</a:t>
            </a:r>
          </a:p>
          <a:p>
            <a:pPr>
              <a:buFontTx/>
              <a:buNone/>
            </a:pPr>
            <a:r>
              <a:rPr lang="en-US" altLang="en-US" dirty="0">
                <a:latin typeface="Arial" panose="020B0604020202020204" pitchFamily="34" charset="0"/>
                <a:ea typeface="ＭＳ Ｐゴシック" pitchFamily="34" charset="-128"/>
                <a:cs typeface="Arial" panose="020B0604020202020204" pitchFamily="34" charset="0"/>
              </a:rPr>
              <a:t>	(adder (5 10))</a:t>
            </a:r>
          </a:p>
          <a:p>
            <a:pPr>
              <a:buFontTx/>
              <a:buNone/>
            </a:pPr>
            <a:r>
              <a:rPr lang="en-US" altLang="en-US" dirty="0">
                <a:latin typeface="Arial" panose="020B0604020202020204" pitchFamily="34" charset="0"/>
                <a:ea typeface="ＭＳ Ｐゴシック" pitchFamily="34" charset="-128"/>
                <a:cs typeface="Arial" panose="020B0604020202020204" pitchFamily="34" charset="0"/>
              </a:rPr>
              <a:t>	= (+ 5 (adder (10))) = 5 + (adder (10))</a:t>
            </a:r>
          </a:p>
          <a:p>
            <a:pPr>
              <a:buFontTx/>
              <a:buNone/>
            </a:pPr>
            <a:r>
              <a:rPr lang="en-US" altLang="en-US" dirty="0">
                <a:latin typeface="Arial" panose="020B0604020202020204" pitchFamily="34" charset="0"/>
                <a:ea typeface="ＭＳ Ｐゴシック" pitchFamily="34" charset="-128"/>
                <a:cs typeface="Arial" panose="020B0604020202020204" pitchFamily="34" charset="0"/>
              </a:rPr>
              <a:t>	= 5 + (+ 10 (adder ())) = 5 + 10 + (adder ())</a:t>
            </a:r>
          </a:p>
          <a:p>
            <a:pPr>
              <a:buFontTx/>
              <a:buNone/>
            </a:pPr>
            <a:r>
              <a:rPr lang="en-US" altLang="en-US" dirty="0">
                <a:latin typeface="Arial" panose="020B0604020202020204" pitchFamily="34" charset="0"/>
                <a:ea typeface="ＭＳ Ｐゴシック" pitchFamily="34" charset="-128"/>
                <a:cs typeface="Arial" panose="020B0604020202020204" pitchFamily="34" charset="0"/>
              </a:rPr>
              <a:t>	= 5 + 10 + 0 = 15</a:t>
            </a:r>
          </a:p>
          <a:p>
            <a:r>
              <a:rPr lang="en-US" altLang="en-US" b="1" dirty="0">
                <a:latin typeface="Arial" panose="020B0604020202020204" pitchFamily="34" charset="0"/>
                <a:ea typeface="ＭＳ Ｐゴシック" pitchFamily="34" charset="-128"/>
                <a:cs typeface="Arial" panose="020B0604020202020204" pitchFamily="34" charset="0"/>
              </a:rPr>
              <a:t>Recursive</a:t>
            </a:r>
            <a:r>
              <a:rPr lang="en-US" altLang="en-US" dirty="0">
                <a:latin typeface="Arial" panose="020B0604020202020204" pitchFamily="34" charset="0"/>
                <a:ea typeface="ＭＳ Ｐゴシック" pitchFamily="34" charset="-128"/>
                <a:cs typeface="Arial" panose="020B0604020202020204" pitchFamily="34" charset="0"/>
              </a:rPr>
              <a:t>: defined in terms of smaller versions of itself</a:t>
            </a:r>
          </a:p>
          <a:p>
            <a:r>
              <a:rPr lang="en-US" altLang="en-US" dirty="0">
                <a:latin typeface="Arial" panose="020B0604020202020204" pitchFamily="34" charset="0"/>
                <a:ea typeface="ＭＳ Ｐゴシック" pitchFamily="34" charset="-128"/>
                <a:cs typeface="Arial" panose="020B0604020202020204" pitchFamily="34" charset="0"/>
              </a:rPr>
              <a:t>No </a:t>
            </a:r>
            <a:r>
              <a:rPr lang="en-US" altLang="en-US" b="1" dirty="0">
                <a:latin typeface="Arial" panose="020B0604020202020204" pitchFamily="34" charset="0"/>
                <a:ea typeface="ＭＳ Ｐゴシック" pitchFamily="34" charset="-128"/>
                <a:cs typeface="Arial" panose="020B0604020202020204" pitchFamily="34" charset="0"/>
              </a:rPr>
              <a:t>side effect</a:t>
            </a:r>
            <a:r>
              <a:rPr lang="en-US" altLang="en-US" dirty="0">
                <a:latin typeface="Arial" panose="020B0604020202020204" pitchFamily="34" charset="0"/>
                <a:ea typeface="ＭＳ Ｐゴシック" pitchFamily="34" charset="-128"/>
                <a:cs typeface="Arial" panose="020B0604020202020204" pitchFamily="34" charset="0"/>
              </a:rPr>
              <a:t> here: no changes to values outside calculation</a:t>
            </a:r>
          </a:p>
        </p:txBody>
      </p:sp>
    </p:spTree>
    <p:extLst>
      <p:ext uri="{BB962C8B-B14F-4D97-AF65-F5344CB8AC3E}">
        <p14:creationId xmlns:p14="http://schemas.microsoft.com/office/powerpoint/2010/main" val="227409042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793488" y="1"/>
            <a:ext cx="7557025" cy="1060704"/>
          </a:xfrm>
        </p:spPr>
        <p:txBody>
          <a:bodyPr anchor="ctr">
            <a:no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Alternative Programming Paradigms (6 of </a:t>
            </a:r>
            <a:r>
              <a:rPr lang="en-US" sz="3600" b="0" i="0" kern="1200" dirty="0">
                <a:solidFill>
                  <a:schemeClr val="bg1"/>
                </a:solidFill>
                <a:effectLst/>
                <a:latin typeface="Arial" panose="020B0604020202020204" pitchFamily="34" charset="0"/>
                <a:cs typeface="Arial" panose="020B0604020202020204" pitchFamily="34" charset="0"/>
              </a:rPr>
              <a:t>16</a:t>
            </a:r>
            <a:r>
              <a:rPr lang="en-US" altLang="en-US" sz="3600" b="0" dirty="0">
                <a:latin typeface="Arial" panose="020B0604020202020204" pitchFamily="34" charset="0"/>
                <a:ea typeface="ＭＳ Ｐゴシック" pitchFamily="34" charset="-128"/>
                <a:cs typeface="Arial" panose="020B0604020202020204" pitchFamily="34" charset="0"/>
              </a:rPr>
              <a:t>)</a:t>
            </a:r>
            <a:endParaRPr lang="en-US" sz="3600" b="0" dirty="0">
              <a:latin typeface="Arial" panose="020B0604020202020204" pitchFamily="34" charset="0"/>
              <a:cs typeface="Arial" panose="020B0604020202020204" pitchFamily="34" charset="0"/>
            </a:endParaRPr>
          </a:p>
        </p:txBody>
      </p:sp>
      <p:sp>
        <p:nvSpPr>
          <p:cNvPr id="7" name="Content Placeholder 6"/>
          <p:cNvSpPr>
            <a:spLocks noGrp="1"/>
          </p:cNvSpPr>
          <p:nvPr>
            <p:ph idx="1"/>
          </p:nvPr>
        </p:nvSpPr>
        <p:spPr>
          <a:xfrm>
            <a:off x="294968" y="1231266"/>
            <a:ext cx="8660346" cy="4995363"/>
          </a:xfrm>
        </p:spPr>
        <p:txBody>
          <a:bodyPr>
            <a:noAutofit/>
          </a:bodyPr>
          <a:lstStyle/>
          <a:p>
            <a:pPr>
              <a:buFontTx/>
              <a:buNone/>
              <a:defRPr/>
            </a:pPr>
            <a:r>
              <a:rPr lang="en-US" altLang="en-US" b="1" dirty="0">
                <a:latin typeface="Arial" panose="020B0604020202020204" pitchFamily="34" charset="0"/>
                <a:ea typeface="ＭＳ Ｐゴシック" panose="020B0600070205080204" pitchFamily="34" charset="-128"/>
                <a:cs typeface="Arial" panose="020B0604020202020204" pitchFamily="34" charset="0"/>
              </a:rPr>
              <a:t>Logic programming languages</a:t>
            </a:r>
            <a:endParaRPr lang="en-US" altLang="en-US" dirty="0">
              <a:latin typeface="Arial" panose="020B0604020202020204" pitchFamily="34" charset="0"/>
              <a:ea typeface="ＭＳ Ｐゴシック" panose="020B0600070205080204" pitchFamily="34" charset="-128"/>
              <a:cs typeface="Arial" panose="020B0604020202020204" pitchFamily="34" charset="0"/>
            </a:endParaRPr>
          </a:p>
          <a:p>
            <a:pPr marL="717550">
              <a:buFont typeface="Arial" panose="020B0604020202020204" pitchFamily="34" charset="0"/>
              <a:buChar char="–"/>
              <a:defRPr/>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Programs describe rules and facts, not how to do something</a:t>
            </a:r>
          </a:p>
          <a:p>
            <a:pPr marL="717550">
              <a:buFont typeface="Arial" panose="020B0604020202020204" pitchFamily="34" charset="0"/>
              <a:buChar char="–"/>
              <a:defRPr/>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Queries use logical deduction to produce outputs that follow from the rules and facts given</a:t>
            </a:r>
          </a:p>
          <a:p>
            <a:pPr marL="717550">
              <a:buFont typeface="Arial" panose="020B0604020202020204" pitchFamily="34" charset="0"/>
              <a:buChar char="–"/>
              <a:defRPr/>
            </a:pPr>
            <a:r>
              <a:rPr lang="en-US" altLang="en-US" sz="2400" b="1" dirty="0">
                <a:latin typeface="Arial" panose="020B0604020202020204" pitchFamily="34" charset="0"/>
                <a:ea typeface="ＭＳ Ｐゴシック" panose="020B0600070205080204" pitchFamily="34" charset="-128"/>
                <a:cs typeface="Arial" panose="020B0604020202020204" pitchFamily="34" charset="0"/>
              </a:rPr>
              <a:t>Declarative programming languages</a:t>
            </a:r>
          </a:p>
          <a:p>
            <a:pPr marL="1071563" lvl="1" indent="-342900">
              <a:buFont typeface="Wingdings" pitchFamily="2" charset="2"/>
              <a:buChar char="§"/>
              <a:defRPr/>
            </a:pPr>
            <a:r>
              <a:rPr lang="en-US" altLang="en-US" sz="2200" dirty="0">
                <a:latin typeface="Arial" panose="020B0604020202020204" pitchFamily="34" charset="0"/>
                <a:ea typeface="ＭＳ Ｐゴシック" panose="020B0600070205080204" pitchFamily="34" charset="-128"/>
                <a:cs typeface="Arial" panose="020B0604020202020204" pitchFamily="34" charset="0"/>
              </a:rPr>
              <a:t>Programs declare what is true</a:t>
            </a:r>
          </a:p>
          <a:p>
            <a:pPr marL="717550">
              <a:buFont typeface="Arial" panose="020B0604020202020204" pitchFamily="34" charset="0"/>
              <a:buChar char="–"/>
              <a:defRPr/>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Artificial intelligence applications</a:t>
            </a:r>
          </a:p>
          <a:p>
            <a:pPr marL="1071563" lvl="1" indent="-354013">
              <a:buFont typeface="Wingdings" pitchFamily="2" charset="2"/>
              <a:buChar char="§"/>
              <a:defRPr/>
            </a:pPr>
            <a:r>
              <a:rPr lang="en-US" altLang="en-US" sz="2200" dirty="0">
                <a:latin typeface="Arial" panose="020B0604020202020204" pitchFamily="34" charset="0"/>
                <a:ea typeface="ＭＳ Ｐゴシック" panose="020B0600070205080204" pitchFamily="34" charset="-128"/>
                <a:cs typeface="Arial" panose="020B0604020202020204" pitchFamily="34" charset="0"/>
              </a:rPr>
              <a:t>Expert systems solve problems with logical reasoning</a:t>
            </a:r>
            <a:endParaRPr lang="en-US" altLang="en-US" sz="2200" b="1" dirty="0">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181712523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793488" y="1"/>
            <a:ext cx="7557025" cy="1060704"/>
          </a:xfrm>
        </p:spPr>
        <p:txBody>
          <a:bodyPr anchor="ctr">
            <a:no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Alternative Programming Paradigms (7 of </a:t>
            </a:r>
            <a:r>
              <a:rPr lang="en-US" sz="3600" b="0" i="0" kern="1200" dirty="0">
                <a:solidFill>
                  <a:schemeClr val="bg1"/>
                </a:solidFill>
                <a:effectLst/>
                <a:latin typeface="Arial" panose="020B0604020202020204" pitchFamily="34" charset="0"/>
                <a:cs typeface="Arial" panose="020B0604020202020204" pitchFamily="34" charset="0"/>
              </a:rPr>
              <a:t>16</a:t>
            </a:r>
            <a:r>
              <a:rPr lang="en-US" altLang="en-US" sz="3600" b="0" dirty="0">
                <a:latin typeface="Arial" panose="020B0604020202020204" pitchFamily="34" charset="0"/>
                <a:ea typeface="ＭＳ Ｐゴシック" pitchFamily="34" charset="-128"/>
                <a:cs typeface="Arial" panose="020B0604020202020204" pitchFamily="34" charset="0"/>
              </a:rPr>
              <a:t>)</a:t>
            </a:r>
            <a:endParaRPr lang="en-US" sz="3600" b="0" dirty="0">
              <a:latin typeface="Arial" panose="020B0604020202020204" pitchFamily="34" charset="0"/>
              <a:cs typeface="Arial" panose="020B0604020202020204" pitchFamily="34" charset="0"/>
            </a:endParaRPr>
          </a:p>
        </p:txBody>
      </p:sp>
      <p:sp>
        <p:nvSpPr>
          <p:cNvPr id="7" name="Content Placeholder 6"/>
          <p:cNvSpPr>
            <a:spLocks noGrp="1"/>
          </p:cNvSpPr>
          <p:nvPr>
            <p:ph idx="1"/>
          </p:nvPr>
        </p:nvSpPr>
        <p:spPr>
          <a:xfrm>
            <a:off x="294968" y="1231266"/>
            <a:ext cx="8660346" cy="4995363"/>
          </a:xfrm>
        </p:spPr>
        <p:txBody>
          <a:bodyPr>
            <a:noAutofit/>
          </a:bodyPr>
          <a:lstStyle/>
          <a:p>
            <a:r>
              <a:rPr lang="en-US" altLang="en-US" dirty="0">
                <a:latin typeface="Arial" panose="020B0604020202020204" pitchFamily="34" charset="0"/>
                <a:ea typeface="ＭＳ Ｐゴシック" pitchFamily="34" charset="-128"/>
                <a:cs typeface="Arial" panose="020B0604020202020204" pitchFamily="34" charset="0"/>
              </a:rPr>
              <a:t>Prolog was developed in 1972 at the University of Marseilles by A. Colmerauer</a:t>
            </a:r>
          </a:p>
          <a:p>
            <a:r>
              <a:rPr lang="en-US" altLang="en-US" dirty="0">
                <a:latin typeface="Arial" panose="020B0604020202020204" pitchFamily="34" charset="0"/>
                <a:ea typeface="ＭＳ Ｐゴシック" pitchFamily="34" charset="-128"/>
                <a:cs typeface="Arial" panose="020B0604020202020204" pitchFamily="34" charset="0"/>
              </a:rPr>
              <a:t>Facts describe relationships among specific objects</a:t>
            </a:r>
          </a:p>
          <a:p>
            <a:pPr lvl="1"/>
            <a:r>
              <a:rPr lang="en-US" altLang="en-US" dirty="0">
                <a:latin typeface="Arial" panose="020B0604020202020204" pitchFamily="34" charset="0"/>
                <a:ea typeface="ＭＳ Ｐゴシック" pitchFamily="34" charset="-128"/>
                <a:cs typeface="Arial" panose="020B0604020202020204" pitchFamily="34" charset="0"/>
              </a:rPr>
              <a:t>president(nixon, vietnam_war).</a:t>
            </a:r>
          </a:p>
          <a:p>
            <a:r>
              <a:rPr lang="en-US" altLang="en-US" dirty="0">
                <a:latin typeface="Arial" panose="020B0604020202020204" pitchFamily="34" charset="0"/>
                <a:ea typeface="ＭＳ Ｐゴシック" pitchFamily="34" charset="-128"/>
                <a:cs typeface="Arial" panose="020B0604020202020204" pitchFamily="34" charset="0"/>
              </a:rPr>
              <a:t>Rules describe general relationships using variables</a:t>
            </a:r>
          </a:p>
          <a:p>
            <a:pPr lvl="1"/>
            <a:r>
              <a:rPr lang="en-US" altLang="en-US" dirty="0">
                <a:latin typeface="Arial" panose="020B0604020202020204" pitchFamily="34" charset="0"/>
                <a:ea typeface="ＭＳ Ｐゴシック" pitchFamily="34" charset="-128"/>
                <a:cs typeface="Arial" panose="020B0604020202020204" pitchFamily="34" charset="0"/>
              </a:rPr>
              <a:t>precedes(X, Y) :- before(X, Y).</a:t>
            </a:r>
          </a:p>
          <a:p>
            <a:pPr marL="1071563" lvl="2" indent="-354013"/>
            <a:r>
              <a:rPr lang="en-US" altLang="en-US" dirty="0">
                <a:latin typeface="Arial" panose="020B0604020202020204" pitchFamily="34" charset="0"/>
                <a:ea typeface="ＭＳ Ｐゴシック" pitchFamily="34" charset="-128"/>
                <a:cs typeface="Arial" panose="020B0604020202020204" pitchFamily="34" charset="0"/>
              </a:rPr>
              <a:t>X precedes Y if X came before Y</a:t>
            </a:r>
          </a:p>
          <a:p>
            <a:pPr lvl="1"/>
            <a:r>
              <a:rPr lang="en-US" altLang="en-US" dirty="0">
                <a:latin typeface="Arial" panose="020B0604020202020204" pitchFamily="34" charset="0"/>
                <a:ea typeface="ＭＳ Ｐゴシック" pitchFamily="34" charset="-128"/>
                <a:cs typeface="Arial" panose="020B0604020202020204" pitchFamily="34" charset="0"/>
              </a:rPr>
              <a:t>precedes(X, Y) :- before(X, Z), precedes(Z, Y).</a:t>
            </a:r>
          </a:p>
          <a:p>
            <a:pPr marL="1071563" lvl="2" indent="-354013"/>
            <a:r>
              <a:rPr lang="en-US" altLang="en-US" dirty="0">
                <a:latin typeface="Arial" panose="020B0604020202020204" pitchFamily="34" charset="0"/>
                <a:ea typeface="ＭＳ Ｐゴシック" pitchFamily="34" charset="-128"/>
                <a:cs typeface="Arial" panose="020B0604020202020204" pitchFamily="34" charset="0"/>
              </a:rPr>
              <a:t>X precedes Y if X came before Z and Z precedes Y</a:t>
            </a:r>
          </a:p>
        </p:txBody>
      </p:sp>
    </p:spTree>
    <p:extLst>
      <p:ext uri="{BB962C8B-B14F-4D97-AF65-F5344CB8AC3E}">
        <p14:creationId xmlns:p14="http://schemas.microsoft.com/office/powerpoint/2010/main" val="405407517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793488" y="1"/>
            <a:ext cx="7557025" cy="1060704"/>
          </a:xfrm>
        </p:spPr>
        <p:txBody>
          <a:bodyPr anchor="ctr">
            <a:no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Alternative Programming Paradigms (8 of </a:t>
            </a:r>
            <a:r>
              <a:rPr lang="en-US" sz="3600" b="0" i="0" kern="1200" dirty="0">
                <a:solidFill>
                  <a:schemeClr val="bg1"/>
                </a:solidFill>
                <a:effectLst/>
                <a:latin typeface="Arial" panose="020B0604020202020204" pitchFamily="34" charset="0"/>
                <a:cs typeface="Arial" panose="020B0604020202020204" pitchFamily="34" charset="0"/>
              </a:rPr>
              <a:t>16</a:t>
            </a:r>
            <a:r>
              <a:rPr lang="en-US" altLang="en-US" sz="3600" b="0" dirty="0">
                <a:latin typeface="Arial" panose="020B0604020202020204" pitchFamily="34" charset="0"/>
                <a:ea typeface="ＭＳ Ｐゴシック" pitchFamily="34" charset="-128"/>
                <a:cs typeface="Arial" panose="020B0604020202020204" pitchFamily="34" charset="0"/>
              </a:rPr>
              <a:t>)</a:t>
            </a:r>
            <a:endParaRPr lang="en-US" sz="3600" b="0" dirty="0">
              <a:latin typeface="Arial" panose="020B0604020202020204" pitchFamily="34" charset="0"/>
              <a:cs typeface="Arial" panose="020B0604020202020204" pitchFamily="34" charset="0"/>
            </a:endParaRPr>
          </a:p>
        </p:txBody>
      </p:sp>
      <p:pic>
        <p:nvPicPr>
          <p:cNvPr id="2" name="Picture 1" descr="Line 1: president, left parenthesis, Lincoln, comma, Gettysburg address, right parenthesis, period. Line 2: president, left parenthesis, Lincoln, comma, civil war, right parenthesis, period. Line 3: president, left parenthesis, Nixon, comma, first moon landing, right parenthesis, period. Line 4: president, left parenthesis, Jefferson, comma, Lewis and Clark, right parenthesis, period. Line 5: president, left parenthesis, Kennedy, comma, Cuban missile crisis, right parenthesis, period. Line 6: president, left parenthesis, f d r, comma, world war 2, right parenthesis, period. Line 7: before, left parenthesis, Jefferson, comma, Lincoln, right parenthesis, period. Line 8: before, left parenthesis, Lincoln, comma, f d r, right parenthesis, period. Line 9: before, left parenthesis, f d r, comma, Kennedy, right parenthesis, period. Line 10: before, left parenthesis, Kennedy, comma, Nixon, right parenthesis, period. Line 11: precedes, left parenthesis, X, comma, Y, right parenthesis, colon, dash, before, left parenthesis, X, comma, Y, right parenthesis, period. Line 12: precedes, left parenthesis, X, comma, Y, right parenthesis, colon, dash, before, left parenthesis, X, comma, Z, right parenthesis, comma, precedes, left parenthesis, Z, comma, Y, right parenthesis, period.">
            <a:extLst>
              <a:ext uri="{FF2B5EF4-FFF2-40B4-BE49-F238E27FC236}">
                <a16:creationId xmlns:a16="http://schemas.microsoft.com/office/drawing/2014/main" id="{DCB1DBB8-5F3B-40EF-8A1A-FACD954D9884}"/>
              </a:ext>
            </a:extLst>
          </p:cNvPr>
          <p:cNvPicPr>
            <a:picLocks noChangeAspect="1"/>
          </p:cNvPicPr>
          <p:nvPr/>
        </p:nvPicPr>
        <p:blipFill>
          <a:blip r:embed="rId2"/>
          <a:stretch>
            <a:fillRect/>
          </a:stretch>
        </p:blipFill>
        <p:spPr>
          <a:xfrm>
            <a:off x="1172791" y="1370012"/>
            <a:ext cx="7315354" cy="4446588"/>
          </a:xfrm>
          <a:prstGeom prst="rect">
            <a:avLst/>
          </a:prstGeom>
        </p:spPr>
      </p:pic>
    </p:spTree>
    <p:extLst>
      <p:ext uri="{BB962C8B-B14F-4D97-AF65-F5344CB8AC3E}">
        <p14:creationId xmlns:p14="http://schemas.microsoft.com/office/powerpoint/2010/main" val="305983202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793488" y="1"/>
            <a:ext cx="7557025" cy="1060704"/>
          </a:xfrm>
        </p:spPr>
        <p:txBody>
          <a:bodyPr anchor="ctr">
            <a:no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Alternative Programming Paradigms (9 of </a:t>
            </a:r>
            <a:r>
              <a:rPr lang="en-US" sz="3600" b="0" i="0" kern="1200" dirty="0">
                <a:solidFill>
                  <a:schemeClr val="bg1"/>
                </a:solidFill>
                <a:effectLst/>
                <a:latin typeface="Arial" panose="020B0604020202020204" pitchFamily="34" charset="0"/>
                <a:cs typeface="Arial" panose="020B0604020202020204" pitchFamily="34" charset="0"/>
              </a:rPr>
              <a:t>16</a:t>
            </a:r>
            <a:r>
              <a:rPr lang="en-US" altLang="en-US" sz="3600" b="0" dirty="0">
                <a:latin typeface="Arial" panose="020B0604020202020204" pitchFamily="34" charset="0"/>
                <a:ea typeface="ＭＳ Ｐゴシック" pitchFamily="34" charset="-128"/>
                <a:cs typeface="Arial" panose="020B0604020202020204" pitchFamily="34" charset="0"/>
              </a:rPr>
              <a:t>)</a:t>
            </a:r>
            <a:endParaRPr lang="en-US" sz="3600" b="0" dirty="0">
              <a:latin typeface="Arial" panose="020B0604020202020204" pitchFamily="34" charset="0"/>
              <a:cs typeface="Arial" panose="020B0604020202020204" pitchFamily="34" charset="0"/>
            </a:endParaRPr>
          </a:p>
        </p:txBody>
      </p:sp>
      <p:sp>
        <p:nvSpPr>
          <p:cNvPr id="7" name="Content Placeholder 6"/>
          <p:cNvSpPr>
            <a:spLocks noGrp="1"/>
          </p:cNvSpPr>
          <p:nvPr>
            <p:ph idx="1"/>
          </p:nvPr>
        </p:nvSpPr>
        <p:spPr>
          <a:xfrm>
            <a:off x="294968" y="1231266"/>
            <a:ext cx="8660346" cy="4995363"/>
          </a:xfrm>
        </p:spPr>
        <p:txBody>
          <a:bodyPr>
            <a:noAutofit/>
          </a:bodyPr>
          <a:lstStyle/>
          <a:p>
            <a:pPr>
              <a:buFontTx/>
              <a:buNone/>
              <a:defRPr/>
            </a:pPr>
            <a:r>
              <a:rPr lang="en-US" altLang="en-US" dirty="0">
                <a:latin typeface="Arial" panose="020B0604020202020204" pitchFamily="34" charset="0"/>
                <a:ea typeface="ＭＳ Ｐゴシック" panose="020B0600070205080204" pitchFamily="34" charset="-128"/>
                <a:cs typeface="Arial" panose="020B0604020202020204" pitchFamily="34" charset="0"/>
              </a:rPr>
              <a:t>Programming in Prolog</a:t>
            </a:r>
          </a:p>
          <a:p>
            <a:pPr marL="717550" indent="-363538">
              <a:buFont typeface="Arial" panose="020B0604020202020204" pitchFamily="34" charset="0"/>
              <a:buChar char="–"/>
              <a:defRPr/>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Programmer builds a </a:t>
            </a:r>
            <a:r>
              <a:rPr lang="en-US" altLang="en-US" sz="2400" b="1" dirty="0">
                <a:latin typeface="Arial" panose="020B0604020202020204" pitchFamily="34" charset="0"/>
                <a:ea typeface="ＭＳ Ｐゴシック" panose="020B0600070205080204" pitchFamily="34" charset="-128"/>
                <a:cs typeface="Arial" panose="020B0604020202020204" pitchFamily="34" charset="0"/>
              </a:rPr>
              <a:t>knowledge base</a:t>
            </a:r>
            <a:r>
              <a:rPr lang="en-US" altLang="en-US" sz="2400" dirty="0">
                <a:latin typeface="Arial" panose="020B0604020202020204" pitchFamily="34" charset="0"/>
                <a:ea typeface="ＭＳ Ｐゴシック" panose="020B0600070205080204" pitchFamily="34" charset="-128"/>
                <a:cs typeface="Arial" panose="020B0604020202020204" pitchFamily="34" charset="0"/>
              </a:rPr>
              <a:t> of facts and rules</a:t>
            </a:r>
          </a:p>
          <a:p>
            <a:pPr marL="717550" indent="-363538">
              <a:buFont typeface="Arial" panose="020B0604020202020204" pitchFamily="34" charset="0"/>
              <a:buChar char="–"/>
              <a:defRPr/>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To “run” a program, pose queries to the </a:t>
            </a:r>
            <a:r>
              <a:rPr lang="en-US" altLang="en-US" sz="2400" b="1" dirty="0">
                <a:latin typeface="Arial" panose="020B0604020202020204" pitchFamily="34" charset="0"/>
                <a:ea typeface="ＭＳ Ｐゴシック" panose="020B0600070205080204" pitchFamily="34" charset="-128"/>
                <a:cs typeface="Arial" panose="020B0604020202020204" pitchFamily="34" charset="0"/>
              </a:rPr>
              <a:t>inference engine</a:t>
            </a:r>
            <a:r>
              <a:rPr lang="en-US" altLang="en-US" sz="2400" dirty="0">
                <a:latin typeface="Arial" panose="020B0604020202020204" pitchFamily="34" charset="0"/>
                <a:ea typeface="ＭＳ Ｐゴシック" panose="020B0600070205080204" pitchFamily="34" charset="-128"/>
                <a:cs typeface="Arial" panose="020B0604020202020204" pitchFamily="34" charset="0"/>
              </a:rPr>
              <a:t>, deductive algorithm is provided in Prolog</a:t>
            </a:r>
          </a:p>
          <a:p>
            <a:pPr marL="717550" indent="-363538">
              <a:buFont typeface="Arial" panose="020B0604020202020204" pitchFamily="34" charset="0"/>
              <a:buChar char="–"/>
              <a:defRPr/>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Results to the query come back from Prolog</a:t>
            </a:r>
          </a:p>
          <a:p>
            <a:pPr marL="717550" indent="-363538">
              <a:buFont typeface="Arial" panose="020B0604020202020204" pitchFamily="34" charset="0"/>
              <a:buChar char="–"/>
              <a:defRPr/>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Example of deductive reasoning using fixed rules</a:t>
            </a:r>
          </a:p>
          <a:p>
            <a:pPr marL="1071563" lvl="1" indent="-354013">
              <a:buFont typeface="Wingdings" pitchFamily="2" charset="2"/>
              <a:buChar char="§"/>
              <a:defRPr/>
            </a:pPr>
            <a:r>
              <a:rPr lang="en-US" altLang="en-US" sz="2200" b="1" dirty="0">
                <a:latin typeface="Arial" panose="020B0604020202020204" pitchFamily="34" charset="0"/>
                <a:ea typeface="ＭＳ Ｐゴシック" panose="020B0600070205080204" pitchFamily="34" charset="-128"/>
                <a:cs typeface="Arial" panose="020B0604020202020204" pitchFamily="34" charset="0"/>
              </a:rPr>
              <a:t>Modus ponens</a:t>
            </a:r>
            <a:r>
              <a:rPr lang="en-US" altLang="en-US" sz="2200" dirty="0">
                <a:latin typeface="Arial" panose="020B0604020202020204" pitchFamily="34" charset="0"/>
                <a:ea typeface="ＭＳ Ｐゴシック" panose="020B0600070205080204" pitchFamily="34" charset="-128"/>
                <a:cs typeface="Arial" panose="020B0604020202020204" pitchFamily="34" charset="0"/>
              </a:rPr>
              <a:t>: if we know the rule “If A then B” and we know A is true, then we deduce that B is true</a:t>
            </a:r>
          </a:p>
        </p:txBody>
      </p:sp>
    </p:spTree>
    <p:extLst>
      <p:ext uri="{BB962C8B-B14F-4D97-AF65-F5344CB8AC3E}">
        <p14:creationId xmlns:p14="http://schemas.microsoft.com/office/powerpoint/2010/main" val="359593566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793488" y="1"/>
            <a:ext cx="7557025" cy="1060704"/>
          </a:xfrm>
        </p:spPr>
        <p:txBody>
          <a:bodyPr anchor="ctr">
            <a:no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Alternative Programming Paradigms (10 of </a:t>
            </a:r>
            <a:r>
              <a:rPr lang="en-US" sz="3600" b="0" i="0" kern="1200" dirty="0">
                <a:solidFill>
                  <a:schemeClr val="bg1"/>
                </a:solidFill>
                <a:effectLst/>
                <a:latin typeface="Arial" panose="020B0604020202020204" pitchFamily="34" charset="0"/>
                <a:cs typeface="Arial" panose="020B0604020202020204" pitchFamily="34" charset="0"/>
              </a:rPr>
              <a:t>16</a:t>
            </a:r>
            <a:r>
              <a:rPr lang="en-US" altLang="en-US" sz="3600" b="0" dirty="0">
                <a:latin typeface="Arial" panose="020B0604020202020204" pitchFamily="34" charset="0"/>
                <a:ea typeface="ＭＳ Ｐゴシック" pitchFamily="34" charset="-128"/>
                <a:cs typeface="Arial" panose="020B0604020202020204" pitchFamily="34" charset="0"/>
              </a:rPr>
              <a:t>)</a:t>
            </a:r>
            <a:endParaRPr lang="en-US" sz="3600" b="0" dirty="0">
              <a:latin typeface="Arial" panose="020B0604020202020204" pitchFamily="34" charset="0"/>
              <a:cs typeface="Arial" panose="020B0604020202020204" pitchFamily="34" charset="0"/>
            </a:endParaRPr>
          </a:p>
        </p:txBody>
      </p:sp>
      <p:pic>
        <p:nvPicPr>
          <p:cNvPr id="2" name="Picture 1" descr="Facts and rules are fed into a knowledge base which has a reciprocal relation with the inference engine. A query fed into the inference engine, results in a response. ">
            <a:extLst>
              <a:ext uri="{FF2B5EF4-FFF2-40B4-BE49-F238E27FC236}">
                <a16:creationId xmlns:a16="http://schemas.microsoft.com/office/drawing/2014/main" id="{4383FE7F-5508-46D3-919F-1A2B2AE677B6}"/>
              </a:ext>
            </a:extLst>
          </p:cNvPr>
          <p:cNvPicPr>
            <a:picLocks noChangeAspect="1"/>
          </p:cNvPicPr>
          <p:nvPr/>
        </p:nvPicPr>
        <p:blipFill>
          <a:blip r:embed="rId2"/>
          <a:stretch>
            <a:fillRect/>
          </a:stretch>
        </p:blipFill>
        <p:spPr>
          <a:xfrm>
            <a:off x="2533650" y="1490662"/>
            <a:ext cx="4502150" cy="4281250"/>
          </a:xfrm>
          <a:prstGeom prst="rect">
            <a:avLst/>
          </a:prstGeom>
        </p:spPr>
      </p:pic>
    </p:spTree>
    <p:extLst>
      <p:ext uri="{BB962C8B-B14F-4D97-AF65-F5344CB8AC3E}">
        <p14:creationId xmlns:p14="http://schemas.microsoft.com/office/powerpoint/2010/main" val="283729730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793488" y="1"/>
            <a:ext cx="7557025" cy="1060704"/>
          </a:xfrm>
        </p:spPr>
        <p:txBody>
          <a:bodyPr anchor="ctr">
            <a:no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Alternative Programming Paradigms (11 of 16)</a:t>
            </a:r>
            <a:endParaRPr lang="en-US" sz="3600" b="0" dirty="0">
              <a:latin typeface="Arial" panose="020B0604020202020204" pitchFamily="34" charset="0"/>
              <a:cs typeface="Arial" panose="020B0604020202020204" pitchFamily="34" charset="0"/>
            </a:endParaRPr>
          </a:p>
        </p:txBody>
      </p:sp>
      <p:sp>
        <p:nvSpPr>
          <p:cNvPr id="7" name="Content Placeholder 6"/>
          <p:cNvSpPr>
            <a:spLocks noGrp="1"/>
          </p:cNvSpPr>
          <p:nvPr>
            <p:ph idx="1"/>
          </p:nvPr>
        </p:nvSpPr>
        <p:spPr>
          <a:xfrm>
            <a:off x="294968" y="1231266"/>
            <a:ext cx="8660346" cy="858791"/>
          </a:xfrm>
        </p:spPr>
        <p:txBody>
          <a:bodyPr>
            <a:noAutofit/>
          </a:bodyPr>
          <a:lstStyle/>
          <a:p>
            <a:r>
              <a:rPr lang="en-US" altLang="en-US" dirty="0">
                <a:latin typeface="Arial" panose="020B0604020202020204" pitchFamily="34" charset="0"/>
                <a:ea typeface="ＭＳ Ｐゴシック" pitchFamily="34" charset="-128"/>
                <a:cs typeface="Arial" panose="020B0604020202020204" pitchFamily="34" charset="0"/>
              </a:rPr>
              <a:t>Parallel programming is required for large-scale computing problems</a:t>
            </a:r>
          </a:p>
        </p:txBody>
      </p:sp>
      <p:pic>
        <p:nvPicPr>
          <p:cNvPr id="2" name="Picture 1" descr="Processor 1 to 1001 connect to a communication channel via I D 1 to I D 1001. The communication channel connects to a data storage unit which is at the end of the processor line. Each processor is connected to a memory unit which holds the following information: your list, number and name. ">
            <a:extLst>
              <a:ext uri="{FF2B5EF4-FFF2-40B4-BE49-F238E27FC236}">
                <a16:creationId xmlns:a16="http://schemas.microsoft.com/office/drawing/2014/main" id="{5250DF92-BE64-4349-906E-22B4E90D65E8}"/>
              </a:ext>
            </a:extLst>
          </p:cNvPr>
          <p:cNvPicPr>
            <a:picLocks noChangeAspect="1"/>
          </p:cNvPicPr>
          <p:nvPr/>
        </p:nvPicPr>
        <p:blipFill>
          <a:blip r:embed="rId2"/>
          <a:stretch>
            <a:fillRect/>
          </a:stretch>
        </p:blipFill>
        <p:spPr>
          <a:xfrm>
            <a:off x="1288166" y="2260618"/>
            <a:ext cx="7062347" cy="3568682"/>
          </a:xfrm>
          <a:prstGeom prst="rect">
            <a:avLst/>
          </a:prstGeom>
        </p:spPr>
      </p:pic>
    </p:spTree>
    <p:extLst>
      <p:ext uri="{BB962C8B-B14F-4D97-AF65-F5344CB8AC3E}">
        <p14:creationId xmlns:p14="http://schemas.microsoft.com/office/powerpoint/2010/main" val="232661426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793488" y="1"/>
            <a:ext cx="7557025" cy="1060704"/>
          </a:xfrm>
        </p:spPr>
        <p:txBody>
          <a:bodyPr anchor="ctr">
            <a:no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Alternative Programming Paradigms (12 of 16)</a:t>
            </a:r>
            <a:endParaRPr lang="en-US" sz="3600" b="0" dirty="0">
              <a:latin typeface="Arial" panose="020B0604020202020204" pitchFamily="34" charset="0"/>
              <a:cs typeface="Arial" panose="020B0604020202020204" pitchFamily="34" charset="0"/>
            </a:endParaRPr>
          </a:p>
        </p:txBody>
      </p:sp>
      <p:sp>
        <p:nvSpPr>
          <p:cNvPr id="7" name="Content Placeholder 6"/>
          <p:cNvSpPr>
            <a:spLocks noGrp="1"/>
          </p:cNvSpPr>
          <p:nvPr>
            <p:ph idx="1"/>
          </p:nvPr>
        </p:nvSpPr>
        <p:spPr>
          <a:xfrm>
            <a:off x="294968" y="1231266"/>
            <a:ext cx="8660346" cy="4740909"/>
          </a:xfrm>
        </p:spPr>
        <p:txBody>
          <a:bodyPr>
            <a:noAutofit/>
          </a:bodyPr>
          <a:lstStyle/>
          <a:p>
            <a:r>
              <a:rPr lang="en-US" altLang="en-US" dirty="0">
                <a:latin typeface="Arial" panose="020B0604020202020204" pitchFamily="34" charset="0"/>
                <a:ea typeface="ＭＳ Ｐゴシック" pitchFamily="34" charset="-128"/>
                <a:cs typeface="Arial" panose="020B0604020202020204" pitchFamily="34" charset="0"/>
              </a:rPr>
              <a:t>MIMD: multiple instruction, multiple data</a:t>
            </a:r>
          </a:p>
          <a:p>
            <a:pPr lvl="1"/>
            <a:r>
              <a:rPr lang="en-US" altLang="en-US" dirty="0">
                <a:latin typeface="Arial" panose="020B0604020202020204" pitchFamily="34" charset="0"/>
                <a:ea typeface="ＭＳ Ｐゴシック" pitchFamily="34" charset="-128"/>
                <a:cs typeface="Arial" panose="020B0604020202020204" pitchFamily="34" charset="0"/>
              </a:rPr>
              <a:t>Many CPUs, each operates on its own data</a:t>
            </a:r>
          </a:p>
          <a:p>
            <a:pPr lvl="1"/>
            <a:r>
              <a:rPr lang="en-US" altLang="en-US" b="1" dirty="0">
                <a:latin typeface="Arial" panose="020B0604020202020204" pitchFamily="34" charset="0"/>
                <a:ea typeface="ＭＳ Ｐゴシック" pitchFamily="34" charset="-128"/>
                <a:cs typeface="Arial" panose="020B0604020202020204" pitchFamily="34" charset="0"/>
              </a:rPr>
              <a:t>Multicore computing</a:t>
            </a:r>
            <a:endParaRPr lang="en-US" altLang="en-US" dirty="0">
              <a:latin typeface="Arial" panose="020B0604020202020204" pitchFamily="34" charset="0"/>
              <a:ea typeface="ＭＳ Ｐゴシック" pitchFamily="34" charset="-128"/>
              <a:cs typeface="Arial" panose="020B0604020202020204" pitchFamily="34" charset="0"/>
            </a:endParaRPr>
          </a:p>
          <a:p>
            <a:pPr marL="1071563" lvl="2" indent="-354013"/>
            <a:r>
              <a:rPr lang="en-US" altLang="en-US" dirty="0">
                <a:latin typeface="Arial" panose="020B0604020202020204" pitchFamily="34" charset="0"/>
                <a:ea typeface="ＭＳ Ｐゴシック" pitchFamily="34" charset="-128"/>
                <a:cs typeface="Arial" panose="020B0604020202020204" pitchFamily="34" charset="0"/>
              </a:rPr>
              <a:t>Multiple processors on one chip </a:t>
            </a:r>
          </a:p>
          <a:p>
            <a:pPr lvl="1"/>
            <a:r>
              <a:rPr lang="en-US" altLang="en-US" b="1" dirty="0">
                <a:latin typeface="Arial" panose="020B0604020202020204" pitchFamily="34" charset="0"/>
                <a:ea typeface="ＭＳ Ｐゴシック" pitchFamily="34" charset="-128"/>
                <a:cs typeface="Arial" panose="020B0604020202020204" pitchFamily="34" charset="0"/>
              </a:rPr>
              <a:t>Cluster computing</a:t>
            </a:r>
          </a:p>
          <a:p>
            <a:pPr marL="1071563" lvl="2" indent="-354013"/>
            <a:r>
              <a:rPr lang="en-US" altLang="en-US" dirty="0">
                <a:latin typeface="Arial" panose="020B0604020202020204" pitchFamily="34" charset="0"/>
                <a:ea typeface="ＭＳ Ｐゴシック" pitchFamily="34" charset="-128"/>
                <a:cs typeface="Arial" panose="020B0604020202020204" pitchFamily="34" charset="0"/>
              </a:rPr>
              <a:t>Processors may be heterogeneous</a:t>
            </a:r>
          </a:p>
          <a:p>
            <a:pPr marL="1071563" lvl="2" indent="-354013"/>
            <a:r>
              <a:rPr lang="en-US" altLang="en-US" dirty="0">
                <a:latin typeface="Arial" panose="020B0604020202020204" pitchFamily="34" charset="0"/>
                <a:ea typeface="ＭＳ Ｐゴシック" pitchFamily="34" charset="-128"/>
                <a:cs typeface="Arial" panose="020B0604020202020204" pitchFamily="34" charset="0"/>
              </a:rPr>
              <a:t>Connected by a LAN or WAN</a:t>
            </a:r>
          </a:p>
        </p:txBody>
      </p:sp>
    </p:spTree>
    <p:extLst>
      <p:ext uri="{BB962C8B-B14F-4D97-AF65-F5344CB8AC3E}">
        <p14:creationId xmlns:p14="http://schemas.microsoft.com/office/powerpoint/2010/main" val="382747818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793488" y="1"/>
            <a:ext cx="7557025" cy="1060704"/>
          </a:xfrm>
        </p:spPr>
        <p:txBody>
          <a:bodyPr anchor="ctr">
            <a:no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Alternative Programming Paradigms (14 of 16)</a:t>
            </a:r>
            <a:endParaRPr lang="en-US" sz="3600" b="0" dirty="0">
              <a:latin typeface="Arial" panose="020B0604020202020204" pitchFamily="34" charset="0"/>
              <a:cs typeface="Arial" panose="020B0604020202020204" pitchFamily="34" charset="0"/>
            </a:endParaRPr>
          </a:p>
        </p:txBody>
      </p:sp>
      <p:sp>
        <p:nvSpPr>
          <p:cNvPr id="7" name="Content Placeholder 6"/>
          <p:cNvSpPr>
            <a:spLocks noGrp="1"/>
          </p:cNvSpPr>
          <p:nvPr>
            <p:ph idx="1"/>
          </p:nvPr>
        </p:nvSpPr>
        <p:spPr>
          <a:xfrm>
            <a:off x="294968" y="1231266"/>
            <a:ext cx="8660346" cy="4995363"/>
          </a:xfrm>
        </p:spPr>
        <p:txBody>
          <a:bodyPr>
            <a:noAutofit/>
          </a:bodyPr>
          <a:lstStyle/>
          <a:p>
            <a:pPr marL="0" indent="0">
              <a:buFontTx/>
              <a:buNone/>
              <a:defRPr/>
            </a:pPr>
            <a:r>
              <a:rPr lang="en-US" altLang="en-US" dirty="0">
                <a:latin typeface="Arial" panose="020B0604020202020204" pitchFamily="34" charset="0"/>
                <a:ea typeface="ＭＳ Ｐゴシック" pitchFamily="34" charset="-128"/>
                <a:cs typeface="Arial" panose="020B0604020202020204" pitchFamily="34" charset="0"/>
              </a:rPr>
              <a:t>MIMD example: search for a name in a NYC phonebook</a:t>
            </a:r>
          </a:p>
          <a:p>
            <a:pPr marL="717550">
              <a:buFont typeface="Arial" panose="020B0604020202020204" pitchFamily="34" charset="0"/>
              <a:buChar char="–"/>
              <a:defRPr/>
            </a:pPr>
            <a:r>
              <a:rPr lang="en-US" altLang="en-US" sz="2400" dirty="0">
                <a:latin typeface="Arial" panose="020B0604020202020204" pitchFamily="34" charset="0"/>
                <a:ea typeface="ＭＳ Ｐゴシック" pitchFamily="34" charset="-128"/>
                <a:cs typeface="Arial" panose="020B0604020202020204" pitchFamily="34" charset="0"/>
              </a:rPr>
              <a:t>101 processors</a:t>
            </a:r>
          </a:p>
          <a:p>
            <a:pPr marL="717550">
              <a:buFont typeface="Arial" panose="020B0604020202020204" pitchFamily="34" charset="0"/>
              <a:buChar char="–"/>
              <a:defRPr/>
            </a:pPr>
            <a:r>
              <a:rPr lang="en-US" altLang="en-US" sz="2400" dirty="0">
                <a:latin typeface="Arial" panose="020B0604020202020204" pitchFamily="34" charset="0"/>
                <a:ea typeface="ＭＳ Ｐゴシック" pitchFamily="34" charset="-128"/>
                <a:cs typeface="Arial" panose="020B0604020202020204" pitchFamily="34" charset="0"/>
              </a:rPr>
              <a:t>Processor 101 handles input/output</a:t>
            </a:r>
          </a:p>
          <a:p>
            <a:pPr marL="1071563" lvl="1" indent="-342900">
              <a:buFont typeface="Wingdings" pitchFamily="2" charset="2"/>
              <a:buChar char="§"/>
              <a:defRPr/>
            </a:pPr>
            <a:r>
              <a:rPr lang="en-US" altLang="en-US" sz="2200" dirty="0">
                <a:latin typeface="Arial" panose="020B0604020202020204" pitchFamily="34" charset="0"/>
                <a:ea typeface="ＭＳ Ｐゴシック" pitchFamily="34" charset="-128"/>
                <a:cs typeface="Arial" panose="020B0604020202020204" pitchFamily="34" charset="0"/>
              </a:rPr>
              <a:t>Divide data and tell processors what to search</a:t>
            </a:r>
          </a:p>
          <a:p>
            <a:pPr marL="1071563" lvl="1" indent="-342900">
              <a:buFont typeface="Wingdings" pitchFamily="2" charset="2"/>
              <a:buChar char="§"/>
              <a:defRPr/>
            </a:pPr>
            <a:r>
              <a:rPr lang="en-US" altLang="en-US" sz="2200" dirty="0">
                <a:latin typeface="Arial" panose="020B0604020202020204" pitchFamily="34" charset="0"/>
                <a:ea typeface="ＭＳ Ｐゴシック" pitchFamily="34" charset="-128"/>
                <a:cs typeface="Arial" panose="020B0604020202020204" pitchFamily="34" charset="0"/>
              </a:rPr>
              <a:t>Wait for result from some processor</a:t>
            </a:r>
          </a:p>
          <a:p>
            <a:pPr marL="1071563" lvl="1" indent="-342900">
              <a:buFont typeface="Wingdings" pitchFamily="2" charset="2"/>
              <a:buChar char="§"/>
              <a:defRPr/>
            </a:pPr>
            <a:r>
              <a:rPr lang="en-US" altLang="en-US" sz="2200" dirty="0">
                <a:latin typeface="Arial" panose="020B0604020202020204" pitchFamily="34" charset="0"/>
                <a:ea typeface="ＭＳ Ｐゴシック" pitchFamily="34" charset="-128"/>
                <a:cs typeface="Arial" panose="020B0604020202020204" pitchFamily="34" charset="0"/>
              </a:rPr>
              <a:t>Output result</a:t>
            </a:r>
          </a:p>
          <a:p>
            <a:pPr marL="717550">
              <a:buFont typeface="Arial" panose="020B0604020202020204" pitchFamily="34" charset="0"/>
              <a:buChar char="–"/>
              <a:defRPr/>
            </a:pPr>
            <a:r>
              <a:rPr lang="en-US" altLang="en-US" sz="2400" dirty="0">
                <a:latin typeface="Arial" panose="020B0604020202020204" pitchFamily="34" charset="0"/>
                <a:ea typeface="ＭＳ Ｐゴシック" pitchFamily="34" charset="-128"/>
                <a:cs typeface="Arial" panose="020B0604020202020204" pitchFamily="34" charset="0"/>
              </a:rPr>
              <a:t>Processors 1 to 100 search their portion of data</a:t>
            </a:r>
          </a:p>
        </p:txBody>
      </p:sp>
    </p:spTree>
    <p:extLst>
      <p:ext uri="{BB962C8B-B14F-4D97-AF65-F5344CB8AC3E}">
        <p14:creationId xmlns:p14="http://schemas.microsoft.com/office/powerpoint/2010/main" val="128155354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793488" y="1"/>
            <a:ext cx="7557025" cy="1060704"/>
          </a:xfrm>
        </p:spPr>
        <p:txBody>
          <a:bodyPr anchor="ctr">
            <a:no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Alternative Programming Paradigms (15 of 16)</a:t>
            </a:r>
            <a:endParaRPr lang="en-US" sz="3600" b="0" dirty="0">
              <a:latin typeface="Arial" panose="020B0604020202020204" pitchFamily="34" charset="0"/>
              <a:cs typeface="Arial" panose="020B0604020202020204" pitchFamily="34" charset="0"/>
            </a:endParaRPr>
          </a:p>
        </p:txBody>
      </p:sp>
      <p:sp>
        <p:nvSpPr>
          <p:cNvPr id="7" name="Content Placeholder 6"/>
          <p:cNvSpPr>
            <a:spLocks noGrp="1"/>
          </p:cNvSpPr>
          <p:nvPr>
            <p:ph idx="1"/>
          </p:nvPr>
        </p:nvSpPr>
        <p:spPr>
          <a:xfrm>
            <a:off x="294968" y="1231266"/>
            <a:ext cx="8660346" cy="4995363"/>
          </a:xfrm>
        </p:spPr>
        <p:txBody>
          <a:bodyPr>
            <a:noAutofit/>
          </a:bodyPr>
          <a:lstStyle/>
          <a:p>
            <a:pPr>
              <a:buFontTx/>
              <a:buNone/>
              <a:defRPr/>
            </a:pPr>
            <a:r>
              <a:rPr lang="en-US" altLang="en-US" dirty="0">
                <a:latin typeface="Arial" panose="020B0604020202020204" pitchFamily="34" charset="0"/>
                <a:ea typeface="ＭＳ Ｐゴシック" panose="020B0600070205080204" pitchFamily="34" charset="-128"/>
                <a:cs typeface="Arial" panose="020B0604020202020204" pitchFamily="34" charset="0"/>
              </a:rPr>
              <a:t>MIMD better example: find largest number in a list</a:t>
            </a:r>
          </a:p>
          <a:p>
            <a:pPr marL="717550">
              <a:buFont typeface="Arial" panose="020B0604020202020204" pitchFamily="34" charset="0"/>
              <a:buChar char="–"/>
              <a:defRPr/>
            </a:pPr>
            <a:r>
              <a:rPr lang="en-US" altLang="en-US" sz="2400" b="1" dirty="0">
                <a:latin typeface="Arial" panose="020B0604020202020204" pitchFamily="34" charset="0"/>
                <a:ea typeface="ＭＳ Ｐゴシック" panose="020B0600070205080204" pitchFamily="34" charset="-128"/>
                <a:cs typeface="Arial" panose="020B0604020202020204" pitchFamily="34" charset="0"/>
              </a:rPr>
              <a:t>Divide-and-conquer</a:t>
            </a:r>
            <a:r>
              <a:rPr lang="en-US" altLang="en-US" sz="2400" dirty="0">
                <a:latin typeface="Arial" panose="020B0604020202020204" pitchFamily="34" charset="0"/>
                <a:ea typeface="ＭＳ Ｐゴシック" panose="020B0600070205080204" pitchFamily="34" charset="-128"/>
                <a:cs typeface="Arial" panose="020B0604020202020204" pitchFamily="34" charset="0"/>
              </a:rPr>
              <a:t>: split problem into smaller pieces and send to other processors</a:t>
            </a:r>
            <a:endParaRPr lang="en-US" altLang="en-US" sz="2400" b="1" dirty="0">
              <a:latin typeface="Arial" panose="020B0604020202020204" pitchFamily="34" charset="0"/>
              <a:ea typeface="ＭＳ Ｐゴシック" panose="020B0600070205080204" pitchFamily="34" charset="-128"/>
              <a:cs typeface="Arial" panose="020B0604020202020204" pitchFamily="34" charset="0"/>
            </a:endParaRPr>
          </a:p>
          <a:p>
            <a:pPr marL="717550">
              <a:buFont typeface="Arial" panose="020B0604020202020204" pitchFamily="34" charset="0"/>
              <a:buChar char="–"/>
              <a:defRPr/>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Top processor divides data in two, sends to two child processors</a:t>
            </a:r>
          </a:p>
          <a:p>
            <a:pPr marL="717550">
              <a:buFont typeface="Arial" panose="020B0604020202020204" pitchFamily="34" charset="0"/>
              <a:buChar char="–"/>
              <a:defRPr/>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Repeat until processors have one piece of data</a:t>
            </a:r>
          </a:p>
          <a:p>
            <a:pPr marL="717550">
              <a:buFont typeface="Arial" panose="020B0604020202020204" pitchFamily="34" charset="0"/>
              <a:buChar char="–"/>
              <a:defRPr/>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Children send parent their largest value</a:t>
            </a:r>
          </a:p>
          <a:p>
            <a:pPr marL="717550">
              <a:buFont typeface="Arial" panose="020B0604020202020204" pitchFamily="34" charset="0"/>
              <a:buChar char="–"/>
              <a:defRPr/>
            </a:pPr>
            <a:r>
              <a:rPr lang="en-US" altLang="en-US" sz="2400" dirty="0">
                <a:latin typeface="Arial" panose="020B0604020202020204" pitchFamily="34" charset="0"/>
                <a:ea typeface="ＭＳ Ｐゴシック" panose="020B0600070205080204" pitchFamily="34" charset="-128"/>
                <a:cs typeface="Arial" panose="020B0604020202020204" pitchFamily="34" charset="0"/>
              </a:rPr>
              <a:t>Parent compares two largest and returns the bigger to its parent</a:t>
            </a:r>
          </a:p>
        </p:txBody>
      </p:sp>
    </p:spTree>
    <p:extLst>
      <p:ext uri="{BB962C8B-B14F-4D97-AF65-F5344CB8AC3E}">
        <p14:creationId xmlns:p14="http://schemas.microsoft.com/office/powerpoint/2010/main" val="378060207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793488" y="1"/>
            <a:ext cx="7557025" cy="1060704"/>
          </a:xfrm>
        </p:spPr>
        <p:txBody>
          <a:bodyPr anchor="ctr">
            <a:no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Alternative Programming Paradigms (16 of 16)</a:t>
            </a:r>
            <a:endParaRPr lang="en-US" sz="3600" b="0" dirty="0">
              <a:latin typeface="Arial" panose="020B0604020202020204" pitchFamily="34" charset="0"/>
              <a:cs typeface="Arial" panose="020B0604020202020204" pitchFamily="34" charset="0"/>
            </a:endParaRPr>
          </a:p>
        </p:txBody>
      </p:sp>
      <p:pic>
        <p:nvPicPr>
          <p:cNvPr id="2" name="Picture 1" descr="A divide and conquer approach using multiple processors shows a box-level hierarchy. A top level processor is divided into two parts and each of those halves is again divided to create a pyramid effect as shown.">
            <a:extLst>
              <a:ext uri="{FF2B5EF4-FFF2-40B4-BE49-F238E27FC236}">
                <a16:creationId xmlns:a16="http://schemas.microsoft.com/office/drawing/2014/main" id="{8AC62D37-EA32-46E1-8A3F-A4815CA85651}"/>
              </a:ext>
            </a:extLst>
          </p:cNvPr>
          <p:cNvPicPr>
            <a:picLocks noChangeAspect="1"/>
          </p:cNvPicPr>
          <p:nvPr/>
        </p:nvPicPr>
        <p:blipFill>
          <a:blip r:embed="rId2"/>
          <a:stretch>
            <a:fillRect/>
          </a:stretch>
        </p:blipFill>
        <p:spPr>
          <a:xfrm>
            <a:off x="1450975" y="1417637"/>
            <a:ext cx="6572946" cy="4462463"/>
          </a:xfrm>
          <a:prstGeom prst="rect">
            <a:avLst/>
          </a:prstGeom>
        </p:spPr>
      </p:pic>
    </p:spTree>
    <p:extLst>
      <p:ext uri="{BB962C8B-B14F-4D97-AF65-F5344CB8AC3E}">
        <p14:creationId xmlns:p14="http://schemas.microsoft.com/office/powerpoint/2010/main" val="421034780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61033" y="1"/>
            <a:ext cx="8021934" cy="1060704"/>
          </a:xfrm>
        </p:spPr>
        <p:txBody>
          <a:bodyPr anchor="ctr">
            <a:no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New Languages Keep Coming (1 of 3)</a:t>
            </a:r>
            <a:endParaRPr lang="en-US" sz="3600" b="0" dirty="0">
              <a:latin typeface="Arial" panose="020B0604020202020204" pitchFamily="34" charset="0"/>
              <a:cs typeface="Arial" panose="020B0604020202020204" pitchFamily="34" charset="0"/>
            </a:endParaRPr>
          </a:p>
        </p:txBody>
      </p:sp>
      <p:sp>
        <p:nvSpPr>
          <p:cNvPr id="7" name="Content Placeholder 6"/>
          <p:cNvSpPr>
            <a:spLocks noGrp="1"/>
          </p:cNvSpPr>
          <p:nvPr>
            <p:ph idx="1"/>
          </p:nvPr>
        </p:nvSpPr>
        <p:spPr>
          <a:xfrm>
            <a:off x="294968" y="1231266"/>
            <a:ext cx="8660346" cy="4995363"/>
          </a:xfrm>
        </p:spPr>
        <p:txBody>
          <a:bodyPr>
            <a:noAutofit/>
          </a:bodyPr>
          <a:lstStyle/>
          <a:p>
            <a:r>
              <a:rPr lang="en-US" altLang="en-US" dirty="0">
                <a:latin typeface="Arial" panose="020B0604020202020204" pitchFamily="34" charset="0"/>
                <a:ea typeface="ＭＳ Ｐゴシック" pitchFamily="34" charset="-128"/>
                <a:cs typeface="Arial" panose="020B0604020202020204" pitchFamily="34" charset="0"/>
              </a:rPr>
              <a:t>Go was developed in 2009 at Google by Ken Thompson</a:t>
            </a:r>
          </a:p>
          <a:p>
            <a:pPr lvl="1"/>
            <a:r>
              <a:rPr lang="en-US" altLang="en-US" dirty="0">
                <a:latin typeface="Arial" panose="020B0604020202020204" pitchFamily="34" charset="0"/>
                <a:ea typeface="ＭＳ Ｐゴシック" pitchFamily="34" charset="-128"/>
                <a:cs typeface="Arial" panose="020B0604020202020204" pitchFamily="34" charset="0"/>
              </a:rPr>
              <a:t>Combines ease of programming with safety</a:t>
            </a:r>
          </a:p>
          <a:p>
            <a:pPr lvl="1"/>
            <a:r>
              <a:rPr lang="en-US" altLang="en-US" dirty="0">
                <a:latin typeface="Arial" panose="020B0604020202020204" pitchFamily="34" charset="0"/>
                <a:ea typeface="ＭＳ Ｐゴシック" pitchFamily="34" charset="-128"/>
                <a:cs typeface="Arial" panose="020B0604020202020204" pitchFamily="34" charset="0"/>
              </a:rPr>
              <a:t>Supports networked and multicore computing</a:t>
            </a:r>
          </a:p>
          <a:p>
            <a:pPr lvl="1"/>
            <a:r>
              <a:rPr lang="en-US" altLang="en-US" dirty="0">
                <a:latin typeface="Arial" panose="020B0604020202020204" pitchFamily="34" charset="0"/>
                <a:ea typeface="ＭＳ Ｐゴシック" pitchFamily="34" charset="-128"/>
                <a:cs typeface="Arial" panose="020B0604020202020204" pitchFamily="34" charset="0"/>
              </a:rPr>
              <a:t>Fast compilation, open source</a:t>
            </a:r>
          </a:p>
          <a:p>
            <a:r>
              <a:rPr lang="en-US" altLang="en-US" dirty="0">
                <a:latin typeface="Arial" panose="020B0604020202020204" pitchFamily="34" charset="0"/>
                <a:ea typeface="ＭＳ Ｐゴシック" pitchFamily="34" charset="-128"/>
                <a:cs typeface="Arial" panose="020B0604020202020204" pitchFamily="34" charset="0"/>
              </a:rPr>
              <a:t>Swift: new Apple language for building apps in iOS and macOS </a:t>
            </a:r>
          </a:p>
        </p:txBody>
      </p:sp>
    </p:spTree>
    <p:extLst>
      <p:ext uri="{BB962C8B-B14F-4D97-AF65-F5344CB8AC3E}">
        <p14:creationId xmlns:p14="http://schemas.microsoft.com/office/powerpoint/2010/main" val="99591489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20924" y="1"/>
            <a:ext cx="8102153" cy="1060704"/>
          </a:xfrm>
        </p:spPr>
        <p:txBody>
          <a:bodyPr anchor="ctr">
            <a:no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New Languages Keep Coming (2 of 3)</a:t>
            </a:r>
            <a:endParaRPr lang="en-US" sz="3600" b="0" dirty="0">
              <a:latin typeface="Arial" panose="020B0604020202020204" pitchFamily="34" charset="0"/>
              <a:cs typeface="Arial" panose="020B0604020202020204" pitchFamily="34" charset="0"/>
            </a:endParaRPr>
          </a:p>
        </p:txBody>
      </p:sp>
      <p:sp>
        <p:nvSpPr>
          <p:cNvPr id="7" name="Content Placeholder 6"/>
          <p:cNvSpPr>
            <a:spLocks noGrp="1"/>
          </p:cNvSpPr>
          <p:nvPr>
            <p:ph idx="1"/>
          </p:nvPr>
        </p:nvSpPr>
        <p:spPr>
          <a:xfrm>
            <a:off x="294968" y="1231266"/>
            <a:ext cx="8660346" cy="4995363"/>
          </a:xfrm>
        </p:spPr>
        <p:txBody>
          <a:bodyPr>
            <a:noAutofit/>
          </a:bodyPr>
          <a:lstStyle/>
          <a:p>
            <a:r>
              <a:rPr lang="en-US" altLang="en-US" dirty="0">
                <a:latin typeface="Arial" panose="020B0604020202020204" pitchFamily="34" charset="0"/>
                <a:ea typeface="ＭＳ Ｐゴシック" pitchFamily="34" charset="-128"/>
                <a:cs typeface="Arial" panose="020B0604020202020204" pitchFamily="34" charset="0"/>
              </a:rPr>
              <a:t>Milk was announced in September of 2016 by MIT’s Computer Science and Artificial Intelligence Laboratory</a:t>
            </a:r>
          </a:p>
          <a:p>
            <a:pPr lvl="1"/>
            <a:r>
              <a:rPr lang="en-US" altLang="en-US" dirty="0">
                <a:latin typeface="Arial" panose="020B0604020202020204" pitchFamily="34" charset="0"/>
                <a:ea typeface="ＭＳ Ｐゴシック" pitchFamily="34" charset="-128"/>
                <a:cs typeface="Arial" panose="020B0604020202020204" pitchFamily="34" charset="0"/>
              </a:rPr>
              <a:t>Geared toward “big data”</a:t>
            </a:r>
          </a:p>
          <a:p>
            <a:pPr lvl="1"/>
            <a:r>
              <a:rPr lang="en-US" altLang="en-US" dirty="0">
                <a:latin typeface="Arial" panose="020B0604020202020204" pitchFamily="34" charset="0"/>
                <a:ea typeface="ＭＳ Ｐゴシック" pitchFamily="34" charset="-128"/>
                <a:cs typeface="Arial" panose="020B0604020202020204" pitchFamily="34" charset="0"/>
              </a:rPr>
              <a:t>Focused on using cache memory on multicore processors to speed up the process of accessing data</a:t>
            </a:r>
          </a:p>
          <a:p>
            <a:pPr lvl="1"/>
            <a:r>
              <a:rPr lang="en-US" altLang="en-US" dirty="0">
                <a:latin typeface="Arial" panose="020B0604020202020204" pitchFamily="34" charset="0"/>
                <a:ea typeface="ＭＳ Ｐゴシック" pitchFamily="34" charset="-128"/>
                <a:cs typeface="Arial" panose="020B0604020202020204" pitchFamily="34" charset="0"/>
              </a:rPr>
              <a:t>Speeds up programs 3 to 4 times</a:t>
            </a:r>
          </a:p>
        </p:txBody>
      </p:sp>
    </p:spTree>
    <p:extLst>
      <p:ext uri="{BB962C8B-B14F-4D97-AF65-F5344CB8AC3E}">
        <p14:creationId xmlns:p14="http://schemas.microsoft.com/office/powerpoint/2010/main" val="405295326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20924" y="1"/>
            <a:ext cx="8102153" cy="1060704"/>
          </a:xfrm>
        </p:spPr>
        <p:txBody>
          <a:bodyPr anchor="ctr">
            <a:no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New Languages Keep Coming (3 of 3)</a:t>
            </a:r>
            <a:endParaRPr lang="en-US" sz="3600" b="0" dirty="0">
              <a:latin typeface="Arial" panose="020B0604020202020204" pitchFamily="34" charset="0"/>
              <a:cs typeface="Arial" panose="020B0604020202020204" pitchFamily="34" charset="0"/>
            </a:endParaRPr>
          </a:p>
        </p:txBody>
      </p:sp>
      <p:pic>
        <p:nvPicPr>
          <p:cNvPr id="3" name="Picture 2" descr="A list of new and current languages discussed in the text along with other major languages. The chart shows three columns with Language Name, Date Created, and Language Type as the heading. ">
            <a:extLst>
              <a:ext uri="{FF2B5EF4-FFF2-40B4-BE49-F238E27FC236}">
                <a16:creationId xmlns:a16="http://schemas.microsoft.com/office/drawing/2014/main" id="{2B7620B0-0E51-4A9F-BA05-F9AA09DE98D3}"/>
              </a:ext>
            </a:extLst>
          </p:cNvPr>
          <p:cNvPicPr>
            <a:picLocks noChangeAspect="1"/>
          </p:cNvPicPr>
          <p:nvPr/>
        </p:nvPicPr>
        <p:blipFill>
          <a:blip r:embed="rId2"/>
          <a:stretch>
            <a:fillRect/>
          </a:stretch>
        </p:blipFill>
        <p:spPr>
          <a:xfrm>
            <a:off x="92075" y="1196974"/>
            <a:ext cx="4743450" cy="3686175"/>
          </a:xfrm>
          <a:prstGeom prst="rect">
            <a:avLst/>
          </a:prstGeom>
        </p:spPr>
      </p:pic>
      <p:pic>
        <p:nvPicPr>
          <p:cNvPr id="5" name="Picture 4" descr="A list of new and current languages discussed in the text along with other major languages. The chart shows three columns with Language Name, Date Created, and Language Type as the heading. ">
            <a:extLst>
              <a:ext uri="{FF2B5EF4-FFF2-40B4-BE49-F238E27FC236}">
                <a16:creationId xmlns:a16="http://schemas.microsoft.com/office/drawing/2014/main" id="{E9ED0195-6FB6-4239-9A50-86907982826D}"/>
              </a:ext>
            </a:extLst>
          </p:cNvPr>
          <p:cNvPicPr>
            <a:picLocks noChangeAspect="1"/>
          </p:cNvPicPr>
          <p:nvPr/>
        </p:nvPicPr>
        <p:blipFill>
          <a:blip r:embed="rId3"/>
          <a:stretch>
            <a:fillRect/>
          </a:stretch>
        </p:blipFill>
        <p:spPr>
          <a:xfrm>
            <a:off x="4327525" y="2940049"/>
            <a:ext cx="4724400" cy="3314700"/>
          </a:xfrm>
          <a:prstGeom prst="rect">
            <a:avLst/>
          </a:prstGeom>
        </p:spPr>
      </p:pic>
    </p:spTree>
    <p:extLst>
      <p:ext uri="{BB962C8B-B14F-4D97-AF65-F5344CB8AC3E}">
        <p14:creationId xmlns:p14="http://schemas.microsoft.com/office/powerpoint/2010/main" val="238274228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793488" y="1"/>
            <a:ext cx="7557025" cy="1060704"/>
          </a:xfrm>
        </p:spPr>
        <p:txBody>
          <a:bodyPr anchor="ctr">
            <a:no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Conclusion</a:t>
            </a:r>
            <a:endParaRPr lang="en-US" sz="3600" b="0" dirty="0">
              <a:latin typeface="Arial" panose="020B0604020202020204" pitchFamily="34" charset="0"/>
              <a:cs typeface="Arial" panose="020B0604020202020204" pitchFamily="34" charset="0"/>
            </a:endParaRPr>
          </a:p>
        </p:txBody>
      </p:sp>
      <p:sp>
        <p:nvSpPr>
          <p:cNvPr id="7" name="Content Placeholder 6"/>
          <p:cNvSpPr>
            <a:spLocks noGrp="1"/>
          </p:cNvSpPr>
          <p:nvPr>
            <p:ph idx="1"/>
          </p:nvPr>
        </p:nvSpPr>
        <p:spPr>
          <a:xfrm>
            <a:off x="294968" y="1231266"/>
            <a:ext cx="8660346" cy="4995363"/>
          </a:xfrm>
        </p:spPr>
        <p:txBody>
          <a:bodyPr>
            <a:noAutofit/>
          </a:bodyPr>
          <a:lstStyle/>
          <a:p>
            <a:r>
              <a:rPr lang="en-US" altLang="en-US" dirty="0">
                <a:latin typeface="Arial" panose="020B0604020202020204" pitchFamily="34" charset="0"/>
                <a:ea typeface="ＭＳ Ｐゴシック" pitchFamily="34" charset="-128"/>
                <a:cs typeface="Arial" panose="020B0604020202020204" pitchFamily="34" charset="0"/>
              </a:rPr>
              <a:t>Languages vary by</a:t>
            </a:r>
          </a:p>
          <a:p>
            <a:pPr lvl="1"/>
            <a:r>
              <a:rPr lang="en-US" altLang="en-US" dirty="0">
                <a:latin typeface="Arial" panose="020B0604020202020204" pitchFamily="34" charset="0"/>
                <a:ea typeface="ＭＳ Ｐゴシック" pitchFamily="34" charset="-128"/>
                <a:cs typeface="Arial" panose="020B0604020202020204" pitchFamily="34" charset="0"/>
              </a:rPr>
              <a:t>Philosophy</a:t>
            </a:r>
          </a:p>
          <a:p>
            <a:pPr lvl="1"/>
            <a:r>
              <a:rPr lang="en-US" altLang="en-US" dirty="0">
                <a:latin typeface="Arial" panose="020B0604020202020204" pitchFamily="34" charset="0"/>
                <a:ea typeface="ＭＳ Ｐゴシック" pitchFamily="34" charset="-128"/>
                <a:cs typeface="Arial" panose="020B0604020202020204" pitchFamily="34" charset="0"/>
              </a:rPr>
              <a:t>Intended application areas</a:t>
            </a:r>
          </a:p>
          <a:p>
            <a:pPr lvl="1"/>
            <a:r>
              <a:rPr lang="en-US" altLang="en-US" dirty="0">
                <a:latin typeface="Arial" panose="020B0604020202020204" pitchFamily="34" charset="0"/>
                <a:ea typeface="ＭＳ Ｐゴシック" pitchFamily="34" charset="-128"/>
                <a:cs typeface="Arial" panose="020B0604020202020204" pitchFamily="34" charset="0"/>
              </a:rPr>
              <a:t>Strengths and purposes</a:t>
            </a:r>
          </a:p>
          <a:p>
            <a:pPr lvl="1"/>
            <a:r>
              <a:rPr lang="en-US" altLang="en-US" dirty="0">
                <a:latin typeface="Arial" panose="020B0604020202020204" pitchFamily="34" charset="0"/>
                <a:ea typeface="ＭＳ Ｐゴシック" pitchFamily="34" charset="-128"/>
                <a:cs typeface="Arial" panose="020B0604020202020204" pitchFamily="34" charset="0"/>
              </a:rPr>
              <a:t>Style, syntax, and semantics</a:t>
            </a:r>
          </a:p>
          <a:p>
            <a:pPr lvl="1"/>
            <a:r>
              <a:rPr lang="en-US" altLang="en-US" dirty="0">
                <a:latin typeface="Arial" panose="020B0604020202020204" pitchFamily="34" charset="0"/>
                <a:ea typeface="ＭＳ Ｐゴシック" pitchFamily="34" charset="-128"/>
                <a:cs typeface="Arial" panose="020B0604020202020204" pitchFamily="34" charset="0"/>
              </a:rPr>
              <a:t>Approaches to types, variables, and memory</a:t>
            </a:r>
          </a:p>
          <a:p>
            <a:pPr lvl="1"/>
            <a:r>
              <a:rPr lang="en-US" altLang="en-US" dirty="0">
                <a:latin typeface="Arial" panose="020B0604020202020204" pitchFamily="34" charset="0"/>
                <a:ea typeface="ＭＳ Ｐゴシック" pitchFamily="34" charset="-128"/>
                <a:cs typeface="Arial" panose="020B0604020202020204" pitchFamily="34" charset="0"/>
              </a:rPr>
              <a:t>Tools provided or accessible</a:t>
            </a:r>
          </a:p>
          <a:p>
            <a:r>
              <a:rPr lang="en-US" altLang="en-US" dirty="0">
                <a:latin typeface="Arial" panose="020B0604020202020204" pitchFamily="34" charset="0"/>
                <a:ea typeface="ＭＳ Ｐゴシック" pitchFamily="34" charset="-128"/>
                <a:cs typeface="Arial" panose="020B0604020202020204" pitchFamily="34" charset="0"/>
              </a:rPr>
              <a:t>Languages cross paradigms</a:t>
            </a:r>
          </a:p>
        </p:txBody>
      </p:sp>
    </p:spTree>
    <p:extLst>
      <p:ext uri="{BB962C8B-B14F-4D97-AF65-F5344CB8AC3E}">
        <p14:creationId xmlns:p14="http://schemas.microsoft.com/office/powerpoint/2010/main" val="157454210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793488" y="1"/>
            <a:ext cx="7557025" cy="1060704"/>
          </a:xfrm>
        </p:spPr>
        <p:txBody>
          <a:bodyPr anchor="ctr">
            <a:no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Summary (1 of 2)</a:t>
            </a:r>
            <a:endParaRPr lang="en-US" sz="3600" b="0" dirty="0">
              <a:latin typeface="Arial" panose="020B0604020202020204" pitchFamily="34" charset="0"/>
              <a:cs typeface="Arial" panose="020B0604020202020204" pitchFamily="34" charset="0"/>
            </a:endParaRPr>
          </a:p>
        </p:txBody>
      </p:sp>
      <p:sp>
        <p:nvSpPr>
          <p:cNvPr id="7" name="Content Placeholder 6"/>
          <p:cNvSpPr>
            <a:spLocks noGrp="1"/>
          </p:cNvSpPr>
          <p:nvPr>
            <p:ph idx="1"/>
          </p:nvPr>
        </p:nvSpPr>
        <p:spPr>
          <a:xfrm>
            <a:off x="294968" y="1231266"/>
            <a:ext cx="8660346" cy="4812347"/>
          </a:xfrm>
        </p:spPr>
        <p:txBody>
          <a:bodyPr>
            <a:noAutofit/>
          </a:bodyPr>
          <a:lstStyle/>
          <a:p>
            <a:pPr>
              <a:defRPr/>
            </a:pPr>
            <a:r>
              <a:rPr lang="en-US" altLang="en-US" dirty="0">
                <a:latin typeface="Arial" panose="020B0604020202020204" pitchFamily="34" charset="0"/>
                <a:ea typeface="ＭＳ Ｐゴシック" panose="020B0600070205080204" pitchFamily="34" charset="-128"/>
                <a:cs typeface="Arial" panose="020B0604020202020204" pitchFamily="34" charset="0"/>
              </a:rPr>
              <a:t>Many programming languages exist because they reflect different intended uses or different philosophical views.</a:t>
            </a:r>
          </a:p>
          <a:p>
            <a:pPr>
              <a:defRPr/>
            </a:pPr>
            <a:r>
              <a:rPr lang="en-US" altLang="en-US" dirty="0">
                <a:latin typeface="Arial" panose="020B0604020202020204" pitchFamily="34" charset="0"/>
                <a:ea typeface="ＭＳ Ｐゴシック" panose="020B0600070205080204" pitchFamily="34" charset="-128"/>
                <a:cs typeface="Arial" panose="020B0604020202020204" pitchFamily="34" charset="0"/>
              </a:rPr>
              <a:t>Procedural programming languages include</a:t>
            </a:r>
          </a:p>
          <a:p>
            <a:pPr marL="717550" lvl="1" indent="-363538">
              <a:buFont typeface="Arial" panose="020B0604020202020204" pitchFamily="34" charset="0"/>
              <a:buChar char="–"/>
              <a:defRPr/>
            </a:pPr>
            <a:r>
              <a:rPr lang="en-US" altLang="en-US" dirty="0">
                <a:latin typeface="Arial" panose="020B0604020202020204" pitchFamily="34" charset="0"/>
                <a:ea typeface="ＭＳ Ｐゴシック" panose="020B0600070205080204" pitchFamily="34" charset="-128"/>
                <a:cs typeface="Arial" panose="020B0604020202020204" pitchFamily="34" charset="0"/>
              </a:rPr>
              <a:t>Plankalkül, Fortran, COBOL, C/C++, Ada, Java, Python, and C#.</a:t>
            </a:r>
          </a:p>
          <a:p>
            <a:pPr>
              <a:defRPr/>
            </a:pPr>
            <a:r>
              <a:rPr lang="en-US" altLang="en-US" dirty="0">
                <a:latin typeface="Arial" panose="020B0604020202020204" pitchFamily="34" charset="0"/>
                <a:ea typeface="ＭＳ Ｐゴシック" panose="020B0600070205080204" pitchFamily="34" charset="-128"/>
                <a:cs typeface="Arial" panose="020B0604020202020204" pitchFamily="34" charset="0"/>
              </a:rPr>
              <a:t>Special-purpose programming languages have limited range of use: SQL, HTML, JavaScript and R.</a:t>
            </a:r>
          </a:p>
          <a:p>
            <a:pPr>
              <a:defRPr/>
            </a:pPr>
            <a:r>
              <a:rPr lang="en-US" altLang="en-US" dirty="0">
                <a:latin typeface="Arial" panose="020B0604020202020204" pitchFamily="34" charset="0"/>
                <a:ea typeface="ＭＳ Ｐゴシック" panose="020B0600070205080204" pitchFamily="34" charset="-128"/>
                <a:cs typeface="Arial" panose="020B0604020202020204" pitchFamily="34" charset="0"/>
              </a:rPr>
              <a:t>Other paradigms include </a:t>
            </a:r>
          </a:p>
          <a:p>
            <a:pPr lvl="1">
              <a:defRPr/>
            </a:pPr>
            <a:r>
              <a:rPr lang="en-US" altLang="en-US" dirty="0">
                <a:latin typeface="Arial" panose="020B0604020202020204" pitchFamily="34" charset="0"/>
                <a:ea typeface="ＭＳ Ｐゴシック" panose="020B0600070205080204" pitchFamily="34" charset="-128"/>
                <a:cs typeface="Arial" panose="020B0604020202020204" pitchFamily="34" charset="0"/>
              </a:rPr>
              <a:t>Functional, logic, and parallel programming.</a:t>
            </a:r>
          </a:p>
        </p:txBody>
      </p:sp>
    </p:spTree>
    <p:extLst>
      <p:ext uri="{BB962C8B-B14F-4D97-AF65-F5344CB8AC3E}">
        <p14:creationId xmlns:p14="http://schemas.microsoft.com/office/powerpoint/2010/main" val="263929636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793488" y="1"/>
            <a:ext cx="7557025" cy="1060704"/>
          </a:xfrm>
        </p:spPr>
        <p:txBody>
          <a:bodyPr anchor="ctr">
            <a:noAutofit/>
          </a:bodyPr>
          <a:lstStyle/>
          <a:p>
            <a:pPr algn="ctr"/>
            <a:r>
              <a:rPr lang="en-US" altLang="en-US" sz="3600" b="0" dirty="0">
                <a:latin typeface="Arial" panose="020B0604020202020204" pitchFamily="34" charset="0"/>
                <a:ea typeface="ＭＳ Ｐゴシック" pitchFamily="34" charset="-128"/>
                <a:cs typeface="Arial" panose="020B0604020202020204" pitchFamily="34" charset="0"/>
              </a:rPr>
              <a:t>Summary (2 of 2)</a:t>
            </a:r>
            <a:endParaRPr lang="en-US" sz="3600" b="0" dirty="0">
              <a:latin typeface="Arial" panose="020B0604020202020204" pitchFamily="34" charset="0"/>
              <a:cs typeface="Arial" panose="020B0604020202020204" pitchFamily="34" charset="0"/>
            </a:endParaRPr>
          </a:p>
        </p:txBody>
      </p:sp>
      <p:sp>
        <p:nvSpPr>
          <p:cNvPr id="7" name="Content Placeholder 6"/>
          <p:cNvSpPr>
            <a:spLocks noGrp="1"/>
          </p:cNvSpPr>
          <p:nvPr>
            <p:ph idx="1"/>
          </p:nvPr>
        </p:nvSpPr>
        <p:spPr>
          <a:xfrm>
            <a:off x="294968" y="1231266"/>
            <a:ext cx="8660346" cy="4812347"/>
          </a:xfrm>
        </p:spPr>
        <p:txBody>
          <a:bodyPr>
            <a:noAutofit/>
          </a:bodyPr>
          <a:lstStyle/>
          <a:p>
            <a:r>
              <a:rPr lang="en-US" altLang="en-US" dirty="0">
                <a:latin typeface="Arial" panose="020B0604020202020204" pitchFamily="34" charset="0"/>
                <a:ea typeface="ＭＳ Ｐゴシック" pitchFamily="34" charset="-128"/>
                <a:cs typeface="Arial" panose="020B0604020202020204" pitchFamily="34" charset="0"/>
              </a:rPr>
              <a:t>Functional programming languages organize programs around functions, function calls, and combining of functions.</a:t>
            </a:r>
          </a:p>
          <a:p>
            <a:r>
              <a:rPr lang="en-US" altLang="en-US" dirty="0">
                <a:latin typeface="Arial" panose="020B0604020202020204" pitchFamily="34" charset="0"/>
                <a:ea typeface="ＭＳ Ｐゴシック" pitchFamily="34" charset="-128"/>
                <a:cs typeface="Arial" panose="020B0604020202020204" pitchFamily="34" charset="0"/>
              </a:rPr>
              <a:t>Logic programming languages do not specify how to do something but give facts and rules and let the program deduce the results.</a:t>
            </a:r>
          </a:p>
          <a:p>
            <a:r>
              <a:rPr lang="en-US" altLang="en-US" dirty="0">
                <a:latin typeface="Arial" panose="020B0604020202020204" pitchFamily="34" charset="0"/>
                <a:ea typeface="ＭＳ Ｐゴシック" pitchFamily="34" charset="-128"/>
                <a:cs typeface="Arial" panose="020B0604020202020204" pitchFamily="34" charset="0"/>
              </a:rPr>
              <a:t>Parallel programming languages support MIMD parallel processing.</a:t>
            </a:r>
          </a:p>
          <a:p>
            <a:r>
              <a:rPr lang="en-US" altLang="en-US" dirty="0">
                <a:latin typeface="Arial" panose="020B0604020202020204" pitchFamily="34" charset="0"/>
                <a:ea typeface="ＭＳ Ｐゴシック" pitchFamily="34" charset="-128"/>
                <a:cs typeface="Arial" panose="020B0604020202020204" pitchFamily="34" charset="0"/>
              </a:rPr>
              <a:t>New programming languages evolve continuously for new or evolving purposes.</a:t>
            </a:r>
          </a:p>
        </p:txBody>
      </p:sp>
    </p:spTree>
    <p:extLst>
      <p:ext uri="{BB962C8B-B14F-4D97-AF65-F5344CB8AC3E}">
        <p14:creationId xmlns:p14="http://schemas.microsoft.com/office/powerpoint/2010/main" val="19414780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3001</TotalTime>
  <Words>4114</Words>
  <Application>Microsoft Office PowerPoint</Application>
  <PresentationFormat>On-screen Show (4:3)</PresentationFormat>
  <Paragraphs>598</Paragraphs>
  <Slides>55</Slides>
  <Notes>38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55</vt:i4>
      </vt:variant>
    </vt:vector>
  </HeadingPairs>
  <TitlesOfParts>
    <vt:vector size="61" baseType="lpstr">
      <vt:lpstr>Arial</vt:lpstr>
      <vt:lpstr>Calibri</vt:lpstr>
      <vt:lpstr>Courier New</vt:lpstr>
      <vt:lpstr>Symbol</vt:lpstr>
      <vt:lpstr>Wingdings</vt:lpstr>
      <vt:lpstr>Office Theme</vt:lpstr>
      <vt:lpstr>Chapter 10</vt:lpstr>
      <vt:lpstr>Learning Objectives (1 of 2)</vt:lpstr>
      <vt:lpstr>Learning Objectives (2 of 2)</vt:lpstr>
      <vt:lpstr>Why Babel?</vt:lpstr>
      <vt:lpstr>Procedural Languages (1 of 15)</vt:lpstr>
      <vt:lpstr>Procedural Languages (2 of 15)</vt:lpstr>
      <vt:lpstr>Procedural Languages (3 of 15)</vt:lpstr>
      <vt:lpstr>Procedural Languages (4 of 15)</vt:lpstr>
      <vt:lpstr>Procedural Languages (5 of 15)</vt:lpstr>
      <vt:lpstr>Procedural Languages (6 of 15)</vt:lpstr>
      <vt:lpstr>Procedural Languages (7 of 15)</vt:lpstr>
      <vt:lpstr>Procedural Languages (8 of 15)</vt:lpstr>
      <vt:lpstr>Procedural Languages (9 of 15)</vt:lpstr>
      <vt:lpstr>Procedural Languages (10 of 15)</vt:lpstr>
      <vt:lpstr>Procedural Languages (11 of 15)</vt:lpstr>
      <vt:lpstr>Procedural Languages (12 of 15)</vt:lpstr>
      <vt:lpstr>Procedural Languages (13 of 15)</vt:lpstr>
      <vt:lpstr>Procedural Languages (14 of 15)</vt:lpstr>
      <vt:lpstr>Procedural Languages (15 of 15)</vt:lpstr>
      <vt:lpstr>Special-Purpose Languages (1 of 10)</vt:lpstr>
      <vt:lpstr>PowerPoint Presentation</vt:lpstr>
      <vt:lpstr>Special-Purpose Languages (2 of 10)</vt:lpstr>
      <vt:lpstr>Special-Purpose Languages (3 of 10)</vt:lpstr>
      <vt:lpstr>Special-Purpose Languages (4 of 10)</vt:lpstr>
      <vt:lpstr>Special-Purpose Languages (5 of 10)</vt:lpstr>
      <vt:lpstr>Special-Purpose Languages (6 of 10)</vt:lpstr>
      <vt:lpstr>Special-Purpose Languages (7 of 10)</vt:lpstr>
      <vt:lpstr>Special-Purpose Languages (8 of 10)</vt:lpstr>
      <vt:lpstr>Figure 10.8 JavaScript embedded in an HTML page</vt:lpstr>
      <vt:lpstr>PowerPoint Presentation</vt:lpstr>
      <vt:lpstr>PowerPoint Presentation</vt:lpstr>
      <vt:lpstr>PowerPoint Presentation</vt:lpstr>
      <vt:lpstr>Special-Purpose Languages (9 of 10)</vt:lpstr>
      <vt:lpstr>Special-Purpose Languages (10 of 10)</vt:lpstr>
      <vt:lpstr>Alternative Programming Paradigms (1 of 16)</vt:lpstr>
      <vt:lpstr>Alternative Programming Paradigms (2 of 16)</vt:lpstr>
      <vt:lpstr>Alternative Programming Paradigms (3 of 16)</vt:lpstr>
      <vt:lpstr>Alternative Programming Paradigms (4 of 16)</vt:lpstr>
      <vt:lpstr>Alternative Programming Paradigms (5 of 16)</vt:lpstr>
      <vt:lpstr>Alternative Programming Paradigms (6 of 16)</vt:lpstr>
      <vt:lpstr>Alternative Programming Paradigms (7 of 16)</vt:lpstr>
      <vt:lpstr>Alternative Programming Paradigms (8 of 16)</vt:lpstr>
      <vt:lpstr>Alternative Programming Paradigms (9 of 16)</vt:lpstr>
      <vt:lpstr>Alternative Programming Paradigms (10 of 16)</vt:lpstr>
      <vt:lpstr>Alternative Programming Paradigms (11 of 16)</vt:lpstr>
      <vt:lpstr>Alternative Programming Paradigms (12 of 16)</vt:lpstr>
      <vt:lpstr>Alternative Programming Paradigms (14 of 16)</vt:lpstr>
      <vt:lpstr>Alternative Programming Paradigms (15 of 16)</vt:lpstr>
      <vt:lpstr>Alternative Programming Paradigms (16 of 16)</vt:lpstr>
      <vt:lpstr>New Languages Keep Coming (1 of 3)</vt:lpstr>
      <vt:lpstr>New Languages Keep Coming (2 of 3)</vt:lpstr>
      <vt:lpstr>New Languages Keep Coming (3 of 3)</vt:lpstr>
      <vt:lpstr>Conclusion</vt:lpstr>
      <vt:lpstr>Summary (1 of 2)</vt:lpstr>
      <vt:lpstr>Summary (2 of 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10 The Tower of Babel</dc:title>
  <dc:creator>Schneider</dc:creator>
  <cp:lastModifiedBy>Jiahui Xia</cp:lastModifiedBy>
  <cp:revision>203</cp:revision>
  <dcterms:created xsi:type="dcterms:W3CDTF">2015-05-05T09:30:46Z</dcterms:created>
  <dcterms:modified xsi:type="dcterms:W3CDTF">2020-11-15T16:51:33Z</dcterms:modified>
</cp:coreProperties>
</file>