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84" r:id="rId2"/>
    <p:sldId id="285" r:id="rId3"/>
    <p:sldId id="256" r:id="rId4"/>
    <p:sldId id="265" r:id="rId5"/>
    <p:sldId id="266" r:id="rId6"/>
    <p:sldId id="267" r:id="rId7"/>
    <p:sldId id="268" r:id="rId8"/>
    <p:sldId id="257" r:id="rId9"/>
    <p:sldId id="258" r:id="rId10"/>
    <p:sldId id="259" r:id="rId11"/>
    <p:sldId id="260" r:id="rId12"/>
    <p:sldId id="269" r:id="rId13"/>
    <p:sldId id="261" r:id="rId14"/>
    <p:sldId id="262" r:id="rId15"/>
    <p:sldId id="263" r:id="rId16"/>
    <p:sldId id="264"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6BD49E-A9A1-471A-BF9D-93F2FE1C5008}" type="datetimeFigureOut">
              <a:rPr lang="en-US" smtClean="0"/>
              <a:t>9/23/2020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0D920F-66DE-43A7-8340-4071D9CDBD39}" type="slidenum">
              <a:rPr lang="en-US" smtClean="0"/>
              <a:t>‹#›</a:t>
            </a:fld>
            <a:endParaRPr lang="en-US"/>
          </a:p>
        </p:txBody>
      </p:sp>
    </p:spTree>
    <p:extLst>
      <p:ext uri="{BB962C8B-B14F-4D97-AF65-F5344CB8AC3E}">
        <p14:creationId xmlns:p14="http://schemas.microsoft.com/office/powerpoint/2010/main" val="3152016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0D920F-66DE-43A7-8340-4071D9CDBD39}" type="slidenum">
              <a:rPr lang="en-US" smtClean="0"/>
              <a:t>20</a:t>
            </a:fld>
            <a:endParaRPr lang="en-US"/>
          </a:p>
        </p:txBody>
      </p:sp>
    </p:spTree>
    <p:extLst>
      <p:ext uri="{BB962C8B-B14F-4D97-AF65-F5344CB8AC3E}">
        <p14:creationId xmlns:p14="http://schemas.microsoft.com/office/powerpoint/2010/main" val="1220650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731E3-C68D-46E4-8C37-A7C3696466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E5235B3-9C54-4B42-B1B3-696404BFD9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E84AC4-AFE8-4FAA-BF18-074A5E951309}"/>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5" name="Footer Placeholder 4">
            <a:extLst>
              <a:ext uri="{FF2B5EF4-FFF2-40B4-BE49-F238E27FC236}">
                <a16:creationId xmlns:a16="http://schemas.microsoft.com/office/drawing/2014/main" id="{330298F6-DB76-4DF0-8463-DDF972C102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35927A-C6F8-488A-802D-A88BF3F6F9B2}"/>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9813745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0FEA3-5BDC-45A4-8555-8D18FDDB78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BF960B-4120-4B92-A0E4-C1F48E89DC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CA7F4-012D-4594-ACFE-5193B5715033}"/>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5" name="Footer Placeholder 4">
            <a:extLst>
              <a:ext uri="{FF2B5EF4-FFF2-40B4-BE49-F238E27FC236}">
                <a16:creationId xmlns:a16="http://schemas.microsoft.com/office/drawing/2014/main" id="{7F24366F-364A-4C02-9FFA-516A050F2C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F34B47-52EB-4FF6-926B-937219E0C5DD}"/>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3097952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5DB8-7B29-4360-863C-2DBB257EF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B6343D-6E9F-448E-8E95-82B3E0AB90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A6679C-8FD8-4744-AD90-8BB139F62085}"/>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5" name="Footer Placeholder 4">
            <a:extLst>
              <a:ext uri="{FF2B5EF4-FFF2-40B4-BE49-F238E27FC236}">
                <a16:creationId xmlns:a16="http://schemas.microsoft.com/office/drawing/2014/main" id="{18C8589B-34EF-4B55-9895-C4A370E8BE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2D02CB-8CDD-4AA6-A6C7-B63CE32A4ED4}"/>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4211071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4833E-D3C0-449B-A678-F9E6DBD850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2F0F95-ABF3-4DFE-8AEE-3D2452986B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656430-953D-4372-BD2A-5C0CC11138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37A3C3-E828-4234-9549-ADD4B7DDC8D5}"/>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6" name="Footer Placeholder 5">
            <a:extLst>
              <a:ext uri="{FF2B5EF4-FFF2-40B4-BE49-F238E27FC236}">
                <a16:creationId xmlns:a16="http://schemas.microsoft.com/office/drawing/2014/main" id="{EE1326DB-ADBB-4D95-B77B-F9D88EA6F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EECA88-FD5B-48FB-B70C-26F6AA36932C}"/>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672135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093F1-3F6C-432E-9C4A-71B6A3A9C9C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1EA054-F465-408E-8D96-9223FA08B1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535744-8FDB-4DB3-AF4F-3ED62DCE4D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BACB94-0036-44AD-8331-0DAE40D1F3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9F53D4-4822-4889-BFDB-5C4C16694C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BBF7CC-C9CE-4F4B-ADAC-6D6C9031D6C8}"/>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8" name="Footer Placeholder 7">
            <a:extLst>
              <a:ext uri="{FF2B5EF4-FFF2-40B4-BE49-F238E27FC236}">
                <a16:creationId xmlns:a16="http://schemas.microsoft.com/office/drawing/2014/main" id="{F678C66C-8A8E-4BA3-B9C6-A1EF77E9644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91DDED-40DF-4108-BC42-4D2605CCA359}"/>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201671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78658-D0B4-4EA6-83AB-D98E14E550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D9F40D-ECA7-4072-A039-78A0C5DE821D}"/>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4" name="Footer Placeholder 3">
            <a:extLst>
              <a:ext uri="{FF2B5EF4-FFF2-40B4-BE49-F238E27FC236}">
                <a16:creationId xmlns:a16="http://schemas.microsoft.com/office/drawing/2014/main" id="{FF040816-F886-4EE3-972E-BEEABE36D4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48B8953-A7A1-4703-AE5F-E6BC6771FFCF}"/>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3883697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2141B5-E490-4DA4-8C02-0D52EFBB1FBE}"/>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3" name="Footer Placeholder 2">
            <a:extLst>
              <a:ext uri="{FF2B5EF4-FFF2-40B4-BE49-F238E27FC236}">
                <a16:creationId xmlns:a16="http://schemas.microsoft.com/office/drawing/2014/main" id="{392E4620-E5F5-4BA0-8B7D-370CA2CB0D0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329192-9A91-4EAE-A9D9-9857DE59EF92}"/>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2585307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2F514-B6AE-4FB6-9AC1-66A82837FE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D57B89-5AEC-4BFB-AC9B-70547C173C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DCE4A6-3310-4A03-ADB5-BB9F9BCC7B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7C96DB-51B3-4C75-AD62-81B97659A544}"/>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6" name="Footer Placeholder 5">
            <a:extLst>
              <a:ext uri="{FF2B5EF4-FFF2-40B4-BE49-F238E27FC236}">
                <a16:creationId xmlns:a16="http://schemas.microsoft.com/office/drawing/2014/main" id="{6C7C64AC-0614-4CF4-8293-5CD603DA84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3068B-9FBE-4842-B308-0643C2A1C49E}"/>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26501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F7C39-D807-4803-8C18-79CFCCBECA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C03D2F-C398-4011-B6F7-AD4F3E8878A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1542C7-4CD3-401C-A2B3-69CCEEF815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5D633C-DDBB-4B8C-A913-849412D6F9AB}"/>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6" name="Footer Placeholder 5">
            <a:extLst>
              <a:ext uri="{FF2B5EF4-FFF2-40B4-BE49-F238E27FC236}">
                <a16:creationId xmlns:a16="http://schemas.microsoft.com/office/drawing/2014/main" id="{86FE6127-D5E5-4B32-9C33-6646587E34B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6D13D8-DDB8-434C-946B-F1FD9069B311}"/>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1609203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A6F42-9813-4676-A4FC-7449BFB01CF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816BB8C-99E4-47BD-A405-A53D85A86C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00980B-F20D-4571-B996-A299879591A0}"/>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5" name="Footer Placeholder 4">
            <a:extLst>
              <a:ext uri="{FF2B5EF4-FFF2-40B4-BE49-F238E27FC236}">
                <a16:creationId xmlns:a16="http://schemas.microsoft.com/office/drawing/2014/main" id="{8CE3252B-008A-4390-9AF4-B11872811F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9EF203-6A5F-4471-AFBB-832ECFC7E4A0}"/>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27875071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7C15D5-2221-4352-BF5D-054511A05F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0FA66BC-BF0C-4F00-A9B6-90F6794B74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C66A61-6978-41C8-8616-792392CFD61A}"/>
              </a:ext>
            </a:extLst>
          </p:cNvPr>
          <p:cNvSpPr>
            <a:spLocks noGrp="1"/>
          </p:cNvSpPr>
          <p:nvPr>
            <p:ph type="dt" sz="half" idx="10"/>
          </p:nvPr>
        </p:nvSpPr>
        <p:spPr/>
        <p:txBody>
          <a:bodyPr/>
          <a:lstStyle/>
          <a:p>
            <a:fld id="{107AD483-9C41-4F71-8878-0EEA75F10EFD}" type="datetimeFigureOut">
              <a:rPr lang="en-US" smtClean="0"/>
              <a:t>9/23/2020</a:t>
            </a:fld>
            <a:endParaRPr lang="en-US"/>
          </a:p>
        </p:txBody>
      </p:sp>
      <p:sp>
        <p:nvSpPr>
          <p:cNvPr id="5" name="Footer Placeholder 4">
            <a:extLst>
              <a:ext uri="{FF2B5EF4-FFF2-40B4-BE49-F238E27FC236}">
                <a16:creationId xmlns:a16="http://schemas.microsoft.com/office/drawing/2014/main" id="{07954205-434B-409E-97A5-443C3C74A7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3B5743-2A27-49E5-AB55-9FEE052A2E9F}"/>
              </a:ext>
            </a:extLst>
          </p:cNvPr>
          <p:cNvSpPr>
            <a:spLocks noGrp="1"/>
          </p:cNvSpPr>
          <p:nvPr>
            <p:ph type="sldNum" sz="quarter" idx="12"/>
          </p:nvPr>
        </p:nvSpPr>
        <p:spPr/>
        <p:txBody>
          <a:bodyPr/>
          <a:lstStyle/>
          <a:p>
            <a:fld id="{10F785BA-BB1A-4704-BC2E-09EABBA332CE}" type="slidenum">
              <a:rPr lang="en-US" smtClean="0"/>
              <a:t>‹#›</a:t>
            </a:fld>
            <a:endParaRPr lang="en-US"/>
          </a:p>
        </p:txBody>
      </p:sp>
    </p:spTree>
    <p:extLst>
      <p:ext uri="{BB962C8B-B14F-4D97-AF65-F5344CB8AC3E}">
        <p14:creationId xmlns:p14="http://schemas.microsoft.com/office/powerpoint/2010/main" val="2613620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12D46B-E5F1-4C8A-ADAC-54BEE17B01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C58CEB-8CE4-4519-BCE7-5F86F6E4F9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25FD94-F3EC-4500-A64D-53FBBEEB37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7AD483-9C41-4F71-8878-0EEA75F10EFD}" type="datetimeFigureOut">
              <a:rPr lang="en-US" smtClean="0"/>
              <a:t>9/23/2020</a:t>
            </a:fld>
            <a:endParaRPr lang="en-US"/>
          </a:p>
        </p:txBody>
      </p:sp>
      <p:sp>
        <p:nvSpPr>
          <p:cNvPr id="5" name="Footer Placeholder 4">
            <a:extLst>
              <a:ext uri="{FF2B5EF4-FFF2-40B4-BE49-F238E27FC236}">
                <a16:creationId xmlns:a16="http://schemas.microsoft.com/office/drawing/2014/main" id="{52DDD4B3-E2F7-4660-8408-0FAE61473B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377FC4B-737C-4725-AFC1-72AF7C4BCE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F785BA-BB1A-4704-BC2E-09EABBA332CE}" type="slidenum">
              <a:rPr lang="en-US" smtClean="0"/>
              <a:t>‹#›</a:t>
            </a:fld>
            <a:endParaRPr lang="en-US"/>
          </a:p>
        </p:txBody>
      </p:sp>
    </p:spTree>
    <p:extLst>
      <p:ext uri="{BB962C8B-B14F-4D97-AF65-F5344CB8AC3E}">
        <p14:creationId xmlns:p14="http://schemas.microsoft.com/office/powerpoint/2010/main" val="3542198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cs.furman.edu/digitaldomain/instructors/tests/ch11testANS.ht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FC6C0D8-FA2A-4479-8D08-771B84E359B2}"/>
              </a:ext>
            </a:extLst>
          </p:cNvPr>
          <p:cNvSpPr txBox="1"/>
          <p:nvPr/>
        </p:nvSpPr>
        <p:spPr>
          <a:xfrm>
            <a:off x="3048000" y="3105835"/>
            <a:ext cx="6096000" cy="646331"/>
          </a:xfrm>
          <a:prstGeom prst="rect">
            <a:avLst/>
          </a:prstGeom>
          <a:noFill/>
        </p:spPr>
        <p:txBody>
          <a:bodyPr wrap="square">
            <a:spAutoFit/>
          </a:bodyPr>
          <a:lstStyle/>
          <a:p>
            <a:r>
              <a:rPr lang="en-US" dirty="0">
                <a:hlinkClick r:id="rId2"/>
              </a:rPr>
              <a:t>http://cs.furman.edu/digitaldomain/instructors/tests/ch11testANS.htm</a:t>
            </a:r>
            <a:endParaRPr lang="en-US" dirty="0"/>
          </a:p>
        </p:txBody>
      </p:sp>
    </p:spTree>
    <p:extLst>
      <p:ext uri="{BB962C8B-B14F-4D97-AF65-F5344CB8AC3E}">
        <p14:creationId xmlns:p14="http://schemas.microsoft.com/office/powerpoint/2010/main" val="3849508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E24D0FD-B359-44C2-80A3-59457849DA92}"/>
              </a:ext>
            </a:extLst>
          </p:cNvPr>
          <p:cNvSpPr txBox="1"/>
          <p:nvPr/>
        </p:nvSpPr>
        <p:spPr>
          <a:xfrm>
            <a:off x="1788160" y="1320800"/>
            <a:ext cx="6045200" cy="923330"/>
          </a:xfrm>
          <a:prstGeom prst="rect">
            <a:avLst/>
          </a:prstGeom>
          <a:noFill/>
        </p:spPr>
        <p:txBody>
          <a:bodyPr wrap="square" rtlCol="0">
            <a:spAutoFit/>
          </a:bodyPr>
          <a:lstStyle/>
          <a:p>
            <a:r>
              <a:rPr lang="en-US" b="0" i="0" dirty="0">
                <a:solidFill>
                  <a:srgbClr val="222222"/>
                </a:solidFill>
                <a:effectLst/>
                <a:latin typeface="arial" panose="020B0604020202020204" pitchFamily="34" charset="0"/>
              </a:rPr>
              <a:t> the major advantage of the stored </a:t>
            </a:r>
            <a:r>
              <a:rPr lang="en-US" b="0" i="0" dirty="0" err="1">
                <a:solidFill>
                  <a:srgbClr val="222222"/>
                </a:solidFill>
                <a:effectLst/>
                <a:latin typeface="arial" panose="020B0604020202020204" pitchFamily="34" charset="0"/>
              </a:rPr>
              <a:t>programme</a:t>
            </a:r>
            <a:r>
              <a:rPr lang="en-US" b="0" i="0" dirty="0">
                <a:solidFill>
                  <a:srgbClr val="222222"/>
                </a:solidFill>
                <a:effectLst/>
                <a:latin typeface="arial" panose="020B0604020202020204" pitchFamily="34" charset="0"/>
              </a:rPr>
              <a:t> type of computer is that the </a:t>
            </a:r>
            <a:r>
              <a:rPr lang="en-US" b="0" i="0" dirty="0">
                <a:solidFill>
                  <a:srgbClr val="DD4B39"/>
                </a:solidFill>
                <a:effectLst/>
                <a:latin typeface="arial" panose="020B0604020202020204" pitchFamily="34" charset="0"/>
              </a:rPr>
              <a:t>control</a:t>
            </a:r>
            <a:r>
              <a:rPr lang="en-US" b="0" i="0" dirty="0">
                <a:solidFill>
                  <a:srgbClr val="222222"/>
                </a:solidFill>
                <a:effectLst/>
                <a:latin typeface="arial" panose="020B0604020202020204" pitchFamily="34" charset="0"/>
              </a:rPr>
              <a:t> sequence can be changed simply by modifying the </a:t>
            </a:r>
            <a:r>
              <a:rPr lang="en-US" b="0" i="0" dirty="0" err="1">
                <a:solidFill>
                  <a:srgbClr val="222222"/>
                </a:solidFill>
                <a:effectLst/>
                <a:latin typeface="arial" panose="020B0604020202020204" pitchFamily="34" charset="0"/>
              </a:rPr>
              <a:t>programme</a:t>
            </a:r>
            <a:r>
              <a:rPr lang="en-US" b="0" i="0" dirty="0">
                <a:solidFill>
                  <a:srgbClr val="222222"/>
                </a:solidFill>
                <a:effectLst/>
                <a:latin typeface="arial" panose="020B0604020202020204" pitchFamily="34" charset="0"/>
              </a:rPr>
              <a:t>.</a:t>
            </a:r>
            <a:endParaRPr lang="en-US" dirty="0"/>
          </a:p>
        </p:txBody>
      </p:sp>
    </p:spTree>
    <p:extLst>
      <p:ext uri="{BB962C8B-B14F-4D97-AF65-F5344CB8AC3E}">
        <p14:creationId xmlns:p14="http://schemas.microsoft.com/office/powerpoint/2010/main" val="12989351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9B997AA-112E-47BF-9714-1917048F9E72}"/>
              </a:ext>
            </a:extLst>
          </p:cNvPr>
          <p:cNvPicPr>
            <a:picLocks noChangeAspect="1"/>
          </p:cNvPicPr>
          <p:nvPr/>
        </p:nvPicPr>
        <p:blipFill>
          <a:blip r:embed="rId2"/>
          <a:stretch>
            <a:fillRect/>
          </a:stretch>
        </p:blipFill>
        <p:spPr>
          <a:xfrm>
            <a:off x="1381125" y="123825"/>
            <a:ext cx="9429750" cy="6610350"/>
          </a:xfrm>
          <a:prstGeom prst="rect">
            <a:avLst/>
          </a:prstGeom>
        </p:spPr>
      </p:pic>
    </p:spTree>
    <p:extLst>
      <p:ext uri="{BB962C8B-B14F-4D97-AF65-F5344CB8AC3E}">
        <p14:creationId xmlns:p14="http://schemas.microsoft.com/office/powerpoint/2010/main" val="4043598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70086BE-B5E4-4F10-9FE6-7E95BEF938DF}"/>
              </a:ext>
            </a:extLst>
          </p:cNvPr>
          <p:cNvSpPr txBox="1"/>
          <p:nvPr/>
        </p:nvSpPr>
        <p:spPr>
          <a:xfrm>
            <a:off x="736600" y="300519"/>
            <a:ext cx="9814560" cy="2369880"/>
          </a:xfrm>
          <a:prstGeom prst="rect">
            <a:avLst/>
          </a:prstGeom>
          <a:noFill/>
        </p:spPr>
        <p:txBody>
          <a:bodyPr wrap="square">
            <a:spAutoFit/>
          </a:bodyPr>
          <a:lstStyle/>
          <a:p>
            <a:pPr marL="457200" indent="-457200"/>
            <a:r>
              <a:rPr lang="en-US" altLang="en-US" sz="2600" dirty="0">
                <a:latin typeface="Arial" pitchFamily="34" charset="0"/>
                <a:cs typeface="Arial" pitchFamily="34" charset="0"/>
              </a:rPr>
              <a:t>What is CS:</a:t>
            </a:r>
          </a:p>
          <a:p>
            <a:pPr marL="457200" indent="-457200"/>
            <a:r>
              <a:rPr lang="en-US" altLang="en-US" sz="2600" dirty="0">
                <a:latin typeface="Arial" pitchFamily="34" charset="0"/>
                <a:cs typeface="Arial" pitchFamily="34" charset="0"/>
              </a:rPr>
              <a:t>Computer science is the study of algorithms, including:</a:t>
            </a:r>
          </a:p>
          <a:p>
            <a:pPr marL="919163" lvl="1" indent="-461963"/>
            <a:r>
              <a:rPr lang="en-US" altLang="en-US" sz="2400" dirty="0">
                <a:latin typeface="Arial" pitchFamily="34" charset="0"/>
                <a:cs typeface="Arial" pitchFamily="34" charset="0"/>
              </a:rPr>
              <a:t>Their formal and mathematical properties</a:t>
            </a:r>
          </a:p>
          <a:p>
            <a:pPr marL="919163" lvl="1" indent="-461963"/>
            <a:r>
              <a:rPr lang="en-US" altLang="en-US" sz="2400" dirty="0">
                <a:latin typeface="Arial" pitchFamily="34" charset="0"/>
                <a:cs typeface="Arial" pitchFamily="34" charset="0"/>
              </a:rPr>
              <a:t>Their hardware realizations</a:t>
            </a:r>
          </a:p>
          <a:p>
            <a:pPr marL="919163" lvl="1" indent="-461963"/>
            <a:r>
              <a:rPr lang="en-US" altLang="en-US" sz="2400" dirty="0">
                <a:latin typeface="Arial" pitchFamily="34" charset="0"/>
                <a:cs typeface="Arial" pitchFamily="34" charset="0"/>
              </a:rPr>
              <a:t>Their linguistic realizations</a:t>
            </a:r>
          </a:p>
          <a:p>
            <a:pPr marL="919163" lvl="1" indent="-461963"/>
            <a:r>
              <a:rPr lang="en-US" altLang="en-US" sz="2400" dirty="0">
                <a:latin typeface="Arial" pitchFamily="34" charset="0"/>
                <a:cs typeface="Arial" pitchFamily="34" charset="0"/>
              </a:rPr>
              <a:t>Their applications</a:t>
            </a:r>
            <a:endParaRPr lang="en-US" dirty="0"/>
          </a:p>
        </p:txBody>
      </p:sp>
      <p:sp>
        <p:nvSpPr>
          <p:cNvPr id="7" name="TextBox 6">
            <a:extLst>
              <a:ext uri="{FF2B5EF4-FFF2-40B4-BE49-F238E27FC236}">
                <a16:creationId xmlns:a16="http://schemas.microsoft.com/office/drawing/2014/main" id="{0A70A3D2-D6C9-405A-BC8C-B99A3F7E0CCC}"/>
              </a:ext>
            </a:extLst>
          </p:cNvPr>
          <p:cNvSpPr txBox="1"/>
          <p:nvPr/>
        </p:nvSpPr>
        <p:spPr>
          <a:xfrm>
            <a:off x="995680" y="2730976"/>
            <a:ext cx="8046720" cy="1323439"/>
          </a:xfrm>
          <a:prstGeom prst="rect">
            <a:avLst/>
          </a:prstGeom>
          <a:noFill/>
        </p:spPr>
        <p:txBody>
          <a:bodyPr wrap="square">
            <a:spAutoFit/>
          </a:bodyPr>
          <a:lstStyle/>
          <a:p>
            <a:r>
              <a:rPr lang="en-US" altLang="en-US" sz="2000" dirty="0">
                <a:latin typeface="Arial" pitchFamily="34" charset="0"/>
                <a:cs typeface="Arial" pitchFamily="34" charset="0"/>
              </a:rPr>
              <a:t>What is algorithm :</a:t>
            </a:r>
          </a:p>
          <a:p>
            <a:pPr lvl="1"/>
            <a:r>
              <a:rPr lang="en-US" altLang="en-US" sz="2000" dirty="0">
                <a:latin typeface="Arial" pitchFamily="34" charset="0"/>
                <a:cs typeface="Arial" pitchFamily="34" charset="0"/>
              </a:rPr>
              <a:t>A well-ordered collection of unambiguous and effectively computable operations that, when executed, produces a result and halts in a finite amount of time</a:t>
            </a:r>
          </a:p>
        </p:txBody>
      </p:sp>
      <p:sp>
        <p:nvSpPr>
          <p:cNvPr id="9" name="TextBox 8">
            <a:extLst>
              <a:ext uri="{FF2B5EF4-FFF2-40B4-BE49-F238E27FC236}">
                <a16:creationId xmlns:a16="http://schemas.microsoft.com/office/drawing/2014/main" id="{89254236-3006-4D34-99D9-C7756E3F93B6}"/>
              </a:ext>
            </a:extLst>
          </p:cNvPr>
          <p:cNvSpPr txBox="1"/>
          <p:nvPr/>
        </p:nvSpPr>
        <p:spPr>
          <a:xfrm>
            <a:off x="807720" y="4188177"/>
            <a:ext cx="8646160" cy="1323439"/>
          </a:xfrm>
          <a:prstGeom prst="rect">
            <a:avLst/>
          </a:prstGeom>
          <a:noFill/>
        </p:spPr>
        <p:txBody>
          <a:bodyPr wrap="square">
            <a:spAutoFit/>
          </a:bodyPr>
          <a:lstStyle/>
          <a:p>
            <a:r>
              <a:rPr lang="en-US" altLang="en-US" sz="2000" dirty="0">
                <a:latin typeface="Arial" pitchFamily="34" charset="0"/>
                <a:cs typeface="Arial" pitchFamily="34" charset="0"/>
              </a:rPr>
              <a:t>Well-ordered means:</a:t>
            </a:r>
          </a:p>
          <a:p>
            <a:r>
              <a:rPr lang="en-US" altLang="en-US" sz="2000" dirty="0">
                <a:latin typeface="Arial" pitchFamily="34" charset="0"/>
                <a:cs typeface="Arial" pitchFamily="34" charset="0"/>
              </a:rPr>
              <a:t>Well-ordered collection</a:t>
            </a:r>
          </a:p>
          <a:p>
            <a:pPr lvl="1"/>
            <a:r>
              <a:rPr lang="en-US" altLang="en-US" sz="2000" dirty="0">
                <a:latin typeface="Arial" pitchFamily="34" charset="0"/>
                <a:cs typeface="Arial" pitchFamily="34" charset="0"/>
              </a:rPr>
              <a:t>Upon completion of an operation, we always know which operation to do next</a:t>
            </a:r>
          </a:p>
        </p:txBody>
      </p:sp>
    </p:spTree>
    <p:extLst>
      <p:ext uri="{BB962C8B-B14F-4D97-AF65-F5344CB8AC3E}">
        <p14:creationId xmlns:p14="http://schemas.microsoft.com/office/powerpoint/2010/main" val="2924662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CB92C69-F65C-4EEF-BC9D-DAA85B98F685}"/>
              </a:ext>
            </a:extLst>
          </p:cNvPr>
          <p:cNvSpPr txBox="1"/>
          <p:nvPr/>
        </p:nvSpPr>
        <p:spPr>
          <a:xfrm>
            <a:off x="756920" y="843280"/>
            <a:ext cx="10678160" cy="2062103"/>
          </a:xfrm>
          <a:prstGeom prst="rect">
            <a:avLst/>
          </a:prstGeom>
          <a:noFill/>
        </p:spPr>
        <p:txBody>
          <a:bodyPr wrap="square" rtlCol="0">
            <a:spAutoFit/>
          </a:bodyPr>
          <a:lstStyle/>
          <a:p>
            <a:r>
              <a:rPr lang="en-US" sz="3200" dirty="0"/>
              <a:t>What is effectively computable means?</a:t>
            </a:r>
          </a:p>
          <a:p>
            <a:r>
              <a:rPr lang="en-US" altLang="en-US" sz="3200" dirty="0">
                <a:latin typeface="Arial" pitchFamily="34" charset="0"/>
                <a:cs typeface="Arial" pitchFamily="34" charset="0"/>
              </a:rPr>
              <a:t>It must also be </a:t>
            </a:r>
            <a:r>
              <a:rPr lang="en-US" altLang="en-US" sz="3200" i="1" dirty="0">
                <a:solidFill>
                  <a:srgbClr val="FF0000"/>
                </a:solidFill>
                <a:latin typeface="Arial" pitchFamily="34" charset="0"/>
                <a:cs typeface="Arial" pitchFamily="34" charset="0"/>
              </a:rPr>
              <a:t>doable</a:t>
            </a:r>
            <a:r>
              <a:rPr lang="en-US" altLang="en-US" sz="3200" dirty="0">
                <a:latin typeface="Arial" pitchFamily="34" charset="0"/>
                <a:cs typeface="Arial" pitchFamily="34" charset="0"/>
              </a:rPr>
              <a:t> (</a:t>
            </a:r>
            <a:r>
              <a:rPr lang="en-US" altLang="en-US" sz="3200" b="1" dirty="0">
                <a:latin typeface="Arial" pitchFamily="34" charset="0"/>
                <a:cs typeface="Arial" pitchFamily="34" charset="0"/>
              </a:rPr>
              <a:t>effectively computable</a:t>
            </a:r>
            <a:r>
              <a:rPr lang="en-US" altLang="en-US" sz="3200" dirty="0">
                <a:latin typeface="Arial" pitchFamily="34" charset="0"/>
                <a:cs typeface="Arial" pitchFamily="34" charset="0"/>
              </a:rPr>
              <a:t>)</a:t>
            </a:r>
            <a:r>
              <a:rPr lang="en-US" altLang="en-US" sz="3200" i="1" dirty="0">
                <a:latin typeface="Arial" pitchFamily="34" charset="0"/>
                <a:cs typeface="Arial" pitchFamily="34" charset="0"/>
              </a:rPr>
              <a:t> </a:t>
            </a:r>
            <a:r>
              <a:rPr lang="en-US" altLang="en-US" sz="3200" dirty="0">
                <a:latin typeface="Arial" pitchFamily="34" charset="0"/>
                <a:cs typeface="Arial" pitchFamily="34" charset="0"/>
              </a:rPr>
              <a:t>by the computing agent</a:t>
            </a:r>
          </a:p>
          <a:p>
            <a:r>
              <a:rPr lang="en-US" sz="3200" dirty="0"/>
              <a:t> </a:t>
            </a:r>
          </a:p>
        </p:txBody>
      </p:sp>
      <p:pic>
        <p:nvPicPr>
          <p:cNvPr id="5" name="Picture 4">
            <a:extLst>
              <a:ext uri="{FF2B5EF4-FFF2-40B4-BE49-F238E27FC236}">
                <a16:creationId xmlns:a16="http://schemas.microsoft.com/office/drawing/2014/main" id="{2C5C76C3-3797-48CD-A708-CD6BE7A313A5}"/>
              </a:ext>
            </a:extLst>
          </p:cNvPr>
          <p:cNvPicPr>
            <a:picLocks noChangeAspect="1"/>
          </p:cNvPicPr>
          <p:nvPr/>
        </p:nvPicPr>
        <p:blipFill>
          <a:blip r:embed="rId2"/>
          <a:stretch>
            <a:fillRect/>
          </a:stretch>
        </p:blipFill>
        <p:spPr>
          <a:xfrm>
            <a:off x="971867" y="3157537"/>
            <a:ext cx="8582025" cy="542925"/>
          </a:xfrm>
          <a:prstGeom prst="rect">
            <a:avLst/>
          </a:prstGeom>
        </p:spPr>
      </p:pic>
      <p:sp>
        <p:nvSpPr>
          <p:cNvPr id="7" name="TextBox 6">
            <a:extLst>
              <a:ext uri="{FF2B5EF4-FFF2-40B4-BE49-F238E27FC236}">
                <a16:creationId xmlns:a16="http://schemas.microsoft.com/office/drawing/2014/main" id="{603F8889-6D41-4949-B40C-09839CBF2CF6}"/>
              </a:ext>
            </a:extLst>
          </p:cNvPr>
          <p:cNvSpPr txBox="1"/>
          <p:nvPr/>
        </p:nvSpPr>
        <p:spPr>
          <a:xfrm>
            <a:off x="971867" y="3891656"/>
            <a:ext cx="10535920" cy="1200329"/>
          </a:xfrm>
          <a:prstGeom prst="rect">
            <a:avLst/>
          </a:prstGeom>
          <a:noFill/>
        </p:spPr>
        <p:txBody>
          <a:bodyPr wrap="square">
            <a:spAutoFit/>
          </a:bodyPr>
          <a:lstStyle/>
          <a:p>
            <a:pPr lvl="1"/>
            <a:r>
              <a:rPr lang="en-US" altLang="en-US" sz="2400" dirty="0">
                <a:latin typeface="Arial" pitchFamily="34" charset="0"/>
                <a:cs typeface="Arial" pitchFamily="34" charset="0"/>
              </a:rPr>
              <a:t>Sequential operations</a:t>
            </a:r>
          </a:p>
          <a:p>
            <a:pPr lvl="1"/>
            <a:r>
              <a:rPr lang="en-US" altLang="en-US" sz="2400" dirty="0">
                <a:latin typeface="Arial" pitchFamily="34" charset="0"/>
                <a:cs typeface="Arial" pitchFamily="34" charset="0"/>
              </a:rPr>
              <a:t>Conditional operations</a:t>
            </a:r>
          </a:p>
          <a:p>
            <a:pPr lvl="1"/>
            <a:r>
              <a:rPr lang="en-US" altLang="en-US" sz="2400" dirty="0">
                <a:latin typeface="Arial" pitchFamily="34" charset="0"/>
                <a:cs typeface="Arial" pitchFamily="34" charset="0"/>
              </a:rPr>
              <a:t>Iterative operations</a:t>
            </a:r>
            <a:endParaRPr lang="en-US" sz="2400" dirty="0"/>
          </a:p>
        </p:txBody>
      </p:sp>
    </p:spTree>
    <p:extLst>
      <p:ext uri="{BB962C8B-B14F-4D97-AF65-F5344CB8AC3E}">
        <p14:creationId xmlns:p14="http://schemas.microsoft.com/office/powerpoint/2010/main" val="2188249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1F2834-2834-4DFB-A997-5627F66509FA}"/>
              </a:ext>
            </a:extLst>
          </p:cNvPr>
          <p:cNvPicPr>
            <a:picLocks noChangeAspect="1"/>
          </p:cNvPicPr>
          <p:nvPr/>
        </p:nvPicPr>
        <p:blipFill>
          <a:blip r:embed="rId2"/>
          <a:stretch>
            <a:fillRect/>
          </a:stretch>
        </p:blipFill>
        <p:spPr>
          <a:xfrm>
            <a:off x="1715770" y="1421130"/>
            <a:ext cx="6362700" cy="723900"/>
          </a:xfrm>
          <a:prstGeom prst="rect">
            <a:avLst/>
          </a:prstGeom>
        </p:spPr>
      </p:pic>
      <p:sp>
        <p:nvSpPr>
          <p:cNvPr id="3" name="TextBox 2">
            <a:extLst>
              <a:ext uri="{FF2B5EF4-FFF2-40B4-BE49-F238E27FC236}">
                <a16:creationId xmlns:a16="http://schemas.microsoft.com/office/drawing/2014/main" id="{3EC27451-9870-4E72-8E65-751CFF2B3D11}"/>
              </a:ext>
            </a:extLst>
          </p:cNvPr>
          <p:cNvSpPr txBox="1"/>
          <p:nvPr/>
        </p:nvSpPr>
        <p:spPr>
          <a:xfrm>
            <a:off x="1198880" y="2905760"/>
            <a:ext cx="10017760" cy="2246769"/>
          </a:xfrm>
          <a:prstGeom prst="rect">
            <a:avLst/>
          </a:prstGeom>
          <a:noFill/>
        </p:spPr>
        <p:txBody>
          <a:bodyPr wrap="square" rtlCol="0">
            <a:spAutoFit/>
          </a:bodyPr>
          <a:lstStyle/>
          <a:p>
            <a:r>
              <a:rPr lang="en-US" sz="2800" dirty="0"/>
              <a:t>Pretest loop (while loop) execute the condition before the body(0 or more times loop)</a:t>
            </a:r>
            <a:r>
              <a:rPr lang="zh-CN" altLang="en-US" sz="2800" dirty="0"/>
              <a:t>先看符不符合条件，符合才执行</a:t>
            </a:r>
            <a:endParaRPr lang="en-US" sz="2800" dirty="0"/>
          </a:p>
          <a:p>
            <a:r>
              <a:rPr lang="en-US" sz="2800" dirty="0"/>
              <a:t> </a:t>
            </a:r>
          </a:p>
          <a:p>
            <a:r>
              <a:rPr lang="en-US" sz="2800" dirty="0"/>
              <a:t>Post-test loop(do while) check the condition after the body (1 or more time loop)</a:t>
            </a:r>
          </a:p>
        </p:txBody>
      </p:sp>
    </p:spTree>
    <p:extLst>
      <p:ext uri="{BB962C8B-B14F-4D97-AF65-F5344CB8AC3E}">
        <p14:creationId xmlns:p14="http://schemas.microsoft.com/office/powerpoint/2010/main" val="523240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7951DC1-134E-4B3D-B1CC-F288A406B4B7}"/>
              </a:ext>
            </a:extLst>
          </p:cNvPr>
          <p:cNvSpPr txBox="1"/>
          <p:nvPr/>
        </p:nvSpPr>
        <p:spPr>
          <a:xfrm>
            <a:off x="975360" y="2438400"/>
            <a:ext cx="10383520" cy="3170099"/>
          </a:xfrm>
          <a:prstGeom prst="rect">
            <a:avLst/>
          </a:prstGeom>
          <a:noFill/>
        </p:spPr>
        <p:txBody>
          <a:bodyPr wrap="square" rtlCol="0">
            <a:spAutoFit/>
          </a:bodyPr>
          <a:lstStyle/>
          <a:p>
            <a:pPr marL="285750" indent="-285750">
              <a:buFont typeface="Arial" panose="020B0604020202020204" pitchFamily="34" charset="0"/>
              <a:buChar char="•"/>
            </a:pPr>
            <a:r>
              <a:rPr lang="en-US" sz="4000" dirty="0"/>
              <a:t>Formalize all of Mathematics </a:t>
            </a:r>
            <a:r>
              <a:rPr lang="zh-CN" altLang="en-US" sz="4000" dirty="0"/>
              <a:t>（格式化所有数学公式）</a:t>
            </a:r>
            <a:endParaRPr lang="en-US" sz="4000" dirty="0"/>
          </a:p>
          <a:p>
            <a:pPr marL="285750" indent="-285750">
              <a:buFont typeface="Arial" panose="020B0604020202020204" pitchFamily="34" charset="0"/>
              <a:buChar char="•"/>
            </a:pPr>
            <a:r>
              <a:rPr lang="en-US" sz="4000" dirty="0"/>
              <a:t>23 problems</a:t>
            </a:r>
          </a:p>
          <a:p>
            <a:pPr marL="742950" lvl="1" indent="-285750">
              <a:buFont typeface="Wingdings" panose="05000000000000000000" pitchFamily="2" charset="2"/>
              <a:buChar char="Ø"/>
            </a:pPr>
            <a:r>
              <a:rPr lang="en-US" sz="4000" dirty="0"/>
              <a:t>When solved would be “the end of Mathematics”</a:t>
            </a:r>
            <a:r>
              <a:rPr lang="zh-CN" altLang="en-US" sz="4000" dirty="0"/>
              <a:t> 解决时将是“数学的终结”</a:t>
            </a:r>
            <a:endParaRPr lang="en-US" sz="4000" dirty="0"/>
          </a:p>
        </p:txBody>
      </p:sp>
    </p:spTree>
    <p:extLst>
      <p:ext uri="{BB962C8B-B14F-4D97-AF65-F5344CB8AC3E}">
        <p14:creationId xmlns:p14="http://schemas.microsoft.com/office/powerpoint/2010/main" val="3257711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FD8613B-A035-428E-A0A1-D557CD604554}"/>
              </a:ext>
            </a:extLst>
          </p:cNvPr>
          <p:cNvPicPr>
            <a:picLocks noChangeAspect="1"/>
          </p:cNvPicPr>
          <p:nvPr/>
        </p:nvPicPr>
        <p:blipFill>
          <a:blip r:embed="rId2"/>
          <a:stretch>
            <a:fillRect/>
          </a:stretch>
        </p:blipFill>
        <p:spPr>
          <a:xfrm>
            <a:off x="1457325" y="490537"/>
            <a:ext cx="9277350" cy="5876925"/>
          </a:xfrm>
          <a:prstGeom prst="rect">
            <a:avLst/>
          </a:prstGeom>
        </p:spPr>
      </p:pic>
      <p:sp>
        <p:nvSpPr>
          <p:cNvPr id="3" name="TextBox 2">
            <a:extLst>
              <a:ext uri="{FF2B5EF4-FFF2-40B4-BE49-F238E27FC236}">
                <a16:creationId xmlns:a16="http://schemas.microsoft.com/office/drawing/2014/main" id="{618DD091-B2BA-4A3F-AF3C-CDCBC3097D53}"/>
              </a:ext>
            </a:extLst>
          </p:cNvPr>
          <p:cNvSpPr txBox="1"/>
          <p:nvPr/>
        </p:nvSpPr>
        <p:spPr>
          <a:xfrm>
            <a:off x="6782435" y="490537"/>
            <a:ext cx="4124960" cy="369332"/>
          </a:xfrm>
          <a:prstGeom prst="rect">
            <a:avLst/>
          </a:prstGeom>
          <a:noFill/>
        </p:spPr>
        <p:txBody>
          <a:bodyPr wrap="square" rtlCol="0">
            <a:spAutoFit/>
          </a:bodyPr>
          <a:lstStyle/>
          <a:p>
            <a:r>
              <a:rPr lang="zh-CN" altLang="en-US" dirty="0"/>
              <a:t>不完全性定理</a:t>
            </a:r>
            <a:endParaRPr lang="en-US" dirty="0"/>
          </a:p>
        </p:txBody>
      </p:sp>
      <p:sp>
        <p:nvSpPr>
          <p:cNvPr id="4" name="TextBox 3">
            <a:extLst>
              <a:ext uri="{FF2B5EF4-FFF2-40B4-BE49-F238E27FC236}">
                <a16:creationId xmlns:a16="http://schemas.microsoft.com/office/drawing/2014/main" id="{6CB70FCC-968C-4F05-8A86-D5E1C9FBF36B}"/>
              </a:ext>
            </a:extLst>
          </p:cNvPr>
          <p:cNvSpPr txBox="1"/>
          <p:nvPr/>
        </p:nvSpPr>
        <p:spPr>
          <a:xfrm>
            <a:off x="10779760" y="782320"/>
            <a:ext cx="2824480" cy="369332"/>
          </a:xfrm>
          <a:prstGeom prst="rect">
            <a:avLst/>
          </a:prstGeom>
          <a:noFill/>
        </p:spPr>
        <p:txBody>
          <a:bodyPr wrap="square" rtlCol="0">
            <a:spAutoFit/>
          </a:bodyPr>
          <a:lstStyle/>
          <a:p>
            <a:r>
              <a:rPr lang="zh-CN" altLang="en-US" dirty="0"/>
              <a:t>无法解决那</a:t>
            </a:r>
            <a:r>
              <a:rPr lang="en-US" altLang="zh-CN" dirty="0"/>
              <a:t>23 </a:t>
            </a:r>
            <a:r>
              <a:rPr lang="zh-CN" altLang="en-US" dirty="0"/>
              <a:t>个问题</a:t>
            </a:r>
            <a:endParaRPr lang="en-US" dirty="0"/>
          </a:p>
        </p:txBody>
      </p:sp>
      <p:sp>
        <p:nvSpPr>
          <p:cNvPr id="5" name="TextBox 4">
            <a:extLst>
              <a:ext uri="{FF2B5EF4-FFF2-40B4-BE49-F238E27FC236}">
                <a16:creationId xmlns:a16="http://schemas.microsoft.com/office/drawing/2014/main" id="{2E35088A-A942-4C34-80DE-1F5AF73CB667}"/>
              </a:ext>
            </a:extLst>
          </p:cNvPr>
          <p:cNvSpPr txBox="1"/>
          <p:nvPr/>
        </p:nvSpPr>
        <p:spPr>
          <a:xfrm>
            <a:off x="-497840" y="2204720"/>
            <a:ext cx="2214880" cy="1200329"/>
          </a:xfrm>
          <a:prstGeom prst="rect">
            <a:avLst/>
          </a:prstGeom>
          <a:noFill/>
        </p:spPr>
        <p:txBody>
          <a:bodyPr wrap="square" rtlCol="0">
            <a:spAutoFit/>
          </a:bodyPr>
          <a:lstStyle/>
          <a:p>
            <a:r>
              <a:rPr lang="zh-CN" altLang="en-US" dirty="0"/>
              <a:t>没有可以用算法列出定理的一致公理系统能够证明关于自然数的所有真相。</a:t>
            </a:r>
            <a:endParaRPr lang="en-US" dirty="0"/>
          </a:p>
        </p:txBody>
      </p:sp>
      <p:sp>
        <p:nvSpPr>
          <p:cNvPr id="6" name="TextBox 5">
            <a:extLst>
              <a:ext uri="{FF2B5EF4-FFF2-40B4-BE49-F238E27FC236}">
                <a16:creationId xmlns:a16="http://schemas.microsoft.com/office/drawing/2014/main" id="{EE3056DC-8B3E-4160-88D1-4B411E4F6BB4}"/>
              </a:ext>
            </a:extLst>
          </p:cNvPr>
          <p:cNvSpPr txBox="1"/>
          <p:nvPr/>
        </p:nvSpPr>
        <p:spPr>
          <a:xfrm>
            <a:off x="-894080" y="4866640"/>
            <a:ext cx="2611120" cy="1200329"/>
          </a:xfrm>
          <a:prstGeom prst="rect">
            <a:avLst/>
          </a:prstGeom>
          <a:noFill/>
        </p:spPr>
        <p:txBody>
          <a:bodyPr wrap="square" rtlCol="0">
            <a:spAutoFit/>
          </a:bodyPr>
          <a:lstStyle/>
          <a:p>
            <a:r>
              <a:rPr lang="zh-CN" altLang="en-US" dirty="0"/>
              <a:t>对于任何这样的系统，总会有关与自然数的陈述，陈述是正确的，但在系统内无法证明</a:t>
            </a:r>
            <a:endParaRPr lang="en-US" dirty="0"/>
          </a:p>
        </p:txBody>
      </p:sp>
      <p:sp>
        <p:nvSpPr>
          <p:cNvPr id="8" name="TextBox 7">
            <a:extLst>
              <a:ext uri="{FF2B5EF4-FFF2-40B4-BE49-F238E27FC236}">
                <a16:creationId xmlns:a16="http://schemas.microsoft.com/office/drawing/2014/main" id="{904478D3-54B4-4D1D-8CC5-87C3060E9FCB}"/>
              </a:ext>
            </a:extLst>
          </p:cNvPr>
          <p:cNvSpPr txBox="1"/>
          <p:nvPr/>
        </p:nvSpPr>
        <p:spPr>
          <a:xfrm>
            <a:off x="9966960" y="5097472"/>
            <a:ext cx="2225040" cy="369332"/>
          </a:xfrm>
          <a:prstGeom prst="rect">
            <a:avLst/>
          </a:prstGeom>
          <a:noFill/>
        </p:spPr>
        <p:txBody>
          <a:bodyPr wrap="square">
            <a:spAutoFit/>
          </a:bodyPr>
          <a:lstStyle/>
          <a:p>
            <a:r>
              <a:rPr lang="en-US" b="0" i="0" dirty="0">
                <a:effectLst/>
                <a:latin typeface="arial" panose="020B0604020202020204" pitchFamily="34" charset="0"/>
              </a:rPr>
              <a:t>(Kurt Gödel)</a:t>
            </a:r>
            <a:endParaRPr lang="en-US" dirty="0"/>
          </a:p>
        </p:txBody>
      </p:sp>
    </p:spTree>
    <p:extLst>
      <p:ext uri="{BB962C8B-B14F-4D97-AF65-F5344CB8AC3E}">
        <p14:creationId xmlns:p14="http://schemas.microsoft.com/office/powerpoint/2010/main" val="236467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2F7A267-5D6A-4744-8C1B-F7844E211C4C}"/>
              </a:ext>
            </a:extLst>
          </p:cNvPr>
          <p:cNvPicPr>
            <a:picLocks noChangeAspect="1"/>
          </p:cNvPicPr>
          <p:nvPr/>
        </p:nvPicPr>
        <p:blipFill>
          <a:blip r:embed="rId2"/>
          <a:stretch>
            <a:fillRect/>
          </a:stretch>
        </p:blipFill>
        <p:spPr>
          <a:xfrm>
            <a:off x="1358080" y="0"/>
            <a:ext cx="9475839" cy="6858000"/>
          </a:xfrm>
          <a:prstGeom prst="rect">
            <a:avLst/>
          </a:prstGeom>
        </p:spPr>
      </p:pic>
      <p:sp>
        <p:nvSpPr>
          <p:cNvPr id="3" name="TextBox 2">
            <a:extLst>
              <a:ext uri="{FF2B5EF4-FFF2-40B4-BE49-F238E27FC236}">
                <a16:creationId xmlns:a16="http://schemas.microsoft.com/office/drawing/2014/main" id="{A9F1CF43-C8D1-4B32-BCB5-C510C11408B3}"/>
              </a:ext>
            </a:extLst>
          </p:cNvPr>
          <p:cNvSpPr txBox="1"/>
          <p:nvPr/>
        </p:nvSpPr>
        <p:spPr>
          <a:xfrm>
            <a:off x="4754880" y="121920"/>
            <a:ext cx="1137920" cy="369332"/>
          </a:xfrm>
          <a:prstGeom prst="rect">
            <a:avLst/>
          </a:prstGeom>
          <a:noFill/>
        </p:spPr>
        <p:txBody>
          <a:bodyPr wrap="square" rtlCol="0">
            <a:spAutoFit/>
          </a:bodyPr>
          <a:lstStyle/>
          <a:p>
            <a:r>
              <a:rPr lang="zh-CN" altLang="en-US" dirty="0"/>
              <a:t>暂停</a:t>
            </a:r>
            <a:endParaRPr lang="en-US" dirty="0"/>
          </a:p>
        </p:txBody>
      </p:sp>
      <p:sp>
        <p:nvSpPr>
          <p:cNvPr id="4" name="TextBox 3">
            <a:extLst>
              <a:ext uri="{FF2B5EF4-FFF2-40B4-BE49-F238E27FC236}">
                <a16:creationId xmlns:a16="http://schemas.microsoft.com/office/drawing/2014/main" id="{2B0EA08E-2A1A-4580-9960-7CFAB7F8BE17}"/>
              </a:ext>
            </a:extLst>
          </p:cNvPr>
          <p:cNvSpPr txBox="1"/>
          <p:nvPr/>
        </p:nvSpPr>
        <p:spPr>
          <a:xfrm>
            <a:off x="7315200" y="1229360"/>
            <a:ext cx="1534160" cy="369332"/>
          </a:xfrm>
          <a:prstGeom prst="rect">
            <a:avLst/>
          </a:prstGeom>
          <a:noFill/>
        </p:spPr>
        <p:txBody>
          <a:bodyPr wrap="square" rtlCol="0">
            <a:spAutoFit/>
          </a:bodyPr>
          <a:lstStyle/>
          <a:p>
            <a:r>
              <a:rPr lang="zh-CN" altLang="en-US" dirty="0"/>
              <a:t>任意</a:t>
            </a:r>
            <a:endParaRPr lang="en-US" dirty="0"/>
          </a:p>
        </p:txBody>
      </p:sp>
      <p:sp>
        <p:nvSpPr>
          <p:cNvPr id="5" name="TextBox 4">
            <a:extLst>
              <a:ext uri="{FF2B5EF4-FFF2-40B4-BE49-F238E27FC236}">
                <a16:creationId xmlns:a16="http://schemas.microsoft.com/office/drawing/2014/main" id="{6319288D-8F96-47B8-BF18-5947FC5B3F88}"/>
              </a:ext>
            </a:extLst>
          </p:cNvPr>
          <p:cNvSpPr txBox="1"/>
          <p:nvPr/>
        </p:nvSpPr>
        <p:spPr>
          <a:xfrm>
            <a:off x="213360" y="3429000"/>
            <a:ext cx="1595120" cy="923330"/>
          </a:xfrm>
          <a:prstGeom prst="rect">
            <a:avLst/>
          </a:prstGeom>
          <a:noFill/>
        </p:spPr>
        <p:txBody>
          <a:bodyPr wrap="square" rtlCol="0">
            <a:spAutoFit/>
          </a:bodyPr>
          <a:lstStyle/>
          <a:p>
            <a:r>
              <a:rPr lang="en-US" altLang="zh-CN" dirty="0"/>
              <a:t>Turing </a:t>
            </a:r>
            <a:r>
              <a:rPr lang="zh-CN" altLang="en-US" dirty="0"/>
              <a:t>机的算法和计算的形式化概念</a:t>
            </a:r>
            <a:endParaRPr lang="en-US" dirty="0"/>
          </a:p>
        </p:txBody>
      </p:sp>
      <p:sp>
        <p:nvSpPr>
          <p:cNvPr id="6" name="TextBox 5">
            <a:extLst>
              <a:ext uri="{FF2B5EF4-FFF2-40B4-BE49-F238E27FC236}">
                <a16:creationId xmlns:a16="http://schemas.microsoft.com/office/drawing/2014/main" id="{B41A7293-8397-4FC3-8900-0A3D48B4B80E}"/>
              </a:ext>
            </a:extLst>
          </p:cNvPr>
          <p:cNvSpPr txBox="1"/>
          <p:nvPr/>
        </p:nvSpPr>
        <p:spPr>
          <a:xfrm>
            <a:off x="213360" y="5130800"/>
            <a:ext cx="1391920" cy="646331"/>
          </a:xfrm>
          <a:prstGeom prst="rect">
            <a:avLst/>
          </a:prstGeom>
          <a:noFill/>
        </p:spPr>
        <p:txBody>
          <a:bodyPr wrap="square" rtlCol="0">
            <a:spAutoFit/>
          </a:bodyPr>
          <a:lstStyle/>
          <a:p>
            <a:r>
              <a:rPr lang="zh-CN" altLang="en-US" dirty="0"/>
              <a:t>停止问题无法被确定</a:t>
            </a:r>
            <a:endParaRPr lang="en-US" dirty="0"/>
          </a:p>
        </p:txBody>
      </p:sp>
      <p:sp>
        <p:nvSpPr>
          <p:cNvPr id="7" name="TextBox 6">
            <a:extLst>
              <a:ext uri="{FF2B5EF4-FFF2-40B4-BE49-F238E27FC236}">
                <a16:creationId xmlns:a16="http://schemas.microsoft.com/office/drawing/2014/main" id="{17E87589-D583-475C-8D9D-C1A3A8187FCC}"/>
              </a:ext>
            </a:extLst>
          </p:cNvPr>
          <p:cNvSpPr txBox="1"/>
          <p:nvPr/>
        </p:nvSpPr>
        <p:spPr>
          <a:xfrm>
            <a:off x="10728960" y="6228080"/>
            <a:ext cx="1757680" cy="369332"/>
          </a:xfrm>
          <a:prstGeom prst="rect">
            <a:avLst/>
          </a:prstGeom>
          <a:noFill/>
        </p:spPr>
        <p:txBody>
          <a:bodyPr wrap="square" rtlCol="0">
            <a:spAutoFit/>
          </a:bodyPr>
          <a:lstStyle/>
          <a:p>
            <a:r>
              <a:rPr lang="en-US" b="0" i="0" dirty="0">
                <a:effectLst/>
                <a:latin typeface="arial" panose="020B0604020202020204" pitchFamily="34" charset="0"/>
              </a:rPr>
              <a:t> (Alan Turing)</a:t>
            </a:r>
            <a:endParaRPr lang="en-US" dirty="0"/>
          </a:p>
        </p:txBody>
      </p:sp>
      <p:sp>
        <p:nvSpPr>
          <p:cNvPr id="8" name="TextBox 7">
            <a:extLst>
              <a:ext uri="{FF2B5EF4-FFF2-40B4-BE49-F238E27FC236}">
                <a16:creationId xmlns:a16="http://schemas.microsoft.com/office/drawing/2014/main" id="{D071970C-40B6-49AE-A61F-A02096DA67EA}"/>
              </a:ext>
            </a:extLst>
          </p:cNvPr>
          <p:cNvSpPr txBox="1"/>
          <p:nvPr/>
        </p:nvSpPr>
        <p:spPr>
          <a:xfrm>
            <a:off x="11107419" y="536863"/>
            <a:ext cx="2758441" cy="1754326"/>
          </a:xfrm>
          <a:prstGeom prst="rect">
            <a:avLst/>
          </a:prstGeom>
          <a:noFill/>
        </p:spPr>
        <p:txBody>
          <a:bodyPr wrap="square" rtlCol="0">
            <a:spAutoFit/>
          </a:bodyPr>
          <a:lstStyle/>
          <a:p>
            <a:r>
              <a:rPr lang="en-US" altLang="zh-CN" dirty="0"/>
              <a:t>Turing:</a:t>
            </a:r>
          </a:p>
          <a:p>
            <a:r>
              <a:rPr lang="en-US" dirty="0"/>
              <a:t>The highest prize in computer science industry association for computing machinery.</a:t>
            </a:r>
            <a:r>
              <a:rPr lang="zh-CN" altLang="en-US" dirty="0"/>
              <a:t>计算机科学工业协会</a:t>
            </a:r>
            <a:r>
              <a:rPr lang="en-US" altLang="zh-CN" dirty="0"/>
              <a:t>CS</a:t>
            </a:r>
            <a:r>
              <a:rPr lang="zh-CN" altLang="en-US" dirty="0"/>
              <a:t>最高奖</a:t>
            </a:r>
            <a:r>
              <a:rPr lang="en-US" dirty="0"/>
              <a:t> </a:t>
            </a:r>
          </a:p>
        </p:txBody>
      </p:sp>
    </p:spTree>
    <p:extLst>
      <p:ext uri="{BB962C8B-B14F-4D97-AF65-F5344CB8AC3E}">
        <p14:creationId xmlns:p14="http://schemas.microsoft.com/office/powerpoint/2010/main" val="3841628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458792-8384-4B82-BC77-6768E719FEAF}"/>
              </a:ext>
            </a:extLst>
          </p:cNvPr>
          <p:cNvPicPr>
            <a:picLocks noChangeAspect="1"/>
          </p:cNvPicPr>
          <p:nvPr/>
        </p:nvPicPr>
        <p:blipFill>
          <a:blip r:embed="rId2"/>
          <a:stretch>
            <a:fillRect/>
          </a:stretch>
        </p:blipFill>
        <p:spPr>
          <a:xfrm>
            <a:off x="1209675" y="200025"/>
            <a:ext cx="9772650" cy="6457950"/>
          </a:xfrm>
          <a:prstGeom prst="rect">
            <a:avLst/>
          </a:prstGeom>
        </p:spPr>
      </p:pic>
      <p:sp>
        <p:nvSpPr>
          <p:cNvPr id="3" name="TextBox 2">
            <a:extLst>
              <a:ext uri="{FF2B5EF4-FFF2-40B4-BE49-F238E27FC236}">
                <a16:creationId xmlns:a16="http://schemas.microsoft.com/office/drawing/2014/main" id="{A532B1F9-C3D3-4C9F-9066-FB5B19800876}"/>
              </a:ext>
            </a:extLst>
          </p:cNvPr>
          <p:cNvSpPr txBox="1"/>
          <p:nvPr/>
        </p:nvSpPr>
        <p:spPr>
          <a:xfrm>
            <a:off x="4348480" y="3332480"/>
            <a:ext cx="2600960" cy="369332"/>
          </a:xfrm>
          <a:prstGeom prst="rect">
            <a:avLst/>
          </a:prstGeom>
          <a:noFill/>
        </p:spPr>
        <p:txBody>
          <a:bodyPr wrap="square" rtlCol="0">
            <a:spAutoFit/>
          </a:bodyPr>
          <a:lstStyle/>
          <a:p>
            <a:r>
              <a:rPr lang="en-US" dirty="0"/>
              <a:t>Turing </a:t>
            </a:r>
            <a:r>
              <a:rPr lang="zh-CN" altLang="en-US" dirty="0"/>
              <a:t>博士论文的导师</a:t>
            </a:r>
            <a:endParaRPr lang="en-US" dirty="0"/>
          </a:p>
        </p:txBody>
      </p:sp>
      <p:sp>
        <p:nvSpPr>
          <p:cNvPr id="4" name="TextBox 3">
            <a:extLst>
              <a:ext uri="{FF2B5EF4-FFF2-40B4-BE49-F238E27FC236}">
                <a16:creationId xmlns:a16="http://schemas.microsoft.com/office/drawing/2014/main" id="{4FC2B514-6D97-44D5-97DF-5C58770C49EF}"/>
              </a:ext>
            </a:extLst>
          </p:cNvPr>
          <p:cNvSpPr txBox="1"/>
          <p:nvPr/>
        </p:nvSpPr>
        <p:spPr>
          <a:xfrm>
            <a:off x="5821680" y="4206240"/>
            <a:ext cx="2509520" cy="369332"/>
          </a:xfrm>
          <a:prstGeom prst="rect">
            <a:avLst/>
          </a:prstGeom>
          <a:noFill/>
        </p:spPr>
        <p:txBody>
          <a:bodyPr wrap="square" rtlCol="0">
            <a:spAutoFit/>
          </a:bodyPr>
          <a:lstStyle/>
          <a:p>
            <a:r>
              <a:rPr lang="en-US" altLang="zh-CN" dirty="0"/>
              <a:t>Church</a:t>
            </a:r>
            <a:r>
              <a:rPr lang="zh-CN" altLang="en-US" dirty="0"/>
              <a:t>和</a:t>
            </a:r>
            <a:r>
              <a:rPr lang="en-US" altLang="zh-CN" dirty="0"/>
              <a:t>Turing</a:t>
            </a:r>
            <a:r>
              <a:rPr lang="zh-CN" altLang="en-US" dirty="0"/>
              <a:t>的论文</a:t>
            </a:r>
            <a:endParaRPr lang="en-US" dirty="0"/>
          </a:p>
        </p:txBody>
      </p:sp>
      <p:sp>
        <p:nvSpPr>
          <p:cNvPr id="5" name="TextBox 4">
            <a:extLst>
              <a:ext uri="{FF2B5EF4-FFF2-40B4-BE49-F238E27FC236}">
                <a16:creationId xmlns:a16="http://schemas.microsoft.com/office/drawing/2014/main" id="{95541D46-3189-432C-814C-2D69B1A9F01B}"/>
              </a:ext>
            </a:extLst>
          </p:cNvPr>
          <p:cNvSpPr txBox="1"/>
          <p:nvPr/>
        </p:nvSpPr>
        <p:spPr>
          <a:xfrm>
            <a:off x="9123680" y="4826000"/>
            <a:ext cx="3921760" cy="646331"/>
          </a:xfrm>
          <a:prstGeom prst="rect">
            <a:avLst/>
          </a:prstGeom>
          <a:noFill/>
        </p:spPr>
        <p:txBody>
          <a:bodyPr wrap="square" rtlCol="0">
            <a:spAutoFit/>
          </a:bodyPr>
          <a:lstStyle/>
          <a:p>
            <a:r>
              <a:rPr lang="en-US" altLang="zh-CN" dirty="0"/>
              <a:t>Lambda</a:t>
            </a:r>
            <a:r>
              <a:rPr lang="zh-CN" altLang="en-US" dirty="0"/>
              <a:t>微积分和</a:t>
            </a:r>
            <a:r>
              <a:rPr lang="en-US" altLang="zh-CN" dirty="0"/>
              <a:t>Turing</a:t>
            </a:r>
            <a:r>
              <a:rPr lang="zh-CN" altLang="en-US" dirty="0"/>
              <a:t>机可以计算出相同的东西。</a:t>
            </a:r>
            <a:endParaRPr lang="en-US" dirty="0"/>
          </a:p>
        </p:txBody>
      </p:sp>
      <p:sp>
        <p:nvSpPr>
          <p:cNvPr id="6" name="TextBox 5">
            <a:extLst>
              <a:ext uri="{FF2B5EF4-FFF2-40B4-BE49-F238E27FC236}">
                <a16:creationId xmlns:a16="http://schemas.microsoft.com/office/drawing/2014/main" id="{C4A2A43B-3769-4375-9C4F-5A06B3D5457E}"/>
              </a:ext>
            </a:extLst>
          </p:cNvPr>
          <p:cNvSpPr txBox="1"/>
          <p:nvPr/>
        </p:nvSpPr>
        <p:spPr>
          <a:xfrm>
            <a:off x="10637520" y="5892800"/>
            <a:ext cx="2184400" cy="923330"/>
          </a:xfrm>
          <a:prstGeom prst="rect">
            <a:avLst/>
          </a:prstGeom>
          <a:noFill/>
        </p:spPr>
        <p:txBody>
          <a:bodyPr wrap="square" rtlCol="0">
            <a:spAutoFit/>
          </a:bodyPr>
          <a:lstStyle/>
          <a:p>
            <a:r>
              <a:rPr lang="zh-CN" altLang="en-US" dirty="0"/>
              <a:t>函数只能在由</a:t>
            </a:r>
            <a:r>
              <a:rPr lang="en-US" altLang="zh-CN" dirty="0"/>
              <a:t>Turing</a:t>
            </a:r>
            <a:r>
              <a:rPr lang="zh-CN" altLang="en-US" dirty="0"/>
              <a:t>机计算时才可以通过算法计算</a:t>
            </a:r>
            <a:endParaRPr lang="en-US" dirty="0"/>
          </a:p>
        </p:txBody>
      </p:sp>
      <p:sp>
        <p:nvSpPr>
          <p:cNvPr id="7" name="TextBox 6">
            <a:extLst>
              <a:ext uri="{FF2B5EF4-FFF2-40B4-BE49-F238E27FC236}">
                <a16:creationId xmlns:a16="http://schemas.microsoft.com/office/drawing/2014/main" id="{37DA3569-E74B-4018-B6C0-EA289268DFE5}"/>
              </a:ext>
            </a:extLst>
          </p:cNvPr>
          <p:cNvSpPr txBox="1"/>
          <p:nvPr/>
        </p:nvSpPr>
        <p:spPr>
          <a:xfrm>
            <a:off x="-955040" y="4927600"/>
            <a:ext cx="2804160" cy="1200329"/>
          </a:xfrm>
          <a:prstGeom prst="rect">
            <a:avLst/>
          </a:prstGeom>
          <a:noFill/>
        </p:spPr>
        <p:txBody>
          <a:bodyPr wrap="square" rtlCol="0">
            <a:spAutoFit/>
          </a:bodyPr>
          <a:lstStyle/>
          <a:p>
            <a:r>
              <a:rPr lang="zh-CN" altLang="en-US" dirty="0"/>
              <a:t>这不是第一个正式定义算法的人</a:t>
            </a:r>
            <a:endParaRPr lang="en-US" altLang="zh-CN" dirty="0"/>
          </a:p>
          <a:p>
            <a:r>
              <a:rPr lang="zh-CN" altLang="en-US" dirty="0"/>
              <a:t>最早的算法在</a:t>
            </a:r>
            <a:r>
              <a:rPr lang="en-US" altLang="zh-CN" dirty="0"/>
              <a:t>7</a:t>
            </a:r>
            <a:r>
              <a:rPr lang="zh-CN" altLang="en-US" dirty="0"/>
              <a:t>，</a:t>
            </a:r>
            <a:r>
              <a:rPr lang="en-US" altLang="zh-CN" dirty="0"/>
              <a:t>8 </a:t>
            </a:r>
            <a:r>
              <a:rPr lang="zh-CN" altLang="en-US" dirty="0"/>
              <a:t>世纪“</a:t>
            </a:r>
            <a:r>
              <a:rPr lang="en-US" altLang="zh-CN" dirty="0"/>
              <a:t>Euclid</a:t>
            </a:r>
            <a:endParaRPr lang="en-US" dirty="0"/>
          </a:p>
        </p:txBody>
      </p:sp>
    </p:spTree>
    <p:extLst>
      <p:ext uri="{BB962C8B-B14F-4D97-AF65-F5344CB8AC3E}">
        <p14:creationId xmlns:p14="http://schemas.microsoft.com/office/powerpoint/2010/main" val="1934248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8633AF-0862-4FD8-91A4-29B9763780BC}"/>
              </a:ext>
            </a:extLst>
          </p:cNvPr>
          <p:cNvPicPr>
            <a:picLocks noChangeAspect="1"/>
          </p:cNvPicPr>
          <p:nvPr/>
        </p:nvPicPr>
        <p:blipFill>
          <a:blip r:embed="rId2"/>
          <a:stretch>
            <a:fillRect/>
          </a:stretch>
        </p:blipFill>
        <p:spPr>
          <a:xfrm>
            <a:off x="428307" y="454977"/>
            <a:ext cx="5533239" cy="3619183"/>
          </a:xfrm>
          <a:prstGeom prst="rect">
            <a:avLst/>
          </a:prstGeom>
        </p:spPr>
      </p:pic>
      <p:sp>
        <p:nvSpPr>
          <p:cNvPr id="3" name="TextBox 2">
            <a:extLst>
              <a:ext uri="{FF2B5EF4-FFF2-40B4-BE49-F238E27FC236}">
                <a16:creationId xmlns:a16="http://schemas.microsoft.com/office/drawing/2014/main" id="{9CFCA378-FD86-42F4-8883-6621093EF42C}"/>
              </a:ext>
            </a:extLst>
          </p:cNvPr>
          <p:cNvSpPr txBox="1"/>
          <p:nvPr/>
        </p:nvSpPr>
        <p:spPr>
          <a:xfrm>
            <a:off x="6847840" y="1534160"/>
            <a:ext cx="4206240" cy="646331"/>
          </a:xfrm>
          <a:prstGeom prst="rect">
            <a:avLst/>
          </a:prstGeom>
          <a:noFill/>
        </p:spPr>
        <p:txBody>
          <a:bodyPr wrap="square" rtlCol="0">
            <a:spAutoFit/>
          </a:bodyPr>
          <a:lstStyle/>
          <a:p>
            <a:r>
              <a:rPr lang="en-US" altLang="zh-CN" dirty="0"/>
              <a:t>GUI</a:t>
            </a:r>
            <a:r>
              <a:rPr lang="zh-CN" altLang="en-US" dirty="0"/>
              <a:t>：</a:t>
            </a:r>
            <a:r>
              <a:rPr lang="en-US" altLang="zh-CN" dirty="0"/>
              <a:t>Graphical User interface</a:t>
            </a:r>
            <a:r>
              <a:rPr lang="zh-CN" altLang="en-US" dirty="0"/>
              <a:t>（图形用户界面）</a:t>
            </a:r>
            <a:endParaRPr lang="en-US" dirty="0"/>
          </a:p>
        </p:txBody>
      </p:sp>
      <p:sp>
        <p:nvSpPr>
          <p:cNvPr id="4" name="TextBox 3">
            <a:extLst>
              <a:ext uri="{FF2B5EF4-FFF2-40B4-BE49-F238E27FC236}">
                <a16:creationId xmlns:a16="http://schemas.microsoft.com/office/drawing/2014/main" id="{91BAA34C-3FFC-45B9-A85D-15DF846B8ED1}"/>
              </a:ext>
            </a:extLst>
          </p:cNvPr>
          <p:cNvSpPr txBox="1"/>
          <p:nvPr/>
        </p:nvSpPr>
        <p:spPr>
          <a:xfrm>
            <a:off x="6847840" y="2264568"/>
            <a:ext cx="5191760" cy="1015663"/>
          </a:xfrm>
          <a:prstGeom prst="rect">
            <a:avLst/>
          </a:prstGeom>
          <a:noFill/>
        </p:spPr>
        <p:txBody>
          <a:bodyPr wrap="square" rtlCol="0">
            <a:spAutoFit/>
          </a:bodyPr>
          <a:lstStyle/>
          <a:p>
            <a:r>
              <a:rPr lang="en-US" altLang="zh-CN" sz="2000" dirty="0" err="1"/>
              <a:t>WIMPy</a:t>
            </a:r>
            <a:r>
              <a:rPr lang="zh-CN" altLang="en-US" sz="2000" dirty="0"/>
              <a:t>：电脑互动界面：</a:t>
            </a:r>
            <a:endParaRPr lang="en-US" altLang="zh-CN" sz="2000" dirty="0"/>
          </a:p>
          <a:p>
            <a:r>
              <a:rPr lang="en-US" altLang="zh-CN" sz="2000" dirty="0" err="1"/>
              <a:t>Commom</a:t>
            </a:r>
            <a:r>
              <a:rPr lang="en-US" altLang="zh-CN" sz="2000" dirty="0"/>
              <a:t> components(</a:t>
            </a:r>
            <a:r>
              <a:rPr lang="zh-CN" altLang="en-US" sz="2000" dirty="0"/>
              <a:t>成分）</a:t>
            </a:r>
            <a:r>
              <a:rPr lang="en-US" altLang="zh-CN" sz="2000" dirty="0"/>
              <a:t>GUIs:   windows</a:t>
            </a:r>
            <a:r>
              <a:rPr lang="zh-CN" altLang="en-US" sz="2000" dirty="0"/>
              <a:t>，</a:t>
            </a:r>
            <a:r>
              <a:rPr lang="en-US" altLang="zh-CN" sz="2000" dirty="0"/>
              <a:t>icons</a:t>
            </a:r>
            <a:r>
              <a:rPr lang="zh-CN" altLang="en-US" sz="2000" dirty="0"/>
              <a:t>，</a:t>
            </a:r>
            <a:r>
              <a:rPr lang="en-US" altLang="zh-CN" sz="2000" dirty="0"/>
              <a:t>menus</a:t>
            </a:r>
            <a:r>
              <a:rPr lang="zh-CN" altLang="en-US" sz="2000" dirty="0"/>
              <a:t>，</a:t>
            </a:r>
            <a:r>
              <a:rPr lang="en-US" altLang="zh-CN" sz="2000" dirty="0"/>
              <a:t>pointers</a:t>
            </a:r>
          </a:p>
        </p:txBody>
      </p:sp>
      <p:sp>
        <p:nvSpPr>
          <p:cNvPr id="5" name="TextBox 4">
            <a:extLst>
              <a:ext uri="{FF2B5EF4-FFF2-40B4-BE49-F238E27FC236}">
                <a16:creationId xmlns:a16="http://schemas.microsoft.com/office/drawing/2014/main" id="{6E71E099-B9BF-4E36-BDFD-E59CBDB8919F}"/>
              </a:ext>
            </a:extLst>
          </p:cNvPr>
          <p:cNvSpPr txBox="1"/>
          <p:nvPr/>
        </p:nvSpPr>
        <p:spPr>
          <a:xfrm>
            <a:off x="6847840" y="438785"/>
            <a:ext cx="2540000" cy="369332"/>
          </a:xfrm>
          <a:prstGeom prst="rect">
            <a:avLst/>
          </a:prstGeom>
          <a:noFill/>
        </p:spPr>
        <p:txBody>
          <a:bodyPr wrap="square" rtlCol="0">
            <a:spAutoFit/>
          </a:bodyPr>
          <a:lstStyle/>
          <a:p>
            <a:r>
              <a:rPr lang="en-US" dirty="0"/>
              <a:t>Modern desktop system</a:t>
            </a:r>
          </a:p>
        </p:txBody>
      </p:sp>
      <p:sp>
        <p:nvSpPr>
          <p:cNvPr id="6" name="TextBox 5">
            <a:extLst>
              <a:ext uri="{FF2B5EF4-FFF2-40B4-BE49-F238E27FC236}">
                <a16:creationId xmlns:a16="http://schemas.microsoft.com/office/drawing/2014/main" id="{3EAE9092-5770-4A94-86DC-9BC25B782C56}"/>
              </a:ext>
            </a:extLst>
          </p:cNvPr>
          <p:cNvSpPr txBox="1"/>
          <p:nvPr/>
        </p:nvSpPr>
        <p:spPr>
          <a:xfrm>
            <a:off x="1615440" y="4145280"/>
            <a:ext cx="4663440" cy="1477328"/>
          </a:xfrm>
          <a:prstGeom prst="rect">
            <a:avLst/>
          </a:prstGeom>
          <a:noFill/>
        </p:spPr>
        <p:txBody>
          <a:bodyPr wrap="square" rtlCol="0">
            <a:spAutoFit/>
          </a:bodyPr>
          <a:lstStyle/>
          <a:p>
            <a:pPr lvl="1" indent="-342900">
              <a:defRPr/>
            </a:pPr>
            <a:r>
              <a:rPr lang="en-US" altLang="en-US" b="1" dirty="0">
                <a:solidFill>
                  <a:srgbClr val="FF0000"/>
                </a:solidFill>
                <a:latin typeface="Arial" pitchFamily="34" charset="0"/>
                <a:ea typeface="ＭＳ Ｐゴシック" panose="020B0600070205080204" pitchFamily="34" charset="-128"/>
                <a:cs typeface="Arial" pitchFamily="34" charset="0"/>
              </a:rPr>
              <a:t>Abstraction:</a:t>
            </a:r>
            <a:r>
              <a:rPr lang="en-US" altLang="en-US" dirty="0">
                <a:solidFill>
                  <a:srgbClr val="FF0000"/>
                </a:solidFill>
                <a:latin typeface="Arial" pitchFamily="34" charset="0"/>
                <a:ea typeface="ＭＳ Ｐゴシック" panose="020B0600070205080204" pitchFamily="34" charset="-128"/>
                <a:cs typeface="Arial" pitchFamily="34" charset="0"/>
              </a:rPr>
              <a:t> different level of detail ,focus on high level, not details</a:t>
            </a:r>
          </a:p>
          <a:p>
            <a:pPr lvl="1" indent="-342900">
              <a:defRPr/>
            </a:pPr>
            <a:r>
              <a:rPr lang="en-US" altLang="en-US" b="1" dirty="0">
                <a:solidFill>
                  <a:srgbClr val="FF0000"/>
                </a:solidFill>
                <a:latin typeface="Arial" pitchFamily="34" charset="0"/>
                <a:ea typeface="ＭＳ Ｐゴシック" panose="020B0600070205080204" pitchFamily="34" charset="-128"/>
                <a:cs typeface="Arial" pitchFamily="34" charset="0"/>
              </a:rPr>
              <a:t>Top-down design:</a:t>
            </a:r>
            <a:r>
              <a:rPr lang="en-US" altLang="en-US" dirty="0">
                <a:solidFill>
                  <a:srgbClr val="FF0000"/>
                </a:solidFill>
                <a:latin typeface="Arial" pitchFamily="34" charset="0"/>
                <a:ea typeface="ＭＳ Ｐゴシック" panose="020B0600070205080204" pitchFamily="34" charset="-128"/>
                <a:cs typeface="Arial" pitchFamily="34" charset="0"/>
              </a:rPr>
              <a:t> start with big picture, gradually elaborate parts</a:t>
            </a:r>
            <a:endParaRPr lang="en-US" altLang="en-US" b="1" dirty="0">
              <a:solidFill>
                <a:srgbClr val="FF0000"/>
              </a:solidFill>
              <a:latin typeface="Arial" pitchFamily="34" charset="0"/>
              <a:ea typeface="ＭＳ Ｐゴシック" panose="020B0600070205080204" pitchFamily="34" charset="-128"/>
              <a:cs typeface="Arial" pitchFamily="34" charset="0"/>
            </a:endParaRPr>
          </a:p>
          <a:p>
            <a:endParaRPr lang="en-US" dirty="0"/>
          </a:p>
        </p:txBody>
      </p:sp>
    </p:spTree>
    <p:extLst>
      <p:ext uri="{BB962C8B-B14F-4D97-AF65-F5344CB8AC3E}">
        <p14:creationId xmlns:p14="http://schemas.microsoft.com/office/powerpoint/2010/main" val="2514929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148F88-182E-4104-AD37-359986BF885B}"/>
              </a:ext>
            </a:extLst>
          </p:cNvPr>
          <p:cNvPicPr>
            <a:picLocks noChangeAspect="1"/>
          </p:cNvPicPr>
          <p:nvPr/>
        </p:nvPicPr>
        <p:blipFill>
          <a:blip r:embed="rId2"/>
          <a:stretch>
            <a:fillRect/>
          </a:stretch>
        </p:blipFill>
        <p:spPr>
          <a:xfrm>
            <a:off x="428307" y="454977"/>
            <a:ext cx="5533239" cy="3619183"/>
          </a:xfrm>
          <a:prstGeom prst="rect">
            <a:avLst/>
          </a:prstGeom>
        </p:spPr>
      </p:pic>
      <p:sp>
        <p:nvSpPr>
          <p:cNvPr id="4" name="TextBox 3">
            <a:extLst>
              <a:ext uri="{FF2B5EF4-FFF2-40B4-BE49-F238E27FC236}">
                <a16:creationId xmlns:a16="http://schemas.microsoft.com/office/drawing/2014/main" id="{1623DE4D-6EDB-43F2-B444-C647CCAF4CCE}"/>
              </a:ext>
            </a:extLst>
          </p:cNvPr>
          <p:cNvSpPr txBox="1"/>
          <p:nvPr/>
        </p:nvSpPr>
        <p:spPr>
          <a:xfrm>
            <a:off x="1717040" y="4206240"/>
            <a:ext cx="7467600" cy="1569660"/>
          </a:xfrm>
          <a:prstGeom prst="rect">
            <a:avLst/>
          </a:prstGeom>
          <a:noFill/>
        </p:spPr>
        <p:txBody>
          <a:bodyPr wrap="square" rtlCol="0">
            <a:spAutoFit/>
          </a:bodyPr>
          <a:lstStyle/>
          <a:p>
            <a:r>
              <a:rPr lang="en-US" sz="2400" dirty="0"/>
              <a:t>TASC(writing)</a:t>
            </a:r>
          </a:p>
          <a:p>
            <a:r>
              <a:rPr lang="en-US" sz="2400" dirty="0"/>
              <a:t>French(CLEO)</a:t>
            </a:r>
          </a:p>
          <a:p>
            <a:r>
              <a:rPr lang="en-US" sz="2400" dirty="0"/>
              <a:t>Math (Stem)</a:t>
            </a:r>
          </a:p>
          <a:p>
            <a:r>
              <a:rPr lang="en-US" sz="2400" dirty="0"/>
              <a:t>Computer course(Simpson)or Ashley Rankin  </a:t>
            </a:r>
          </a:p>
        </p:txBody>
      </p:sp>
    </p:spTree>
    <p:extLst>
      <p:ext uri="{BB962C8B-B14F-4D97-AF65-F5344CB8AC3E}">
        <p14:creationId xmlns:p14="http://schemas.microsoft.com/office/powerpoint/2010/main" val="16091087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D27CB30-3F90-4BEB-B9AC-BD55EA391734}"/>
              </a:ext>
            </a:extLst>
          </p:cNvPr>
          <p:cNvPicPr>
            <a:picLocks noChangeAspect="1"/>
          </p:cNvPicPr>
          <p:nvPr/>
        </p:nvPicPr>
        <p:blipFill>
          <a:blip r:embed="rId2"/>
          <a:stretch>
            <a:fillRect/>
          </a:stretch>
        </p:blipFill>
        <p:spPr>
          <a:xfrm>
            <a:off x="1442663" y="0"/>
            <a:ext cx="9306674" cy="6858000"/>
          </a:xfrm>
          <a:prstGeom prst="rect">
            <a:avLst/>
          </a:prstGeom>
        </p:spPr>
      </p:pic>
    </p:spTree>
    <p:extLst>
      <p:ext uri="{BB962C8B-B14F-4D97-AF65-F5344CB8AC3E}">
        <p14:creationId xmlns:p14="http://schemas.microsoft.com/office/powerpoint/2010/main" val="255587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891AE0-734C-4A4A-9AB9-5ADFE113B85C}"/>
              </a:ext>
            </a:extLst>
          </p:cNvPr>
          <p:cNvSpPr txBox="1"/>
          <p:nvPr/>
        </p:nvSpPr>
        <p:spPr>
          <a:xfrm>
            <a:off x="1686560" y="1076960"/>
            <a:ext cx="8930640" cy="3970318"/>
          </a:xfrm>
          <a:prstGeom prst="rect">
            <a:avLst/>
          </a:prstGeom>
          <a:noFill/>
        </p:spPr>
        <p:txBody>
          <a:bodyPr wrap="square" rtlCol="0">
            <a:spAutoFit/>
          </a:bodyPr>
          <a:lstStyle/>
          <a:p>
            <a:r>
              <a:rPr lang="en-US" sz="2800" dirty="0"/>
              <a:t>Charles Baggage:</a:t>
            </a:r>
          </a:p>
          <a:p>
            <a:r>
              <a:rPr lang="en-US" altLang="en-US" sz="2800" dirty="0">
                <a:latin typeface="Arial" pitchFamily="34" charset="0"/>
                <a:cs typeface="Arial" pitchFamily="34" charset="0"/>
              </a:rPr>
              <a:t>Difference Engine designed and built in 1823</a:t>
            </a:r>
          </a:p>
          <a:p>
            <a:r>
              <a:rPr lang="en-US" altLang="en-US" sz="2800" dirty="0">
                <a:latin typeface="Arial" pitchFamily="34" charset="0"/>
                <a:cs typeface="Arial" pitchFamily="34" charset="0"/>
              </a:rPr>
              <a:t>Analytical Engine: </a:t>
            </a:r>
            <a:r>
              <a:rPr lang="en-US" altLang="en-US" sz="2800" dirty="0">
                <a:solidFill>
                  <a:srgbClr val="FF0000"/>
                </a:solidFill>
                <a:latin typeface="Arial" pitchFamily="34" charset="0"/>
                <a:cs typeface="Arial" pitchFamily="34" charset="0"/>
              </a:rPr>
              <a:t>Designed but never built</a:t>
            </a:r>
          </a:p>
          <a:p>
            <a:r>
              <a:rPr lang="en-US" altLang="en-US" sz="2800" dirty="0">
                <a:latin typeface="Arial" pitchFamily="34" charset="0"/>
                <a:cs typeface="Arial" pitchFamily="34" charset="0"/>
              </a:rPr>
              <a:t>Mechanical, programmable machine with parts that mirror that of a modern-day computer:</a:t>
            </a:r>
          </a:p>
          <a:p>
            <a:pPr lvl="3"/>
            <a:r>
              <a:rPr lang="en-US" altLang="en-US" sz="2800" dirty="0">
                <a:latin typeface="Arial" pitchFamily="34" charset="0"/>
                <a:cs typeface="Arial" pitchFamily="34" charset="0"/>
              </a:rPr>
              <a:t>Mill: Arithmetic/logic unit</a:t>
            </a:r>
          </a:p>
          <a:p>
            <a:pPr lvl="3"/>
            <a:r>
              <a:rPr lang="en-US" altLang="en-US" sz="2800" dirty="0">
                <a:latin typeface="Arial" pitchFamily="34" charset="0"/>
                <a:cs typeface="Arial" pitchFamily="34" charset="0"/>
              </a:rPr>
              <a:t>Store: Memory</a:t>
            </a:r>
          </a:p>
          <a:p>
            <a:pPr lvl="3"/>
            <a:r>
              <a:rPr lang="en-US" altLang="en-US" sz="2800" dirty="0">
                <a:latin typeface="Arial" pitchFamily="34" charset="0"/>
                <a:cs typeface="Arial" pitchFamily="34" charset="0"/>
              </a:rPr>
              <a:t>Operator: Processor</a:t>
            </a:r>
          </a:p>
          <a:p>
            <a:pPr lvl="3"/>
            <a:r>
              <a:rPr lang="en-US" altLang="en-US" sz="2800" dirty="0">
                <a:latin typeface="Arial" pitchFamily="34" charset="0"/>
                <a:cs typeface="Arial" pitchFamily="34" charset="0"/>
              </a:rPr>
              <a:t>Output Unit:	Input/Output</a:t>
            </a:r>
            <a:r>
              <a:rPr lang="en-US" sz="2800" dirty="0"/>
              <a:t>  </a:t>
            </a:r>
          </a:p>
        </p:txBody>
      </p:sp>
    </p:spTree>
    <p:extLst>
      <p:ext uri="{BB962C8B-B14F-4D97-AF65-F5344CB8AC3E}">
        <p14:creationId xmlns:p14="http://schemas.microsoft.com/office/powerpoint/2010/main" val="2853715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B1320D-BA23-47E1-B6F2-C5D78B3FEFFB}"/>
              </a:ext>
            </a:extLst>
          </p:cNvPr>
          <p:cNvSpPr txBox="1"/>
          <p:nvPr/>
        </p:nvSpPr>
        <p:spPr>
          <a:xfrm>
            <a:off x="8879840" y="5382304"/>
            <a:ext cx="2621280" cy="461665"/>
          </a:xfrm>
          <a:prstGeom prst="rect">
            <a:avLst/>
          </a:prstGeom>
          <a:noFill/>
        </p:spPr>
        <p:txBody>
          <a:bodyPr wrap="square" rtlCol="0">
            <a:spAutoFit/>
          </a:bodyPr>
          <a:lstStyle/>
          <a:p>
            <a:r>
              <a:rPr lang="en-US" b="0" i="0" dirty="0">
                <a:effectLst/>
                <a:latin typeface="arial" panose="020B0604020202020204" pitchFamily="34" charset="0"/>
              </a:rPr>
              <a:t> (</a:t>
            </a:r>
            <a:r>
              <a:rPr lang="en-US" sz="2400" b="0" i="0" dirty="0">
                <a:effectLst/>
                <a:latin typeface="arial" panose="020B0604020202020204" pitchFamily="34" charset="0"/>
              </a:rPr>
              <a:t>Ada</a:t>
            </a:r>
            <a:r>
              <a:rPr lang="en-US" b="0" i="0" dirty="0">
                <a:effectLst/>
                <a:latin typeface="arial" panose="020B0604020202020204" pitchFamily="34" charset="0"/>
              </a:rPr>
              <a:t> </a:t>
            </a:r>
            <a:r>
              <a:rPr lang="en-US" sz="2400" b="0" i="0" dirty="0">
                <a:effectLst/>
                <a:latin typeface="arial" panose="020B0604020202020204" pitchFamily="34" charset="0"/>
              </a:rPr>
              <a:t>Lovelace</a:t>
            </a:r>
            <a:r>
              <a:rPr lang="en-US" b="0" i="0" dirty="0">
                <a:effectLst/>
                <a:latin typeface="arial" panose="020B0604020202020204" pitchFamily="34" charset="0"/>
              </a:rPr>
              <a:t>)</a:t>
            </a:r>
            <a:r>
              <a:rPr lang="en-US" dirty="0"/>
              <a:t> </a:t>
            </a:r>
          </a:p>
        </p:txBody>
      </p:sp>
      <p:pic>
        <p:nvPicPr>
          <p:cNvPr id="4" name="Picture 3">
            <a:extLst>
              <a:ext uri="{FF2B5EF4-FFF2-40B4-BE49-F238E27FC236}">
                <a16:creationId xmlns:a16="http://schemas.microsoft.com/office/drawing/2014/main" id="{EA795940-B00C-4B46-A5C8-09F33BD59DE4}"/>
              </a:ext>
            </a:extLst>
          </p:cNvPr>
          <p:cNvPicPr>
            <a:picLocks noChangeAspect="1"/>
          </p:cNvPicPr>
          <p:nvPr/>
        </p:nvPicPr>
        <p:blipFill rotWithShape="1">
          <a:blip r:embed="rId2"/>
          <a:srcRect l="35699" t="21926" r="45633" b="43259"/>
          <a:stretch/>
        </p:blipFill>
        <p:spPr>
          <a:xfrm>
            <a:off x="8321040" y="690879"/>
            <a:ext cx="3413760" cy="4691425"/>
          </a:xfrm>
          <a:prstGeom prst="rect">
            <a:avLst/>
          </a:prstGeom>
        </p:spPr>
      </p:pic>
      <p:sp>
        <p:nvSpPr>
          <p:cNvPr id="5" name="TextBox 4">
            <a:extLst>
              <a:ext uri="{FF2B5EF4-FFF2-40B4-BE49-F238E27FC236}">
                <a16:creationId xmlns:a16="http://schemas.microsoft.com/office/drawing/2014/main" id="{300FC0E3-1878-4778-8075-853AC2044832}"/>
              </a:ext>
            </a:extLst>
          </p:cNvPr>
          <p:cNvSpPr txBox="1"/>
          <p:nvPr/>
        </p:nvSpPr>
        <p:spPr>
          <a:xfrm>
            <a:off x="1442720" y="2021840"/>
            <a:ext cx="5455920" cy="769441"/>
          </a:xfrm>
          <a:prstGeom prst="rect">
            <a:avLst/>
          </a:prstGeom>
          <a:noFill/>
        </p:spPr>
        <p:txBody>
          <a:bodyPr wrap="square" rtlCol="0">
            <a:spAutoFit/>
          </a:bodyPr>
          <a:lstStyle/>
          <a:p>
            <a:r>
              <a:rPr lang="en-US" sz="4400" dirty="0"/>
              <a:t>The First programmer</a:t>
            </a:r>
          </a:p>
        </p:txBody>
      </p:sp>
      <p:sp>
        <p:nvSpPr>
          <p:cNvPr id="6" name="TextBox 5">
            <a:extLst>
              <a:ext uri="{FF2B5EF4-FFF2-40B4-BE49-F238E27FC236}">
                <a16:creationId xmlns:a16="http://schemas.microsoft.com/office/drawing/2014/main" id="{4736AD76-A0BB-4303-B3EA-4C0DE43D4351}"/>
              </a:ext>
            </a:extLst>
          </p:cNvPr>
          <p:cNvSpPr txBox="1"/>
          <p:nvPr/>
        </p:nvSpPr>
        <p:spPr>
          <a:xfrm>
            <a:off x="1442720" y="3429000"/>
            <a:ext cx="5161280" cy="1754326"/>
          </a:xfrm>
          <a:prstGeom prst="rect">
            <a:avLst/>
          </a:prstGeom>
          <a:noFill/>
        </p:spPr>
        <p:txBody>
          <a:bodyPr wrap="square" rtlCol="0">
            <a:spAutoFit/>
          </a:bodyPr>
          <a:lstStyle/>
          <a:p>
            <a:r>
              <a:rPr lang="en-US" sz="3600" dirty="0"/>
              <a:t>She explained how to program Charles baggage’s machine </a:t>
            </a:r>
          </a:p>
        </p:txBody>
      </p:sp>
    </p:spTree>
    <p:extLst>
      <p:ext uri="{BB962C8B-B14F-4D97-AF65-F5344CB8AC3E}">
        <p14:creationId xmlns:p14="http://schemas.microsoft.com/office/powerpoint/2010/main" val="4167083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E58D81-ADDF-4C2F-A6D8-8D51072D093B}"/>
              </a:ext>
            </a:extLst>
          </p:cNvPr>
          <p:cNvSpPr txBox="1"/>
          <p:nvPr/>
        </p:nvSpPr>
        <p:spPr>
          <a:xfrm>
            <a:off x="5130800" y="1552416"/>
            <a:ext cx="6085840" cy="3539430"/>
          </a:xfrm>
          <a:prstGeom prst="rect">
            <a:avLst/>
          </a:prstGeom>
          <a:noFill/>
        </p:spPr>
        <p:txBody>
          <a:bodyPr wrap="square">
            <a:spAutoFit/>
          </a:bodyPr>
          <a:lstStyle/>
          <a:p>
            <a:pPr lvl="1"/>
            <a:r>
              <a:rPr lang="en-US" altLang="en-US" sz="2800" dirty="0">
                <a:solidFill>
                  <a:srgbClr val="FF0000"/>
                </a:solidFill>
                <a:latin typeface="Arial" pitchFamily="34" charset="0"/>
                <a:cs typeface="Arial" pitchFamily="34" charset="0"/>
              </a:rPr>
              <a:t>Herman Hollerith </a:t>
            </a:r>
            <a:r>
              <a:rPr lang="en-US" altLang="en-US" sz="2800" dirty="0">
                <a:latin typeface="Arial" pitchFamily="34" charset="0"/>
                <a:cs typeface="Arial" pitchFamily="34" charset="0"/>
              </a:rPr>
              <a:t>(1880s onward)</a:t>
            </a:r>
          </a:p>
          <a:p>
            <a:pPr marL="914400" lvl="1" indent="-457200">
              <a:buFont typeface="Arial" panose="020B0604020202020204" pitchFamily="34" charset="0"/>
              <a:buChar char="•"/>
            </a:pPr>
            <a:r>
              <a:rPr lang="en-US" altLang="en-US" sz="2800" dirty="0">
                <a:latin typeface="Arial" pitchFamily="34" charset="0"/>
                <a:cs typeface="Arial" pitchFamily="34" charset="0"/>
              </a:rPr>
              <a:t>Designed and built </a:t>
            </a:r>
            <a:r>
              <a:rPr lang="en-US" altLang="en-US" sz="2800" dirty="0">
                <a:solidFill>
                  <a:srgbClr val="FF0000"/>
                </a:solidFill>
                <a:latin typeface="Arial" pitchFamily="34" charset="0"/>
                <a:cs typeface="Arial" pitchFamily="34" charset="0"/>
              </a:rPr>
              <a:t>programmable card-processing machines to read, tally, and sort data on punched cards </a:t>
            </a:r>
            <a:r>
              <a:rPr lang="en-US" altLang="en-US" sz="2800" dirty="0">
                <a:latin typeface="Arial" pitchFamily="34" charset="0"/>
                <a:cs typeface="Arial" pitchFamily="34" charset="0"/>
              </a:rPr>
              <a:t>for the U.S. Census Bureau</a:t>
            </a:r>
          </a:p>
          <a:p>
            <a:pPr marL="914400" lvl="1" indent="-457200">
              <a:buFont typeface="Arial" panose="020B0604020202020204" pitchFamily="34" charset="0"/>
              <a:buChar char="•"/>
            </a:pPr>
            <a:r>
              <a:rPr lang="en-US" altLang="en-US" sz="2800" dirty="0">
                <a:latin typeface="Arial" pitchFamily="34" charset="0"/>
                <a:cs typeface="Arial" pitchFamily="34" charset="0"/>
              </a:rPr>
              <a:t>Founded a company that became </a:t>
            </a:r>
            <a:r>
              <a:rPr lang="en-US" altLang="en-US" sz="2800" dirty="0">
                <a:solidFill>
                  <a:srgbClr val="FF0000"/>
                </a:solidFill>
                <a:latin typeface="Arial" pitchFamily="34" charset="0"/>
                <a:cs typeface="Arial" pitchFamily="34" charset="0"/>
              </a:rPr>
              <a:t>IBM</a:t>
            </a:r>
            <a:r>
              <a:rPr lang="en-US" altLang="en-US" sz="2800" dirty="0">
                <a:latin typeface="Arial" pitchFamily="34" charset="0"/>
                <a:cs typeface="Arial" pitchFamily="34" charset="0"/>
              </a:rPr>
              <a:t> in 1924</a:t>
            </a:r>
            <a:endParaRPr lang="en-US" sz="2800" dirty="0"/>
          </a:p>
        </p:txBody>
      </p:sp>
      <p:pic>
        <p:nvPicPr>
          <p:cNvPr id="4" name="Picture 3">
            <a:extLst>
              <a:ext uri="{FF2B5EF4-FFF2-40B4-BE49-F238E27FC236}">
                <a16:creationId xmlns:a16="http://schemas.microsoft.com/office/drawing/2014/main" id="{2F7151A7-C123-47F4-A5D3-D44078306562}"/>
              </a:ext>
            </a:extLst>
          </p:cNvPr>
          <p:cNvPicPr>
            <a:picLocks noChangeAspect="1"/>
          </p:cNvPicPr>
          <p:nvPr/>
        </p:nvPicPr>
        <p:blipFill>
          <a:blip r:embed="rId2"/>
          <a:stretch>
            <a:fillRect/>
          </a:stretch>
        </p:blipFill>
        <p:spPr>
          <a:xfrm>
            <a:off x="1198880" y="1041400"/>
            <a:ext cx="3408781" cy="4775200"/>
          </a:xfrm>
          <a:prstGeom prst="rect">
            <a:avLst/>
          </a:prstGeom>
        </p:spPr>
      </p:pic>
      <p:sp>
        <p:nvSpPr>
          <p:cNvPr id="2" name="TextBox 1">
            <a:extLst>
              <a:ext uri="{FF2B5EF4-FFF2-40B4-BE49-F238E27FC236}">
                <a16:creationId xmlns:a16="http://schemas.microsoft.com/office/drawing/2014/main" id="{EF835AFD-D6E2-4F97-AE5E-E01C40ED1205}"/>
              </a:ext>
            </a:extLst>
          </p:cNvPr>
          <p:cNvSpPr txBox="1"/>
          <p:nvPr/>
        </p:nvSpPr>
        <p:spPr>
          <a:xfrm>
            <a:off x="9509760" y="4612640"/>
            <a:ext cx="1894739" cy="369332"/>
          </a:xfrm>
          <a:prstGeom prst="rect">
            <a:avLst/>
          </a:prstGeom>
          <a:noFill/>
        </p:spPr>
        <p:txBody>
          <a:bodyPr wrap="square" rtlCol="0">
            <a:spAutoFit/>
          </a:bodyPr>
          <a:lstStyle/>
          <a:p>
            <a:r>
              <a:rPr lang="zh-CN" altLang="en-US" dirty="0"/>
              <a:t>建立</a:t>
            </a:r>
            <a:r>
              <a:rPr lang="en-US" altLang="zh-CN" dirty="0"/>
              <a:t>IBM</a:t>
            </a:r>
            <a:r>
              <a:rPr lang="zh-CN" altLang="en-US" dirty="0"/>
              <a:t>公司</a:t>
            </a:r>
            <a:endParaRPr lang="en-US" dirty="0"/>
          </a:p>
        </p:txBody>
      </p:sp>
    </p:spTree>
    <p:extLst>
      <p:ext uri="{BB962C8B-B14F-4D97-AF65-F5344CB8AC3E}">
        <p14:creationId xmlns:p14="http://schemas.microsoft.com/office/powerpoint/2010/main" val="3752717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7E4CD5B-749D-44E4-B19F-4BC2DCF11504}"/>
              </a:ext>
            </a:extLst>
          </p:cNvPr>
          <p:cNvPicPr>
            <a:picLocks noChangeAspect="1"/>
          </p:cNvPicPr>
          <p:nvPr/>
        </p:nvPicPr>
        <p:blipFill>
          <a:blip r:embed="rId2"/>
          <a:stretch>
            <a:fillRect/>
          </a:stretch>
        </p:blipFill>
        <p:spPr>
          <a:xfrm>
            <a:off x="1174114" y="869315"/>
            <a:ext cx="2879725" cy="3656280"/>
          </a:xfrm>
          <a:prstGeom prst="rect">
            <a:avLst/>
          </a:prstGeom>
        </p:spPr>
      </p:pic>
      <p:sp>
        <p:nvSpPr>
          <p:cNvPr id="3" name="TextBox 2">
            <a:extLst>
              <a:ext uri="{FF2B5EF4-FFF2-40B4-BE49-F238E27FC236}">
                <a16:creationId xmlns:a16="http://schemas.microsoft.com/office/drawing/2014/main" id="{7AB7654E-6263-4443-82BD-DBB4E248E844}"/>
              </a:ext>
            </a:extLst>
          </p:cNvPr>
          <p:cNvSpPr txBox="1"/>
          <p:nvPr/>
        </p:nvSpPr>
        <p:spPr>
          <a:xfrm>
            <a:off x="4846320" y="944880"/>
            <a:ext cx="5293360" cy="646331"/>
          </a:xfrm>
          <a:prstGeom prst="rect">
            <a:avLst/>
          </a:prstGeom>
          <a:noFill/>
        </p:spPr>
        <p:txBody>
          <a:bodyPr wrap="square" rtlCol="0">
            <a:spAutoFit/>
          </a:bodyPr>
          <a:lstStyle/>
          <a:p>
            <a:r>
              <a:rPr lang="en-US" dirty="0" err="1"/>
              <a:t>Edsger</a:t>
            </a:r>
            <a:r>
              <a:rPr lang="en-US" dirty="0"/>
              <a:t> W. Dijkstra</a:t>
            </a:r>
          </a:p>
          <a:p>
            <a:r>
              <a:rPr lang="en-US" dirty="0"/>
              <a:t>Netherland </a:t>
            </a:r>
            <a:r>
              <a:rPr lang="zh-CN" altLang="en-US" dirty="0"/>
              <a:t>（荷兰人）</a:t>
            </a:r>
            <a:endParaRPr lang="en-US" dirty="0"/>
          </a:p>
        </p:txBody>
      </p:sp>
    </p:spTree>
    <p:extLst>
      <p:ext uri="{BB962C8B-B14F-4D97-AF65-F5344CB8AC3E}">
        <p14:creationId xmlns:p14="http://schemas.microsoft.com/office/powerpoint/2010/main" val="4182445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94FE9D-8652-49C4-B315-2B16D437B130}"/>
              </a:ext>
            </a:extLst>
          </p:cNvPr>
          <p:cNvPicPr>
            <a:picLocks noChangeAspect="1"/>
          </p:cNvPicPr>
          <p:nvPr/>
        </p:nvPicPr>
        <p:blipFill>
          <a:blip r:embed="rId2"/>
          <a:stretch>
            <a:fillRect/>
          </a:stretch>
        </p:blipFill>
        <p:spPr>
          <a:xfrm>
            <a:off x="853757" y="1910080"/>
            <a:ext cx="3296327" cy="4145280"/>
          </a:xfrm>
          <a:prstGeom prst="rect">
            <a:avLst/>
          </a:prstGeom>
        </p:spPr>
      </p:pic>
      <p:sp>
        <p:nvSpPr>
          <p:cNvPr id="4" name="TextBox 3">
            <a:extLst>
              <a:ext uri="{FF2B5EF4-FFF2-40B4-BE49-F238E27FC236}">
                <a16:creationId xmlns:a16="http://schemas.microsoft.com/office/drawing/2014/main" id="{26BB8C65-2653-49D3-820A-7F4101CEFE4C}"/>
              </a:ext>
            </a:extLst>
          </p:cNvPr>
          <p:cNvSpPr txBox="1"/>
          <p:nvPr/>
        </p:nvSpPr>
        <p:spPr>
          <a:xfrm>
            <a:off x="5466080" y="1910080"/>
            <a:ext cx="5496560" cy="646331"/>
          </a:xfrm>
          <a:prstGeom prst="rect">
            <a:avLst/>
          </a:prstGeom>
          <a:noFill/>
        </p:spPr>
        <p:txBody>
          <a:bodyPr wrap="square">
            <a:spAutoFit/>
          </a:bodyPr>
          <a:lstStyle/>
          <a:p>
            <a:r>
              <a:rPr lang="en-US" altLang="zh-CN" dirty="0"/>
              <a:t>J</a:t>
            </a:r>
            <a:r>
              <a:rPr lang="en-US" dirty="0"/>
              <a:t>ohn </a:t>
            </a:r>
            <a:r>
              <a:rPr lang="en-US" altLang="zh-CN" dirty="0"/>
              <a:t>V</a:t>
            </a:r>
            <a:r>
              <a:rPr lang="en-US" dirty="0"/>
              <a:t>on </a:t>
            </a:r>
            <a:r>
              <a:rPr lang="en-US" altLang="zh-CN" dirty="0"/>
              <a:t>N</a:t>
            </a:r>
            <a:r>
              <a:rPr lang="en-US" dirty="0"/>
              <a:t>eumann</a:t>
            </a:r>
          </a:p>
          <a:p>
            <a:r>
              <a:rPr lang="en-US" dirty="0"/>
              <a:t>Store program in memory</a:t>
            </a:r>
          </a:p>
        </p:txBody>
      </p:sp>
    </p:spTree>
    <p:extLst>
      <p:ext uri="{BB962C8B-B14F-4D97-AF65-F5344CB8AC3E}">
        <p14:creationId xmlns:p14="http://schemas.microsoft.com/office/powerpoint/2010/main" val="3347971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F0D78B6-30FA-43DF-8192-E3254FE3E9B9}"/>
              </a:ext>
            </a:extLst>
          </p:cNvPr>
          <p:cNvPicPr>
            <a:picLocks noChangeAspect="1"/>
          </p:cNvPicPr>
          <p:nvPr/>
        </p:nvPicPr>
        <p:blipFill>
          <a:blip r:embed="rId2"/>
          <a:stretch>
            <a:fillRect/>
          </a:stretch>
        </p:blipFill>
        <p:spPr>
          <a:xfrm>
            <a:off x="1719897" y="1666557"/>
            <a:ext cx="2750503" cy="4296732"/>
          </a:xfrm>
          <a:prstGeom prst="rect">
            <a:avLst/>
          </a:prstGeom>
        </p:spPr>
      </p:pic>
      <p:sp>
        <p:nvSpPr>
          <p:cNvPr id="3" name="TextBox 2">
            <a:extLst>
              <a:ext uri="{FF2B5EF4-FFF2-40B4-BE49-F238E27FC236}">
                <a16:creationId xmlns:a16="http://schemas.microsoft.com/office/drawing/2014/main" id="{9D425991-A82C-48D2-A9E9-5DEDA4032D9E}"/>
              </a:ext>
            </a:extLst>
          </p:cNvPr>
          <p:cNvSpPr txBox="1"/>
          <p:nvPr/>
        </p:nvSpPr>
        <p:spPr>
          <a:xfrm>
            <a:off x="5699760" y="1666556"/>
            <a:ext cx="5394960" cy="3416320"/>
          </a:xfrm>
          <a:prstGeom prst="rect">
            <a:avLst/>
          </a:prstGeom>
          <a:noFill/>
        </p:spPr>
        <p:txBody>
          <a:bodyPr wrap="square" rtlCol="0">
            <a:spAutoFit/>
          </a:bodyPr>
          <a:lstStyle/>
          <a:p>
            <a:r>
              <a:rPr lang="en-US" sz="3600" dirty="0"/>
              <a:t>John Backus: </a:t>
            </a:r>
          </a:p>
          <a:p>
            <a:r>
              <a:rPr lang="en-US" sz="3600" dirty="0"/>
              <a:t>Developed </a:t>
            </a:r>
            <a:r>
              <a:rPr lang="en-US" sz="3600" dirty="0" err="1"/>
              <a:t>fortran</a:t>
            </a:r>
            <a:r>
              <a:rPr lang="en-US" sz="3600" dirty="0"/>
              <a:t>(formula translator)</a:t>
            </a:r>
            <a:r>
              <a:rPr lang="zh-CN" altLang="en-US" sz="3600" dirty="0"/>
              <a:t>公式翻译程式语言 </a:t>
            </a:r>
            <a:r>
              <a:rPr lang="en-US" altLang="zh-CN" sz="3600" dirty="0"/>
              <a:t>translate mathematical formulas into computer code</a:t>
            </a:r>
            <a:endParaRPr lang="en-US" sz="3600" dirty="0"/>
          </a:p>
        </p:txBody>
      </p:sp>
    </p:spTree>
    <p:extLst>
      <p:ext uri="{BB962C8B-B14F-4D97-AF65-F5344CB8AC3E}">
        <p14:creationId xmlns:p14="http://schemas.microsoft.com/office/powerpoint/2010/main" val="1840486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E61F759-2D59-453E-902D-8A2B5DB939A5}"/>
              </a:ext>
            </a:extLst>
          </p:cNvPr>
          <p:cNvPicPr>
            <a:picLocks noChangeAspect="1"/>
          </p:cNvPicPr>
          <p:nvPr/>
        </p:nvPicPr>
        <p:blipFill>
          <a:blip r:embed="rId3"/>
          <a:stretch>
            <a:fillRect/>
          </a:stretch>
        </p:blipFill>
        <p:spPr>
          <a:xfrm>
            <a:off x="723265" y="1136650"/>
            <a:ext cx="4324350" cy="4381500"/>
          </a:xfrm>
          <a:prstGeom prst="rect">
            <a:avLst/>
          </a:prstGeom>
        </p:spPr>
      </p:pic>
      <p:sp>
        <p:nvSpPr>
          <p:cNvPr id="3" name="TextBox 2">
            <a:extLst>
              <a:ext uri="{FF2B5EF4-FFF2-40B4-BE49-F238E27FC236}">
                <a16:creationId xmlns:a16="http://schemas.microsoft.com/office/drawing/2014/main" id="{E06CE9F8-B3F2-47C9-B68C-6FEC2C281E51}"/>
              </a:ext>
            </a:extLst>
          </p:cNvPr>
          <p:cNvSpPr txBox="1"/>
          <p:nvPr/>
        </p:nvSpPr>
        <p:spPr>
          <a:xfrm>
            <a:off x="5394960" y="336109"/>
            <a:ext cx="5679440" cy="1477328"/>
          </a:xfrm>
          <a:prstGeom prst="rect">
            <a:avLst/>
          </a:prstGeom>
          <a:noFill/>
        </p:spPr>
        <p:txBody>
          <a:bodyPr wrap="square" rtlCol="0">
            <a:spAutoFit/>
          </a:bodyPr>
          <a:lstStyle/>
          <a:p>
            <a:r>
              <a:rPr lang="en-US" dirty="0"/>
              <a:t>Grace Hopper</a:t>
            </a:r>
          </a:p>
          <a:p>
            <a:r>
              <a:rPr lang="en-US" dirty="0"/>
              <a:t>Developed language that eventually became </a:t>
            </a:r>
            <a:r>
              <a:rPr lang="en-US" dirty="0" err="1"/>
              <a:t>cobol</a:t>
            </a:r>
            <a:r>
              <a:rPr lang="en-US" dirty="0"/>
              <a:t> so after a few iterations and making improvements the language. She is very much</a:t>
            </a:r>
            <a:r>
              <a:rPr lang="en-US" dirty="0">
                <a:solidFill>
                  <a:srgbClr val="FF0000"/>
                </a:solidFill>
              </a:rPr>
              <a:t> associated with </a:t>
            </a:r>
            <a:r>
              <a:rPr lang="en-US" dirty="0" err="1">
                <a:solidFill>
                  <a:srgbClr val="FF0000"/>
                </a:solidFill>
              </a:rPr>
              <a:t>cobol</a:t>
            </a:r>
            <a:r>
              <a:rPr lang="en-US" dirty="0">
                <a:solidFill>
                  <a:srgbClr val="FF0000"/>
                </a:solidFill>
              </a:rPr>
              <a:t> language</a:t>
            </a:r>
            <a:r>
              <a:rPr lang="en-US" dirty="0"/>
              <a:t>. </a:t>
            </a:r>
            <a:r>
              <a:rPr lang="en-US" dirty="0">
                <a:solidFill>
                  <a:srgbClr val="FF0000"/>
                </a:solidFill>
              </a:rPr>
              <a:t>She also first wrote compiler</a:t>
            </a:r>
          </a:p>
        </p:txBody>
      </p:sp>
      <p:sp>
        <p:nvSpPr>
          <p:cNvPr id="5" name="TextBox 4">
            <a:extLst>
              <a:ext uri="{FF2B5EF4-FFF2-40B4-BE49-F238E27FC236}">
                <a16:creationId xmlns:a16="http://schemas.microsoft.com/office/drawing/2014/main" id="{75645339-710C-4FF8-BC9E-BFDE05E4E776}"/>
              </a:ext>
            </a:extLst>
          </p:cNvPr>
          <p:cNvSpPr txBox="1"/>
          <p:nvPr/>
        </p:nvSpPr>
        <p:spPr>
          <a:xfrm>
            <a:off x="5452110" y="1720972"/>
            <a:ext cx="5825490" cy="923330"/>
          </a:xfrm>
          <a:prstGeom prst="rect">
            <a:avLst/>
          </a:prstGeom>
          <a:noFill/>
        </p:spPr>
        <p:txBody>
          <a:bodyPr wrap="square">
            <a:spAutoFit/>
          </a:bodyPr>
          <a:lstStyle/>
          <a:p>
            <a:r>
              <a:rPr lang="zh-CN" altLang="en-US" dirty="0"/>
              <a:t>开发了最终成为</a:t>
            </a:r>
            <a:r>
              <a:rPr lang="en-US" altLang="zh-CN" dirty="0" err="1"/>
              <a:t>cobol</a:t>
            </a:r>
            <a:r>
              <a:rPr lang="zh-CN" altLang="en-US" dirty="0"/>
              <a:t>的语言，因此经过几次迭代并对该语言进行了改进。 她与</a:t>
            </a:r>
            <a:r>
              <a:rPr lang="en-US" altLang="zh-CN" dirty="0" err="1"/>
              <a:t>cobol</a:t>
            </a:r>
            <a:r>
              <a:rPr lang="en-US" altLang="zh-CN" dirty="0"/>
              <a:t>(</a:t>
            </a:r>
            <a:r>
              <a:rPr lang="zh-CN" altLang="en-US" dirty="0"/>
              <a:t>一种编程语言）有很多联系。 她还首先写了编译</a:t>
            </a:r>
            <a:endParaRPr lang="en-US" dirty="0"/>
          </a:p>
        </p:txBody>
      </p:sp>
      <p:sp>
        <p:nvSpPr>
          <p:cNvPr id="7" name="TextBox 6">
            <a:extLst>
              <a:ext uri="{FF2B5EF4-FFF2-40B4-BE49-F238E27FC236}">
                <a16:creationId xmlns:a16="http://schemas.microsoft.com/office/drawing/2014/main" id="{614F9373-F232-412A-9B7B-E89C707E790C}"/>
              </a:ext>
            </a:extLst>
          </p:cNvPr>
          <p:cNvSpPr txBox="1"/>
          <p:nvPr/>
        </p:nvSpPr>
        <p:spPr>
          <a:xfrm>
            <a:off x="5316855" y="2737521"/>
            <a:ext cx="6096000" cy="1477328"/>
          </a:xfrm>
          <a:prstGeom prst="rect">
            <a:avLst/>
          </a:prstGeom>
          <a:noFill/>
        </p:spPr>
        <p:txBody>
          <a:bodyPr wrap="square">
            <a:spAutoFit/>
          </a:bodyPr>
          <a:lstStyle/>
          <a:p>
            <a:r>
              <a:rPr lang="en-US" dirty="0"/>
              <a:t>Grace also famous for having the first computer bug in one of the notebook so you see some point. she has a notebook where she actually caught off that was in one of the relays on the </a:t>
            </a:r>
            <a:r>
              <a:rPr lang="en-US" dirty="0" err="1"/>
              <a:t>mechines</a:t>
            </a:r>
            <a:r>
              <a:rPr lang="en-US" dirty="0"/>
              <a:t> that she was working on and it was an actual physical computer bug.</a:t>
            </a:r>
          </a:p>
        </p:txBody>
      </p:sp>
      <p:sp>
        <p:nvSpPr>
          <p:cNvPr id="9" name="TextBox 8">
            <a:extLst>
              <a:ext uri="{FF2B5EF4-FFF2-40B4-BE49-F238E27FC236}">
                <a16:creationId xmlns:a16="http://schemas.microsoft.com/office/drawing/2014/main" id="{62C90CA0-9EF6-4561-BE6E-0B2E04816F6C}"/>
              </a:ext>
            </a:extLst>
          </p:cNvPr>
          <p:cNvSpPr txBox="1"/>
          <p:nvPr/>
        </p:nvSpPr>
        <p:spPr>
          <a:xfrm>
            <a:off x="5316855" y="4538768"/>
            <a:ext cx="6096000" cy="1200329"/>
          </a:xfrm>
          <a:prstGeom prst="rect">
            <a:avLst/>
          </a:prstGeom>
          <a:noFill/>
        </p:spPr>
        <p:txBody>
          <a:bodyPr wrap="square">
            <a:spAutoFit/>
          </a:bodyPr>
          <a:lstStyle/>
          <a:p>
            <a:r>
              <a:rPr lang="en-US" dirty="0" err="1"/>
              <a:t>Grace还因在其中一个笔记本拥有第一个计算机错误而闻名，因此您会发现一点</a:t>
            </a:r>
            <a:r>
              <a:rPr lang="en-US" dirty="0"/>
              <a:t>。 </a:t>
            </a:r>
            <a:r>
              <a:rPr lang="en-US" dirty="0" err="1"/>
              <a:t>她有一个笔记本，她实际上在那儿工作，这是她正在使用的机械上的一个继电器中，这是一个实际的物理计算机错误</a:t>
            </a:r>
            <a:r>
              <a:rPr lang="en-US" dirty="0"/>
              <a:t>。</a:t>
            </a:r>
          </a:p>
        </p:txBody>
      </p:sp>
    </p:spTree>
    <p:extLst>
      <p:ext uri="{BB962C8B-B14F-4D97-AF65-F5344CB8AC3E}">
        <p14:creationId xmlns:p14="http://schemas.microsoft.com/office/powerpoint/2010/main" val="2863161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4F5AA2-606B-4322-B175-534E9ED21A7A}"/>
              </a:ext>
            </a:extLst>
          </p:cNvPr>
          <p:cNvPicPr>
            <a:picLocks noChangeAspect="1"/>
          </p:cNvPicPr>
          <p:nvPr/>
        </p:nvPicPr>
        <p:blipFill>
          <a:blip r:embed="rId2"/>
          <a:stretch>
            <a:fillRect/>
          </a:stretch>
        </p:blipFill>
        <p:spPr>
          <a:xfrm>
            <a:off x="1171892" y="1678622"/>
            <a:ext cx="3135948" cy="4026153"/>
          </a:xfrm>
          <a:prstGeom prst="rect">
            <a:avLst/>
          </a:prstGeom>
        </p:spPr>
      </p:pic>
      <p:sp>
        <p:nvSpPr>
          <p:cNvPr id="4" name="TextBox 3">
            <a:extLst>
              <a:ext uri="{FF2B5EF4-FFF2-40B4-BE49-F238E27FC236}">
                <a16:creationId xmlns:a16="http://schemas.microsoft.com/office/drawing/2014/main" id="{5F43EED6-59A4-4F85-A6DE-7F5F0DFDA503}"/>
              </a:ext>
            </a:extLst>
          </p:cNvPr>
          <p:cNvSpPr txBox="1"/>
          <p:nvPr/>
        </p:nvSpPr>
        <p:spPr>
          <a:xfrm>
            <a:off x="5283200" y="1493956"/>
            <a:ext cx="2702560" cy="2031325"/>
          </a:xfrm>
          <a:prstGeom prst="rect">
            <a:avLst/>
          </a:prstGeom>
          <a:noFill/>
        </p:spPr>
        <p:txBody>
          <a:bodyPr wrap="square">
            <a:spAutoFit/>
          </a:bodyPr>
          <a:lstStyle/>
          <a:p>
            <a:r>
              <a:rPr lang="en-US" altLang="zh-CN" dirty="0"/>
              <a:t>N</a:t>
            </a:r>
            <a:r>
              <a:rPr lang="en-US" dirty="0"/>
              <a:t>oam </a:t>
            </a:r>
            <a:r>
              <a:rPr lang="en-US" altLang="zh-CN" dirty="0"/>
              <a:t>C</a:t>
            </a:r>
            <a:r>
              <a:rPr lang="en-US" dirty="0"/>
              <a:t>homsky</a:t>
            </a:r>
          </a:p>
          <a:p>
            <a:r>
              <a:rPr lang="en-US" altLang="zh-CN" dirty="0"/>
              <a:t>Retired</a:t>
            </a:r>
            <a:r>
              <a:rPr lang="zh-CN" altLang="en-US" dirty="0"/>
              <a:t>（退休）</a:t>
            </a:r>
            <a:r>
              <a:rPr lang="en-US" altLang="zh-CN" dirty="0"/>
              <a:t> professor of linguistics</a:t>
            </a:r>
            <a:r>
              <a:rPr lang="zh-CN" altLang="en-US" dirty="0"/>
              <a:t>（语言学）</a:t>
            </a:r>
            <a:r>
              <a:rPr lang="en-US" altLang="zh-CN" dirty="0"/>
              <a:t> </a:t>
            </a:r>
          </a:p>
          <a:p>
            <a:r>
              <a:rPr lang="en-US" dirty="0"/>
              <a:t>It was MIT</a:t>
            </a:r>
            <a:r>
              <a:rPr lang="zh-CN" altLang="en-US" dirty="0"/>
              <a:t>（麻省理工</a:t>
            </a:r>
            <a:r>
              <a:rPr lang="en-US" altLang="zh-CN" dirty="0"/>
              <a:t>)</a:t>
            </a:r>
            <a:r>
              <a:rPr lang="en-US" dirty="0"/>
              <a:t> for a while.  now retired.</a:t>
            </a:r>
          </a:p>
          <a:p>
            <a:r>
              <a:rPr lang="en-US" dirty="0"/>
              <a:t>He still writing a lot of political topics so</a:t>
            </a:r>
          </a:p>
        </p:txBody>
      </p:sp>
      <p:sp>
        <p:nvSpPr>
          <p:cNvPr id="6" name="TextBox 5">
            <a:extLst>
              <a:ext uri="{FF2B5EF4-FFF2-40B4-BE49-F238E27FC236}">
                <a16:creationId xmlns:a16="http://schemas.microsoft.com/office/drawing/2014/main" id="{13025815-9687-4F16-A3D5-45767B872080}"/>
              </a:ext>
            </a:extLst>
          </p:cNvPr>
          <p:cNvSpPr txBox="1"/>
          <p:nvPr/>
        </p:nvSpPr>
        <p:spPr>
          <a:xfrm>
            <a:off x="5283200" y="4163715"/>
            <a:ext cx="6096000" cy="1200329"/>
          </a:xfrm>
          <a:prstGeom prst="rect">
            <a:avLst/>
          </a:prstGeom>
          <a:noFill/>
        </p:spPr>
        <p:txBody>
          <a:bodyPr wrap="square">
            <a:spAutoFit/>
          </a:bodyPr>
          <a:lstStyle/>
          <a:p>
            <a:endParaRPr lang="en-US" dirty="0"/>
          </a:p>
          <a:p>
            <a:r>
              <a:rPr lang="en-US" dirty="0" err="1"/>
              <a:t>退休了语言学教授</a:t>
            </a:r>
            <a:endParaRPr lang="en-US" dirty="0"/>
          </a:p>
          <a:p>
            <a:r>
              <a:rPr lang="en-US" dirty="0" err="1"/>
              <a:t>麻省理工学院已有一段时间了，现在退休了</a:t>
            </a:r>
            <a:r>
              <a:rPr lang="en-US" dirty="0"/>
              <a:t>。</a:t>
            </a:r>
          </a:p>
          <a:p>
            <a:r>
              <a:rPr lang="en-US" dirty="0" err="1"/>
              <a:t>他仍然写很多政治话题</a:t>
            </a:r>
            <a:endParaRPr lang="en-US" dirty="0"/>
          </a:p>
        </p:txBody>
      </p:sp>
    </p:spTree>
    <p:extLst>
      <p:ext uri="{BB962C8B-B14F-4D97-AF65-F5344CB8AC3E}">
        <p14:creationId xmlns:p14="http://schemas.microsoft.com/office/powerpoint/2010/main" val="3851871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19D3AE-74F8-4337-B4C5-5F6DEA1163D2}"/>
              </a:ext>
            </a:extLst>
          </p:cNvPr>
          <p:cNvSpPr txBox="1"/>
          <p:nvPr/>
        </p:nvSpPr>
        <p:spPr>
          <a:xfrm>
            <a:off x="2966720" y="4233040"/>
            <a:ext cx="6096000" cy="646331"/>
          </a:xfrm>
          <a:prstGeom prst="rect">
            <a:avLst/>
          </a:prstGeom>
          <a:noFill/>
        </p:spPr>
        <p:txBody>
          <a:bodyPr wrap="square">
            <a:spAutoFit/>
          </a:bodyPr>
          <a:lstStyle/>
          <a:p>
            <a:r>
              <a:rPr lang="en-US" dirty="0" err="1"/>
              <a:t>布莱斯·帕斯卡（Blaise</a:t>
            </a:r>
            <a:r>
              <a:rPr lang="en-US" dirty="0"/>
              <a:t> Pascal）设计并制造了一种机械计算器，名为帕斯卡琳（1642）。</a:t>
            </a:r>
          </a:p>
        </p:txBody>
      </p:sp>
      <p:sp>
        <p:nvSpPr>
          <p:cNvPr id="5" name="TextBox 4">
            <a:extLst>
              <a:ext uri="{FF2B5EF4-FFF2-40B4-BE49-F238E27FC236}">
                <a16:creationId xmlns:a16="http://schemas.microsoft.com/office/drawing/2014/main" id="{0F7E025A-817E-40DB-96A2-9E618C2356A2}"/>
              </a:ext>
            </a:extLst>
          </p:cNvPr>
          <p:cNvSpPr txBox="1"/>
          <p:nvPr/>
        </p:nvSpPr>
        <p:spPr>
          <a:xfrm>
            <a:off x="3048000" y="1674674"/>
            <a:ext cx="6096000" cy="1754326"/>
          </a:xfrm>
          <a:prstGeom prst="rect">
            <a:avLst/>
          </a:prstGeom>
          <a:noFill/>
        </p:spPr>
        <p:txBody>
          <a:bodyPr wrap="square">
            <a:spAutoFit/>
          </a:bodyPr>
          <a:lstStyle/>
          <a:p>
            <a:r>
              <a:rPr lang="en-US" sz="3600"/>
              <a:t>Blaise Pascal designed and built a mechanical calculator named the Pascaline (1642).</a:t>
            </a:r>
            <a:endParaRPr lang="en-US" sz="3600" dirty="0"/>
          </a:p>
        </p:txBody>
      </p:sp>
    </p:spTree>
    <p:extLst>
      <p:ext uri="{BB962C8B-B14F-4D97-AF65-F5344CB8AC3E}">
        <p14:creationId xmlns:p14="http://schemas.microsoft.com/office/powerpoint/2010/main" val="2031035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34CEC1-3909-4B29-ABEE-11A540F539D8}"/>
              </a:ext>
            </a:extLst>
          </p:cNvPr>
          <p:cNvSpPr txBox="1"/>
          <p:nvPr/>
        </p:nvSpPr>
        <p:spPr>
          <a:xfrm>
            <a:off x="3048000" y="3105835"/>
            <a:ext cx="6096000" cy="646331"/>
          </a:xfrm>
          <a:prstGeom prst="rect">
            <a:avLst/>
          </a:prstGeom>
          <a:noFill/>
        </p:spPr>
        <p:txBody>
          <a:bodyPr wrap="square">
            <a:spAutoFit/>
          </a:bodyPr>
          <a:lstStyle/>
          <a:p>
            <a:r>
              <a:rPr lang="en-US" dirty="0" err="1"/>
              <a:t>约瑟夫·提克（Joseph</a:t>
            </a:r>
            <a:r>
              <a:rPr lang="en-US" dirty="0"/>
              <a:t> Jacquard）设计了一种自动织机，该织机使用打孔卡来制作图案（1801）</a:t>
            </a:r>
          </a:p>
        </p:txBody>
      </p:sp>
      <p:sp>
        <p:nvSpPr>
          <p:cNvPr id="5" name="TextBox 4">
            <a:extLst>
              <a:ext uri="{FF2B5EF4-FFF2-40B4-BE49-F238E27FC236}">
                <a16:creationId xmlns:a16="http://schemas.microsoft.com/office/drawing/2014/main" id="{36652132-8412-4CB4-88CC-5A68EAC7D3C5}"/>
              </a:ext>
            </a:extLst>
          </p:cNvPr>
          <p:cNvSpPr txBox="1"/>
          <p:nvPr/>
        </p:nvSpPr>
        <p:spPr>
          <a:xfrm>
            <a:off x="2407920" y="1073835"/>
            <a:ext cx="6736080" cy="1384995"/>
          </a:xfrm>
          <a:prstGeom prst="rect">
            <a:avLst/>
          </a:prstGeom>
          <a:noFill/>
        </p:spPr>
        <p:txBody>
          <a:bodyPr wrap="square">
            <a:spAutoFit/>
          </a:bodyPr>
          <a:lstStyle/>
          <a:p>
            <a:r>
              <a:rPr lang="en-US" sz="2800" dirty="0"/>
              <a:t>Joseph Jacquard designed an automated loom that used punched cards to create patterns (1801)</a:t>
            </a:r>
          </a:p>
        </p:txBody>
      </p:sp>
    </p:spTree>
    <p:extLst>
      <p:ext uri="{BB962C8B-B14F-4D97-AF65-F5344CB8AC3E}">
        <p14:creationId xmlns:p14="http://schemas.microsoft.com/office/powerpoint/2010/main" val="20324635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B5DCAE-6855-4948-8FC7-15593B18B9F4}"/>
              </a:ext>
            </a:extLst>
          </p:cNvPr>
          <p:cNvSpPr txBox="1"/>
          <p:nvPr/>
        </p:nvSpPr>
        <p:spPr>
          <a:xfrm>
            <a:off x="1036320" y="1264811"/>
            <a:ext cx="7518400" cy="3416320"/>
          </a:xfrm>
          <a:prstGeom prst="rect">
            <a:avLst/>
          </a:prstGeom>
          <a:noFill/>
        </p:spPr>
        <p:txBody>
          <a:bodyPr wrap="square" rtlCol="0">
            <a:spAutoFit/>
          </a:bodyPr>
          <a:lstStyle/>
          <a:p>
            <a:r>
              <a:rPr lang="en-US" sz="2400" dirty="0"/>
              <a:t>The secret </a:t>
            </a:r>
            <a:r>
              <a:rPr lang="en-US" sz="2400" dirty="0" err="1"/>
              <a:t>rosies</a:t>
            </a:r>
            <a:endParaRPr lang="en-US" sz="2400" dirty="0"/>
          </a:p>
          <a:p>
            <a:r>
              <a:rPr lang="en-US" sz="2400" dirty="0"/>
              <a:t>Women doing calculating </a:t>
            </a:r>
          </a:p>
          <a:p>
            <a:r>
              <a:rPr lang="en-US" sz="2400" dirty="0"/>
              <a:t>The first electric computer </a:t>
            </a:r>
          </a:p>
          <a:p>
            <a:r>
              <a:rPr lang="en-US" sz="2400" dirty="0"/>
              <a:t>Focus on calculate the firing chart like where to point the weapons.  Calculate those better.</a:t>
            </a:r>
          </a:p>
          <a:p>
            <a:r>
              <a:rPr lang="en-US" sz="2400" dirty="0"/>
              <a:t>Detect the airplanes before they get here </a:t>
            </a:r>
          </a:p>
          <a:p>
            <a:r>
              <a:rPr lang="en-US" sz="2400" dirty="0"/>
              <a:t>Bat bombs</a:t>
            </a:r>
          </a:p>
          <a:p>
            <a:r>
              <a:rPr lang="en-US" sz="2400" dirty="0"/>
              <a:t>Hard problem with building machine and programming </a:t>
            </a:r>
          </a:p>
          <a:p>
            <a:r>
              <a:rPr lang="en-US" sz="2400" dirty="0"/>
              <a:t> </a:t>
            </a:r>
          </a:p>
        </p:txBody>
      </p:sp>
      <p:sp>
        <p:nvSpPr>
          <p:cNvPr id="3" name="TextBox 2">
            <a:extLst>
              <a:ext uri="{FF2B5EF4-FFF2-40B4-BE49-F238E27FC236}">
                <a16:creationId xmlns:a16="http://schemas.microsoft.com/office/drawing/2014/main" id="{7513F25C-8C05-4403-AA8D-7194BFBA295D}"/>
              </a:ext>
            </a:extLst>
          </p:cNvPr>
          <p:cNvSpPr txBox="1"/>
          <p:nvPr/>
        </p:nvSpPr>
        <p:spPr>
          <a:xfrm>
            <a:off x="965200" y="5242560"/>
            <a:ext cx="3596640" cy="369332"/>
          </a:xfrm>
          <a:prstGeom prst="rect">
            <a:avLst/>
          </a:prstGeom>
          <a:noFill/>
        </p:spPr>
        <p:txBody>
          <a:bodyPr wrap="square" rtlCol="0">
            <a:spAutoFit/>
          </a:bodyPr>
          <a:lstStyle/>
          <a:p>
            <a:r>
              <a:rPr lang="en-US" dirty="0"/>
              <a:t>Partial result</a:t>
            </a:r>
            <a:r>
              <a:rPr lang="zh-CN" altLang="en-US" dirty="0"/>
              <a:t>（部分结果）</a:t>
            </a:r>
            <a:r>
              <a:rPr lang="en-US" dirty="0"/>
              <a:t> </a:t>
            </a:r>
          </a:p>
        </p:txBody>
      </p:sp>
      <p:sp>
        <p:nvSpPr>
          <p:cNvPr id="4" name="TextBox 3">
            <a:extLst>
              <a:ext uri="{FF2B5EF4-FFF2-40B4-BE49-F238E27FC236}">
                <a16:creationId xmlns:a16="http://schemas.microsoft.com/office/drawing/2014/main" id="{94B22D1C-49AD-4E55-95D1-F22C54A052C6}"/>
              </a:ext>
            </a:extLst>
          </p:cNvPr>
          <p:cNvSpPr txBox="1"/>
          <p:nvPr/>
        </p:nvSpPr>
        <p:spPr>
          <a:xfrm>
            <a:off x="7833360" y="6016724"/>
            <a:ext cx="3616960" cy="369332"/>
          </a:xfrm>
          <a:prstGeom prst="rect">
            <a:avLst/>
          </a:prstGeom>
          <a:noFill/>
        </p:spPr>
        <p:txBody>
          <a:bodyPr wrap="square" rtlCol="0">
            <a:spAutoFit/>
          </a:bodyPr>
          <a:lstStyle/>
          <a:p>
            <a:r>
              <a:rPr lang="en-US" altLang="zh-CN" dirty="0"/>
              <a:t>Spreadsheet</a:t>
            </a:r>
            <a:r>
              <a:rPr lang="zh-CN" altLang="en-US" dirty="0"/>
              <a:t>（电子表格</a:t>
            </a:r>
            <a:r>
              <a:rPr lang="en-US" altLang="zh-CN" dirty="0"/>
              <a:t>)</a:t>
            </a:r>
            <a:endParaRPr lang="en-US" dirty="0"/>
          </a:p>
        </p:txBody>
      </p:sp>
      <p:sp>
        <p:nvSpPr>
          <p:cNvPr id="5" name="TextBox 4">
            <a:extLst>
              <a:ext uri="{FF2B5EF4-FFF2-40B4-BE49-F238E27FC236}">
                <a16:creationId xmlns:a16="http://schemas.microsoft.com/office/drawing/2014/main" id="{6EAB03DA-0405-4381-97A8-016715F360AE}"/>
              </a:ext>
            </a:extLst>
          </p:cNvPr>
          <p:cNvSpPr txBox="1"/>
          <p:nvPr/>
        </p:nvSpPr>
        <p:spPr>
          <a:xfrm>
            <a:off x="8371840" y="3210560"/>
            <a:ext cx="2072640" cy="369332"/>
          </a:xfrm>
          <a:prstGeom prst="rect">
            <a:avLst/>
          </a:prstGeom>
          <a:noFill/>
        </p:spPr>
        <p:txBody>
          <a:bodyPr wrap="square" rtlCol="0">
            <a:spAutoFit/>
          </a:bodyPr>
          <a:lstStyle/>
          <a:p>
            <a:r>
              <a:rPr lang="en-US" dirty="0"/>
              <a:t>Inversion (</a:t>
            </a:r>
            <a:r>
              <a:rPr lang="zh-CN" altLang="en-US" dirty="0"/>
              <a:t>反向）</a:t>
            </a:r>
            <a:endParaRPr lang="en-US" dirty="0"/>
          </a:p>
        </p:txBody>
      </p:sp>
      <p:sp>
        <p:nvSpPr>
          <p:cNvPr id="6" name="TextBox 5">
            <a:extLst>
              <a:ext uri="{FF2B5EF4-FFF2-40B4-BE49-F238E27FC236}">
                <a16:creationId xmlns:a16="http://schemas.microsoft.com/office/drawing/2014/main" id="{58D7F340-11A6-43C8-9CBE-02ACFF25F109}"/>
              </a:ext>
            </a:extLst>
          </p:cNvPr>
          <p:cNvSpPr txBox="1"/>
          <p:nvPr/>
        </p:nvSpPr>
        <p:spPr>
          <a:xfrm>
            <a:off x="8483600" y="2326640"/>
            <a:ext cx="1960880" cy="646331"/>
          </a:xfrm>
          <a:prstGeom prst="rect">
            <a:avLst/>
          </a:prstGeom>
          <a:noFill/>
        </p:spPr>
        <p:txBody>
          <a:bodyPr wrap="square" rtlCol="0">
            <a:spAutoFit/>
          </a:bodyPr>
          <a:lstStyle/>
          <a:p>
            <a:r>
              <a:rPr lang="en-US" altLang="zh-CN" dirty="0"/>
              <a:t>Recognition n. </a:t>
            </a:r>
            <a:r>
              <a:rPr lang="zh-CN" altLang="en-US" dirty="0"/>
              <a:t>识别，重视</a:t>
            </a:r>
            <a:endParaRPr lang="en-US" dirty="0"/>
          </a:p>
        </p:txBody>
      </p:sp>
    </p:spTree>
    <p:extLst>
      <p:ext uri="{BB962C8B-B14F-4D97-AF65-F5344CB8AC3E}">
        <p14:creationId xmlns:p14="http://schemas.microsoft.com/office/powerpoint/2010/main" val="2756750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808A4D-D3CB-4FAA-8085-E02B257BE3AE}"/>
              </a:ext>
            </a:extLst>
          </p:cNvPr>
          <p:cNvSpPr txBox="1"/>
          <p:nvPr/>
        </p:nvSpPr>
        <p:spPr>
          <a:xfrm>
            <a:off x="1524000" y="556796"/>
            <a:ext cx="5435600" cy="1631216"/>
          </a:xfrm>
          <a:prstGeom prst="rect">
            <a:avLst/>
          </a:prstGeom>
          <a:noFill/>
        </p:spPr>
        <p:txBody>
          <a:bodyPr wrap="square" rtlCol="0">
            <a:spAutoFit/>
          </a:bodyPr>
          <a:lstStyle/>
          <a:p>
            <a:r>
              <a:rPr lang="en-US" sz="2000" dirty="0"/>
              <a:t>What is the control unit do?</a:t>
            </a:r>
          </a:p>
          <a:p>
            <a:r>
              <a:rPr lang="en-US" sz="2000" dirty="0"/>
              <a:t>It is the third part that goes and grabs the instructions from memory and it cause them to be executed </a:t>
            </a:r>
          </a:p>
          <a:p>
            <a:r>
              <a:rPr lang="en-US" sz="2000" dirty="0"/>
              <a:t>Store the result </a:t>
            </a:r>
          </a:p>
        </p:txBody>
      </p:sp>
      <p:sp>
        <p:nvSpPr>
          <p:cNvPr id="3" name="TextBox 2">
            <a:extLst>
              <a:ext uri="{FF2B5EF4-FFF2-40B4-BE49-F238E27FC236}">
                <a16:creationId xmlns:a16="http://schemas.microsoft.com/office/drawing/2014/main" id="{AFA31C70-7E3A-4063-8B4B-81752D7B4443}"/>
              </a:ext>
            </a:extLst>
          </p:cNvPr>
          <p:cNvSpPr txBox="1"/>
          <p:nvPr/>
        </p:nvSpPr>
        <p:spPr>
          <a:xfrm>
            <a:off x="1524000" y="2305616"/>
            <a:ext cx="5699760" cy="1569660"/>
          </a:xfrm>
          <a:prstGeom prst="rect">
            <a:avLst/>
          </a:prstGeom>
          <a:noFill/>
        </p:spPr>
        <p:txBody>
          <a:bodyPr wrap="square" rtlCol="0">
            <a:spAutoFit/>
          </a:bodyPr>
          <a:lstStyle/>
          <a:p>
            <a:r>
              <a:rPr lang="en-US" sz="2400" dirty="0"/>
              <a:t>ALU is what actually dose the computation itself. It takes input  that are provided by the control unit an actually calculates the result and then the control unit store the result.</a:t>
            </a:r>
          </a:p>
        </p:txBody>
      </p:sp>
      <p:sp>
        <p:nvSpPr>
          <p:cNvPr id="4" name="TextBox 3">
            <a:extLst>
              <a:ext uri="{FF2B5EF4-FFF2-40B4-BE49-F238E27FC236}">
                <a16:creationId xmlns:a16="http://schemas.microsoft.com/office/drawing/2014/main" id="{5E35F3CD-D37F-4289-B0B4-A710C83CC2EE}"/>
              </a:ext>
            </a:extLst>
          </p:cNvPr>
          <p:cNvSpPr txBox="1"/>
          <p:nvPr/>
        </p:nvSpPr>
        <p:spPr>
          <a:xfrm>
            <a:off x="792480" y="4033520"/>
            <a:ext cx="10078720" cy="3170099"/>
          </a:xfrm>
          <a:prstGeom prst="rect">
            <a:avLst/>
          </a:prstGeom>
          <a:noFill/>
        </p:spPr>
        <p:txBody>
          <a:bodyPr wrap="square" rtlCol="0">
            <a:spAutoFit/>
          </a:bodyPr>
          <a:lstStyle/>
          <a:p>
            <a:r>
              <a:rPr lang="en-US" sz="2000" dirty="0"/>
              <a:t>What is the three step in Von Neumann cycle?</a:t>
            </a:r>
          </a:p>
          <a:p>
            <a:pPr marL="342900" indent="-342900">
              <a:buAutoNum type="arabicPeriod"/>
            </a:pPr>
            <a:r>
              <a:rPr lang="en-US" sz="2000" dirty="0"/>
              <a:t>Get instruction from memory. We have to figure it out and then we actually have to do it.</a:t>
            </a:r>
          </a:p>
          <a:p>
            <a:r>
              <a:rPr lang="en-US" sz="2000" dirty="0"/>
              <a:t>What are the technical terms for those?</a:t>
            </a:r>
          </a:p>
          <a:p>
            <a:r>
              <a:rPr lang="en-US" sz="2000" dirty="0"/>
              <a:t>Decoding </a:t>
            </a:r>
          </a:p>
          <a:p>
            <a:r>
              <a:rPr lang="en-US" sz="2000" dirty="0"/>
              <a:t>We have to decode the instruction. </a:t>
            </a:r>
          </a:p>
          <a:p>
            <a:r>
              <a:rPr lang="en-US" sz="2000" dirty="0"/>
              <a:t>When we decode it then we can actually perform it. This called execution.</a:t>
            </a:r>
          </a:p>
          <a:p>
            <a:r>
              <a:rPr lang="en-US" sz="2000" dirty="0"/>
              <a:t>What part of a machine language command tells us which operation needs to be performed?</a:t>
            </a:r>
          </a:p>
          <a:p>
            <a:r>
              <a:rPr lang="en-US" sz="2000" dirty="0"/>
              <a:t>Op code</a:t>
            </a:r>
          </a:p>
          <a:p>
            <a:endParaRPr lang="en-US" sz="2000" dirty="0"/>
          </a:p>
          <a:p>
            <a:endParaRPr lang="en-US" sz="2000" dirty="0"/>
          </a:p>
        </p:txBody>
      </p:sp>
      <p:sp>
        <p:nvSpPr>
          <p:cNvPr id="5" name="TextBox 4">
            <a:extLst>
              <a:ext uri="{FF2B5EF4-FFF2-40B4-BE49-F238E27FC236}">
                <a16:creationId xmlns:a16="http://schemas.microsoft.com/office/drawing/2014/main" id="{79AFA869-7651-43A8-A004-7D939E6362D1}"/>
              </a:ext>
            </a:extLst>
          </p:cNvPr>
          <p:cNvSpPr txBox="1"/>
          <p:nvPr/>
        </p:nvSpPr>
        <p:spPr>
          <a:xfrm>
            <a:off x="6614160" y="650240"/>
            <a:ext cx="2346960" cy="369332"/>
          </a:xfrm>
          <a:prstGeom prst="rect">
            <a:avLst/>
          </a:prstGeom>
          <a:noFill/>
        </p:spPr>
        <p:txBody>
          <a:bodyPr wrap="square" rtlCol="0">
            <a:spAutoFit/>
          </a:bodyPr>
          <a:lstStyle/>
          <a:p>
            <a:r>
              <a:rPr lang="en-US" dirty="0"/>
              <a:t>Fetch the instruction</a:t>
            </a:r>
          </a:p>
        </p:txBody>
      </p:sp>
      <p:cxnSp>
        <p:nvCxnSpPr>
          <p:cNvPr id="7" name="Straight Arrow Connector 6">
            <a:extLst>
              <a:ext uri="{FF2B5EF4-FFF2-40B4-BE49-F238E27FC236}">
                <a16:creationId xmlns:a16="http://schemas.microsoft.com/office/drawing/2014/main" id="{838A0C00-ED03-4CC9-BD30-CA99456C7BAB}"/>
              </a:ext>
            </a:extLst>
          </p:cNvPr>
          <p:cNvCxnSpPr/>
          <p:nvPr/>
        </p:nvCxnSpPr>
        <p:spPr>
          <a:xfrm>
            <a:off x="8625840" y="824746"/>
            <a:ext cx="5384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4200F81-BD15-4699-A501-4F594AF130EC}"/>
              </a:ext>
            </a:extLst>
          </p:cNvPr>
          <p:cNvSpPr txBox="1"/>
          <p:nvPr/>
        </p:nvSpPr>
        <p:spPr>
          <a:xfrm>
            <a:off x="9103360" y="640080"/>
            <a:ext cx="1239520" cy="369332"/>
          </a:xfrm>
          <a:prstGeom prst="rect">
            <a:avLst/>
          </a:prstGeom>
          <a:noFill/>
        </p:spPr>
        <p:txBody>
          <a:bodyPr wrap="square" rtlCol="0">
            <a:spAutoFit/>
          </a:bodyPr>
          <a:lstStyle/>
          <a:p>
            <a:r>
              <a:rPr lang="en-US" dirty="0"/>
              <a:t>decode</a:t>
            </a:r>
          </a:p>
        </p:txBody>
      </p:sp>
      <p:cxnSp>
        <p:nvCxnSpPr>
          <p:cNvPr id="10" name="Straight Arrow Connector 9">
            <a:extLst>
              <a:ext uri="{FF2B5EF4-FFF2-40B4-BE49-F238E27FC236}">
                <a16:creationId xmlns:a16="http://schemas.microsoft.com/office/drawing/2014/main" id="{6590E405-D422-4C97-A757-3B4843F273EB}"/>
              </a:ext>
            </a:extLst>
          </p:cNvPr>
          <p:cNvCxnSpPr/>
          <p:nvPr/>
        </p:nvCxnSpPr>
        <p:spPr>
          <a:xfrm>
            <a:off x="9946640" y="824746"/>
            <a:ext cx="5384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591BE6B-7E8E-4F64-871B-FF682FA2DF1D}"/>
              </a:ext>
            </a:extLst>
          </p:cNvPr>
          <p:cNvSpPr txBox="1"/>
          <p:nvPr/>
        </p:nvSpPr>
        <p:spPr>
          <a:xfrm>
            <a:off x="10485120" y="650240"/>
            <a:ext cx="1432560" cy="923330"/>
          </a:xfrm>
          <a:prstGeom prst="rect">
            <a:avLst/>
          </a:prstGeom>
          <a:noFill/>
        </p:spPr>
        <p:txBody>
          <a:bodyPr wrap="square" rtlCol="0">
            <a:spAutoFit/>
          </a:bodyPr>
          <a:lstStyle/>
          <a:p>
            <a:r>
              <a:rPr lang="en-US" dirty="0"/>
              <a:t>Op code</a:t>
            </a:r>
          </a:p>
          <a:p>
            <a:r>
              <a:rPr lang="en-US" dirty="0"/>
              <a:t>Operation code</a:t>
            </a:r>
          </a:p>
        </p:txBody>
      </p:sp>
    </p:spTree>
    <p:extLst>
      <p:ext uri="{BB962C8B-B14F-4D97-AF65-F5344CB8AC3E}">
        <p14:creationId xmlns:p14="http://schemas.microsoft.com/office/powerpoint/2010/main" val="1443604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4F1138-58C4-4F1B-86D9-76C873EAB8E2}"/>
              </a:ext>
            </a:extLst>
          </p:cNvPr>
          <p:cNvSpPr txBox="1"/>
          <p:nvPr/>
        </p:nvSpPr>
        <p:spPr>
          <a:xfrm>
            <a:off x="1229360" y="1300480"/>
            <a:ext cx="8483600" cy="2862322"/>
          </a:xfrm>
          <a:prstGeom prst="rect">
            <a:avLst/>
          </a:prstGeom>
          <a:noFill/>
        </p:spPr>
        <p:txBody>
          <a:bodyPr wrap="square" rtlCol="0">
            <a:spAutoFit/>
          </a:bodyPr>
          <a:lstStyle/>
          <a:p>
            <a:r>
              <a:rPr lang="en-US" dirty="0"/>
              <a:t>What are the 4 main categories of commands that we could have?</a:t>
            </a:r>
          </a:p>
          <a:p>
            <a:r>
              <a:rPr lang="en-US" dirty="0"/>
              <a:t>1. Moving date / </a:t>
            </a:r>
            <a:r>
              <a:rPr lang="en-US" altLang="en-US" dirty="0">
                <a:latin typeface="Arial" panose="020B0604020202020204" pitchFamily="34" charset="0"/>
                <a:ea typeface="ＭＳ Ｐゴシック" panose="020B0600070205080204" pitchFamily="34" charset="-128"/>
                <a:cs typeface="Arial" panose="020B0604020202020204" pitchFamily="34" charset="0"/>
              </a:rPr>
              <a:t>Data transfer, e.g., move data from memory to register</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2. Arithmetic, e.g., add, but also AND </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3. Comparison: compare two values</a:t>
            </a:r>
          </a:p>
          <a:p>
            <a:r>
              <a:rPr lang="en-US" altLang="en-US" dirty="0">
                <a:latin typeface="Arial" panose="020B0604020202020204" pitchFamily="34" charset="0"/>
                <a:ea typeface="ＭＳ Ｐゴシック" panose="020B0600070205080204" pitchFamily="34" charset="-128"/>
                <a:cs typeface="Arial" panose="020B0604020202020204" pitchFamily="34" charset="0"/>
              </a:rPr>
              <a:t>4. Branch: change to a nonsequential instruction</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Branching allows for conditional and loop forms</a:t>
            </a:r>
          </a:p>
          <a:p>
            <a:pPr lvl="1"/>
            <a:r>
              <a:rPr lang="en-US" altLang="en-US" dirty="0">
                <a:latin typeface="Arial" panose="020B0604020202020204" pitchFamily="34" charset="0"/>
                <a:ea typeface="ＭＳ Ｐゴシック" panose="020B0600070205080204" pitchFamily="34" charset="-128"/>
                <a:cs typeface="Arial" panose="020B0604020202020204" pitchFamily="34" charset="0"/>
              </a:rPr>
              <a:t>E.g., JUMPLT </a:t>
            </a:r>
            <a:r>
              <a:rPr lang="en-US" altLang="en-US" i="1" dirty="0">
                <a:latin typeface="Arial" panose="020B0604020202020204" pitchFamily="34" charset="0"/>
                <a:ea typeface="ＭＳ Ｐゴシック" panose="020B0600070205080204" pitchFamily="34" charset="-128"/>
                <a:cs typeface="Arial" panose="020B0604020202020204" pitchFamily="34" charset="0"/>
              </a:rPr>
              <a:t>a</a:t>
            </a:r>
            <a:r>
              <a:rPr lang="en-US" altLang="en-US" dirty="0">
                <a:latin typeface="Arial" panose="020B0604020202020204" pitchFamily="34" charset="0"/>
                <a:ea typeface="ＭＳ Ｐゴシック" panose="020B0600070205080204" pitchFamily="34" charset="-128"/>
                <a:cs typeface="Arial" panose="020B0604020202020204" pitchFamily="34" charset="0"/>
              </a:rPr>
              <a:t> = If previous comparison of A and B found A &lt; B, then jump to instruction at address </a:t>
            </a:r>
            <a:r>
              <a:rPr lang="en-US" altLang="en-US" i="1" dirty="0">
                <a:latin typeface="Arial" panose="020B0604020202020204" pitchFamily="34" charset="0"/>
                <a:ea typeface="ＭＳ Ｐゴシック" panose="020B0600070205080204" pitchFamily="34" charset="-128"/>
                <a:cs typeface="Arial" panose="020B0604020202020204" pitchFamily="34" charset="0"/>
              </a:rPr>
              <a:t>a</a:t>
            </a:r>
          </a:p>
          <a:p>
            <a:endParaRPr lang="en-US" dirty="0"/>
          </a:p>
          <a:p>
            <a:endParaRPr lang="en-US" dirty="0"/>
          </a:p>
        </p:txBody>
      </p:sp>
    </p:spTree>
    <p:extLst>
      <p:ext uri="{BB962C8B-B14F-4D97-AF65-F5344CB8AC3E}">
        <p14:creationId xmlns:p14="http://schemas.microsoft.com/office/powerpoint/2010/main" val="1597493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CCAA43-B00A-47BC-9D66-AEFF5F1611D3}"/>
              </a:ext>
            </a:extLst>
          </p:cNvPr>
          <p:cNvSpPr txBox="1"/>
          <p:nvPr/>
        </p:nvSpPr>
        <p:spPr>
          <a:xfrm>
            <a:off x="975360" y="1381760"/>
            <a:ext cx="10464800" cy="4154984"/>
          </a:xfrm>
          <a:prstGeom prst="rect">
            <a:avLst/>
          </a:prstGeom>
          <a:noFill/>
        </p:spPr>
        <p:txBody>
          <a:bodyPr wrap="square" rtlCol="0">
            <a:spAutoFit/>
          </a:bodyPr>
          <a:lstStyle/>
          <a:p>
            <a:r>
              <a:rPr lang="en-US" sz="2400" dirty="0">
                <a:solidFill>
                  <a:srgbClr val="FF0000"/>
                </a:solidFill>
              </a:rPr>
              <a:t>Instruction register </a:t>
            </a:r>
            <a:r>
              <a:rPr lang="en-US" sz="2400" dirty="0"/>
              <a:t>is used to store the instruction that we are executing </a:t>
            </a:r>
            <a:r>
              <a:rPr lang="en-US" sz="2400" dirty="0">
                <a:solidFill>
                  <a:srgbClr val="FF0000"/>
                </a:solidFill>
              </a:rPr>
              <a:t>now</a:t>
            </a:r>
            <a:r>
              <a:rPr lang="en-US" sz="2400" dirty="0"/>
              <a:t>.</a:t>
            </a:r>
          </a:p>
          <a:p>
            <a:r>
              <a:rPr lang="en-US" sz="2400" dirty="0"/>
              <a:t>How do we know where to grab the instruction in memory?</a:t>
            </a:r>
          </a:p>
          <a:p>
            <a:r>
              <a:rPr lang="en-US" sz="2400" dirty="0"/>
              <a:t>There is a register hold the address of the </a:t>
            </a:r>
            <a:r>
              <a:rPr lang="en-US" sz="2400" dirty="0">
                <a:solidFill>
                  <a:srgbClr val="FF0000"/>
                </a:solidFill>
              </a:rPr>
              <a:t>next instruction</a:t>
            </a:r>
            <a:r>
              <a:rPr lang="en-US" sz="2400" dirty="0"/>
              <a:t>. It called </a:t>
            </a:r>
            <a:r>
              <a:rPr lang="en-US" sz="2400" dirty="0">
                <a:solidFill>
                  <a:srgbClr val="FF0000"/>
                </a:solidFill>
              </a:rPr>
              <a:t>program counter.</a:t>
            </a:r>
          </a:p>
          <a:p>
            <a:r>
              <a:rPr lang="en-US" sz="2400" dirty="0"/>
              <a:t>If we are working with a system that control unit always keeps track of the next instruction to operate.</a:t>
            </a:r>
          </a:p>
          <a:p>
            <a:r>
              <a:rPr lang="en-US" sz="2400" dirty="0"/>
              <a:t>When we are ready to execute that. We fetch the value at that location and stored in the instruction register. Then we start to interpret(</a:t>
            </a:r>
            <a:r>
              <a:rPr lang="zh-CN" altLang="en-US" sz="2400" dirty="0"/>
              <a:t>翻译）</a:t>
            </a:r>
            <a:r>
              <a:rPr lang="en-US" sz="2400" dirty="0"/>
              <a:t> decode and</a:t>
            </a:r>
            <a:r>
              <a:rPr lang="en-US" altLang="zh-CN" sz="2400" dirty="0"/>
              <a:t> op code. Is there the address components as well. </a:t>
            </a:r>
            <a:r>
              <a:rPr lang="en-US" sz="2400" dirty="0"/>
              <a:t> </a:t>
            </a:r>
          </a:p>
          <a:p>
            <a:endParaRPr lang="en-US" sz="2400" dirty="0"/>
          </a:p>
          <a:p>
            <a:endParaRPr lang="en-US" sz="2400" dirty="0"/>
          </a:p>
        </p:txBody>
      </p:sp>
      <p:sp>
        <p:nvSpPr>
          <p:cNvPr id="3" name="TextBox 2">
            <a:extLst>
              <a:ext uri="{FF2B5EF4-FFF2-40B4-BE49-F238E27FC236}">
                <a16:creationId xmlns:a16="http://schemas.microsoft.com/office/drawing/2014/main" id="{6E3B7E36-8111-4453-9195-68265AD44CA7}"/>
              </a:ext>
            </a:extLst>
          </p:cNvPr>
          <p:cNvSpPr txBox="1"/>
          <p:nvPr/>
        </p:nvSpPr>
        <p:spPr>
          <a:xfrm>
            <a:off x="7305040" y="264160"/>
            <a:ext cx="2560320" cy="369332"/>
          </a:xfrm>
          <a:prstGeom prst="rect">
            <a:avLst/>
          </a:prstGeom>
          <a:noFill/>
        </p:spPr>
        <p:txBody>
          <a:bodyPr wrap="square" rtlCol="0">
            <a:spAutoFit/>
          </a:bodyPr>
          <a:lstStyle/>
          <a:p>
            <a:r>
              <a:rPr lang="en-US" dirty="0"/>
              <a:t>Feature </a:t>
            </a:r>
            <a:r>
              <a:rPr lang="zh-CN" altLang="en-US" dirty="0"/>
              <a:t>特色，特征</a:t>
            </a:r>
            <a:endParaRPr lang="en-US" dirty="0"/>
          </a:p>
        </p:txBody>
      </p:sp>
    </p:spTree>
    <p:extLst>
      <p:ext uri="{BB962C8B-B14F-4D97-AF65-F5344CB8AC3E}">
        <p14:creationId xmlns:p14="http://schemas.microsoft.com/office/powerpoint/2010/main" val="1958664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CE2FF6-2F33-4F71-9CBE-EE604595D1BE}"/>
              </a:ext>
            </a:extLst>
          </p:cNvPr>
          <p:cNvSpPr txBox="1"/>
          <p:nvPr/>
        </p:nvSpPr>
        <p:spPr>
          <a:xfrm>
            <a:off x="2682240" y="1443841"/>
            <a:ext cx="7487920" cy="3970318"/>
          </a:xfrm>
          <a:prstGeom prst="rect">
            <a:avLst/>
          </a:prstGeom>
          <a:noFill/>
        </p:spPr>
        <p:txBody>
          <a:bodyPr wrap="square" rtlCol="0">
            <a:spAutoFit/>
          </a:bodyPr>
          <a:lstStyle/>
          <a:p>
            <a:r>
              <a:rPr lang="en-US" altLang="zh-CN" sz="2800" dirty="0"/>
              <a:t>GPU</a:t>
            </a:r>
            <a:r>
              <a:rPr lang="zh-CN" altLang="en-US" sz="2800" dirty="0"/>
              <a:t>：</a:t>
            </a:r>
            <a:r>
              <a:rPr lang="en-US" altLang="zh-CN" sz="2800" dirty="0"/>
              <a:t>graphical card </a:t>
            </a:r>
          </a:p>
          <a:p>
            <a:r>
              <a:rPr lang="en-US" altLang="zh-CN" sz="2800" dirty="0"/>
              <a:t>Graphical processing unit</a:t>
            </a:r>
          </a:p>
          <a:p>
            <a:r>
              <a:rPr lang="en-US" altLang="zh-CN" sz="2800" dirty="0"/>
              <a:t>GUP is run single instruction multiple data(SIMD) they are all running the same instructions but operate on their own copies of data.</a:t>
            </a:r>
          </a:p>
          <a:p>
            <a:r>
              <a:rPr lang="en-US" altLang="zh-CN" sz="2800" dirty="0"/>
              <a:t>So graphics cards then could are perfect for this because to calcite the color for each dot is basically the same algorithms being re it just need different data to be working on.  </a:t>
            </a:r>
          </a:p>
        </p:txBody>
      </p:sp>
    </p:spTree>
    <p:extLst>
      <p:ext uri="{BB962C8B-B14F-4D97-AF65-F5344CB8AC3E}">
        <p14:creationId xmlns:p14="http://schemas.microsoft.com/office/powerpoint/2010/main" val="1780709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54F7E6-12CE-48C2-8A07-78B06B0CCE15}"/>
              </a:ext>
            </a:extLst>
          </p:cNvPr>
          <p:cNvSpPr txBox="1"/>
          <p:nvPr/>
        </p:nvSpPr>
        <p:spPr>
          <a:xfrm>
            <a:off x="2489200" y="1341120"/>
            <a:ext cx="6918960" cy="954107"/>
          </a:xfrm>
          <a:prstGeom prst="rect">
            <a:avLst/>
          </a:prstGeom>
          <a:noFill/>
        </p:spPr>
        <p:txBody>
          <a:bodyPr wrap="square" rtlCol="0">
            <a:spAutoFit/>
          </a:bodyPr>
          <a:lstStyle/>
          <a:p>
            <a:r>
              <a:rPr lang="en-US" sz="2800" dirty="0"/>
              <a:t>RAM: stored on a computer chips</a:t>
            </a:r>
            <a:r>
              <a:rPr lang="zh-CN" altLang="en-US" sz="2800" dirty="0"/>
              <a:t>（</a:t>
            </a:r>
            <a:r>
              <a:rPr lang="en-US" altLang="zh-CN" sz="2800" dirty="0"/>
              <a:t>RAM</a:t>
            </a:r>
            <a:r>
              <a:rPr lang="zh-CN" altLang="en-US" sz="2800" dirty="0"/>
              <a:t>储存在计算机芯片上</a:t>
            </a:r>
            <a:r>
              <a:rPr lang="en-US" altLang="zh-CN" sz="2800" dirty="0"/>
              <a:t>)</a:t>
            </a:r>
            <a:r>
              <a:rPr lang="en-US" sz="2800" dirty="0"/>
              <a:t>  </a:t>
            </a:r>
          </a:p>
        </p:txBody>
      </p:sp>
      <p:sp>
        <p:nvSpPr>
          <p:cNvPr id="3" name="TextBox 2">
            <a:extLst>
              <a:ext uri="{FF2B5EF4-FFF2-40B4-BE49-F238E27FC236}">
                <a16:creationId xmlns:a16="http://schemas.microsoft.com/office/drawing/2014/main" id="{73E15BB0-625A-42CC-9952-0A6A93C19DFD}"/>
              </a:ext>
            </a:extLst>
          </p:cNvPr>
          <p:cNvSpPr txBox="1"/>
          <p:nvPr/>
        </p:nvSpPr>
        <p:spPr>
          <a:xfrm>
            <a:off x="2407920" y="2763520"/>
            <a:ext cx="7233920" cy="523220"/>
          </a:xfrm>
          <a:prstGeom prst="rect">
            <a:avLst/>
          </a:prstGeom>
          <a:noFill/>
        </p:spPr>
        <p:txBody>
          <a:bodyPr wrap="square" rtlCol="0">
            <a:spAutoFit/>
          </a:bodyPr>
          <a:lstStyle/>
          <a:p>
            <a:r>
              <a:rPr lang="en-US" sz="2800" dirty="0"/>
              <a:t>SSD: solid state diver </a:t>
            </a:r>
            <a:r>
              <a:rPr lang="zh-CN" altLang="en-US" sz="2800" dirty="0"/>
              <a:t>固态硬盘</a:t>
            </a:r>
            <a:r>
              <a:rPr lang="en-US" altLang="zh-CN" sz="2800" dirty="0"/>
              <a:t>: </a:t>
            </a:r>
            <a:r>
              <a:rPr lang="en-US" altLang="zh-CN" sz="2800" dirty="0" err="1"/>
              <a:t>eg</a:t>
            </a:r>
            <a:r>
              <a:rPr lang="en-US" altLang="zh-CN" sz="2800" dirty="0"/>
              <a:t> CD</a:t>
            </a:r>
            <a:r>
              <a:rPr lang="zh-CN" altLang="en-US" sz="2800" dirty="0"/>
              <a:t>、</a:t>
            </a:r>
            <a:r>
              <a:rPr lang="en-US" altLang="zh-CN" sz="2800" dirty="0"/>
              <a:t>DVD</a:t>
            </a:r>
            <a:endParaRPr lang="en-US" sz="2800" dirty="0"/>
          </a:p>
        </p:txBody>
      </p:sp>
      <p:sp>
        <p:nvSpPr>
          <p:cNvPr id="4" name="TextBox 3">
            <a:extLst>
              <a:ext uri="{FF2B5EF4-FFF2-40B4-BE49-F238E27FC236}">
                <a16:creationId xmlns:a16="http://schemas.microsoft.com/office/drawing/2014/main" id="{3F76AC35-D7C8-4D5D-BE75-25FAD50AB68E}"/>
              </a:ext>
            </a:extLst>
          </p:cNvPr>
          <p:cNvSpPr txBox="1"/>
          <p:nvPr/>
        </p:nvSpPr>
        <p:spPr>
          <a:xfrm>
            <a:off x="1503680" y="3755033"/>
            <a:ext cx="9357360" cy="461665"/>
          </a:xfrm>
          <a:prstGeom prst="rect">
            <a:avLst/>
          </a:prstGeom>
          <a:noFill/>
        </p:spPr>
        <p:txBody>
          <a:bodyPr wrap="square" rtlCol="0">
            <a:spAutoFit/>
          </a:bodyPr>
          <a:lstStyle/>
          <a:p>
            <a:r>
              <a:rPr lang="en-US" sz="2400" dirty="0"/>
              <a:t>Your BIOS(basic input output system )</a:t>
            </a:r>
            <a:r>
              <a:rPr lang="en-US" sz="2400" dirty="0">
                <a:solidFill>
                  <a:srgbClr val="FF0000"/>
                </a:solidFill>
              </a:rPr>
              <a:t>not </a:t>
            </a:r>
            <a:r>
              <a:rPr lang="en-US" sz="2400" dirty="0"/>
              <a:t>stored on RAM </a:t>
            </a:r>
            <a:r>
              <a:rPr lang="zh-CN" altLang="en-US" sz="2400" dirty="0"/>
              <a:t>装在</a:t>
            </a:r>
            <a:r>
              <a:rPr lang="en-US" altLang="zh-CN" sz="2400" dirty="0"/>
              <a:t>ROM</a:t>
            </a:r>
            <a:r>
              <a:rPr lang="zh-CN" altLang="en-US" sz="2400" dirty="0"/>
              <a:t>中</a:t>
            </a:r>
            <a:endParaRPr lang="en-US" sz="2400" dirty="0"/>
          </a:p>
        </p:txBody>
      </p:sp>
      <p:sp>
        <p:nvSpPr>
          <p:cNvPr id="5" name="TextBox 4">
            <a:extLst>
              <a:ext uri="{FF2B5EF4-FFF2-40B4-BE49-F238E27FC236}">
                <a16:creationId xmlns:a16="http://schemas.microsoft.com/office/drawing/2014/main" id="{253DCD44-2738-41DF-BF47-CDF2752F7E3F}"/>
              </a:ext>
            </a:extLst>
          </p:cNvPr>
          <p:cNvSpPr txBox="1"/>
          <p:nvPr/>
        </p:nvSpPr>
        <p:spPr>
          <a:xfrm>
            <a:off x="1259840" y="4836160"/>
            <a:ext cx="8940800" cy="1077218"/>
          </a:xfrm>
          <a:prstGeom prst="rect">
            <a:avLst/>
          </a:prstGeom>
          <a:noFill/>
        </p:spPr>
        <p:txBody>
          <a:bodyPr wrap="square" rtlCol="0">
            <a:spAutoFit/>
          </a:bodyPr>
          <a:lstStyle/>
          <a:p>
            <a:r>
              <a:rPr lang="en-US" sz="3200" dirty="0" err="1"/>
              <a:t>Eprom</a:t>
            </a:r>
            <a:r>
              <a:rPr lang="en-US" sz="3200" dirty="0"/>
              <a:t>(Erasable programmable read-only memory)</a:t>
            </a:r>
            <a:r>
              <a:rPr lang="zh-CN" altLang="en-US" sz="3200" dirty="0"/>
              <a:t> 可擦写可编程只读存储器</a:t>
            </a:r>
            <a:endParaRPr lang="en-US" sz="3200" dirty="0"/>
          </a:p>
        </p:txBody>
      </p:sp>
    </p:spTree>
    <p:extLst>
      <p:ext uri="{BB962C8B-B14F-4D97-AF65-F5344CB8AC3E}">
        <p14:creationId xmlns:p14="http://schemas.microsoft.com/office/powerpoint/2010/main" val="31518453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F7F3E7-E991-4B25-A99E-360CE1705B3C}"/>
              </a:ext>
            </a:extLst>
          </p:cNvPr>
          <p:cNvSpPr txBox="1"/>
          <p:nvPr/>
        </p:nvSpPr>
        <p:spPr>
          <a:xfrm>
            <a:off x="3545840" y="1198880"/>
            <a:ext cx="5008880" cy="923330"/>
          </a:xfrm>
          <a:prstGeom prst="rect">
            <a:avLst/>
          </a:prstGeom>
          <a:noFill/>
        </p:spPr>
        <p:txBody>
          <a:bodyPr wrap="square" rtlCol="0">
            <a:spAutoFit/>
          </a:bodyPr>
          <a:lstStyle/>
          <a:p>
            <a:r>
              <a:rPr lang="en-US" dirty="0"/>
              <a:t>the major advantage of the stored </a:t>
            </a:r>
            <a:r>
              <a:rPr lang="en-US" dirty="0" err="1"/>
              <a:t>programme</a:t>
            </a:r>
            <a:r>
              <a:rPr lang="en-US" dirty="0"/>
              <a:t> type of computer is that the control sequence can be changed simply by modifying the </a:t>
            </a:r>
            <a:r>
              <a:rPr lang="en-US" dirty="0" err="1"/>
              <a:t>programme</a:t>
            </a:r>
            <a:r>
              <a:rPr lang="en-US" dirty="0"/>
              <a:t>.</a:t>
            </a:r>
          </a:p>
        </p:txBody>
      </p:sp>
    </p:spTree>
    <p:extLst>
      <p:ext uri="{BB962C8B-B14F-4D97-AF65-F5344CB8AC3E}">
        <p14:creationId xmlns:p14="http://schemas.microsoft.com/office/powerpoint/2010/main" val="839341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1173</TotalTime>
  <Words>1388</Words>
  <Application>Microsoft Office PowerPoint</Application>
  <PresentationFormat>Widescreen</PresentationFormat>
  <Paragraphs>142</Paragraphs>
  <Slides>30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Arial</vt: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Jiahui Xia</dc:creator>
  <cp:lastModifiedBy>Jiahui Xia</cp:lastModifiedBy>
  <cp:revision>49</cp:revision>
  <dcterms:created xsi:type="dcterms:W3CDTF">2020-09-17T18:40:04Z</dcterms:created>
  <dcterms:modified xsi:type="dcterms:W3CDTF">2020-09-23T17:24:26Z</dcterms:modified>
</cp:coreProperties>
</file>