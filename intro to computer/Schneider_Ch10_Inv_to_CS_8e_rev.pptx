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handoutMasterIdLst>
    <p:handoutMasterId r:id="rId54"/>
  </p:handoutMasterIdLst>
  <p:sldIdLst>
    <p:sldId id="307"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308" r:id="rId30"/>
    <p:sldId id="309"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8" r:id="rId44"/>
    <p:sldId id="299" r:id="rId45"/>
    <p:sldId id="300" r:id="rId46"/>
    <p:sldId id="301" r:id="rId47"/>
    <p:sldId id="302" r:id="rId48"/>
    <p:sldId id="303" r:id="rId49"/>
    <p:sldId id="304" r:id="rId50"/>
    <p:sldId id="305" r:id="rId51"/>
    <p:sldId id="306"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B14B"/>
    <a:srgbClr val="5FC3DA"/>
    <a:srgbClr val="536E75"/>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434" autoAdjust="0"/>
  </p:normalViewPr>
  <p:slideViewPr>
    <p:cSldViewPr snapToGrid="0">
      <p:cViewPr varScale="1">
        <p:scale>
          <a:sx n="65" d="100"/>
          <a:sy n="65" d="100"/>
        </p:scale>
        <p:origin x="57" y="921"/>
      </p:cViewPr>
      <p:guideLst>
        <p:guide orient="horz" pos="705"/>
        <p:guide pos="5612"/>
        <p:guide pos="4085"/>
        <p:guide pos="2881"/>
      </p:guideLst>
    </p:cSldViewPr>
  </p:slideViewPr>
  <p:outlineViewPr>
    <p:cViewPr>
      <p:scale>
        <a:sx n="33" d="100"/>
        <a:sy n="33" d="100"/>
      </p:scale>
      <p:origin x="0" y="-3744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pPr/>
              <a:t>2/17/2018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pPr/>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pPr/>
              <a:t>2/17/2018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pPr/>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t" anchorCtr="0">
            <a:normAutofit/>
          </a:bodyPr>
          <a:lstStyle>
            <a:lvl1pPr algn="l">
              <a:lnSpc>
                <a:spcPct val="100000"/>
              </a:lnSpc>
              <a:defRPr sz="2500" b="1"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a:buClr>
                <a:srgbClr val="34B14B"/>
              </a:buClr>
              <a:defRPr sz="2600" b="0" i="0">
                <a:latin typeface="Arial"/>
                <a:cs typeface="Arial"/>
              </a:defRPr>
            </a:lvl1pPr>
            <a:lvl2pPr>
              <a:buClr>
                <a:srgbClr val="34B14B"/>
              </a:buClr>
              <a:defRPr sz="2400" b="0" i="0">
                <a:latin typeface="Arial"/>
                <a:cs typeface="Arial"/>
              </a:defRPr>
            </a:lvl2pPr>
            <a:lvl3pPr marL="1143000" indent="-228600">
              <a:buClr>
                <a:srgbClr val="34B14B"/>
              </a:buClr>
              <a:buFont typeface="Wingdings" pitchFamily="2" charset="2"/>
              <a:buChar char="§"/>
              <a:defRPr sz="2200" b="0" i="0">
                <a:latin typeface="Arial"/>
                <a:cs typeface="Arial"/>
              </a:defRPr>
            </a:lvl3pPr>
            <a:lvl4pPr marL="1600200" indent="-228600">
              <a:buClr>
                <a:srgbClr val="34B14B"/>
              </a:buClr>
              <a:buFont typeface="Courier New" pitchFamily="49" charset="0"/>
              <a:buChar char="o"/>
              <a:defRPr b="0" i="0">
                <a:latin typeface="Arial"/>
                <a:cs typeface="Arial"/>
              </a:defRPr>
            </a:lvl4pPr>
            <a:lvl5pPr>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Content Placeholder 2"/>
          <p:cNvSpPr>
            <a:spLocks noGrp="1"/>
          </p:cNvSpPr>
          <p:nvPr>
            <p:ph sz="half" idx="1"/>
          </p:nvPr>
        </p:nvSpPr>
        <p:spPr>
          <a:xfrm>
            <a:off x="457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4648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9144000" cy="1060704"/>
          </a:xfrm>
          <a:ln>
            <a:noFill/>
          </a:ln>
        </p:spPr>
        <p:txBody>
          <a:bodyPr anchor="t" anchorCtr="0">
            <a:normAutofit/>
          </a:bodyPr>
          <a:lstStyle>
            <a:lvl1pPr algn="l">
              <a:lnSpc>
                <a:spcPct val="100000"/>
              </a:lnSpc>
              <a:defRPr sz="2500"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302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pPr/>
              <a:t>‹#›</a:t>
            </a:fld>
            <a:endParaRPr lang="en-US" dirty="0"/>
          </a:p>
        </p:txBody>
      </p:sp>
      <p:sp>
        <p:nvSpPr>
          <p:cNvPr id="7" name="Text Placeholder 5"/>
          <p:cNvSpPr>
            <a:spLocks noGrp="1"/>
          </p:cNvSpPr>
          <p:nvPr>
            <p:ph type="body" sz="quarter" idx="13"/>
          </p:nvPr>
        </p:nvSpPr>
        <p:spPr>
          <a:xfrm>
            <a:off x="2833433" y="6313295"/>
            <a:ext cx="3477134" cy="379413"/>
          </a:xfrm>
        </p:spPr>
        <p:txBody>
          <a:bodyPr/>
          <a:lstStyle>
            <a:lvl1pPr marL="0" indent="0" algn="ctr">
              <a:buNone/>
              <a:defRPr sz="1800" b="1">
                <a:solidFill>
                  <a:schemeClr val="bg1"/>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34726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201284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7"/>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535117"/>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29683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193399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185670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244823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90" y="5367342"/>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1433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380909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2"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251803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498605" y="248195"/>
            <a:ext cx="4645395"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1592474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5333910" y="3422664"/>
            <a:ext cx="3709317" cy="1322757"/>
          </a:xfrm>
        </p:spPr>
        <p:txBody>
          <a:bodyPr/>
          <a:lstStyle/>
          <a:p>
            <a:pPr marL="115888" lvl="1">
              <a:spcBef>
                <a:spcPts val="624"/>
              </a:spcBef>
              <a:buClr>
                <a:srgbClr val="FFFFFF"/>
              </a:buClr>
              <a:buSzPct val="100000"/>
              <a:tabLst>
                <a:tab pos="290513"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3600" dirty="0">
                <a:solidFill>
                  <a:schemeClr val="tx1"/>
                </a:solidFill>
                <a:latin typeface="Arial" pitchFamily="34" charset="0"/>
                <a:cs typeface="Arial" pitchFamily="34" charset="0"/>
              </a:rPr>
              <a:t>The Tower of Babel</a:t>
            </a:r>
          </a:p>
        </p:txBody>
      </p:sp>
      <p:sp>
        <p:nvSpPr>
          <p:cNvPr id="2" name="Title 1"/>
          <p:cNvSpPr>
            <a:spLocks noGrp="1"/>
          </p:cNvSpPr>
          <p:nvPr>
            <p:ph type="title"/>
          </p:nvPr>
        </p:nvSpPr>
        <p:spPr>
          <a:xfrm>
            <a:off x="5665944" y="1528356"/>
            <a:ext cx="3172867" cy="1143000"/>
          </a:xfrm>
        </p:spPr>
        <p:txBody>
          <a:bodyPr>
            <a:normAutofit/>
          </a:bodyPr>
          <a:lstStyle/>
          <a:p>
            <a:r>
              <a:rPr lang="en-US" sz="4000" dirty="0">
                <a:latin typeface="Arial" panose="020B0604020202020204" pitchFamily="34" charset="0"/>
                <a:cs typeface="Arial" panose="020B0604020202020204" pitchFamily="34" charset="0"/>
              </a:rPr>
              <a:t>Chapter 10</a:t>
            </a:r>
            <a:endParaRPr lang="en-US" sz="4000" dirty="0"/>
          </a:p>
        </p:txBody>
      </p:sp>
    </p:spTree>
    <p:extLst>
      <p:ext uri="{BB962C8B-B14F-4D97-AF65-F5344CB8AC3E}">
        <p14:creationId xmlns:p14="http://schemas.microsoft.com/office/powerpoint/2010/main" val="1463814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Learning Objectives (1 of 2)</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Explain why so many programming languages exist </a:t>
            </a:r>
          </a:p>
          <a:p>
            <a:r>
              <a:rPr lang="en-US" altLang="en-US" dirty="0">
                <a:latin typeface="Arial" panose="020B0604020202020204" pitchFamily="34" charset="0"/>
                <a:ea typeface="ＭＳ Ｐゴシック" pitchFamily="34" charset="-128"/>
                <a:cs typeface="Arial" panose="020B0604020202020204" pitchFamily="34" charset="0"/>
              </a:rPr>
              <a:t>List four key procedural languages and the main purpose for the development of each </a:t>
            </a:r>
          </a:p>
          <a:p>
            <a:r>
              <a:rPr lang="en-US" altLang="en-US" dirty="0">
                <a:latin typeface="Arial" panose="020B0604020202020204" pitchFamily="34" charset="0"/>
                <a:ea typeface="ＭＳ Ｐゴシック" pitchFamily="34" charset="-128"/>
                <a:cs typeface="Arial" panose="020B0604020202020204" pitchFamily="34" charset="0"/>
              </a:rPr>
              <a:t>Describe the purpose of each special-purpose language: SQL, HTML, JavaScript, and R </a:t>
            </a:r>
          </a:p>
          <a:p>
            <a:r>
              <a:rPr lang="en-US" altLang="en-US" dirty="0">
                <a:latin typeface="Arial" panose="020B0604020202020204" pitchFamily="34" charset="0"/>
                <a:ea typeface="ＭＳ Ｐゴシック" pitchFamily="34" charset="-128"/>
                <a:cs typeface="Arial" panose="020B0604020202020204" pitchFamily="34" charset="0"/>
              </a:rPr>
              <a:t>Describe the alternative paradigms for programming languages: functional, logic, and parallel </a:t>
            </a: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Learning Objectives (2 of 2)</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Name a functional programming language and a logic programming language </a:t>
            </a:r>
          </a:p>
          <a:p>
            <a:r>
              <a:rPr lang="en-US" altLang="en-US" dirty="0">
                <a:latin typeface="Arial" panose="020B0604020202020204" pitchFamily="34" charset="0"/>
                <a:ea typeface="ＭＳ Ｐゴシック" pitchFamily="34" charset="-128"/>
                <a:cs typeface="Arial" panose="020B0604020202020204" pitchFamily="34" charset="0"/>
              </a:rPr>
              <a:t>Describe how logic programming languages work, and explain what facts, rules, and inference are </a:t>
            </a:r>
          </a:p>
          <a:p>
            <a:r>
              <a:rPr lang="en-US" altLang="en-US" dirty="0">
                <a:latin typeface="Arial" panose="020B0604020202020204" pitchFamily="34" charset="0"/>
                <a:ea typeface="ＭＳ Ｐゴシック" pitchFamily="34" charset="-128"/>
                <a:cs typeface="Arial" panose="020B0604020202020204" pitchFamily="34" charset="0"/>
              </a:rPr>
              <a:t>Explain how the MIMD model of parallel processing could be used to find the largest number in a list</a:t>
            </a:r>
          </a:p>
        </p:txBody>
      </p:sp>
    </p:spTree>
    <p:extLst>
      <p:ext uri="{BB962C8B-B14F-4D97-AF65-F5344CB8AC3E}">
        <p14:creationId xmlns:p14="http://schemas.microsoft.com/office/powerpoint/2010/main" val="3454184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Why Babel?</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Why isn’t there just one high-level programming language?</a:t>
            </a:r>
          </a:p>
          <a:p>
            <a:pPr lvl="1"/>
            <a:r>
              <a:rPr lang="en-US" altLang="en-US" dirty="0">
                <a:latin typeface="Arial" panose="020B0604020202020204" pitchFamily="34" charset="0"/>
                <a:ea typeface="ＭＳ Ｐゴシック" pitchFamily="34" charset="-128"/>
                <a:cs typeface="Arial" panose="020B0604020202020204" pitchFamily="34" charset="0"/>
              </a:rPr>
              <a:t>Why isn’t there just one model of automobile?</a:t>
            </a:r>
          </a:p>
          <a:p>
            <a:r>
              <a:rPr lang="en-US" altLang="en-US" dirty="0">
                <a:latin typeface="Arial" panose="020B0604020202020204" pitchFamily="34" charset="0"/>
                <a:ea typeface="ＭＳ Ｐゴシック" pitchFamily="34" charset="-128"/>
                <a:cs typeface="Arial" panose="020B0604020202020204" pitchFamily="34" charset="0"/>
              </a:rPr>
              <a:t>Each language has tasks it performs well</a:t>
            </a:r>
          </a:p>
          <a:p>
            <a:pPr lvl="1"/>
            <a:r>
              <a:rPr lang="en-US" altLang="en-US" dirty="0">
                <a:latin typeface="Arial" panose="020B0604020202020204" pitchFamily="34" charset="0"/>
                <a:ea typeface="ＭＳ Ｐゴシック" pitchFamily="34" charset="-128"/>
                <a:cs typeface="Arial" panose="020B0604020202020204" pitchFamily="34" charset="0"/>
              </a:rPr>
              <a:t>Complex computations on real numbers</a:t>
            </a:r>
          </a:p>
          <a:p>
            <a:pPr lvl="1"/>
            <a:r>
              <a:rPr lang="en-US" altLang="en-US" dirty="0">
                <a:latin typeface="Arial" panose="020B0604020202020204" pitchFamily="34" charset="0"/>
                <a:ea typeface="ＭＳ Ｐゴシック" pitchFamily="34" charset="-128"/>
                <a:cs typeface="Arial" panose="020B0604020202020204" pitchFamily="34" charset="0"/>
              </a:rPr>
              <a:t>Detailed page layout</a:t>
            </a:r>
          </a:p>
          <a:p>
            <a:pPr lvl="1"/>
            <a:r>
              <a:rPr lang="en-US" altLang="en-US" dirty="0">
                <a:latin typeface="Arial" panose="020B0604020202020204" pitchFamily="34" charset="0"/>
                <a:ea typeface="ＭＳ Ｐゴシック" pitchFamily="34" charset="-128"/>
                <a:cs typeface="Arial" panose="020B0604020202020204" pitchFamily="34" charset="0"/>
              </a:rPr>
              <a:t>Database interactions</a:t>
            </a:r>
          </a:p>
          <a:p>
            <a:r>
              <a:rPr lang="en-US" altLang="en-US" dirty="0">
                <a:latin typeface="Arial" panose="020B0604020202020204" pitchFamily="34" charset="0"/>
                <a:ea typeface="ＭＳ Ｐゴシック" pitchFamily="34" charset="-128"/>
                <a:cs typeface="Arial" panose="020B0604020202020204" pitchFamily="34" charset="0"/>
              </a:rPr>
              <a:t>Choose a language based on the tasks to be done</a:t>
            </a:r>
          </a:p>
          <a:p>
            <a:r>
              <a:rPr lang="en-US" altLang="en-US" dirty="0">
                <a:latin typeface="Arial" panose="020B0604020202020204" pitchFamily="34" charset="0"/>
                <a:ea typeface="ＭＳ Ｐゴシック" pitchFamily="34" charset="-128"/>
                <a:cs typeface="Arial" panose="020B0604020202020204" pitchFamily="34" charset="0"/>
              </a:rPr>
              <a:t>Choose a language based on its approach to computation (its philosophy)</a:t>
            </a:r>
          </a:p>
        </p:txBody>
      </p:sp>
    </p:spTree>
    <p:extLst>
      <p:ext uri="{BB962C8B-B14F-4D97-AF65-F5344CB8AC3E}">
        <p14:creationId xmlns:p14="http://schemas.microsoft.com/office/powerpoint/2010/main" val="4273912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 of </a:t>
            </a:r>
            <a:r>
              <a:rPr lang="en-US" altLang="en-US" sz="3600" b="0" dirty="0">
                <a:latin typeface="Arial" panose="020B0604020202020204" pitchFamily="34" charset="0"/>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Procedural language philosophy</a:t>
            </a:r>
          </a:p>
          <a:p>
            <a:pPr lvl="1"/>
            <a:r>
              <a:rPr lang="en-US" altLang="en-US" dirty="0">
                <a:latin typeface="Arial" panose="020B0604020202020204" pitchFamily="34" charset="0"/>
                <a:ea typeface="ＭＳ Ｐゴシック" pitchFamily="34" charset="-128"/>
                <a:cs typeface="Arial" panose="020B0604020202020204" pitchFamily="34" charset="0"/>
              </a:rPr>
              <a:t>Tell the computer step by step how to manipulate variables (data in memory locations)</a:t>
            </a:r>
          </a:p>
          <a:p>
            <a:r>
              <a:rPr lang="en-US" altLang="en-US" dirty="0">
                <a:latin typeface="Arial" panose="020B0604020202020204" pitchFamily="34" charset="0"/>
                <a:ea typeface="ＭＳ Ｐゴシック" pitchFamily="34" charset="-128"/>
                <a:cs typeface="Arial" panose="020B0604020202020204" pitchFamily="34" charset="0"/>
              </a:rPr>
              <a:t>Analogy to Romance languages</a:t>
            </a:r>
          </a:p>
          <a:p>
            <a:r>
              <a:rPr lang="en-US" altLang="en-US" dirty="0">
                <a:latin typeface="Arial" panose="020B0604020202020204" pitchFamily="34" charset="0"/>
                <a:ea typeface="ＭＳ Ｐゴシック" pitchFamily="34" charset="-128"/>
                <a:cs typeface="Arial" panose="020B0604020202020204" pitchFamily="34" charset="0"/>
              </a:rPr>
              <a:t>Here we survey procedural languages by historical perspective and intended purpose</a:t>
            </a:r>
          </a:p>
          <a:p>
            <a:pPr lvl="1"/>
            <a:r>
              <a:rPr lang="en-US" altLang="en-US" dirty="0">
                <a:latin typeface="Arial" panose="020B0604020202020204" pitchFamily="34" charset="0"/>
                <a:ea typeface="ＭＳ Ｐゴシック" pitchFamily="34" charset="-128"/>
                <a:cs typeface="Arial" panose="020B0604020202020204" pitchFamily="34" charset="0"/>
              </a:rPr>
              <a:t>Plankalkül, Fortran, COBOL, C/C++, Ada, Java, Python, C# and .NET</a:t>
            </a:r>
          </a:p>
        </p:txBody>
      </p:sp>
    </p:spTree>
    <p:extLst>
      <p:ext uri="{BB962C8B-B14F-4D97-AF65-F5344CB8AC3E}">
        <p14:creationId xmlns:p14="http://schemas.microsoft.com/office/powerpoint/2010/main" val="1728138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(2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Plankalkül</a:t>
            </a:r>
          </a:p>
          <a:p>
            <a:pPr lvl="1"/>
            <a:r>
              <a:rPr lang="en-US" altLang="en-US" dirty="0">
                <a:latin typeface="Arial" panose="020B0604020202020204" pitchFamily="34" charset="0"/>
                <a:ea typeface="ＭＳ Ｐゴシック" pitchFamily="34" charset="-128"/>
                <a:cs typeface="Arial" panose="020B0604020202020204" pitchFamily="34" charset="0"/>
              </a:rPr>
              <a:t>Translation: “formal planning system.”</a:t>
            </a:r>
          </a:p>
          <a:p>
            <a:pPr lvl="1"/>
            <a:r>
              <a:rPr lang="en-US" altLang="en-US" dirty="0">
                <a:latin typeface="Arial" panose="020B0604020202020204" pitchFamily="34" charset="0"/>
                <a:ea typeface="ＭＳ Ｐゴシック" pitchFamily="34" charset="-128"/>
                <a:cs typeface="Arial" panose="020B0604020202020204" pitchFamily="34" charset="0"/>
              </a:rPr>
              <a:t>Designed in Germany in 1945 by Konrad Zuse</a:t>
            </a:r>
          </a:p>
          <a:p>
            <a:pPr lvl="1"/>
            <a:r>
              <a:rPr lang="en-US" altLang="en-US" dirty="0">
                <a:latin typeface="Arial" panose="020B0604020202020204" pitchFamily="34" charset="0"/>
                <a:ea typeface="ＭＳ Ｐゴシック" pitchFamily="34" charset="-128"/>
                <a:cs typeface="Arial" panose="020B0604020202020204" pitchFamily="34" charset="0"/>
              </a:rPr>
              <a:t>Never implemented</a:t>
            </a:r>
          </a:p>
          <a:p>
            <a:pPr lvl="1"/>
            <a:r>
              <a:rPr lang="en-US" altLang="en-US" dirty="0">
                <a:latin typeface="Arial" panose="020B0604020202020204" pitchFamily="34" charset="0"/>
                <a:ea typeface="ＭＳ Ｐゴシック" pitchFamily="34" charset="-128"/>
                <a:cs typeface="Arial" panose="020B0604020202020204" pitchFamily="34" charset="0"/>
              </a:rPr>
              <a:t>Had the sophisticated concepts presented in the manual been known prior to 1972, they may have changed the development of programming languages</a:t>
            </a:r>
          </a:p>
        </p:txBody>
      </p:sp>
    </p:spTree>
    <p:extLst>
      <p:ext uri="{BB962C8B-B14F-4D97-AF65-F5344CB8AC3E}">
        <p14:creationId xmlns:p14="http://schemas.microsoft.com/office/powerpoint/2010/main" val="2338663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(3 of </a:t>
            </a:r>
            <a:r>
              <a:rPr lang="en-US" altLang="en-US" sz="3600" b="0" dirty="0">
                <a:latin typeface="Arial" panose="020B0604020202020204" pitchFamily="34" charset="0"/>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Fortran: Formula Translating System</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at IBM in the 1950s by John Backus</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First high-level language actually implemented</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Focus on numerical computation</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Control structures similar to assembly language</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GO TO</a:t>
            </a:r>
          </a:p>
          <a:p>
            <a:pPr marL="1071563" lvl="1" indent="-363538">
              <a:buFont typeface="Wingdings" pitchFamily="2" charset="2"/>
              <a:buChar char="§"/>
              <a:tabLst>
                <a:tab pos="717550" algn="l"/>
              </a:tabLst>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Like a JUMP</a:t>
            </a:r>
          </a:p>
          <a:p>
            <a:pPr marL="1071563" lvl="1" indent="-363538">
              <a:buFont typeface="Wingdings" pitchFamily="2" charset="2"/>
              <a:buChar char="§"/>
              <a:tabLst>
                <a:tab pos="717550" algn="l"/>
              </a:tabLst>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Can create spaghetti code</a:t>
            </a:r>
          </a:p>
          <a:p>
            <a:pPr marL="717550" indent="-363538">
              <a:buFont typeface="Arial" panose="020B0604020202020204" pitchFamily="34" charset="0"/>
              <a:buChar char="–"/>
              <a:tabLst>
                <a:tab pos="717550" algn="l"/>
              </a:tabLst>
              <a:defRPr/>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External libraries</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tested special-purpose code</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So many libraries exist that coders sometimes don’t need to write much actual code</a:t>
            </a:r>
          </a:p>
        </p:txBody>
      </p:sp>
    </p:spTree>
    <p:extLst>
      <p:ext uri="{BB962C8B-B14F-4D97-AF65-F5344CB8AC3E}">
        <p14:creationId xmlns:p14="http://schemas.microsoft.com/office/powerpoint/2010/main" val="644269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(4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COBOL: COmmon Business-Oriented Language</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by the U.S. Navy in 1959 and 1960 by a group headed by Admiral Grace Murray Hopper</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Focus on business applications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Inventory or payroll</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Master file updated by transaction files: file I/O key</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Wide use in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legacy code </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(old code still in use)</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Year 2000 (Y2K) issues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Required massive updating of old COBOL</a:t>
            </a:r>
          </a:p>
        </p:txBody>
      </p:sp>
    </p:spTree>
    <p:extLst>
      <p:ext uri="{BB962C8B-B14F-4D97-AF65-F5344CB8AC3E}">
        <p14:creationId xmlns:p14="http://schemas.microsoft.com/office/powerpoint/2010/main" val="2819463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(5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C/C++</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 developed in the early 1970s at AT&amp;T Labs by Dennis Ritchie</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Focuses on system programming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Close connection to UNIX</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Highly efficient</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High-level constructs as desired</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Low-level constructs when efficiency is needed</a:t>
            </a:r>
          </a:p>
        </p:txBody>
      </p:sp>
    </p:spTree>
    <p:extLst>
      <p:ext uri="{BB962C8B-B14F-4D97-AF65-F5344CB8AC3E}">
        <p14:creationId xmlns:p14="http://schemas.microsoft.com/office/powerpoint/2010/main" val="4051725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(6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pic>
        <p:nvPicPr>
          <p:cNvPr id="5" name="Picture 5" descr="A figure shows two illustrations are as follows&#10;The first illustration shows a human silhouette connected to a text box labeled “Hardware” through a cloud shaped text box between labeled “High-level language.” The text below reads: “A high-level language shields the programmer from the hardware.”&#10;The second illustration shows a human silhouette connected to a text box labeled “Hardware” through a cloud shaped text box between labeled “High-level C language.” A second connection connects the human silhouette and Hardware directly and is labeled “Low-level C construct.” &#10;The text given below the figure reads as “C can shield the programmer or allow direct access to hardw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888" y="1453693"/>
            <a:ext cx="6473825"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172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(7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80454" y="1274808"/>
            <a:ext cx="4262518" cy="4704397"/>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Access to variable’s value and its location</a:t>
            </a:r>
          </a:p>
          <a:p>
            <a:pPr lvl="1"/>
            <a:r>
              <a:rPr lang="en-US" altLang="en-US" i="1" dirty="0">
                <a:latin typeface="Arial" panose="020B0604020202020204" pitchFamily="34" charset="0"/>
                <a:ea typeface="ＭＳ Ｐゴシック" pitchFamily="34" charset="-128"/>
                <a:cs typeface="Arial" panose="020B0604020202020204" pitchFamily="34" charset="0"/>
              </a:rPr>
              <a:t>number </a:t>
            </a:r>
            <a:r>
              <a:rPr lang="en-US" altLang="en-US" dirty="0">
                <a:latin typeface="Arial" panose="020B0604020202020204" pitchFamily="34" charset="0"/>
                <a:ea typeface="ＭＳ Ｐゴシック" pitchFamily="34" charset="-128"/>
                <a:cs typeface="Arial" panose="020B0604020202020204" pitchFamily="34" charset="0"/>
              </a:rPr>
              <a:t>refers to its value</a:t>
            </a:r>
          </a:p>
          <a:p>
            <a:pPr lvl="1"/>
            <a:r>
              <a:rPr lang="en-US" altLang="en-US" i="1" dirty="0">
                <a:latin typeface="Arial" panose="020B0604020202020204" pitchFamily="34" charset="0"/>
                <a:ea typeface="ＭＳ Ｐゴシック" pitchFamily="34" charset="-128"/>
                <a:cs typeface="Arial" panose="020B0604020202020204" pitchFamily="34" charset="0"/>
              </a:rPr>
              <a:t>&amp;number</a:t>
            </a:r>
            <a:r>
              <a:rPr lang="en-US" altLang="en-US" dirty="0">
                <a:latin typeface="Arial" panose="020B0604020202020204" pitchFamily="34" charset="0"/>
                <a:ea typeface="ＭＳ Ｐゴシック" pitchFamily="34" charset="-128"/>
                <a:cs typeface="Arial" panose="020B0604020202020204" pitchFamily="34" charset="0"/>
              </a:rPr>
              <a:t> refers to its memory location</a:t>
            </a:r>
          </a:p>
          <a:p>
            <a:r>
              <a:rPr lang="en-US" altLang="en-US" dirty="0">
                <a:latin typeface="Arial" panose="020B0604020202020204" pitchFamily="34" charset="0"/>
                <a:ea typeface="ＭＳ Ｐゴシック" pitchFamily="34" charset="-128"/>
                <a:cs typeface="Arial" panose="020B0604020202020204" pitchFamily="34" charset="0"/>
              </a:rPr>
              <a:t>Pointer data type contains memory locations</a:t>
            </a:r>
          </a:p>
        </p:txBody>
      </p:sp>
      <p:pic>
        <p:nvPicPr>
          <p:cNvPr id="4" name="Picture 7" descr="An illustration shows two column header reads “Identifier, Address.” The first column shows the text “number.” The second column shows “1000.” An illustrated memory port shows “234.”&#10;Text below shows the following: C allows access to a memory cell address as well as to its cont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1346200"/>
            <a:ext cx="2744788" cy="458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5074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(8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pic>
        <p:nvPicPr>
          <p:cNvPr id="8" name="Picture 5" descr="A figure shows two illustrations with the header column reads “Identifier: Address” with the illustrated memory ports. A break is shown within the memory ports.&#10;The first illustration shows the following data:&#10;Before the break in the memory port in first illustration: intPointer, question mark, 800&#10;After the break in the memory port: intPointer, 800, question mark.&#10;The second illustration shows the following data reads:&#10;Before the break in the memory port in second illustration: intPointer, question mark, 800&#10;After the break in the memory port: intPointer, 800, 3.&#10;The third and the seventh section of each port are connected with the forward arrow.&#10;The text below shows the following: (a) The value 800 is assigned to intPointer; (b) The value 3 is assigned to intPoi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511" y="1235075"/>
            <a:ext cx="6254750"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578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(9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 specialty: system programming</a:t>
            </a:r>
          </a:p>
          <a:p>
            <a:pPr lvl="1">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Example: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device drivers</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Ability to interact with low-level hardware</a:t>
            </a:r>
          </a:p>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 was developed in the early 1980s at AT&amp;T Labs by Bjarne Stroustrup</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 is a superset of C</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Object-oriented programming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Collections of code libraries</a:t>
            </a:r>
          </a:p>
        </p:txBody>
      </p:sp>
    </p:spTree>
    <p:extLst>
      <p:ext uri="{BB962C8B-B14F-4D97-AF65-F5344CB8AC3E}">
        <p14:creationId xmlns:p14="http://schemas.microsoft.com/office/powerpoint/2010/main" val="336525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(10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Ada</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in the 1970s for the U.S. military</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Specialties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Multiprocessing</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Strong object-oriented</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Safety and reliability</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Used heavily by</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Defense Department</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Transportation industry</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Financial industry</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Communications industry</a:t>
            </a:r>
          </a:p>
        </p:txBody>
      </p:sp>
    </p:spTree>
    <p:extLst>
      <p:ext uri="{BB962C8B-B14F-4D97-AF65-F5344CB8AC3E}">
        <p14:creationId xmlns:p14="http://schemas.microsoft.com/office/powerpoint/2010/main" val="3690524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(11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JAVA</a:t>
            </a:r>
          </a:p>
          <a:p>
            <a:pPr lvl="1"/>
            <a:r>
              <a:rPr lang="en-US" altLang="en-US" dirty="0">
                <a:latin typeface="Arial" panose="020B0604020202020204" pitchFamily="34" charset="0"/>
                <a:ea typeface="ＭＳ Ｐゴシック" pitchFamily="34" charset="-128"/>
                <a:cs typeface="Arial" panose="020B0604020202020204" pitchFamily="34" charset="0"/>
              </a:rPr>
              <a:t>Developed by Sun Microsystems Inc. in the early 1990s</a:t>
            </a:r>
          </a:p>
          <a:p>
            <a:pPr lvl="1"/>
            <a:r>
              <a:rPr lang="en-US" altLang="en-US" dirty="0">
                <a:latin typeface="Arial" panose="020B0604020202020204" pitchFamily="34" charset="0"/>
                <a:ea typeface="ＭＳ Ｐゴシック" pitchFamily="34" charset="-128"/>
                <a:cs typeface="Arial" panose="020B0604020202020204" pitchFamily="34" charset="0"/>
              </a:rPr>
              <a:t>Designed for</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Platform independence</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Reliability</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Security</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Graphical user interfaces</a:t>
            </a:r>
          </a:p>
          <a:p>
            <a:pPr lvl="1"/>
            <a:r>
              <a:rPr lang="en-US" altLang="en-US" dirty="0">
                <a:latin typeface="Arial" panose="020B0604020202020204" pitchFamily="34" charset="0"/>
                <a:ea typeface="ＭＳ Ｐゴシック" pitchFamily="34" charset="-128"/>
                <a:cs typeface="Arial" panose="020B0604020202020204" pitchFamily="34" charset="0"/>
              </a:rPr>
              <a:t>Strong integration with web browsers</a:t>
            </a:r>
          </a:p>
          <a:p>
            <a:pPr lvl="1"/>
            <a:r>
              <a:rPr lang="en-US" altLang="en-US" dirty="0">
                <a:latin typeface="Arial" panose="020B0604020202020204" pitchFamily="34" charset="0"/>
                <a:ea typeface="ＭＳ Ｐゴシック" pitchFamily="34" charset="-128"/>
                <a:cs typeface="Arial" panose="020B0604020202020204" pitchFamily="34" charset="0"/>
              </a:rPr>
              <a:t>Object-oriented, like C++</a:t>
            </a:r>
          </a:p>
        </p:txBody>
      </p:sp>
    </p:spTree>
    <p:extLst>
      <p:ext uri="{BB962C8B-B14F-4D97-AF65-F5344CB8AC3E}">
        <p14:creationId xmlns:p14="http://schemas.microsoft.com/office/powerpoint/2010/main" val="3047175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(12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lvl="1"/>
            <a:r>
              <a:rPr lang="en-US" altLang="en-US" dirty="0">
                <a:latin typeface="Arial" panose="020B0604020202020204" pitchFamily="34" charset="0"/>
                <a:ea typeface="ＭＳ Ｐゴシック" pitchFamily="34" charset="-128"/>
                <a:cs typeface="Arial" panose="020B0604020202020204" pitchFamily="34" charset="0"/>
              </a:rPr>
              <a:t>Java programs may be</a:t>
            </a:r>
          </a:p>
          <a:p>
            <a:pPr marL="1071563" lvl="2" indent="-354013"/>
            <a:r>
              <a:rPr lang="en-US" altLang="en-US" b="1" dirty="0">
                <a:latin typeface="Arial" panose="020B0604020202020204" pitchFamily="34" charset="0"/>
                <a:ea typeface="ＭＳ Ｐゴシック" pitchFamily="34" charset="-128"/>
                <a:cs typeface="Arial" panose="020B0604020202020204" pitchFamily="34" charset="0"/>
              </a:rPr>
              <a:t>Applications</a:t>
            </a:r>
            <a:r>
              <a:rPr lang="en-US" altLang="en-US" dirty="0">
                <a:latin typeface="Arial" panose="020B0604020202020204" pitchFamily="34" charset="0"/>
                <a:ea typeface="ＭＳ Ｐゴシック" pitchFamily="34" charset="-128"/>
                <a:cs typeface="Arial" panose="020B0604020202020204" pitchFamily="34" charset="0"/>
              </a:rPr>
              <a:t>:</a:t>
            </a:r>
            <a:r>
              <a:rPr lang="en-US" altLang="en-US" b="1" dirty="0">
                <a:latin typeface="Arial" panose="020B0604020202020204" pitchFamily="34" charset="0"/>
                <a:ea typeface="ＭＳ Ｐゴシック" pitchFamily="34" charset="-128"/>
                <a:cs typeface="Arial" panose="020B0604020202020204" pitchFamily="34" charset="0"/>
              </a:rPr>
              <a:t> </a:t>
            </a:r>
            <a:r>
              <a:rPr lang="en-US" altLang="en-US" dirty="0">
                <a:latin typeface="Arial" panose="020B0604020202020204" pitchFamily="34" charset="0"/>
                <a:ea typeface="ＭＳ Ｐゴシック" pitchFamily="34" charset="-128"/>
                <a:cs typeface="Arial" panose="020B0604020202020204" pitchFamily="34" charset="0"/>
              </a:rPr>
              <a:t>stand-alone programs</a:t>
            </a:r>
          </a:p>
          <a:p>
            <a:pPr marL="1071563" lvl="2" indent="-354013"/>
            <a:r>
              <a:rPr lang="en-US" altLang="en-US" b="1" dirty="0">
                <a:latin typeface="Arial" panose="020B0604020202020204" pitchFamily="34" charset="0"/>
                <a:ea typeface="ＭＳ Ｐゴシック" pitchFamily="34" charset="-128"/>
                <a:cs typeface="Arial" panose="020B0604020202020204" pitchFamily="34" charset="0"/>
              </a:rPr>
              <a:t>Applets</a:t>
            </a:r>
            <a:r>
              <a:rPr lang="en-US" altLang="en-US" dirty="0">
                <a:latin typeface="Arial" panose="020B0604020202020204" pitchFamily="34" charset="0"/>
                <a:ea typeface="ＭＳ Ｐゴシック" pitchFamily="34" charset="-128"/>
                <a:cs typeface="Arial" panose="020B0604020202020204" pitchFamily="34" charset="0"/>
              </a:rPr>
              <a:t>: small programs that are accessed from the web and executed using </a:t>
            </a:r>
            <a:r>
              <a:rPr lang="en-US" altLang="en-US" b="1" dirty="0">
                <a:latin typeface="Arial" panose="020B0604020202020204" pitchFamily="34" charset="0"/>
                <a:ea typeface="ＭＳ Ｐゴシック" pitchFamily="34" charset="-128"/>
                <a:cs typeface="Arial" panose="020B0604020202020204" pitchFamily="34" charset="0"/>
              </a:rPr>
              <a:t>Java Web Start</a:t>
            </a:r>
          </a:p>
          <a:p>
            <a:pPr lvl="1"/>
            <a:r>
              <a:rPr lang="en-US" altLang="en-US" dirty="0">
                <a:latin typeface="Arial" panose="020B0604020202020204" pitchFamily="34" charset="0"/>
                <a:ea typeface="ＭＳ Ｐゴシック" pitchFamily="34" charset="-128"/>
                <a:cs typeface="Arial" panose="020B0604020202020204" pitchFamily="34" charset="0"/>
              </a:rPr>
              <a:t>Portability is a key strength</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Applications and applets run on most platforms and through most browsers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Source code compiles to platform-independent </a:t>
            </a:r>
            <a:r>
              <a:rPr lang="en-US" altLang="en-US" b="1" dirty="0">
                <a:latin typeface="Arial" panose="020B0604020202020204" pitchFamily="34" charset="0"/>
                <a:ea typeface="ＭＳ Ｐゴシック" pitchFamily="34" charset="-128"/>
                <a:cs typeface="Arial" panose="020B0604020202020204" pitchFamily="34" charset="0"/>
              </a:rPr>
              <a:t>bytecode</a:t>
            </a:r>
            <a:r>
              <a:rPr lang="en-US" altLang="en-US" dirty="0">
                <a:latin typeface="Arial" panose="020B0604020202020204" pitchFamily="34" charset="0"/>
                <a:ea typeface="ＭＳ Ｐゴシック" pitchFamily="34" charset="-128"/>
                <a:cs typeface="Arial" panose="020B0604020202020204" pitchFamily="34" charset="0"/>
              </a:rPr>
              <a:t> (generic low-level code)</a:t>
            </a:r>
          </a:p>
          <a:p>
            <a:pPr marL="1071563" lvl="2" indent="-354013"/>
            <a:r>
              <a:rPr lang="en-US" altLang="en-US" b="1" dirty="0">
                <a:latin typeface="Arial" panose="020B0604020202020204" pitchFamily="34" charset="0"/>
                <a:ea typeface="ＭＳ Ｐゴシック" pitchFamily="34" charset="-128"/>
                <a:cs typeface="Arial" panose="020B0604020202020204" pitchFamily="34" charset="0"/>
              </a:rPr>
              <a:t>Java bytecode interpreter</a:t>
            </a:r>
            <a:r>
              <a:rPr lang="en-US" altLang="en-US" dirty="0">
                <a:latin typeface="Arial" panose="020B0604020202020204" pitchFamily="34" charset="0"/>
                <a:ea typeface="ＭＳ Ｐゴシック" pitchFamily="34" charset="-128"/>
                <a:cs typeface="Arial" panose="020B0604020202020204" pitchFamily="34" charset="0"/>
              </a:rPr>
              <a:t> translates to host machine (small program, integrated into browsers)</a:t>
            </a:r>
          </a:p>
        </p:txBody>
      </p:sp>
    </p:spTree>
    <p:extLst>
      <p:ext uri="{BB962C8B-B14F-4D97-AF65-F5344CB8AC3E}">
        <p14:creationId xmlns:p14="http://schemas.microsoft.com/office/powerpoint/2010/main" val="4025930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(13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Python</a:t>
            </a:r>
          </a:p>
          <a:p>
            <a:pPr lvl="1"/>
            <a:r>
              <a:rPr lang="en-US" altLang="en-US" dirty="0">
                <a:latin typeface="Arial" panose="020B0604020202020204" pitchFamily="34" charset="0"/>
                <a:ea typeface="ＭＳ Ｐゴシック" pitchFamily="34" charset="-128"/>
                <a:cs typeface="Arial" panose="020B0604020202020204" pitchFamily="34" charset="0"/>
              </a:rPr>
              <a:t>Developed by Guido van Rossum in the early 1990s</a:t>
            </a:r>
          </a:p>
          <a:p>
            <a:pPr lvl="1"/>
            <a:r>
              <a:rPr lang="en-US" altLang="en-US" b="1" dirty="0">
                <a:latin typeface="Arial" panose="020B0604020202020204" pitchFamily="34" charset="0"/>
                <a:ea typeface="ＭＳ Ｐゴシック" pitchFamily="34" charset="-128"/>
                <a:cs typeface="Arial" panose="020B0604020202020204" pitchFamily="34" charset="0"/>
              </a:rPr>
              <a:t>Open source</a:t>
            </a:r>
            <a:r>
              <a:rPr lang="en-US" altLang="en-US" dirty="0">
                <a:latin typeface="Arial" panose="020B0604020202020204" pitchFamily="34" charset="0"/>
                <a:ea typeface="ＭＳ Ｐゴシック" pitchFamily="34" charset="-128"/>
                <a:cs typeface="Arial" panose="020B0604020202020204" pitchFamily="34" charset="0"/>
              </a:rPr>
              <a:t>: source code for Python is freely available and anyone may suggest changes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Language evolution is now guided by the Python Software Foundation</a:t>
            </a:r>
          </a:p>
          <a:p>
            <a:pPr lvl="1"/>
            <a:r>
              <a:rPr lang="en-US" altLang="en-US" dirty="0">
                <a:latin typeface="Arial" panose="020B0604020202020204" pitchFamily="34" charset="0"/>
                <a:ea typeface="ＭＳ Ｐゴシック" pitchFamily="34" charset="-128"/>
                <a:cs typeface="Arial" panose="020B0604020202020204" pitchFamily="34" charset="0"/>
              </a:rPr>
              <a:t>Developed for system administrator tasks and web interfaces</a:t>
            </a:r>
          </a:p>
          <a:p>
            <a:pPr lvl="1"/>
            <a:r>
              <a:rPr lang="en-US" altLang="en-US" dirty="0">
                <a:latin typeface="Arial" panose="020B0604020202020204" pitchFamily="34" charset="0"/>
                <a:ea typeface="ＭＳ Ｐゴシック" pitchFamily="34" charset="-128"/>
                <a:cs typeface="Arial" panose="020B0604020202020204" pitchFamily="34" charset="0"/>
              </a:rPr>
              <a:t>Interpreted language: source code is translated to object code when executed</a:t>
            </a:r>
          </a:p>
          <a:p>
            <a:pPr lvl="1"/>
            <a:r>
              <a:rPr lang="en-US" altLang="en-US" dirty="0">
                <a:latin typeface="Arial" panose="020B0604020202020204" pitchFamily="34" charset="0"/>
                <a:ea typeface="ＭＳ Ｐゴシック" pitchFamily="34" charset="-128"/>
                <a:cs typeface="Arial" panose="020B0604020202020204" pitchFamily="34" charset="0"/>
              </a:rPr>
              <a:t>Relaxed syntax, easy to use, extensive libraries</a:t>
            </a:r>
          </a:p>
        </p:txBody>
      </p:sp>
    </p:spTree>
    <p:extLst>
      <p:ext uri="{BB962C8B-B14F-4D97-AF65-F5344CB8AC3E}">
        <p14:creationId xmlns:p14="http://schemas.microsoft.com/office/powerpoint/2010/main" val="1645493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(14 of 15)</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buFont typeface="Arial" panose="020B0604020202020204" pitchFamily="34" charset="0"/>
              <a:buChar cha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by Microsoft in 2000</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Successor to C++ but not a superset</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Similar to Java in form and goals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Security</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Reliability</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Integrated into the .NET framework</a:t>
            </a:r>
          </a:p>
          <a:p>
            <a:pPr marL="1071563" lvl="1" indent="-363538">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Microsoft support framework for many languages</a:t>
            </a:r>
          </a:p>
          <a:p>
            <a:pPr marL="1071563" lvl="1" indent="-363538">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Large collection of code libraries and tools </a:t>
            </a:r>
          </a:p>
          <a:p>
            <a:pPr marL="717550" indent="-363538">
              <a:buFont typeface="Arial" panose="020B0604020202020204" pitchFamily="34" charset="0"/>
              <a:buChar char="–"/>
              <a:defRPr/>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Garbage collection</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reclaiming memory for reuse</a:t>
            </a:r>
          </a:p>
        </p:txBody>
      </p:sp>
    </p:spTree>
    <p:extLst>
      <p:ext uri="{BB962C8B-B14F-4D97-AF65-F5344CB8AC3E}">
        <p14:creationId xmlns:p14="http://schemas.microsoft.com/office/powerpoint/2010/main" val="4058321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(15 of 15)</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buFontTx/>
              <a:buNone/>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.NET</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All .NET languages are compiled into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Microsoft Intermediate Language (MSIL)</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MSIL code is compiled by a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just-in-time (JIT) compiler</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small program that produces platform-specific object code</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.NET languages include Ada, COBOL, C++, C#, and Visual Basic .NET</a:t>
            </a:r>
          </a:p>
        </p:txBody>
      </p:sp>
    </p:spTree>
    <p:extLst>
      <p:ext uri="{BB962C8B-B14F-4D97-AF65-F5344CB8AC3E}">
        <p14:creationId xmlns:p14="http://schemas.microsoft.com/office/powerpoint/2010/main" val="1672477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(1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Languages designed for one specific purpose, not general-purpose programming languages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SQL, Structured Query Language</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Ask questions about data in a database</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HTML (HyperText Markup Language)</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Describes the formatting of webpages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JavaScript</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Lightweight scripting language for active webpages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Code is embedded in the HTML for the page</a:t>
            </a:r>
          </a:p>
          <a:p>
            <a:pPr marL="660400">
              <a:buFont typeface="Symbol" panose="05050102010706020507" pitchFamily="18" charset="2"/>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R</a:t>
            </a:r>
          </a:p>
          <a:p>
            <a:pPr marL="1117600" lvl="1" indent="-342900">
              <a:buFont typeface="Wingdings" panose="05000000000000000000"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Specialized language designed for statistics and graphics</a:t>
            </a:r>
          </a:p>
          <a:p>
            <a:pPr marL="671513" indent="-354013">
              <a:buFont typeface="Wingdings" pitchFamily="2" charset="2"/>
              <a:buChar char="§"/>
              <a:defRPr/>
            </a:pP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794806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(2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SQL</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by IBM in 1986</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Databases store data</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 query describes what information the user wants, not how to find it</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Example: Find all names of vendors with whom we do more than $40,000 worth of business</a:t>
            </a:r>
          </a:p>
          <a:p>
            <a:pPr marL="1071563" lvl="1" indent="-265113">
              <a:buFontTx/>
              <a:buNone/>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SELECT NAME </a:t>
            </a:r>
          </a:p>
          <a:p>
            <a:pPr marL="1071563" lvl="1" indent="-265113">
              <a:buFontTx/>
              <a:buNone/>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FROM VENDOR</a:t>
            </a:r>
          </a:p>
          <a:p>
            <a:pPr marL="1071563" lvl="1" indent="-265113">
              <a:buFontTx/>
              <a:buNone/>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WHERE PURCHASE &gt; 40000</a:t>
            </a:r>
          </a:p>
        </p:txBody>
      </p:sp>
    </p:spTree>
    <p:extLst>
      <p:ext uri="{BB962C8B-B14F-4D97-AF65-F5344CB8AC3E}">
        <p14:creationId xmlns:p14="http://schemas.microsoft.com/office/powerpoint/2010/main" val="1384401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(3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HTML</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Contains text to be displayed and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tags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Tags describe</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Formatting of text</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Special effects</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Links to other webpages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Tags come in pairs: begin and end</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Tags are written within angle brackets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&lt;title&gt; and &lt;/title&gt;</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&lt;em&gt; and &lt;/em&gt;</a:t>
            </a:r>
          </a:p>
        </p:txBody>
      </p:sp>
    </p:spTree>
    <p:extLst>
      <p:ext uri="{BB962C8B-B14F-4D97-AF65-F5344CB8AC3E}">
        <p14:creationId xmlns:p14="http://schemas.microsoft.com/office/powerpoint/2010/main" val="2534290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(4 of 10)</a:t>
            </a:r>
            <a:endParaRPr lang="en-US" sz="3600" b="0" dirty="0">
              <a:latin typeface="Arial" panose="020B0604020202020204" pitchFamily="34" charset="0"/>
              <a:cs typeface="Arial" panose="020B0604020202020204" pitchFamily="34" charset="0"/>
            </a:endParaRPr>
          </a:p>
        </p:txBody>
      </p:sp>
      <p:pic>
        <p:nvPicPr>
          <p:cNvPr id="5" name="Picture 5" descr="Line 1: &lt; h t m l &gt;. Line 2, indented once: &lt; head &gt;. Line 3, indented twice: &lt; title &gt; first page &lt;, forward slash, title &gt;. Line 4, indented once: &lt;, forward slash, head &gt;. Line 5: blank. Line 6, indented once: &lt; body &gt;. Line 7, indented twice: &lt; h 1 &gt; this is an h 1 heading &lt;, forward slash, h 1 &gt;. Line 8, indented twice: &lt; p &gt; this text is &lt; strong &gt; important &lt;, forward slash, strong &gt; and. Line 9, indented 3 times: this text is &lt; e m &gt; emphasized &lt;, forward slash, e m &gt; &lt;, forward slash, p &gt;. Line 10, indented twice: &lt; p &gt; below is a bulleted list, colon, &lt;, forward slash, p &gt;. Line 11, indented twice: &lt; u l &gt;. Line 12, indented 3 times: &lt; l i &gt; first item &lt;, forward slash, l i &gt;. Line 13, indented 3 times: &lt; l i &gt; second item &lt;, forward slash, l i &gt;. Line 14, indented twice: &lt;, forward slash, u l &gt;. Line 15, indented twice: &lt; p &gt; here is a link to another web page, comma. Line 16, indented 3 times: &lt; ay h r e f =, open quotes, h t t p, colon, forward slash, forward slash, p b s, period, o r g, close quotes, &gt; p b s &lt;, forward slash, ay &gt; &lt;, forward slash, p &gt;. Line 17, indented twice: &lt; p &gt;and here is an image, colon, &lt;, forward slash, p &gt;. Line 18, indented 3 times: &lt; i m g s r c =, open quotes, flower 1, period, j p g, close quotes. Line 19, indented 3 times: alt =, open quotes, sunflowers in a field, close quotes, &gt;. Line 20, indented once: &lt;, forward slash, body &gt;. Line 21: &lt;, forward slash, h t m l &g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942" y="1411512"/>
            <a:ext cx="5616864"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0249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(5 of 10)</a:t>
            </a:r>
            <a:endParaRPr lang="en-US" sz="3600" b="0" dirty="0">
              <a:latin typeface="Arial" panose="020B0604020202020204" pitchFamily="34" charset="0"/>
              <a:cs typeface="Arial" panose="020B0604020202020204" pitchFamily="34" charset="0"/>
            </a:endParaRPr>
          </a:p>
        </p:txBody>
      </p:sp>
      <p:pic>
        <p:nvPicPr>
          <p:cNvPr id="4" name="Picture 5" descr="The screenshot of a webpage generated by H T M L code shows a webpage page with a headline with text below. There is also an image inserted in the p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552" y="1407885"/>
            <a:ext cx="6513512" cy="447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6905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(6 of 10)</a:t>
            </a:r>
            <a:endParaRPr lang="en-US" sz="3600" b="0" dirty="0">
              <a:latin typeface="Arial" panose="020B0604020202020204" pitchFamily="34" charset="0"/>
              <a:cs typeface="Arial" panose="020B0604020202020204" pitchFamily="34" charset="0"/>
            </a:endParaRPr>
          </a:p>
        </p:txBody>
      </p:sp>
      <p:pic>
        <p:nvPicPr>
          <p:cNvPr id="5" name="Picture 5" descr="H T M L Tag, h 1; purpose, Create H1 heading, bold with largest font size. H T M L Tag, p; purpose, New paragraph. H T M L Tag, strong; purpose Important. H T M L Tag, e m; purpose, Emphasized. H T M L Tag, u l; purpose, Unordered list, bulleted list. H T M L Tag, l I; purpose, List item. H T M L Tag, ay h r e f = open quotes, ellipsis, close quotes; purpose, Provides hyperlink address. H T M L Tag, I m g, s r c = open quotes, ellipsis, close quotes; Gives the source, location, for the image fil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437" y="1812164"/>
            <a:ext cx="7638098" cy="3319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9877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(7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JavaScript</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Code embeds in HTML </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Enables webpages to react to users</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Scripting language</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Interpreted</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Lightweight (reduced features)</a:t>
            </a:r>
          </a:p>
        </p:txBody>
      </p:sp>
    </p:spTree>
    <p:extLst>
      <p:ext uri="{BB962C8B-B14F-4D97-AF65-F5344CB8AC3E}">
        <p14:creationId xmlns:p14="http://schemas.microsoft.com/office/powerpoint/2010/main" val="1333559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(8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1773191"/>
          </a:xfrm>
        </p:spPr>
        <p:txBody>
          <a:bodyPr>
            <a:noAutofit/>
          </a:bodyPr>
          <a:lstStyle/>
          <a:p>
            <a:pPr>
              <a:buFontTx/>
              <a:buNone/>
            </a:pPr>
            <a:r>
              <a:rPr lang="en-US" altLang="en-US" dirty="0">
                <a:latin typeface="Arial" panose="020B0604020202020204" pitchFamily="34" charset="0"/>
                <a:ea typeface="ＭＳ Ｐゴシック" pitchFamily="34" charset="-128"/>
                <a:cs typeface="Arial" panose="020B0604020202020204" pitchFamily="34" charset="0"/>
              </a:rPr>
              <a:t>JavaScript example</a:t>
            </a:r>
          </a:p>
          <a:p>
            <a:pPr lvl="1">
              <a:buFont typeface="Arial" pitchFamily="34" charset="0"/>
              <a:buChar char="–"/>
            </a:pPr>
            <a:r>
              <a:rPr lang="en-US" altLang="en-US" dirty="0">
                <a:latin typeface="Arial" panose="020B0604020202020204" pitchFamily="34" charset="0"/>
                <a:ea typeface="ＭＳ Ｐゴシック" pitchFamily="34" charset="-128"/>
                <a:cs typeface="Arial" panose="020B0604020202020204" pitchFamily="34" charset="0"/>
              </a:rPr>
              <a:t>Change image when mouse moves over it</a:t>
            </a:r>
          </a:p>
          <a:p>
            <a:pPr lvl="1">
              <a:buFont typeface="Arial" pitchFamily="34" charset="0"/>
              <a:buChar char="–"/>
            </a:pPr>
            <a:r>
              <a:rPr lang="en-US" altLang="en-US" b="1" dirty="0">
                <a:latin typeface="Arial" panose="020B0604020202020204" pitchFamily="34" charset="0"/>
                <a:ea typeface="ＭＳ Ｐゴシック" pitchFamily="34" charset="-128"/>
                <a:cs typeface="Arial" panose="020B0604020202020204" pitchFamily="34" charset="0"/>
              </a:rPr>
              <a:t>Event handler</a:t>
            </a:r>
            <a:r>
              <a:rPr lang="en-US" altLang="en-US" dirty="0">
                <a:latin typeface="Arial" panose="020B0604020202020204" pitchFamily="34" charset="0"/>
                <a:ea typeface="ＭＳ Ｐゴシック" pitchFamily="34" charset="-128"/>
                <a:cs typeface="Arial" panose="020B0604020202020204" pitchFamily="34" charset="0"/>
              </a:rPr>
              <a:t>: a function that responds to an event like mouse movement, button clicks, etc.</a:t>
            </a:r>
            <a:endParaRPr lang="en-US" altLang="en-US" b="1" dirty="0">
              <a:latin typeface="Arial" panose="020B0604020202020204" pitchFamily="34" charset="0"/>
              <a:ea typeface="ＭＳ Ｐゴシック" pitchFamily="34" charset="-128"/>
              <a:cs typeface="Arial" panose="020B0604020202020204" pitchFamily="34" charset="0"/>
            </a:endParaRPr>
          </a:p>
        </p:txBody>
      </p:sp>
      <p:pic>
        <p:nvPicPr>
          <p:cNvPr id="4" name="Picture 7" descr="Line 1: &lt; i m g, s r c =, open quotes, flower 1, period, j p g, close quotes, i d =, open quotes, main image, close quotes. Line 2, indented once: alt =, open quotes, sun flowers in a field, close quotes. Line 3, indented once: on mouse out =, open quotes, images witch, left parenthesis, right parenthesis, close quotes. Line 4, indented once: on mouse over =, open quotes, images witch, left parenthesis, right parenthesis, close quotes &g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12" y="3733799"/>
            <a:ext cx="696277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084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algn="ctr" defTabSz="914400">
              <a:defRPr/>
            </a:pPr>
            <a:r>
              <a:rPr lang="en-US" altLang="en-US" sz="3600" b="0" kern="0" dirty="0">
                <a:latin typeface="Arial" panose="020B0604020202020204" pitchFamily="34" charset="0"/>
                <a:cs typeface="Arial" panose="020B0604020202020204" pitchFamily="34" charset="0"/>
              </a:rPr>
              <a:t>Figure 10.8 JavaScript embedded in an HTML page</a:t>
            </a:r>
          </a:p>
        </p:txBody>
      </p:sp>
      <p:pic>
        <p:nvPicPr>
          <p:cNvPr id="9" name="Picture 7" descr="Line 1: &lt; h t m l &gt;. Line 2, indented once: &lt; head &gt;. Line 3, indented twice: &lt; title &gt; first page &lt;, forward slash, title &gt;. Line 4: blank. Line 5, indented twice: &lt; script language =, open quotes, java script, close quotes, &gt;. Line 6: blank. Line 7, indented twice: function start value, left parenthesis, right parenthesis. Line 8, indented twice: left brace. Line 9, indented 3 times: next p i c name =, open quotes, flower 2, period, j p g, close quotes, semicolon. Line 10, indented twice: right brace. Line 11: blank. Line 12, indented twice: function images witch, left parenthesis, right parenthesis. Line 13, indented twice: left brace. Line 14, indented 3 times: forward slash, forward slash, switch photo to next p i c name. Line 15, indented 3 times: document, period, get element by i d, left parenthesis, open quotes, main image, close quotes, right parenthesis. Line 16, indented 4 times: period, s r c = next p i c name, semicolon. Line 17: blank. Line 18, indented 3 times: forward slash, forward slash, set up for the next switch. Line 19, indented 3 times: if, left parenthesis, next p i c name = =, open quotes, flower 2, period, j p g, close quotes, right parenthesis. Line 20, indented 3 times: left brace. Line 21, indented 4 times: next p i c name =, open quotes, flower 1, period, j p g, close quotes, semicolon. Line 22, indented 3 times: right brace. Line 23, indented 3 times: else. Line 24, indented 3 times: left brace. Line 25, indented 4 times: next p i c name =, open quotes, flower 2, period, j p g, close quotes, semicolon. Line 26, indented 3 times: right brace. Line 27, indented twice: right brace. Line 28, indented twice: &lt;, forward slash, script &gt;. Line 29: blank. Line 30, indented once: &lt;, forward slash, head &gt;. Line 31: blank. Line 32, indented once: &lt; body on load =, open quotes, start value, left parenthesis, right parenthesis, close quotes, &gt;. Line 33, indented twice: &lt; h 1 &gt; this is an h 1 heading &lt;, forward slash, h 1 &gt;. Line 34, indented twice: &lt; p &gt; this text is &lt; strong &gt; important &lt;, forward slash, strong &gt; and. Line 35, indented 3 times: this text is &lt; e m &gt; emphasized &lt;, forward slash, e m &gt; &lt;, forward slash, p &gt;. Line 36, indented twice: &lt; p &gt;below is a bulleted list, colon, &lt;, forward slash, p &gt;. Line 37, indented twice: &lt; u l &gt;. Line 38, indented 3 times: &lt; l i &gt; first item &lt;, forward slash, l i &gt;. Line 39, indented 3 times: &lt; l i &gt; second item &lt;, forward slash, l i &gt;. Line 40, indented twice: &lt;, forward slash, u l &gt;. Line 41, indented twice: &lt; p &gt;here is a link to another web page, comma. Line 42, indented 3 times: &lt; ay h r e f =, open quotes, h t t p, colon, forward slash, forward slash, p b s, period, o r g, close quotes, &gt; p b s &lt;, forward slash, ay &gt; &lt;, forward slash, p &gt;. Line 43, indented twice: &lt; p &gt; and here is an image, colon, &lt;, forward slash, p &gt;. Line 44, indented twice: &lt; i m g s r c =, open quotes, flower, 1, period, j p g, close quotes i d =, open quotes, main image, close quotes. Line 45, indented 3 times: ay l t =, open quotes, sunflowers in a field, close quotes. Line 46, indented 3 times: on mouse out =, open quotes, images witch, left parenthesis, right parenthesis, close quotes. Line 47, indented 3 times: on mouse over =, open quotes, images witch, left parenthesis, right parenthesis, close quotes, &gt;. Line 48, indented once: &lt;, forward slash, body &gt;. Line 49: &lt;, forward slash, h t m l &g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5395" y="1348723"/>
            <a:ext cx="2831287" cy="4811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172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31DB-913C-41E6-806C-0A4279B323FD}"/>
              </a:ext>
            </a:extLst>
          </p:cNvPr>
          <p:cNvSpPr>
            <a:spLocks noGrp="1"/>
          </p:cNvSpPr>
          <p:nvPr>
            <p:ph type="title"/>
          </p:nvPr>
        </p:nvSpPr>
        <p:spPr>
          <a:xfrm>
            <a:off x="0" y="0"/>
            <a:ext cx="9144000" cy="1060704"/>
          </a:xfrm>
        </p:spPr>
        <p:txBody>
          <a:bodyPr anchor="ctr" anchorCtr="0"/>
          <a:lstStyle/>
          <a:p>
            <a:pPr algn="ctr"/>
            <a:r>
              <a:rPr lang="en-US" altLang="en-US" sz="3600" b="0" dirty="0">
                <a:solidFill>
                  <a:prstClr val="white"/>
                </a:solidFill>
                <a:latin typeface="Arial" panose="020B0604020202020204" pitchFamily="34" charset="0"/>
                <a:ea typeface="ＭＳ Ｐゴシック" pitchFamily="34" charset="-128"/>
                <a:cs typeface="Arial" panose="020B0604020202020204" pitchFamily="34" charset="0"/>
              </a:rPr>
              <a:t>Special-Purpose Languages (9 of 10)</a:t>
            </a:r>
            <a:endParaRPr lang="en-US" dirty="0"/>
          </a:p>
        </p:txBody>
      </p:sp>
      <p:sp>
        <p:nvSpPr>
          <p:cNvPr id="3" name="Content Placeholder 2">
            <a:extLst>
              <a:ext uri="{FF2B5EF4-FFF2-40B4-BE49-F238E27FC236}">
                <a16:creationId xmlns:a16="http://schemas.microsoft.com/office/drawing/2014/main" id="{C9EA842A-14F4-4450-8946-4A3A5E8CEAA6}"/>
              </a:ext>
            </a:extLst>
          </p:cNvPr>
          <p:cNvSpPr>
            <a:spLocks noGrp="1"/>
          </p:cNvSpPr>
          <p:nvPr>
            <p:ph idx="1"/>
          </p:nvPr>
        </p:nvSpPr>
        <p:spPr/>
        <p:txBody>
          <a:bodyPr/>
          <a:lstStyle/>
          <a:p>
            <a:r>
              <a:rPr lang="en-US" dirty="0"/>
              <a:t>The name “R” comes in part from the first names of the two authors of the language, Ross Ihaka and Robert Gentleman </a:t>
            </a:r>
          </a:p>
          <a:p>
            <a:r>
              <a:rPr lang="en-US" dirty="0"/>
              <a:t>An open source language, first released in 2000</a:t>
            </a:r>
          </a:p>
          <a:p>
            <a:r>
              <a:rPr lang="en-US" dirty="0"/>
              <a:t>Given a set of data, </a:t>
            </a:r>
          </a:p>
          <a:p>
            <a:pPr lvl="1"/>
            <a:r>
              <a:rPr lang="en-US" dirty="0"/>
              <a:t>can compute maximum, minimum, standard deviation, other statistical functions</a:t>
            </a:r>
          </a:p>
          <a:p>
            <a:pPr lvl="1"/>
            <a:r>
              <a:rPr lang="en-US" dirty="0"/>
              <a:t>Can graphically visualize data sets</a:t>
            </a:r>
          </a:p>
          <a:p>
            <a:r>
              <a:rPr lang="en-US" dirty="0"/>
              <a:t>Important in Data Science</a:t>
            </a:r>
          </a:p>
          <a:p>
            <a:pPr marL="0" indent="0">
              <a:buNone/>
            </a:pPr>
            <a:endParaRPr lang="en-US" dirty="0"/>
          </a:p>
        </p:txBody>
      </p:sp>
    </p:spTree>
    <p:extLst>
      <p:ext uri="{BB962C8B-B14F-4D97-AF65-F5344CB8AC3E}">
        <p14:creationId xmlns:p14="http://schemas.microsoft.com/office/powerpoint/2010/main" val="1657080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31DB-913C-41E6-806C-0A4279B323FD}"/>
              </a:ext>
            </a:extLst>
          </p:cNvPr>
          <p:cNvSpPr>
            <a:spLocks noGrp="1"/>
          </p:cNvSpPr>
          <p:nvPr>
            <p:ph type="title"/>
          </p:nvPr>
        </p:nvSpPr>
        <p:spPr>
          <a:xfrm>
            <a:off x="0" y="0"/>
            <a:ext cx="9144000" cy="1060704"/>
          </a:xfrm>
        </p:spPr>
        <p:txBody>
          <a:bodyPr anchor="ctr" anchorCtr="0"/>
          <a:lstStyle/>
          <a:p>
            <a:pPr algn="ctr"/>
            <a:r>
              <a:rPr lang="en-US" altLang="en-US" sz="3600" b="0" dirty="0">
                <a:solidFill>
                  <a:prstClr val="white"/>
                </a:solidFill>
                <a:latin typeface="Arial" panose="020B0604020202020204" pitchFamily="34" charset="0"/>
                <a:ea typeface="ＭＳ Ｐゴシック" pitchFamily="34" charset="-128"/>
                <a:cs typeface="Arial" panose="020B0604020202020204" pitchFamily="34" charset="0"/>
              </a:rPr>
              <a:t>Special-Purpose Languages (10 of 10)</a:t>
            </a:r>
            <a:endParaRPr lang="en-US" dirty="0"/>
          </a:p>
        </p:txBody>
      </p:sp>
      <p:sp>
        <p:nvSpPr>
          <p:cNvPr id="3" name="Content Placeholder 2">
            <a:extLst>
              <a:ext uri="{FF2B5EF4-FFF2-40B4-BE49-F238E27FC236}">
                <a16:creationId xmlns:a16="http://schemas.microsoft.com/office/drawing/2014/main" id="{C9EA842A-14F4-4450-8946-4A3A5E8CEAA6}"/>
              </a:ext>
            </a:extLst>
          </p:cNvPr>
          <p:cNvSpPr>
            <a:spLocks noGrp="1"/>
          </p:cNvSpPr>
          <p:nvPr>
            <p:ph idx="1"/>
          </p:nvPr>
        </p:nvSpPr>
        <p:spPr/>
        <p:txBody>
          <a:bodyPr/>
          <a:lstStyle/>
          <a:p>
            <a:r>
              <a:rPr lang="en-US" dirty="0"/>
              <a:t>R can produce a colorful bar graph as shown below</a:t>
            </a:r>
          </a:p>
          <a:p>
            <a:endParaRPr lang="en-US" dirty="0"/>
          </a:p>
        </p:txBody>
      </p:sp>
      <p:pic>
        <p:nvPicPr>
          <p:cNvPr id="4" name="Picture 3" descr="A screenshot of a bar graph shows the results in percent for five variables: X, Y, smoker, overweight and low income. Each variable is further divided into 6 smaller variables namely: site 1, site 2, site 3, site 4, site 5 and site 6. Each site has a separate corresponding bar with a unique color. ">
            <a:extLst>
              <a:ext uri="{FF2B5EF4-FFF2-40B4-BE49-F238E27FC236}">
                <a16:creationId xmlns:a16="http://schemas.microsoft.com/office/drawing/2014/main" id="{33D024A7-1A0A-4367-84F8-D00038BAC35A}"/>
              </a:ext>
            </a:extLst>
          </p:cNvPr>
          <p:cNvPicPr>
            <a:picLocks noChangeAspect="1"/>
          </p:cNvPicPr>
          <p:nvPr/>
        </p:nvPicPr>
        <p:blipFill>
          <a:blip r:embed="rId2"/>
          <a:stretch>
            <a:fillRect/>
          </a:stretch>
        </p:blipFill>
        <p:spPr>
          <a:xfrm>
            <a:off x="2509943" y="1747138"/>
            <a:ext cx="4124114" cy="4379026"/>
          </a:xfrm>
          <a:prstGeom prst="rect">
            <a:avLst/>
          </a:prstGeom>
        </p:spPr>
      </p:pic>
    </p:spTree>
    <p:extLst>
      <p:ext uri="{BB962C8B-B14F-4D97-AF65-F5344CB8AC3E}">
        <p14:creationId xmlns:p14="http://schemas.microsoft.com/office/powerpoint/2010/main" val="1186527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b="1" dirty="0">
                <a:latin typeface="Arial" panose="020B0604020202020204" pitchFamily="34" charset="0"/>
                <a:ea typeface="ＭＳ Ｐゴシック" pitchFamily="34" charset="-128"/>
                <a:cs typeface="Arial" panose="020B0604020202020204" pitchFamily="34" charset="0"/>
              </a:rPr>
              <a:t>Paradigm</a:t>
            </a:r>
            <a:r>
              <a:rPr lang="en-US" altLang="en-US" dirty="0">
                <a:latin typeface="Arial" panose="020B0604020202020204" pitchFamily="34" charset="0"/>
                <a:ea typeface="ＭＳ Ｐゴシック" pitchFamily="34" charset="-128"/>
                <a:cs typeface="Arial" panose="020B0604020202020204" pitchFamily="34" charset="0"/>
              </a:rPr>
              <a:t>: model or mental framework for thinking about something</a:t>
            </a:r>
          </a:p>
          <a:p>
            <a:r>
              <a:rPr lang="en-US" altLang="en-US" dirty="0">
                <a:latin typeface="Arial" panose="020B0604020202020204" pitchFamily="34" charset="0"/>
                <a:ea typeface="ＭＳ Ｐゴシック" pitchFamily="34" charset="-128"/>
                <a:cs typeface="Arial" panose="020B0604020202020204" pitchFamily="34" charset="0"/>
              </a:rPr>
              <a:t>Procedural programming paradigm</a:t>
            </a:r>
          </a:p>
          <a:p>
            <a:pPr lvl="1"/>
            <a:r>
              <a:rPr lang="en-US" altLang="en-US" dirty="0">
                <a:latin typeface="Arial" panose="020B0604020202020204" pitchFamily="34" charset="0"/>
                <a:ea typeface="ＭＳ Ｐゴシック" pitchFamily="34" charset="-128"/>
                <a:cs typeface="Arial" panose="020B0604020202020204" pitchFamily="34" charset="0"/>
              </a:rPr>
              <a:t>A program is a sequence of detailed instructions, accessing and modifying memory locations</a:t>
            </a:r>
          </a:p>
          <a:p>
            <a:r>
              <a:rPr lang="en-US" altLang="en-US" dirty="0">
                <a:latin typeface="Arial" panose="020B0604020202020204" pitchFamily="34" charset="0"/>
                <a:ea typeface="ＭＳ Ｐゴシック" pitchFamily="34" charset="-128"/>
                <a:cs typeface="Arial" panose="020B0604020202020204" pitchFamily="34" charset="0"/>
              </a:rPr>
              <a:t>Functional programming paradigm</a:t>
            </a:r>
          </a:p>
          <a:p>
            <a:pPr lvl="1"/>
            <a:r>
              <a:rPr lang="en-US" altLang="en-US" dirty="0">
                <a:latin typeface="Arial" panose="020B0604020202020204" pitchFamily="34" charset="0"/>
                <a:ea typeface="ＭＳ Ｐゴシック" pitchFamily="34" charset="-128"/>
                <a:cs typeface="Arial" panose="020B0604020202020204" pitchFamily="34" charset="0"/>
              </a:rPr>
              <a:t>A program is a series of transformations on items</a:t>
            </a:r>
          </a:p>
        </p:txBody>
      </p:sp>
    </p:spTree>
    <p:extLst>
      <p:ext uri="{BB962C8B-B14F-4D97-AF65-F5344CB8AC3E}">
        <p14:creationId xmlns:p14="http://schemas.microsoft.com/office/powerpoint/2010/main" val="869282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(2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Logic programming paradigm</a:t>
            </a:r>
          </a:p>
          <a:p>
            <a:pPr lvl="1"/>
            <a:r>
              <a:rPr lang="en-US" altLang="en-US" dirty="0">
                <a:latin typeface="Arial" panose="020B0604020202020204" pitchFamily="34" charset="0"/>
                <a:ea typeface="ＭＳ Ｐゴシック" pitchFamily="34" charset="-128"/>
                <a:cs typeface="Arial" panose="020B0604020202020204" pitchFamily="34" charset="0"/>
              </a:rPr>
              <a:t>A program is a series of logical deductions from known facts</a:t>
            </a:r>
          </a:p>
          <a:p>
            <a:r>
              <a:rPr lang="en-US" altLang="en-US" dirty="0">
                <a:latin typeface="Arial" panose="020B0604020202020204" pitchFamily="34" charset="0"/>
                <a:ea typeface="ＭＳ Ｐゴシック" pitchFamily="34" charset="-128"/>
                <a:cs typeface="Arial" panose="020B0604020202020204" pitchFamily="34" charset="0"/>
              </a:rPr>
              <a:t>Parallel programming paradigm</a:t>
            </a:r>
          </a:p>
          <a:p>
            <a:pPr lvl="1"/>
            <a:r>
              <a:rPr lang="en-US" altLang="en-US" dirty="0">
                <a:latin typeface="Arial" panose="020B0604020202020204" pitchFamily="34" charset="0"/>
                <a:ea typeface="ＭＳ Ｐゴシック" pitchFamily="34" charset="-128"/>
                <a:cs typeface="Arial" panose="020B0604020202020204" pitchFamily="34" charset="0"/>
              </a:rPr>
              <a:t>A program is made up of </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Multiple copies of the same subtask OR</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Multiple subtasks of the same problem</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Performed simultaneously by different processors</a:t>
            </a:r>
          </a:p>
        </p:txBody>
      </p:sp>
    </p:spTree>
    <p:extLst>
      <p:ext uri="{BB962C8B-B14F-4D97-AF65-F5344CB8AC3E}">
        <p14:creationId xmlns:p14="http://schemas.microsoft.com/office/powerpoint/2010/main" val="29942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(3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Functional Programming</a:t>
            </a:r>
          </a:p>
          <a:p>
            <a:pPr lvl="1"/>
            <a:r>
              <a:rPr lang="en-US" altLang="en-US" dirty="0">
                <a:latin typeface="Arial" panose="020B0604020202020204" pitchFamily="34" charset="0"/>
                <a:ea typeface="ＭＳ Ｐゴシック" pitchFamily="34" charset="-128"/>
                <a:cs typeface="Arial" panose="020B0604020202020204" pitchFamily="34" charset="0"/>
              </a:rPr>
              <a:t>LISP was developed in 1958 at MIT by John McCarthy</a:t>
            </a:r>
          </a:p>
          <a:p>
            <a:pPr lvl="1"/>
            <a:r>
              <a:rPr lang="en-US" altLang="en-US" dirty="0">
                <a:latin typeface="Arial" panose="020B0604020202020204" pitchFamily="34" charset="0"/>
                <a:ea typeface="ＭＳ Ｐゴシック" pitchFamily="34" charset="-128"/>
                <a:cs typeface="Arial" panose="020B0604020202020204" pitchFamily="34" charset="0"/>
              </a:rPr>
              <a:t>Scheme is a variant of LISP developed in the 1970s</a:t>
            </a:r>
          </a:p>
          <a:p>
            <a:pPr lvl="1"/>
            <a:r>
              <a:rPr lang="en-US" altLang="en-US" b="1" dirty="0">
                <a:latin typeface="Arial" panose="020B0604020202020204" pitchFamily="34" charset="0"/>
                <a:ea typeface="ＭＳ Ｐゴシック" pitchFamily="34" charset="-128"/>
                <a:cs typeface="Arial" panose="020B0604020202020204" pitchFamily="34" charset="0"/>
              </a:rPr>
              <a:t>Functional programming language</a:t>
            </a:r>
            <a:endParaRPr lang="en-US" altLang="en-US" dirty="0">
              <a:latin typeface="Arial" panose="020B0604020202020204" pitchFamily="34" charset="0"/>
              <a:ea typeface="ＭＳ Ｐゴシック" pitchFamily="34" charset="-128"/>
              <a:cs typeface="Arial" panose="020B0604020202020204" pitchFamily="34" charset="0"/>
            </a:endParaRP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Organized around functions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A function takes inputs and produces a single value</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Define functions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Call, or apply, functions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Combine function calls</a:t>
            </a:r>
          </a:p>
          <a:p>
            <a:pPr lvl="1"/>
            <a:r>
              <a:rPr lang="en-US" altLang="en-US" b="1" dirty="0">
                <a:latin typeface="Arial" panose="020B0604020202020204" pitchFamily="34" charset="0"/>
                <a:ea typeface="ＭＳ Ｐゴシック" pitchFamily="34" charset="-128"/>
                <a:cs typeface="Arial" panose="020B0604020202020204" pitchFamily="34" charset="0"/>
              </a:rPr>
              <a:t>Applicative languages</a:t>
            </a:r>
          </a:p>
        </p:txBody>
      </p:sp>
    </p:spTree>
    <p:extLst>
      <p:ext uri="{BB962C8B-B14F-4D97-AF65-F5344CB8AC3E}">
        <p14:creationId xmlns:p14="http://schemas.microsoft.com/office/powerpoint/2010/main" val="2820809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(4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2266677"/>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Lists: linear collections of data</a:t>
            </a:r>
          </a:p>
          <a:p>
            <a:pPr lvl="1"/>
            <a:r>
              <a:rPr lang="en-US" altLang="en-US" dirty="0">
                <a:latin typeface="Arial" panose="020B0604020202020204" pitchFamily="34" charset="0"/>
                <a:ea typeface="ＭＳ Ｐゴシック" pitchFamily="34" charset="-128"/>
                <a:cs typeface="Arial" panose="020B0604020202020204" pitchFamily="34" charset="0"/>
              </a:rPr>
              <a:t>(list 5 1 2)  = (5 1 2)</a:t>
            </a:r>
          </a:p>
          <a:p>
            <a:pPr lvl="1"/>
            <a:r>
              <a:rPr lang="en-US" altLang="en-US" dirty="0">
                <a:latin typeface="Arial" panose="020B0604020202020204" pitchFamily="34" charset="0"/>
                <a:ea typeface="ＭＳ Ｐゴシック" pitchFamily="34" charset="-128"/>
                <a:cs typeface="Arial" panose="020B0604020202020204" pitchFamily="34" charset="0"/>
              </a:rPr>
              <a:t>(car (list 5 1 2)) = 5</a:t>
            </a:r>
          </a:p>
          <a:p>
            <a:pPr lvl="1"/>
            <a:r>
              <a:rPr lang="en-US" altLang="en-US" dirty="0">
                <a:latin typeface="Arial" panose="020B0604020202020204" pitchFamily="34" charset="0"/>
                <a:ea typeface="ＭＳ Ｐゴシック" pitchFamily="34" charset="-128"/>
                <a:cs typeface="Arial" panose="020B0604020202020204" pitchFamily="34" charset="0"/>
              </a:rPr>
              <a:t>(cdr (list 5 1 2)) = (1 2)</a:t>
            </a:r>
          </a:p>
          <a:p>
            <a:pPr lvl="1"/>
            <a:r>
              <a:rPr lang="en-US" altLang="en-US" dirty="0">
                <a:latin typeface="Arial" panose="020B0604020202020204" pitchFamily="34" charset="0"/>
                <a:ea typeface="ＭＳ Ｐゴシック" pitchFamily="34" charset="-128"/>
                <a:cs typeface="Arial" panose="020B0604020202020204" pitchFamily="34" charset="0"/>
              </a:rPr>
              <a:t>(null (list 5 1 2)) = false</a:t>
            </a:r>
          </a:p>
        </p:txBody>
      </p:sp>
      <p:pic>
        <p:nvPicPr>
          <p:cNvPr id="2" name="Picture 1" descr="Line 1: left parenthesis, define, left parenthesis, adder input - list, right parenthesis. Line 2, indented once: left parenthesis, c o n d, left parenthesis, left parenthesis, null, question mark, input - list, right parenthesis, 0, right parenthesis. Line 3, indented twice: left parenthesis, else, left parenthesis, +, left parenthesis, car input - list, right parenthesis. Line 4, indented 3 times: left parenthesis, adder, left parenthesis, c d r input - list, right parenthesis, right parenthesis, right parenthesis, right parenthesis, right parenthesis, right parenthesis.">
            <a:extLst>
              <a:ext uri="{FF2B5EF4-FFF2-40B4-BE49-F238E27FC236}">
                <a16:creationId xmlns:a16="http://schemas.microsoft.com/office/drawing/2014/main" id="{B406260C-4CBD-478E-A5CF-6A4811ED3170}"/>
              </a:ext>
            </a:extLst>
          </p:cNvPr>
          <p:cNvPicPr>
            <a:picLocks noChangeAspect="1"/>
          </p:cNvPicPr>
          <p:nvPr/>
        </p:nvPicPr>
        <p:blipFill>
          <a:blip r:embed="rId2"/>
          <a:stretch>
            <a:fillRect/>
          </a:stretch>
        </p:blipFill>
        <p:spPr>
          <a:xfrm>
            <a:off x="1054289" y="3668504"/>
            <a:ext cx="7440170" cy="2135396"/>
          </a:xfrm>
          <a:prstGeom prst="rect">
            <a:avLst/>
          </a:prstGeom>
        </p:spPr>
      </p:pic>
    </p:spTree>
    <p:extLst>
      <p:ext uri="{BB962C8B-B14F-4D97-AF65-F5344CB8AC3E}">
        <p14:creationId xmlns:p14="http://schemas.microsoft.com/office/powerpoint/2010/main" val="896352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(5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a:buFontTx/>
              <a:buNone/>
            </a:pPr>
            <a:r>
              <a:rPr lang="en-US" altLang="en-US" dirty="0">
                <a:latin typeface="Arial" panose="020B0604020202020204" pitchFamily="34" charset="0"/>
                <a:ea typeface="ＭＳ Ｐゴシック" pitchFamily="34" charset="-128"/>
                <a:cs typeface="Arial" panose="020B0604020202020204" pitchFamily="34" charset="0"/>
              </a:rPr>
              <a:t>Example:</a:t>
            </a:r>
          </a:p>
          <a:p>
            <a:pPr>
              <a:buFontTx/>
              <a:buNone/>
            </a:pPr>
            <a:r>
              <a:rPr lang="en-US" altLang="en-US" dirty="0">
                <a:latin typeface="Arial" panose="020B0604020202020204" pitchFamily="34" charset="0"/>
                <a:ea typeface="ＭＳ Ｐゴシック" pitchFamily="34" charset="-128"/>
                <a:cs typeface="Arial" panose="020B0604020202020204" pitchFamily="34" charset="0"/>
              </a:rPr>
              <a:t>	(adder (5 10))</a:t>
            </a:r>
          </a:p>
          <a:p>
            <a:pPr>
              <a:buFontTx/>
              <a:buNone/>
            </a:pPr>
            <a:r>
              <a:rPr lang="en-US" altLang="en-US" dirty="0">
                <a:latin typeface="Arial" panose="020B0604020202020204" pitchFamily="34" charset="0"/>
                <a:ea typeface="ＭＳ Ｐゴシック" pitchFamily="34" charset="-128"/>
                <a:cs typeface="Arial" panose="020B0604020202020204" pitchFamily="34" charset="0"/>
              </a:rPr>
              <a:t>	= (+ 5 (adder (10))) = 5 + (adder (10))</a:t>
            </a:r>
          </a:p>
          <a:p>
            <a:pPr>
              <a:buFontTx/>
              <a:buNone/>
            </a:pPr>
            <a:r>
              <a:rPr lang="en-US" altLang="en-US" dirty="0">
                <a:latin typeface="Arial" panose="020B0604020202020204" pitchFamily="34" charset="0"/>
                <a:ea typeface="ＭＳ Ｐゴシック" pitchFamily="34" charset="-128"/>
                <a:cs typeface="Arial" panose="020B0604020202020204" pitchFamily="34" charset="0"/>
              </a:rPr>
              <a:t>	= 5 + (+ 10 (adder ())) = 5 + 10 + (adder ())</a:t>
            </a:r>
          </a:p>
          <a:p>
            <a:pPr>
              <a:buFontTx/>
              <a:buNone/>
            </a:pPr>
            <a:r>
              <a:rPr lang="en-US" altLang="en-US" dirty="0">
                <a:latin typeface="Arial" panose="020B0604020202020204" pitchFamily="34" charset="0"/>
                <a:ea typeface="ＭＳ Ｐゴシック" pitchFamily="34" charset="-128"/>
                <a:cs typeface="Arial" panose="020B0604020202020204" pitchFamily="34" charset="0"/>
              </a:rPr>
              <a:t>	= 5 + 10 + 0 = 15</a:t>
            </a:r>
          </a:p>
          <a:p>
            <a:r>
              <a:rPr lang="en-US" altLang="en-US" b="1" dirty="0">
                <a:latin typeface="Arial" panose="020B0604020202020204" pitchFamily="34" charset="0"/>
                <a:ea typeface="ＭＳ Ｐゴシック" pitchFamily="34" charset="-128"/>
                <a:cs typeface="Arial" panose="020B0604020202020204" pitchFamily="34" charset="0"/>
              </a:rPr>
              <a:t>Recursive</a:t>
            </a:r>
            <a:r>
              <a:rPr lang="en-US" altLang="en-US" dirty="0">
                <a:latin typeface="Arial" panose="020B0604020202020204" pitchFamily="34" charset="0"/>
                <a:ea typeface="ＭＳ Ｐゴシック" pitchFamily="34" charset="-128"/>
                <a:cs typeface="Arial" panose="020B0604020202020204" pitchFamily="34" charset="0"/>
              </a:rPr>
              <a:t>: defined in terms of smaller versions of itself</a:t>
            </a:r>
          </a:p>
          <a:p>
            <a:r>
              <a:rPr lang="en-US" altLang="en-US" dirty="0">
                <a:latin typeface="Arial" panose="020B0604020202020204" pitchFamily="34" charset="0"/>
                <a:ea typeface="ＭＳ Ｐゴシック" pitchFamily="34" charset="-128"/>
                <a:cs typeface="Arial" panose="020B0604020202020204" pitchFamily="34" charset="0"/>
              </a:rPr>
              <a:t>No </a:t>
            </a:r>
            <a:r>
              <a:rPr lang="en-US" altLang="en-US" b="1" dirty="0">
                <a:latin typeface="Arial" panose="020B0604020202020204" pitchFamily="34" charset="0"/>
                <a:ea typeface="ＭＳ Ｐゴシック" pitchFamily="34" charset="-128"/>
                <a:cs typeface="Arial" panose="020B0604020202020204" pitchFamily="34" charset="0"/>
              </a:rPr>
              <a:t>side effect</a:t>
            </a:r>
            <a:r>
              <a:rPr lang="en-US" altLang="en-US" dirty="0">
                <a:latin typeface="Arial" panose="020B0604020202020204" pitchFamily="34" charset="0"/>
                <a:ea typeface="ＭＳ Ｐゴシック" pitchFamily="34" charset="-128"/>
                <a:cs typeface="Arial" panose="020B0604020202020204" pitchFamily="34" charset="0"/>
              </a:rPr>
              <a:t> here: no changes to values outside calculation</a:t>
            </a:r>
          </a:p>
        </p:txBody>
      </p:sp>
    </p:spTree>
    <p:extLst>
      <p:ext uri="{BB962C8B-B14F-4D97-AF65-F5344CB8AC3E}">
        <p14:creationId xmlns:p14="http://schemas.microsoft.com/office/powerpoint/2010/main" val="22740904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(6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a:buFontTx/>
              <a:buNone/>
              <a:defRPr/>
            </a:pPr>
            <a:r>
              <a:rPr lang="en-US" altLang="en-US" b="1" dirty="0">
                <a:latin typeface="Arial" panose="020B0604020202020204" pitchFamily="34" charset="0"/>
                <a:ea typeface="ＭＳ Ｐゴシック" panose="020B0600070205080204" pitchFamily="34" charset="-128"/>
                <a:cs typeface="Arial" panose="020B0604020202020204" pitchFamily="34" charset="0"/>
              </a:rPr>
              <a:t>Logic programming languages</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Programs describe rules and facts, not how to do something</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Queries use logical deduction to produce outputs that follow from the rules and facts given</a:t>
            </a:r>
          </a:p>
          <a:p>
            <a:pPr marL="717550">
              <a:buFont typeface="Arial" panose="020B0604020202020204" pitchFamily="34" charset="0"/>
              <a:buChar char="–"/>
              <a:defRPr/>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Declarative programming languages</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Programs declare what is true</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Artificial intelligence applications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Expert systems solve problems with logical reasoning</a:t>
            </a:r>
            <a:endParaRPr lang="en-US" altLang="en-US" sz="2200" b="1"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817125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(7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Prolog was developed in 1972 at the University of Marseilles by A. Colmerauer</a:t>
            </a:r>
          </a:p>
          <a:p>
            <a:r>
              <a:rPr lang="en-US" altLang="en-US" dirty="0">
                <a:latin typeface="Arial" panose="020B0604020202020204" pitchFamily="34" charset="0"/>
                <a:ea typeface="ＭＳ Ｐゴシック" pitchFamily="34" charset="-128"/>
                <a:cs typeface="Arial" panose="020B0604020202020204" pitchFamily="34" charset="0"/>
              </a:rPr>
              <a:t>Facts describe relationships among specific objects</a:t>
            </a:r>
          </a:p>
          <a:p>
            <a:pPr lvl="1"/>
            <a:r>
              <a:rPr lang="en-US" altLang="en-US" dirty="0">
                <a:latin typeface="Arial" panose="020B0604020202020204" pitchFamily="34" charset="0"/>
                <a:ea typeface="ＭＳ Ｐゴシック" pitchFamily="34" charset="-128"/>
                <a:cs typeface="Arial" panose="020B0604020202020204" pitchFamily="34" charset="0"/>
              </a:rPr>
              <a:t>president(nixon, vietnam_war).</a:t>
            </a:r>
          </a:p>
          <a:p>
            <a:r>
              <a:rPr lang="en-US" altLang="en-US" dirty="0">
                <a:latin typeface="Arial" panose="020B0604020202020204" pitchFamily="34" charset="0"/>
                <a:ea typeface="ＭＳ Ｐゴシック" pitchFamily="34" charset="-128"/>
                <a:cs typeface="Arial" panose="020B0604020202020204" pitchFamily="34" charset="0"/>
              </a:rPr>
              <a:t>Rules describe general relationships using variables</a:t>
            </a:r>
          </a:p>
          <a:p>
            <a:pPr lvl="1"/>
            <a:r>
              <a:rPr lang="en-US" altLang="en-US" dirty="0">
                <a:latin typeface="Arial" panose="020B0604020202020204" pitchFamily="34" charset="0"/>
                <a:ea typeface="ＭＳ Ｐゴシック" pitchFamily="34" charset="-128"/>
                <a:cs typeface="Arial" panose="020B0604020202020204" pitchFamily="34" charset="0"/>
              </a:rPr>
              <a:t>precedes(X, Y) :- before(X, Y).</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X precedes Y if X came before Y</a:t>
            </a:r>
          </a:p>
          <a:p>
            <a:pPr lvl="1"/>
            <a:r>
              <a:rPr lang="en-US" altLang="en-US" dirty="0">
                <a:latin typeface="Arial" panose="020B0604020202020204" pitchFamily="34" charset="0"/>
                <a:ea typeface="ＭＳ Ｐゴシック" pitchFamily="34" charset="-128"/>
                <a:cs typeface="Arial" panose="020B0604020202020204" pitchFamily="34" charset="0"/>
              </a:rPr>
              <a:t>precedes(X, Y) :- before(X, Z), precedes(Z, Y).</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X precedes Y if X came before Z and Z precedes Y</a:t>
            </a:r>
          </a:p>
        </p:txBody>
      </p:sp>
    </p:spTree>
    <p:extLst>
      <p:ext uri="{BB962C8B-B14F-4D97-AF65-F5344CB8AC3E}">
        <p14:creationId xmlns:p14="http://schemas.microsoft.com/office/powerpoint/2010/main" val="4054075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(8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pic>
        <p:nvPicPr>
          <p:cNvPr id="2" name="Picture 1" descr="Line 1: president, left parenthesis, Lincoln, comma, Gettysburg address, right parenthesis, period. Line 2: president, left parenthesis, Lincoln, comma, civil war, right parenthesis, period. Line 3: president, left parenthesis, Nixon, comma, first moon landing, right parenthesis, period. Line 4: president, left parenthesis, Jefferson, comma, Lewis and Clark, right parenthesis, period. Line 5: president, left parenthesis, Kennedy, comma, Cuban missile crisis, right parenthesis, period. Line 6: president, left parenthesis, f d r, comma, world war 2, right parenthesis, period. Line 7: before, left parenthesis, Jefferson, comma, Lincoln, right parenthesis, period. Line 8: before, left parenthesis, Lincoln, comma, f d r, right parenthesis, period. Line 9: before, left parenthesis, f d r, comma, Kennedy, right parenthesis, period. Line 10: before, left parenthesis, Kennedy, comma, Nixon, right parenthesis, period. Line 11: precedes, left parenthesis, X, comma, Y, right parenthesis, colon, dash, before, left parenthesis, X, comma, Y, right parenthesis, period. Line 12: precedes, left parenthesis, X, comma, Y, right parenthesis, colon, dash, before, left parenthesis, X, comma, Z, right parenthesis, comma, precedes, left parenthesis, Z, comma, Y, right parenthesis, period.">
            <a:extLst>
              <a:ext uri="{FF2B5EF4-FFF2-40B4-BE49-F238E27FC236}">
                <a16:creationId xmlns:a16="http://schemas.microsoft.com/office/drawing/2014/main" id="{DCB1DBB8-5F3B-40EF-8A1A-FACD954D9884}"/>
              </a:ext>
            </a:extLst>
          </p:cNvPr>
          <p:cNvPicPr>
            <a:picLocks noChangeAspect="1"/>
          </p:cNvPicPr>
          <p:nvPr/>
        </p:nvPicPr>
        <p:blipFill>
          <a:blip r:embed="rId2"/>
          <a:stretch>
            <a:fillRect/>
          </a:stretch>
        </p:blipFill>
        <p:spPr>
          <a:xfrm>
            <a:off x="1172791" y="1370012"/>
            <a:ext cx="7315354" cy="4446588"/>
          </a:xfrm>
          <a:prstGeom prst="rect">
            <a:avLst/>
          </a:prstGeom>
        </p:spPr>
      </p:pic>
    </p:spTree>
    <p:extLst>
      <p:ext uri="{BB962C8B-B14F-4D97-AF65-F5344CB8AC3E}">
        <p14:creationId xmlns:p14="http://schemas.microsoft.com/office/powerpoint/2010/main" val="30598320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(9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a:buFontTx/>
              <a:buNone/>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Programming in Prolog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Programmer builds a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knowledge base</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of facts and rules</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To “run” a program, pose queries to the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inference engine</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deductive algorithm is provided in Prolog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Results to the query come back from Prolog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Example of deductive reasoning using fixed rules</a:t>
            </a:r>
          </a:p>
          <a:p>
            <a:pPr marL="1071563" lvl="1" indent="-354013">
              <a:buFont typeface="Wingdings" pitchFamily="2" charset="2"/>
              <a:buChar char="§"/>
              <a:defRPr/>
            </a:pPr>
            <a:r>
              <a:rPr lang="en-US" altLang="en-US" sz="2200" b="1" dirty="0">
                <a:latin typeface="Arial" panose="020B0604020202020204" pitchFamily="34" charset="0"/>
                <a:ea typeface="ＭＳ Ｐゴシック" panose="020B0600070205080204" pitchFamily="34" charset="-128"/>
                <a:cs typeface="Arial" panose="020B0604020202020204" pitchFamily="34" charset="0"/>
              </a:rPr>
              <a:t>Modus ponens</a:t>
            </a:r>
            <a:r>
              <a:rPr lang="en-US" altLang="en-US" sz="2200" dirty="0">
                <a:latin typeface="Arial" panose="020B0604020202020204" pitchFamily="34" charset="0"/>
                <a:ea typeface="ＭＳ Ｐゴシック" panose="020B0600070205080204" pitchFamily="34" charset="-128"/>
                <a:cs typeface="Arial" panose="020B0604020202020204" pitchFamily="34" charset="0"/>
              </a:rPr>
              <a:t>: if we know the rule “If A then B” and we know A is true, then we deduce that B is true</a:t>
            </a:r>
          </a:p>
        </p:txBody>
      </p:sp>
    </p:spTree>
    <p:extLst>
      <p:ext uri="{BB962C8B-B14F-4D97-AF65-F5344CB8AC3E}">
        <p14:creationId xmlns:p14="http://schemas.microsoft.com/office/powerpoint/2010/main" val="35959356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(10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pic>
        <p:nvPicPr>
          <p:cNvPr id="2" name="Picture 1" descr="Facts and rules are fed into a knowledge base which has a reciprocal relation with the inference engine. A query fed into the inference engine, results in a response. ">
            <a:extLst>
              <a:ext uri="{FF2B5EF4-FFF2-40B4-BE49-F238E27FC236}">
                <a16:creationId xmlns:a16="http://schemas.microsoft.com/office/drawing/2014/main" id="{4383FE7F-5508-46D3-919F-1A2B2AE677B6}"/>
              </a:ext>
            </a:extLst>
          </p:cNvPr>
          <p:cNvPicPr>
            <a:picLocks noChangeAspect="1"/>
          </p:cNvPicPr>
          <p:nvPr/>
        </p:nvPicPr>
        <p:blipFill>
          <a:blip r:embed="rId2"/>
          <a:stretch>
            <a:fillRect/>
          </a:stretch>
        </p:blipFill>
        <p:spPr>
          <a:xfrm>
            <a:off x="2533650" y="1490662"/>
            <a:ext cx="4502150" cy="4281250"/>
          </a:xfrm>
          <a:prstGeom prst="rect">
            <a:avLst/>
          </a:prstGeom>
        </p:spPr>
      </p:pic>
    </p:spTree>
    <p:extLst>
      <p:ext uri="{BB962C8B-B14F-4D97-AF65-F5344CB8AC3E}">
        <p14:creationId xmlns:p14="http://schemas.microsoft.com/office/powerpoint/2010/main" val="28372973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(11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858791"/>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Parallel programming is required for large-scale computing problems</a:t>
            </a:r>
          </a:p>
        </p:txBody>
      </p:sp>
      <p:pic>
        <p:nvPicPr>
          <p:cNvPr id="2" name="Picture 1" descr="Processor 1 to 1001 connect to a communication channel via I D 1 to I D 1001. The communication channel connects to a data storage unit which is at the end of the processor line. Each processor is connected to a memory unit which holds the following information: your list, number and name. ">
            <a:extLst>
              <a:ext uri="{FF2B5EF4-FFF2-40B4-BE49-F238E27FC236}">
                <a16:creationId xmlns:a16="http://schemas.microsoft.com/office/drawing/2014/main" id="{5250DF92-BE64-4349-906E-22B4E90D65E8}"/>
              </a:ext>
            </a:extLst>
          </p:cNvPr>
          <p:cNvPicPr>
            <a:picLocks noChangeAspect="1"/>
          </p:cNvPicPr>
          <p:nvPr/>
        </p:nvPicPr>
        <p:blipFill>
          <a:blip r:embed="rId2"/>
          <a:stretch>
            <a:fillRect/>
          </a:stretch>
        </p:blipFill>
        <p:spPr>
          <a:xfrm>
            <a:off x="1288166" y="2260618"/>
            <a:ext cx="7062347" cy="3568682"/>
          </a:xfrm>
          <a:prstGeom prst="rect">
            <a:avLst/>
          </a:prstGeom>
        </p:spPr>
      </p:pic>
    </p:spTree>
    <p:extLst>
      <p:ext uri="{BB962C8B-B14F-4D97-AF65-F5344CB8AC3E}">
        <p14:creationId xmlns:p14="http://schemas.microsoft.com/office/powerpoint/2010/main" val="2326614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(12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740909"/>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MIMD: multiple instruction, multiple data</a:t>
            </a:r>
          </a:p>
          <a:p>
            <a:pPr lvl="1"/>
            <a:r>
              <a:rPr lang="en-US" altLang="en-US" dirty="0">
                <a:latin typeface="Arial" panose="020B0604020202020204" pitchFamily="34" charset="0"/>
                <a:ea typeface="ＭＳ Ｐゴシック" pitchFamily="34" charset="-128"/>
                <a:cs typeface="Arial" panose="020B0604020202020204" pitchFamily="34" charset="0"/>
              </a:rPr>
              <a:t>Many CPUs, each operates on its own data</a:t>
            </a:r>
          </a:p>
          <a:p>
            <a:pPr lvl="1"/>
            <a:r>
              <a:rPr lang="en-US" altLang="en-US" b="1" dirty="0">
                <a:latin typeface="Arial" panose="020B0604020202020204" pitchFamily="34" charset="0"/>
                <a:ea typeface="ＭＳ Ｐゴシック" pitchFamily="34" charset="-128"/>
                <a:cs typeface="Arial" panose="020B0604020202020204" pitchFamily="34" charset="0"/>
              </a:rPr>
              <a:t>Multicore computing</a:t>
            </a:r>
            <a:endParaRPr lang="en-US" altLang="en-US" dirty="0">
              <a:latin typeface="Arial" panose="020B0604020202020204" pitchFamily="34" charset="0"/>
              <a:ea typeface="ＭＳ Ｐゴシック" pitchFamily="34" charset="-128"/>
              <a:cs typeface="Arial" panose="020B0604020202020204" pitchFamily="34" charset="0"/>
            </a:endParaRP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Multiple processors on one chip </a:t>
            </a:r>
          </a:p>
          <a:p>
            <a:pPr lvl="1"/>
            <a:r>
              <a:rPr lang="en-US" altLang="en-US" b="1" dirty="0">
                <a:latin typeface="Arial" panose="020B0604020202020204" pitchFamily="34" charset="0"/>
                <a:ea typeface="ＭＳ Ｐゴシック" pitchFamily="34" charset="-128"/>
                <a:cs typeface="Arial" panose="020B0604020202020204" pitchFamily="34" charset="0"/>
              </a:rPr>
              <a:t>Cluster computing</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Processors may be heterogeneous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Connected by a LAN or WAN</a:t>
            </a:r>
          </a:p>
        </p:txBody>
      </p:sp>
    </p:spTree>
    <p:extLst>
      <p:ext uri="{BB962C8B-B14F-4D97-AF65-F5344CB8AC3E}">
        <p14:creationId xmlns:p14="http://schemas.microsoft.com/office/powerpoint/2010/main" val="38274781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(14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marL="0" indent="0">
              <a:buFontTx/>
              <a:buNone/>
              <a:defRPr/>
            </a:pPr>
            <a:r>
              <a:rPr lang="en-US" altLang="en-US" dirty="0">
                <a:latin typeface="Arial" panose="020B0604020202020204" pitchFamily="34" charset="0"/>
                <a:ea typeface="ＭＳ Ｐゴシック" pitchFamily="34" charset="-128"/>
                <a:cs typeface="Arial" panose="020B0604020202020204" pitchFamily="34" charset="0"/>
              </a:rPr>
              <a:t>MIMD example: search for a name in a NYC phonebook</a:t>
            </a:r>
          </a:p>
          <a:p>
            <a:pPr marL="717550">
              <a:buFont typeface="Arial" panose="020B0604020202020204" pitchFamily="34" charset="0"/>
              <a:buChar char="–"/>
              <a:defRPr/>
            </a:pPr>
            <a:r>
              <a:rPr lang="en-US" altLang="en-US" sz="2400" dirty="0">
                <a:latin typeface="Arial" panose="020B0604020202020204" pitchFamily="34" charset="0"/>
                <a:ea typeface="ＭＳ Ｐゴシック" pitchFamily="34" charset="-128"/>
                <a:cs typeface="Arial" panose="020B0604020202020204" pitchFamily="34" charset="0"/>
              </a:rPr>
              <a:t>101 processors</a:t>
            </a:r>
          </a:p>
          <a:p>
            <a:pPr marL="717550">
              <a:buFont typeface="Arial" panose="020B0604020202020204" pitchFamily="34" charset="0"/>
              <a:buChar char="–"/>
              <a:defRPr/>
            </a:pPr>
            <a:r>
              <a:rPr lang="en-US" altLang="en-US" sz="2400" dirty="0">
                <a:latin typeface="Arial" panose="020B0604020202020204" pitchFamily="34" charset="0"/>
                <a:ea typeface="ＭＳ Ｐゴシック" pitchFamily="34" charset="-128"/>
                <a:cs typeface="Arial" panose="020B0604020202020204" pitchFamily="34" charset="0"/>
              </a:rPr>
              <a:t>Processor 101 handles input/output</a:t>
            </a:r>
          </a:p>
          <a:p>
            <a:pPr marL="1071563" lvl="1" indent="-342900">
              <a:buFont typeface="Wingdings" pitchFamily="2" charset="2"/>
              <a:buChar char="§"/>
              <a:defRPr/>
            </a:pPr>
            <a:r>
              <a:rPr lang="en-US" altLang="en-US" sz="2200" dirty="0">
                <a:latin typeface="Arial" panose="020B0604020202020204" pitchFamily="34" charset="0"/>
                <a:ea typeface="ＭＳ Ｐゴシック" pitchFamily="34" charset="-128"/>
                <a:cs typeface="Arial" panose="020B0604020202020204" pitchFamily="34" charset="0"/>
              </a:rPr>
              <a:t>Divide data and tell processors what to search</a:t>
            </a:r>
          </a:p>
          <a:p>
            <a:pPr marL="1071563" lvl="1" indent="-342900">
              <a:buFont typeface="Wingdings" pitchFamily="2" charset="2"/>
              <a:buChar char="§"/>
              <a:defRPr/>
            </a:pPr>
            <a:r>
              <a:rPr lang="en-US" altLang="en-US" sz="2200" dirty="0">
                <a:latin typeface="Arial" panose="020B0604020202020204" pitchFamily="34" charset="0"/>
                <a:ea typeface="ＭＳ Ｐゴシック" pitchFamily="34" charset="-128"/>
                <a:cs typeface="Arial" panose="020B0604020202020204" pitchFamily="34" charset="0"/>
              </a:rPr>
              <a:t>Wait for result from some processor</a:t>
            </a:r>
          </a:p>
          <a:p>
            <a:pPr marL="1071563" lvl="1" indent="-342900">
              <a:buFont typeface="Wingdings" pitchFamily="2" charset="2"/>
              <a:buChar char="§"/>
              <a:defRPr/>
            </a:pPr>
            <a:r>
              <a:rPr lang="en-US" altLang="en-US" sz="2200" dirty="0">
                <a:latin typeface="Arial" panose="020B0604020202020204" pitchFamily="34" charset="0"/>
                <a:ea typeface="ＭＳ Ｐゴシック" pitchFamily="34" charset="-128"/>
                <a:cs typeface="Arial" panose="020B0604020202020204" pitchFamily="34" charset="0"/>
              </a:rPr>
              <a:t>Output result</a:t>
            </a:r>
          </a:p>
          <a:p>
            <a:pPr marL="717550">
              <a:buFont typeface="Arial" panose="020B0604020202020204" pitchFamily="34" charset="0"/>
              <a:buChar char="–"/>
              <a:defRPr/>
            </a:pPr>
            <a:r>
              <a:rPr lang="en-US" altLang="en-US" sz="2400" dirty="0">
                <a:latin typeface="Arial" panose="020B0604020202020204" pitchFamily="34" charset="0"/>
                <a:ea typeface="ＭＳ Ｐゴシック" pitchFamily="34" charset="-128"/>
                <a:cs typeface="Arial" panose="020B0604020202020204" pitchFamily="34" charset="0"/>
              </a:rPr>
              <a:t>Processors 1 to 100 search their portion of data</a:t>
            </a:r>
          </a:p>
        </p:txBody>
      </p:sp>
    </p:spTree>
    <p:extLst>
      <p:ext uri="{BB962C8B-B14F-4D97-AF65-F5344CB8AC3E}">
        <p14:creationId xmlns:p14="http://schemas.microsoft.com/office/powerpoint/2010/main" val="12815535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(15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a:buFontTx/>
              <a:buNone/>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MIMD better example: find largest number in a list</a:t>
            </a:r>
          </a:p>
          <a:p>
            <a:pPr marL="717550">
              <a:buFont typeface="Arial" panose="020B0604020202020204" pitchFamily="34" charset="0"/>
              <a:buChar char="–"/>
              <a:defRPr/>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Divide-and-conquer</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split problem into smaller pieces and send to other processors</a:t>
            </a:r>
            <a:endParaRPr lang="en-US" altLang="en-US" sz="2400" b="1" dirty="0">
              <a:latin typeface="Arial" panose="020B0604020202020204" pitchFamily="34" charset="0"/>
              <a:ea typeface="ＭＳ Ｐゴシック" panose="020B0600070205080204" pitchFamily="34" charset="-128"/>
              <a:cs typeface="Arial" panose="020B0604020202020204" pitchFamily="34" charset="0"/>
            </a:endParaRP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Top processor divides data in two, sends to two child processors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Repeat until processors have one piece of data</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Children send parent their largest value</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Parent compares two largest and returns the bigger to its parent</a:t>
            </a:r>
          </a:p>
        </p:txBody>
      </p:sp>
    </p:spTree>
    <p:extLst>
      <p:ext uri="{BB962C8B-B14F-4D97-AF65-F5344CB8AC3E}">
        <p14:creationId xmlns:p14="http://schemas.microsoft.com/office/powerpoint/2010/main" val="37806020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(16 of 16)</a:t>
            </a:r>
            <a:endParaRPr lang="en-US" sz="3600" b="0" dirty="0">
              <a:latin typeface="Arial" panose="020B0604020202020204" pitchFamily="34" charset="0"/>
              <a:cs typeface="Arial" panose="020B0604020202020204" pitchFamily="34" charset="0"/>
            </a:endParaRPr>
          </a:p>
        </p:txBody>
      </p:sp>
      <p:pic>
        <p:nvPicPr>
          <p:cNvPr id="2" name="Picture 1" descr="A divide and conquer approach using multiple processors shows a box-level hierarchy. A top level processor is divided into two parts and each of those halves is again divided to create a pyramid effect as shown.">
            <a:extLst>
              <a:ext uri="{FF2B5EF4-FFF2-40B4-BE49-F238E27FC236}">
                <a16:creationId xmlns:a16="http://schemas.microsoft.com/office/drawing/2014/main" id="{8AC62D37-EA32-46E1-8A3F-A4815CA85651}"/>
              </a:ext>
            </a:extLst>
          </p:cNvPr>
          <p:cNvPicPr>
            <a:picLocks noChangeAspect="1"/>
          </p:cNvPicPr>
          <p:nvPr/>
        </p:nvPicPr>
        <p:blipFill>
          <a:blip r:embed="rId2"/>
          <a:stretch>
            <a:fillRect/>
          </a:stretch>
        </p:blipFill>
        <p:spPr>
          <a:xfrm>
            <a:off x="1450975" y="1417637"/>
            <a:ext cx="6572946" cy="4462463"/>
          </a:xfrm>
          <a:prstGeom prst="rect">
            <a:avLst/>
          </a:prstGeom>
        </p:spPr>
      </p:pic>
    </p:spTree>
    <p:extLst>
      <p:ext uri="{BB962C8B-B14F-4D97-AF65-F5344CB8AC3E}">
        <p14:creationId xmlns:p14="http://schemas.microsoft.com/office/powerpoint/2010/main" val="42103478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61033" y="1"/>
            <a:ext cx="8021934"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New Languages Keep Coming (1 of 3)</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Go was developed in 2009 at Google by Ken Thompson</a:t>
            </a:r>
          </a:p>
          <a:p>
            <a:pPr lvl="1"/>
            <a:r>
              <a:rPr lang="en-US" altLang="en-US" dirty="0">
                <a:latin typeface="Arial" panose="020B0604020202020204" pitchFamily="34" charset="0"/>
                <a:ea typeface="ＭＳ Ｐゴシック" pitchFamily="34" charset="-128"/>
                <a:cs typeface="Arial" panose="020B0604020202020204" pitchFamily="34" charset="0"/>
              </a:rPr>
              <a:t>Combines ease of programming with safety</a:t>
            </a:r>
          </a:p>
          <a:p>
            <a:pPr lvl="1"/>
            <a:r>
              <a:rPr lang="en-US" altLang="en-US" dirty="0">
                <a:latin typeface="Arial" panose="020B0604020202020204" pitchFamily="34" charset="0"/>
                <a:ea typeface="ＭＳ Ｐゴシック" pitchFamily="34" charset="-128"/>
                <a:cs typeface="Arial" panose="020B0604020202020204" pitchFamily="34" charset="0"/>
              </a:rPr>
              <a:t>Supports networked and multicore computing</a:t>
            </a:r>
          </a:p>
          <a:p>
            <a:pPr lvl="1"/>
            <a:r>
              <a:rPr lang="en-US" altLang="en-US" dirty="0">
                <a:latin typeface="Arial" panose="020B0604020202020204" pitchFamily="34" charset="0"/>
                <a:ea typeface="ＭＳ Ｐゴシック" pitchFamily="34" charset="-128"/>
                <a:cs typeface="Arial" panose="020B0604020202020204" pitchFamily="34" charset="0"/>
              </a:rPr>
              <a:t>Fast compilation, open source</a:t>
            </a:r>
          </a:p>
          <a:p>
            <a:r>
              <a:rPr lang="en-US" altLang="en-US" dirty="0">
                <a:latin typeface="Arial" panose="020B0604020202020204" pitchFamily="34" charset="0"/>
                <a:ea typeface="ＭＳ Ｐゴシック" pitchFamily="34" charset="-128"/>
                <a:cs typeface="Arial" panose="020B0604020202020204" pitchFamily="34" charset="0"/>
              </a:rPr>
              <a:t>Swift: new Apple language for building apps in iOS and macOS </a:t>
            </a:r>
          </a:p>
        </p:txBody>
      </p:sp>
    </p:spTree>
    <p:extLst>
      <p:ext uri="{BB962C8B-B14F-4D97-AF65-F5344CB8AC3E}">
        <p14:creationId xmlns:p14="http://schemas.microsoft.com/office/powerpoint/2010/main" val="995914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20924" y="1"/>
            <a:ext cx="8102153"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New Languages Keep Coming (2 of 3)</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Milk was announced in September of 2016 by MIT’s Computer Science and Artificial Intelligence Laboratory</a:t>
            </a:r>
          </a:p>
          <a:p>
            <a:pPr lvl="1"/>
            <a:r>
              <a:rPr lang="en-US" altLang="en-US" dirty="0">
                <a:latin typeface="Arial" panose="020B0604020202020204" pitchFamily="34" charset="0"/>
                <a:ea typeface="ＭＳ Ｐゴシック" pitchFamily="34" charset="-128"/>
                <a:cs typeface="Arial" panose="020B0604020202020204" pitchFamily="34" charset="0"/>
              </a:rPr>
              <a:t>Geared toward “big data”</a:t>
            </a:r>
          </a:p>
          <a:p>
            <a:pPr lvl="1"/>
            <a:r>
              <a:rPr lang="en-US" altLang="en-US" dirty="0">
                <a:latin typeface="Arial" panose="020B0604020202020204" pitchFamily="34" charset="0"/>
                <a:ea typeface="ＭＳ Ｐゴシック" pitchFamily="34" charset="-128"/>
                <a:cs typeface="Arial" panose="020B0604020202020204" pitchFamily="34" charset="0"/>
              </a:rPr>
              <a:t>Focused on using cache memory on multicore processors to speed up the process of accessing data</a:t>
            </a:r>
          </a:p>
          <a:p>
            <a:pPr lvl="1"/>
            <a:r>
              <a:rPr lang="en-US" altLang="en-US" dirty="0">
                <a:latin typeface="Arial" panose="020B0604020202020204" pitchFamily="34" charset="0"/>
                <a:ea typeface="ＭＳ Ｐゴシック" pitchFamily="34" charset="-128"/>
                <a:cs typeface="Arial" panose="020B0604020202020204" pitchFamily="34" charset="0"/>
              </a:rPr>
              <a:t>Speeds up programs 3 to 4 times</a:t>
            </a:r>
          </a:p>
        </p:txBody>
      </p:sp>
    </p:spTree>
    <p:extLst>
      <p:ext uri="{BB962C8B-B14F-4D97-AF65-F5344CB8AC3E}">
        <p14:creationId xmlns:p14="http://schemas.microsoft.com/office/powerpoint/2010/main" val="4052953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20924" y="1"/>
            <a:ext cx="8102153"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New Languages Keep Coming (3 of 3)</a:t>
            </a:r>
            <a:endParaRPr lang="en-US" sz="3600" b="0" dirty="0">
              <a:latin typeface="Arial" panose="020B0604020202020204" pitchFamily="34" charset="0"/>
              <a:cs typeface="Arial" panose="020B0604020202020204" pitchFamily="34" charset="0"/>
            </a:endParaRPr>
          </a:p>
        </p:txBody>
      </p:sp>
      <p:pic>
        <p:nvPicPr>
          <p:cNvPr id="3" name="Picture 2" descr="A list of new and current languages discussed in the text along with other major languages. The chart shows three columns with Language Name, Date Created, and Language Type as the heading. ">
            <a:extLst>
              <a:ext uri="{FF2B5EF4-FFF2-40B4-BE49-F238E27FC236}">
                <a16:creationId xmlns:a16="http://schemas.microsoft.com/office/drawing/2014/main" id="{2B7620B0-0E51-4A9F-BA05-F9AA09DE98D3}"/>
              </a:ext>
            </a:extLst>
          </p:cNvPr>
          <p:cNvPicPr>
            <a:picLocks noChangeAspect="1"/>
          </p:cNvPicPr>
          <p:nvPr/>
        </p:nvPicPr>
        <p:blipFill>
          <a:blip r:embed="rId2"/>
          <a:stretch>
            <a:fillRect/>
          </a:stretch>
        </p:blipFill>
        <p:spPr>
          <a:xfrm>
            <a:off x="92075" y="1196974"/>
            <a:ext cx="4743450" cy="3686175"/>
          </a:xfrm>
          <a:prstGeom prst="rect">
            <a:avLst/>
          </a:prstGeom>
        </p:spPr>
      </p:pic>
      <p:pic>
        <p:nvPicPr>
          <p:cNvPr id="5" name="Picture 4" descr="A list of new and current languages discussed in the text along with other major languages. The chart shows three columns with Language Name, Date Created, and Language Type as the heading. ">
            <a:extLst>
              <a:ext uri="{FF2B5EF4-FFF2-40B4-BE49-F238E27FC236}">
                <a16:creationId xmlns:a16="http://schemas.microsoft.com/office/drawing/2014/main" id="{E9ED0195-6FB6-4239-9A50-86907982826D}"/>
              </a:ext>
            </a:extLst>
          </p:cNvPr>
          <p:cNvPicPr>
            <a:picLocks noChangeAspect="1"/>
          </p:cNvPicPr>
          <p:nvPr/>
        </p:nvPicPr>
        <p:blipFill>
          <a:blip r:embed="rId3"/>
          <a:stretch>
            <a:fillRect/>
          </a:stretch>
        </p:blipFill>
        <p:spPr>
          <a:xfrm>
            <a:off x="4327525" y="2940049"/>
            <a:ext cx="4724400" cy="3314700"/>
          </a:xfrm>
          <a:prstGeom prst="rect">
            <a:avLst/>
          </a:prstGeom>
        </p:spPr>
      </p:pic>
    </p:spTree>
    <p:extLst>
      <p:ext uri="{BB962C8B-B14F-4D97-AF65-F5344CB8AC3E}">
        <p14:creationId xmlns:p14="http://schemas.microsoft.com/office/powerpoint/2010/main" val="23827422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Conclusion</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Languages vary by</a:t>
            </a:r>
          </a:p>
          <a:p>
            <a:pPr lvl="1"/>
            <a:r>
              <a:rPr lang="en-US" altLang="en-US" dirty="0">
                <a:latin typeface="Arial" panose="020B0604020202020204" pitchFamily="34" charset="0"/>
                <a:ea typeface="ＭＳ Ｐゴシック" pitchFamily="34" charset="-128"/>
                <a:cs typeface="Arial" panose="020B0604020202020204" pitchFamily="34" charset="0"/>
              </a:rPr>
              <a:t>Philosophy</a:t>
            </a:r>
          </a:p>
          <a:p>
            <a:pPr lvl="1"/>
            <a:r>
              <a:rPr lang="en-US" altLang="en-US" dirty="0">
                <a:latin typeface="Arial" panose="020B0604020202020204" pitchFamily="34" charset="0"/>
                <a:ea typeface="ＭＳ Ｐゴシック" pitchFamily="34" charset="-128"/>
                <a:cs typeface="Arial" panose="020B0604020202020204" pitchFamily="34" charset="0"/>
              </a:rPr>
              <a:t>Intended application areas</a:t>
            </a:r>
          </a:p>
          <a:p>
            <a:pPr lvl="1"/>
            <a:r>
              <a:rPr lang="en-US" altLang="en-US" dirty="0">
                <a:latin typeface="Arial" panose="020B0604020202020204" pitchFamily="34" charset="0"/>
                <a:ea typeface="ＭＳ Ｐゴシック" pitchFamily="34" charset="-128"/>
                <a:cs typeface="Arial" panose="020B0604020202020204" pitchFamily="34" charset="0"/>
              </a:rPr>
              <a:t>Strengths and purposes</a:t>
            </a:r>
          </a:p>
          <a:p>
            <a:pPr lvl="1"/>
            <a:r>
              <a:rPr lang="en-US" altLang="en-US" dirty="0">
                <a:latin typeface="Arial" panose="020B0604020202020204" pitchFamily="34" charset="0"/>
                <a:ea typeface="ＭＳ Ｐゴシック" pitchFamily="34" charset="-128"/>
                <a:cs typeface="Arial" panose="020B0604020202020204" pitchFamily="34" charset="0"/>
              </a:rPr>
              <a:t>Style, syntax, and semantics</a:t>
            </a:r>
          </a:p>
          <a:p>
            <a:pPr lvl="1"/>
            <a:r>
              <a:rPr lang="en-US" altLang="en-US" dirty="0">
                <a:latin typeface="Arial" panose="020B0604020202020204" pitchFamily="34" charset="0"/>
                <a:ea typeface="ＭＳ Ｐゴシック" pitchFamily="34" charset="-128"/>
                <a:cs typeface="Arial" panose="020B0604020202020204" pitchFamily="34" charset="0"/>
              </a:rPr>
              <a:t>Approaches to types, variables, and memory</a:t>
            </a:r>
          </a:p>
          <a:p>
            <a:pPr lvl="1"/>
            <a:r>
              <a:rPr lang="en-US" altLang="en-US" dirty="0">
                <a:latin typeface="Arial" panose="020B0604020202020204" pitchFamily="34" charset="0"/>
                <a:ea typeface="ＭＳ Ｐゴシック" pitchFamily="34" charset="-128"/>
                <a:cs typeface="Arial" panose="020B0604020202020204" pitchFamily="34" charset="0"/>
              </a:rPr>
              <a:t>Tools provided or accessible</a:t>
            </a:r>
          </a:p>
          <a:p>
            <a:r>
              <a:rPr lang="en-US" altLang="en-US" dirty="0">
                <a:latin typeface="Arial" panose="020B0604020202020204" pitchFamily="34" charset="0"/>
                <a:ea typeface="ＭＳ Ｐゴシック" pitchFamily="34" charset="-128"/>
                <a:cs typeface="Arial" panose="020B0604020202020204" pitchFamily="34" charset="0"/>
              </a:rPr>
              <a:t>Languages cross paradigms</a:t>
            </a:r>
          </a:p>
        </p:txBody>
      </p:sp>
    </p:spTree>
    <p:extLst>
      <p:ext uri="{BB962C8B-B14F-4D97-AF65-F5344CB8AC3E}">
        <p14:creationId xmlns:p14="http://schemas.microsoft.com/office/powerpoint/2010/main" val="15745421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Summary (1 of 2)</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812347"/>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Many programming languages exist because they reflect different intended uses or different philosophical views.</a:t>
            </a:r>
          </a:p>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Procedural programming languages include</a:t>
            </a:r>
          </a:p>
          <a:p>
            <a:pPr marL="717550" lvl="1" indent="-363538">
              <a:buFont typeface="Arial" panose="020B0604020202020204" pitchFamily="34" charset="0"/>
              <a:buChar cha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Plankalkül, Fortran, COBOL, C/C++, Ada, Java, Python, and C#.</a:t>
            </a:r>
          </a:p>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Special-purpose programming languages have limited range of use: SQL, HTML, JavaScript and R.</a:t>
            </a:r>
          </a:p>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Other paradigms include </a:t>
            </a:r>
          </a:p>
          <a:p>
            <a:pPr lvl="1">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Functional, logic, and parallel programming.</a:t>
            </a:r>
          </a:p>
        </p:txBody>
      </p:sp>
    </p:spTree>
    <p:extLst>
      <p:ext uri="{BB962C8B-B14F-4D97-AF65-F5344CB8AC3E}">
        <p14:creationId xmlns:p14="http://schemas.microsoft.com/office/powerpoint/2010/main" val="26392963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Summary (2 of 2)</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812347"/>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Functional programming languages organize programs around functions, function calls, and combining of functions.</a:t>
            </a:r>
          </a:p>
          <a:p>
            <a:r>
              <a:rPr lang="en-US" altLang="en-US" dirty="0">
                <a:latin typeface="Arial" panose="020B0604020202020204" pitchFamily="34" charset="0"/>
                <a:ea typeface="ＭＳ Ｐゴシック" pitchFamily="34" charset="-128"/>
                <a:cs typeface="Arial" panose="020B0604020202020204" pitchFamily="34" charset="0"/>
              </a:rPr>
              <a:t>Logic programming languages do not specify how to do something but give facts and rules and let the program deduce the results.</a:t>
            </a:r>
          </a:p>
          <a:p>
            <a:r>
              <a:rPr lang="en-US" altLang="en-US" dirty="0">
                <a:latin typeface="Arial" panose="020B0604020202020204" pitchFamily="34" charset="0"/>
                <a:ea typeface="ＭＳ Ｐゴシック" pitchFamily="34" charset="-128"/>
                <a:cs typeface="Arial" panose="020B0604020202020204" pitchFamily="34" charset="0"/>
              </a:rPr>
              <a:t>Parallel programming languages support MIMD parallel processing.</a:t>
            </a:r>
          </a:p>
          <a:p>
            <a:r>
              <a:rPr lang="en-US" altLang="en-US" dirty="0">
                <a:latin typeface="Arial" panose="020B0604020202020204" pitchFamily="34" charset="0"/>
                <a:ea typeface="ＭＳ Ｐゴシック" pitchFamily="34" charset="-128"/>
                <a:cs typeface="Arial" panose="020B0604020202020204" pitchFamily="34" charset="0"/>
              </a:rPr>
              <a:t>New programming languages evolve continuously for new or evolving purposes.</a:t>
            </a:r>
          </a:p>
        </p:txBody>
      </p:sp>
    </p:spTree>
    <p:extLst>
      <p:ext uri="{BB962C8B-B14F-4D97-AF65-F5344CB8AC3E}">
        <p14:creationId xmlns:p14="http://schemas.microsoft.com/office/powerpoint/2010/main" val="1941478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2331</TotalTime>
  <Words>2189</Words>
  <Application>Microsoft Office PowerPoint</Application>
  <PresentationFormat>On-screen Show (4:3)</PresentationFormat>
  <Paragraphs>309</Paragraphs>
  <Slides>51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ＭＳ Ｐゴシック</vt:lpstr>
      <vt:lpstr>Arial</vt:lpstr>
      <vt:lpstr>Calibri</vt:lpstr>
      <vt:lpstr>Courier New</vt:lpstr>
      <vt:lpstr>Symbol</vt:lpstr>
      <vt:lpstr>Wingdings</vt:lpstr>
      <vt:lpstr>Office Theme</vt:lpstr>
      <vt:lpstr>Chapter 10</vt:lpstr>
      <vt:lpstr>Learning Objectives (1 of 2)</vt:lpstr>
      <vt:lpstr>Learning Objectives (2 of 2)</vt:lpstr>
      <vt:lpstr>Why Babel?</vt:lpstr>
      <vt:lpstr>Procedural Languages (1 of 15)</vt:lpstr>
      <vt:lpstr>Procedural Languages (2 of 15)</vt:lpstr>
      <vt:lpstr>Procedural Languages (3 of 15)</vt:lpstr>
      <vt:lpstr>Procedural Languages (4 of 15)</vt:lpstr>
      <vt:lpstr>Procedural Languages (5 of 15)</vt:lpstr>
      <vt:lpstr>Procedural Languages (6 of 15)</vt:lpstr>
      <vt:lpstr>Procedural Languages (7 of 15)</vt:lpstr>
      <vt:lpstr>Procedural Languages (8 of 15)</vt:lpstr>
      <vt:lpstr>Procedural Languages (9 of 15)</vt:lpstr>
      <vt:lpstr>Procedural Languages (10 of 15)</vt:lpstr>
      <vt:lpstr>Procedural Languages (11 of 15)</vt:lpstr>
      <vt:lpstr>Procedural Languages (12 of 15)</vt:lpstr>
      <vt:lpstr>Procedural Languages (13 of 15)</vt:lpstr>
      <vt:lpstr>Procedural Languages (14 of 15)</vt:lpstr>
      <vt:lpstr>Procedural Languages (15 of 15)</vt:lpstr>
      <vt:lpstr>Special-Purpose Languages (1 of 10)</vt:lpstr>
      <vt:lpstr>Special-Purpose Languages (2 of 10)</vt:lpstr>
      <vt:lpstr>Special-Purpose Languages (3 of 10)</vt:lpstr>
      <vt:lpstr>Special-Purpose Languages (4 of 10)</vt:lpstr>
      <vt:lpstr>Special-Purpose Languages (5 of 10)</vt:lpstr>
      <vt:lpstr>Special-Purpose Languages (6 of 10)</vt:lpstr>
      <vt:lpstr>Special-Purpose Languages (7 of 10)</vt:lpstr>
      <vt:lpstr>Special-Purpose Languages (8 of 10)</vt:lpstr>
      <vt:lpstr>Figure 10.8 JavaScript embedded in an HTML page</vt:lpstr>
      <vt:lpstr>Special-Purpose Languages (9 of 10)</vt:lpstr>
      <vt:lpstr>Special-Purpose Languages (10 of 10)</vt:lpstr>
      <vt:lpstr>Alternative Programming Paradigms (1 of 16)</vt:lpstr>
      <vt:lpstr>Alternative Programming Paradigms (2 of 16)</vt:lpstr>
      <vt:lpstr>Alternative Programming Paradigms (3 of 16)</vt:lpstr>
      <vt:lpstr>Alternative Programming Paradigms (4 of 16)</vt:lpstr>
      <vt:lpstr>Alternative Programming Paradigms (5 of 16)</vt:lpstr>
      <vt:lpstr>Alternative Programming Paradigms (6 of 16)</vt:lpstr>
      <vt:lpstr>Alternative Programming Paradigms (7 of 16)</vt:lpstr>
      <vt:lpstr>Alternative Programming Paradigms (8 of 16)</vt:lpstr>
      <vt:lpstr>Alternative Programming Paradigms (9 of 16)</vt:lpstr>
      <vt:lpstr>Alternative Programming Paradigms (10 of 16)</vt:lpstr>
      <vt:lpstr>Alternative Programming Paradigms (11 of 16)</vt:lpstr>
      <vt:lpstr>Alternative Programming Paradigms (12 of 16)</vt:lpstr>
      <vt:lpstr>Alternative Programming Paradigms (14 of 16)</vt:lpstr>
      <vt:lpstr>Alternative Programming Paradigms (15 of 16)</vt:lpstr>
      <vt:lpstr>Alternative Programming Paradigms (16 of 16)</vt:lpstr>
      <vt:lpstr>New Languages Keep Coming (1 of 3)</vt:lpstr>
      <vt:lpstr>New Languages Keep Coming (2 of 3)</vt:lpstr>
      <vt:lpstr>New Languages Keep Coming (3 of 3)</vt:lpstr>
      <vt:lpstr>Conclusion</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The Tower of Babel</dc:title>
  <dc:creator>Schneider</dc:creator>
  <cp:lastModifiedBy>Judith Gersting</cp:lastModifiedBy>
  <cp:revision>191</cp:revision>
  <dcterms:created xsi:type="dcterms:W3CDTF">2015-05-05T09:30:46Z</dcterms:created>
  <dcterms:modified xsi:type="dcterms:W3CDTF">2018-02-17T18:41:43Z</dcterms:modified>
</cp:coreProperties>
</file>