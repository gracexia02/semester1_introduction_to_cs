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handoutMasterIdLst>
    <p:handoutMasterId r:id="rId49"/>
  </p:handoutMasterIdLst>
  <p:sldIdLst>
    <p:sldId id="295"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94" r:id="rId29"/>
    <p:sldId id="284" r:id="rId30"/>
    <p:sldId id="285" r:id="rId31"/>
    <p:sldId id="286" r:id="rId32"/>
    <p:sldId id="287" r:id="rId33"/>
    <p:sldId id="288" r:id="rId34"/>
    <p:sldId id="289" r:id="rId35"/>
    <p:sldId id="290" r:id="rId36"/>
    <p:sldId id="300" r:id="rId37"/>
    <p:sldId id="301" r:id="rId38"/>
    <p:sldId id="302" r:id="rId39"/>
    <p:sldId id="303" r:id="rId40"/>
    <p:sldId id="296" r:id="rId41"/>
    <p:sldId id="297" r:id="rId42"/>
    <p:sldId id="298" r:id="rId43"/>
    <p:sldId id="299" r:id="rId44"/>
    <p:sldId id="291" r:id="rId45"/>
    <p:sldId id="292" r:id="rId46"/>
    <p:sldId id="293"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14B"/>
    <a:srgbClr val="5FC3DA"/>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35" autoAdjust="0"/>
    <p:restoredTop sz="68826" autoAdjust="0"/>
  </p:normalViewPr>
  <p:slideViewPr>
    <p:cSldViewPr snapToGrid="0">
      <p:cViewPr varScale="1">
        <p:scale>
          <a:sx n="46" d="100"/>
          <a:sy n="46" d="100"/>
        </p:scale>
        <p:origin x="1808" y="32"/>
      </p:cViewPr>
      <p:guideLst>
        <p:guide orient="horz" pos="705"/>
        <p:guide pos="5612"/>
        <p:guide pos="4085"/>
        <p:guide pos="2881"/>
      </p:guideLst>
    </p:cSldViewPr>
  </p:slideViewPr>
  <p:outlineViewPr>
    <p:cViewPr>
      <p:scale>
        <a:sx n="33" d="100"/>
        <a:sy n="33" d="100"/>
      </p:scale>
      <p:origin x="0" y="2685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11/21/2020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11/21/2020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说明是否创建电子商务网站的问题，利弊。</a:t>
            </a:r>
          </a:p>
          <a:p>
            <a:r>
              <a:rPr lang="zh-CN" altLang="en-US" dirty="0"/>
              <a:t>列出在线交易的组成部分，并解释每个步骤所涉及的内容。</a:t>
            </a:r>
          </a:p>
          <a:p>
            <a:r>
              <a:rPr lang="zh-CN" altLang="en-US" dirty="0"/>
              <a:t>列出除向大众销售的在线零售商以外的另一种电子商务模式，并说明其工作方式。</a:t>
            </a:r>
          </a:p>
          <a:p>
            <a:r>
              <a:rPr lang="zh-CN" altLang="en-US" dirty="0"/>
              <a:t>列出除传统信用卡之外的另一种电子支付系统，并说明其工作方式。</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a:t>
            </a:fld>
            <a:endParaRPr lang="en-US" dirty="0"/>
          </a:p>
        </p:txBody>
      </p:sp>
    </p:spTree>
    <p:extLst>
      <p:ext uri="{BB962C8B-B14F-4D97-AF65-F5344CB8AC3E}">
        <p14:creationId xmlns:p14="http://schemas.microsoft.com/office/powerpoint/2010/main" val="331139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描述关系数据库模型</a:t>
            </a:r>
          </a:p>
          <a:p>
            <a:r>
              <a:rPr lang="zh-CN" altLang="en-US" dirty="0"/>
              <a:t>在</a:t>
            </a:r>
            <a:r>
              <a:rPr lang="en-US" altLang="zh-CN" dirty="0"/>
              <a:t>SQL</a:t>
            </a:r>
            <a:r>
              <a:rPr lang="zh-CN" altLang="en-US" dirty="0"/>
              <a:t>中构造简单查询以从关系数据库中的一个或多个表中检索信息</a:t>
            </a:r>
          </a:p>
          <a:p>
            <a:r>
              <a:rPr lang="zh-CN" altLang="en-US" dirty="0"/>
              <a:t>定义数据挖掘</a:t>
            </a:r>
          </a:p>
          <a:p>
            <a:r>
              <a:rPr lang="zh-CN" altLang="en-US" dirty="0"/>
              <a:t>列出数据经纪人用来收集个人数据的三个来源</a:t>
            </a:r>
          </a:p>
          <a:p>
            <a:r>
              <a:rPr lang="zh-CN" altLang="en-US" dirty="0"/>
              <a:t>举例说明“为了更大的利益”而使用的数据科学</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a:t>
            </a:fld>
            <a:endParaRPr lang="en-US" dirty="0"/>
          </a:p>
        </p:txBody>
      </p:sp>
    </p:spTree>
    <p:extLst>
      <p:ext uri="{BB962C8B-B14F-4D97-AF65-F5344CB8AC3E}">
        <p14:creationId xmlns:p14="http://schemas.microsoft.com/office/powerpoint/2010/main" val="899028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万维网使企业可以通过以下方式与客户进行通信：</a:t>
            </a:r>
          </a:p>
          <a:p>
            <a:r>
              <a:rPr lang="zh-CN" altLang="en-US" dirty="0"/>
              <a:t>  广告</a:t>
            </a:r>
          </a:p>
          <a:p>
            <a:r>
              <a:rPr lang="zh-CN" altLang="en-US" dirty="0"/>
              <a:t>  后续支持</a:t>
            </a:r>
          </a:p>
          <a:p>
            <a:r>
              <a:rPr lang="zh-CN" altLang="en-US" dirty="0"/>
              <a:t>  对消费者的销售</a:t>
            </a:r>
          </a:p>
          <a:p>
            <a:r>
              <a:rPr lang="zh-CN" altLang="en-US" dirty="0"/>
              <a:t>  对其他企业的销售</a:t>
            </a:r>
          </a:p>
          <a:p>
            <a:r>
              <a:rPr lang="zh-CN" altLang="en-US" dirty="0"/>
              <a:t>  非销售交易（报表和账单支付）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a:t>
            </a:fld>
            <a:endParaRPr lang="en-US" dirty="0"/>
          </a:p>
        </p:txBody>
      </p:sp>
    </p:spTree>
    <p:extLst>
      <p:ext uri="{BB962C8B-B14F-4D97-AF65-F5344CB8AC3E}">
        <p14:creationId xmlns:p14="http://schemas.microsoft.com/office/powerpoint/2010/main" val="880490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电子商务：通过互联网和网络进行的商业管理，包括销售，广告和账单支付选项</a:t>
            </a:r>
          </a:p>
          <a:p>
            <a:r>
              <a:rPr lang="zh-CN" altLang="en-US" dirty="0"/>
              <a:t>建立电子商务组织与建立实体店面一样耗时。</a:t>
            </a:r>
          </a:p>
          <a:p>
            <a:r>
              <a:rPr lang="zh-CN" altLang="en-US" dirty="0"/>
              <a:t>您正在解决什么业务问题？</a:t>
            </a:r>
          </a:p>
          <a:p>
            <a:r>
              <a:rPr lang="zh-CN" altLang="en-US" dirty="0"/>
              <a:t>  扩大客户群</a:t>
            </a:r>
          </a:p>
          <a:p>
            <a:r>
              <a:rPr lang="zh-CN" altLang="en-US" dirty="0"/>
              <a:t>  抓住失去在线竞争对手的客户</a:t>
            </a:r>
          </a:p>
          <a:p>
            <a:r>
              <a:rPr lang="zh-CN" altLang="en-US" dirty="0"/>
              <a:t>  更好地服务现有客户</a:t>
            </a:r>
          </a:p>
          <a:p>
            <a:r>
              <a:rPr lang="zh-CN" altLang="en-US" dirty="0"/>
              <a:t>  现有业务整合部门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a:t>
            </a:fld>
            <a:endParaRPr lang="en-US" dirty="0"/>
          </a:p>
        </p:txBody>
      </p:sp>
    </p:spTree>
    <p:extLst>
      <p:ext uri="{BB962C8B-B14F-4D97-AF65-F5344CB8AC3E}">
        <p14:creationId xmlns:p14="http://schemas.microsoft.com/office/powerpoint/2010/main" val="2777667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上网的风险</a:t>
            </a:r>
          </a:p>
          <a:p>
            <a:r>
              <a:rPr lang="zh-CN" altLang="en-US" dirty="0"/>
              <a:t>相同的客户从店内转移到在线</a:t>
            </a:r>
          </a:p>
          <a:p>
            <a:r>
              <a:rPr lang="zh-CN" altLang="en-US" dirty="0"/>
              <a:t>面对在线新竞争</a:t>
            </a:r>
          </a:p>
          <a:p>
            <a:r>
              <a:rPr lang="zh-CN" altLang="en-US" dirty="0"/>
              <a:t>现有客户不需要</a:t>
            </a:r>
            <a:r>
              <a:rPr lang="en-US" altLang="zh-CN" dirty="0"/>
              <a:t>/</a:t>
            </a:r>
            <a:r>
              <a:rPr lang="zh-CN" altLang="en-US" dirty="0"/>
              <a:t>想要在线商店</a:t>
            </a:r>
          </a:p>
          <a:p>
            <a:r>
              <a:rPr lang="zh-CN" altLang="en-US" dirty="0"/>
              <a:t>员工担忧</a:t>
            </a:r>
          </a:p>
          <a:p>
            <a:r>
              <a:rPr lang="zh-CN" altLang="en-US" dirty="0"/>
              <a:t>上网费用</a:t>
            </a:r>
          </a:p>
          <a:p>
            <a:r>
              <a:rPr lang="zh-CN" altLang="en-US" dirty="0"/>
              <a:t>计算机设备和基础设施</a:t>
            </a:r>
          </a:p>
          <a:p>
            <a:r>
              <a:rPr lang="zh-CN" altLang="en-US" dirty="0"/>
              <a:t>招聘人员管理网站</a:t>
            </a:r>
          </a:p>
          <a:p>
            <a:r>
              <a:rPr lang="zh-CN" altLang="en-US" dirty="0"/>
              <a:t>保护您的知识产权，在线法规和客户隐私所需的法律专业知识</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6</a:t>
            </a:fld>
            <a:endParaRPr lang="en-US" dirty="0"/>
          </a:p>
        </p:txBody>
      </p:sp>
    </p:spTree>
    <p:extLst>
      <p:ext uri="{BB962C8B-B14F-4D97-AF65-F5344CB8AC3E}">
        <p14:creationId xmlns:p14="http://schemas.microsoft.com/office/powerpoint/2010/main" val="1892680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电子商务决策：</a:t>
            </a:r>
          </a:p>
          <a:p>
            <a:r>
              <a:rPr lang="zh-CN" altLang="en-US" dirty="0"/>
              <a:t>内部设计网站或租用</a:t>
            </a:r>
            <a:r>
              <a:rPr lang="en-US" altLang="zh-CN" dirty="0"/>
              <a:t>ASP</a:t>
            </a:r>
            <a:r>
              <a:rPr lang="zh-CN" altLang="en-US" dirty="0"/>
              <a:t>（应用服务提供商）</a:t>
            </a:r>
          </a:p>
          <a:p>
            <a:r>
              <a:rPr lang="zh-CN" altLang="en-US" dirty="0"/>
              <a:t>购买或租赁设备</a:t>
            </a:r>
          </a:p>
          <a:p>
            <a:r>
              <a:rPr lang="zh-CN" altLang="en-US" dirty="0"/>
              <a:t>使用现有软件或编写自定义软件</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7</a:t>
            </a:fld>
            <a:endParaRPr lang="en-US" dirty="0"/>
          </a:p>
        </p:txBody>
      </p:sp>
    </p:spTree>
    <p:extLst>
      <p:ext uri="{BB962C8B-B14F-4D97-AF65-F5344CB8AC3E}">
        <p14:creationId xmlns:p14="http://schemas.microsoft.com/office/powerpoint/2010/main" val="706211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客户交易概述</a:t>
            </a:r>
          </a:p>
          <a:p>
            <a:r>
              <a:rPr lang="zh-CN" altLang="en-US" dirty="0"/>
              <a:t>客户了解您的网站并前往</a:t>
            </a:r>
          </a:p>
          <a:p>
            <a:r>
              <a:rPr lang="zh-CN" altLang="en-US" dirty="0"/>
              <a:t>识别回头客并个性化网站</a:t>
            </a:r>
          </a:p>
          <a:p>
            <a:r>
              <a:rPr lang="zh-CN" altLang="en-US" dirty="0"/>
              <a:t>提供安全的购物环境</a:t>
            </a:r>
          </a:p>
          <a:p>
            <a:r>
              <a:rPr lang="zh-CN" altLang="en-US" dirty="0"/>
              <a:t>处理付款</a:t>
            </a:r>
          </a:p>
          <a:p>
            <a:r>
              <a:rPr lang="zh-CN" altLang="en-US" dirty="0"/>
              <a:t>与会计和信贷公司沟通</a:t>
            </a:r>
          </a:p>
          <a:p>
            <a:r>
              <a:rPr lang="zh-CN" altLang="en-US" dirty="0"/>
              <a:t>订单完成度</a:t>
            </a:r>
          </a:p>
          <a:p>
            <a:r>
              <a:rPr lang="zh-CN" altLang="en-US" dirty="0"/>
              <a:t>更新库存</a:t>
            </a:r>
          </a:p>
          <a:p>
            <a:r>
              <a:rPr lang="zh-CN" altLang="en-US" dirty="0"/>
              <a:t>联系运输系统和运输公司</a:t>
            </a:r>
          </a:p>
          <a:p>
            <a:r>
              <a:rPr lang="zh-CN" altLang="en-US" dirty="0"/>
              <a:t>安排提货并交付给客户</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8</a:t>
            </a:fld>
            <a:endParaRPr lang="en-US" dirty="0"/>
          </a:p>
        </p:txBody>
      </p:sp>
    </p:spTree>
    <p:extLst>
      <p:ext uri="{BB962C8B-B14F-4D97-AF65-F5344CB8AC3E}">
        <p14:creationId xmlns:p14="http://schemas.microsoft.com/office/powerpoint/2010/main" val="3634508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客户如何了解您的网站？</a:t>
            </a:r>
          </a:p>
          <a:p>
            <a:r>
              <a:rPr lang="zh-CN" altLang="en-US" dirty="0"/>
              <a:t>带有</a:t>
            </a:r>
            <a:r>
              <a:rPr lang="en-US" altLang="zh-CN" dirty="0"/>
              <a:t>URL</a:t>
            </a:r>
            <a:r>
              <a:rPr lang="zh-CN" altLang="en-US" dirty="0"/>
              <a:t>的常规平面广告</a:t>
            </a:r>
          </a:p>
          <a:p>
            <a:r>
              <a:rPr lang="zh-CN" altLang="en-US" dirty="0"/>
              <a:t>明显的域名（主页</a:t>
            </a:r>
            <a:r>
              <a:rPr lang="en-US" altLang="zh-CN" dirty="0"/>
              <a:t>URL</a:t>
            </a:r>
            <a:r>
              <a:rPr lang="zh-CN" altLang="en-US" dirty="0"/>
              <a:t>）</a:t>
            </a:r>
          </a:p>
          <a:p>
            <a:r>
              <a:rPr lang="en-US" altLang="zh-CN" dirty="0"/>
              <a:t>ICANN</a:t>
            </a:r>
            <a:r>
              <a:rPr lang="zh-CN" altLang="en-US" dirty="0"/>
              <a:t>（互联网名称与数字地址分配机构）注册域名</a:t>
            </a:r>
          </a:p>
          <a:p>
            <a:r>
              <a:rPr lang="zh-CN" altLang="en-US" dirty="0"/>
              <a:t>搜索引擎结果（赞助商链接）</a:t>
            </a:r>
          </a:p>
          <a:p>
            <a:r>
              <a:rPr lang="zh-CN" altLang="en-US" dirty="0"/>
              <a:t>存在于门户网站（有关主题的网站）上，并带有指向零售，批发和信息网站的链接</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10</a:t>
            </a:fld>
            <a:endParaRPr lang="en-US" dirty="0"/>
          </a:p>
        </p:txBody>
      </p:sp>
    </p:spTree>
    <p:extLst>
      <p:ext uri="{BB962C8B-B14F-4D97-AF65-F5344CB8AC3E}">
        <p14:creationId xmlns:p14="http://schemas.microsoft.com/office/powerpoint/2010/main" val="3652858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识别回头客并个性化网站</a:t>
            </a:r>
          </a:p>
          <a:p>
            <a:r>
              <a:rPr lang="zh-CN" altLang="en-US" dirty="0"/>
              <a:t>要求用户注册并登录</a:t>
            </a:r>
          </a:p>
          <a:p>
            <a:r>
              <a:rPr lang="zh-CN" altLang="en-US" dirty="0"/>
              <a:t>使用用户过去在站点上的历史记录连接到数据库</a:t>
            </a:r>
          </a:p>
          <a:p>
            <a:r>
              <a:rPr lang="zh-CN" altLang="en-US" dirty="0"/>
              <a:t>将</a:t>
            </a:r>
            <a:r>
              <a:rPr lang="en-US" altLang="zh-CN" dirty="0"/>
              <a:t>Cookie</a:t>
            </a:r>
            <a:r>
              <a:rPr lang="zh-CN" altLang="en-US" dirty="0"/>
              <a:t>留在用户的计算机上</a:t>
            </a:r>
          </a:p>
          <a:p>
            <a:r>
              <a:rPr lang="zh-CN" altLang="en-US" dirty="0"/>
              <a:t>包含有关用户信息的小文本文件</a:t>
            </a:r>
          </a:p>
          <a:p>
            <a:r>
              <a:rPr lang="zh-CN" altLang="en-US" dirty="0"/>
              <a:t>允许站点的一页与另一页之间的连续性</a:t>
            </a:r>
          </a:p>
          <a:p>
            <a:r>
              <a:rPr lang="zh-CN" altLang="en-US" dirty="0"/>
              <a:t>（相对）无害</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11</a:t>
            </a:fld>
            <a:endParaRPr lang="en-US" dirty="0"/>
          </a:p>
        </p:txBody>
      </p:sp>
    </p:spTree>
    <p:extLst>
      <p:ext uri="{BB962C8B-B14F-4D97-AF65-F5344CB8AC3E}">
        <p14:creationId xmlns:p14="http://schemas.microsoft.com/office/powerpoint/2010/main" val="3099664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提供安全的购物环境</a:t>
            </a:r>
          </a:p>
          <a:p>
            <a:r>
              <a:rPr lang="zh-CN" altLang="en-US" dirty="0"/>
              <a:t>加密：确保对敏感信息进行加密以进行传输</a:t>
            </a:r>
          </a:p>
          <a:p>
            <a:r>
              <a:rPr lang="zh-CN" altLang="en-US" dirty="0"/>
              <a:t>验证：确认您的网站合法</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12</a:t>
            </a:fld>
            <a:endParaRPr lang="en-US" dirty="0"/>
          </a:p>
        </p:txBody>
      </p:sp>
    </p:spTree>
    <p:extLst>
      <p:ext uri="{BB962C8B-B14F-4D97-AF65-F5344CB8AC3E}">
        <p14:creationId xmlns:p14="http://schemas.microsoft.com/office/powerpoint/2010/main" val="1759279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处理付款</a:t>
            </a:r>
          </a:p>
          <a:p>
            <a:r>
              <a:rPr lang="zh-CN" altLang="en-US" dirty="0"/>
              <a:t>选项</a:t>
            </a:r>
            <a:r>
              <a:rPr lang="en-US" altLang="zh-CN" dirty="0"/>
              <a:t>1</a:t>
            </a:r>
            <a:r>
              <a:rPr lang="zh-CN" altLang="en-US" dirty="0"/>
              <a:t>：在客户等待时</a:t>
            </a:r>
          </a:p>
          <a:p>
            <a:r>
              <a:rPr lang="zh-CN" altLang="en-US" dirty="0"/>
              <a:t>在线表格与会计软件进行通信</a:t>
            </a:r>
          </a:p>
          <a:p>
            <a:r>
              <a:rPr lang="zh-CN" altLang="en-US" dirty="0"/>
              <a:t>会计系统验证客户信用</a:t>
            </a:r>
          </a:p>
          <a:p>
            <a:r>
              <a:rPr lang="zh-CN" altLang="en-US" dirty="0"/>
              <a:t>客户可以更正不良信息</a:t>
            </a:r>
          </a:p>
          <a:p>
            <a:r>
              <a:rPr lang="zh-CN" altLang="en-US" dirty="0"/>
              <a:t>无需保留信用卡号</a:t>
            </a:r>
          </a:p>
          <a:p>
            <a:r>
              <a:rPr lang="zh-CN" altLang="en-US" dirty="0"/>
              <a:t>选项</a:t>
            </a:r>
            <a:r>
              <a:rPr lang="en-US" altLang="zh-CN" dirty="0"/>
              <a:t>2</a:t>
            </a:r>
          </a:p>
          <a:p>
            <a:r>
              <a:rPr lang="zh-CN" altLang="en-US" dirty="0"/>
              <a:t>记录订单和付款信息</a:t>
            </a:r>
          </a:p>
          <a:p>
            <a:r>
              <a:rPr lang="zh-CN" altLang="en-US" dirty="0"/>
              <a:t>脱机验证并完成交易</a:t>
            </a:r>
          </a:p>
          <a:p>
            <a:r>
              <a:rPr lang="zh-CN" altLang="en-US" dirty="0"/>
              <a:t>发送电子邮件确认给客户</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14</a:t>
            </a:fld>
            <a:endParaRPr lang="en-US" dirty="0"/>
          </a:p>
        </p:txBody>
      </p:sp>
    </p:spTree>
    <p:extLst>
      <p:ext uri="{BB962C8B-B14F-4D97-AF65-F5344CB8AC3E}">
        <p14:creationId xmlns:p14="http://schemas.microsoft.com/office/powerpoint/2010/main" val="3031278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完成订单</a:t>
            </a:r>
          </a:p>
          <a:p>
            <a:r>
              <a:rPr lang="zh-CN" altLang="en-US" dirty="0"/>
              <a:t>与在线库存沟通</a:t>
            </a:r>
          </a:p>
          <a:p>
            <a:r>
              <a:rPr lang="zh-CN" altLang="en-US" dirty="0"/>
              <a:t>减少购买物品的数量</a:t>
            </a:r>
          </a:p>
          <a:p>
            <a:r>
              <a:rPr lang="zh-CN" altLang="en-US" dirty="0"/>
              <a:t>安排运输</a:t>
            </a:r>
          </a:p>
          <a:p>
            <a:r>
              <a:rPr lang="zh-CN" altLang="en-US" dirty="0"/>
              <a:t>在线运输系统</a:t>
            </a:r>
          </a:p>
          <a:p>
            <a:r>
              <a:rPr lang="zh-CN" altLang="en-US" dirty="0"/>
              <a:t>对外运输公司</a:t>
            </a:r>
          </a:p>
          <a:p>
            <a:r>
              <a:rPr lang="zh-CN" altLang="en-US" dirty="0"/>
              <a:t>安排在仓库的提货并交付给客户</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15</a:t>
            </a:fld>
            <a:endParaRPr lang="en-US" dirty="0"/>
          </a:p>
        </p:txBody>
      </p:sp>
    </p:spTree>
    <p:extLst>
      <p:ext uri="{BB962C8B-B14F-4D97-AF65-F5344CB8AC3E}">
        <p14:creationId xmlns:p14="http://schemas.microsoft.com/office/powerpoint/2010/main" val="37322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网站设计：整体</a:t>
            </a:r>
          </a:p>
          <a:p>
            <a:r>
              <a:rPr lang="zh-CN" altLang="en-US" dirty="0"/>
              <a:t>具有吸引力的新产品展示</a:t>
            </a:r>
          </a:p>
          <a:p>
            <a:r>
              <a:rPr lang="zh-CN" altLang="en-US" dirty="0"/>
              <a:t>好的设计原则</a:t>
            </a:r>
          </a:p>
          <a:p>
            <a:r>
              <a:rPr lang="zh-CN" altLang="en-US" dirty="0"/>
              <a:t>组织自然的购物习惯</a:t>
            </a:r>
          </a:p>
          <a:p>
            <a:r>
              <a:rPr lang="zh-CN" altLang="en-US" dirty="0"/>
              <a:t>轻松浏览</a:t>
            </a:r>
          </a:p>
          <a:p>
            <a:r>
              <a:rPr lang="zh-CN" altLang="en-US" dirty="0"/>
              <a:t>提供网站地图或导航栏</a:t>
            </a:r>
          </a:p>
          <a:p>
            <a:r>
              <a:rPr lang="zh-CN" altLang="en-US" dirty="0"/>
              <a:t>从一页到另一页的点击次数不超过四次</a:t>
            </a:r>
          </a:p>
          <a:p>
            <a:r>
              <a:rPr lang="zh-CN" altLang="en-US" dirty="0"/>
              <a:t>鼓励浏览和目标搜索</a:t>
            </a:r>
          </a:p>
          <a:p>
            <a:r>
              <a:rPr lang="zh-CN" altLang="en-US" dirty="0"/>
              <a:t>确保网站可以在不同的平台和浏览器上运行</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16</a:t>
            </a:fld>
            <a:endParaRPr lang="en-US" dirty="0"/>
          </a:p>
        </p:txBody>
      </p:sp>
    </p:spTree>
    <p:extLst>
      <p:ext uri="{BB962C8B-B14F-4D97-AF65-F5344CB8AC3E}">
        <p14:creationId xmlns:p14="http://schemas.microsoft.com/office/powerpoint/2010/main" val="3159101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网站设计：购买</a:t>
            </a:r>
          </a:p>
          <a:p>
            <a:r>
              <a:rPr lang="zh-CN" altLang="en-US" dirty="0"/>
              <a:t>提供电子“购物车”</a:t>
            </a:r>
          </a:p>
          <a:p>
            <a:r>
              <a:rPr lang="zh-CN" altLang="en-US" dirty="0"/>
              <a:t>结帐步骤如下：</a:t>
            </a:r>
          </a:p>
          <a:p>
            <a:r>
              <a:rPr lang="zh-CN" altLang="en-US" dirty="0"/>
              <a:t>一律显示订单明细</a:t>
            </a:r>
          </a:p>
          <a:p>
            <a:r>
              <a:rPr lang="zh-CN" altLang="en-US" dirty="0"/>
              <a:t>清楚指出下一步按钮的作用</a:t>
            </a:r>
          </a:p>
          <a:p>
            <a:r>
              <a:rPr lang="zh-CN" altLang="en-US" dirty="0"/>
              <a:t>允许客户回去改变事物</a:t>
            </a:r>
          </a:p>
          <a:p>
            <a:r>
              <a:rPr lang="zh-CN" altLang="en-US" dirty="0"/>
              <a:t>给客户送货选择</a:t>
            </a:r>
          </a:p>
          <a:p>
            <a:r>
              <a:rPr lang="zh-CN" altLang="en-US" dirty="0"/>
              <a:t>提供包含订单信息和运输确认的电子邮件</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17</a:t>
            </a:fld>
            <a:endParaRPr lang="en-US" dirty="0"/>
          </a:p>
        </p:txBody>
      </p:sp>
    </p:spTree>
    <p:extLst>
      <p:ext uri="{BB962C8B-B14F-4D97-AF65-F5344CB8AC3E}">
        <p14:creationId xmlns:p14="http://schemas.microsoft.com/office/powerpoint/2010/main" val="1741915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网站设计：其他信息</a:t>
            </a:r>
          </a:p>
          <a:p>
            <a:r>
              <a:rPr lang="zh-CN" altLang="en-US" dirty="0"/>
              <a:t>常见问题页面和链接到客户服务</a:t>
            </a:r>
          </a:p>
          <a:p>
            <a:r>
              <a:rPr lang="zh-CN" altLang="en-US" dirty="0"/>
              <a:t>允许客户评论或论坛的条目</a:t>
            </a:r>
          </a:p>
          <a:p>
            <a:r>
              <a:rPr lang="zh-CN" altLang="en-US" dirty="0"/>
              <a:t>新闻和新闻稿</a:t>
            </a:r>
          </a:p>
          <a:p>
            <a:r>
              <a:rPr lang="zh-CN" altLang="en-US" dirty="0"/>
              <a:t>链接到您的社交媒体网站</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18</a:t>
            </a:fld>
            <a:endParaRPr lang="en-US" dirty="0"/>
          </a:p>
        </p:txBody>
      </p:sp>
    </p:spTree>
    <p:extLst>
      <p:ext uri="{BB962C8B-B14F-4D97-AF65-F5344CB8AC3E}">
        <p14:creationId xmlns:p14="http://schemas.microsoft.com/office/powerpoint/2010/main" val="2536906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多个软件系统必须进行通信</a:t>
            </a:r>
          </a:p>
          <a:p>
            <a:r>
              <a:rPr lang="zh-CN" altLang="en-US" dirty="0"/>
              <a:t>网站，会计，库存和运输</a:t>
            </a:r>
          </a:p>
          <a:p>
            <a:r>
              <a:rPr lang="zh-CN" altLang="en-US" dirty="0"/>
              <a:t>供应商，订单和账单</a:t>
            </a:r>
          </a:p>
          <a:p>
            <a:r>
              <a:rPr lang="zh-CN" altLang="en-US" dirty="0"/>
              <a:t>人员</a:t>
            </a:r>
          </a:p>
          <a:p>
            <a:r>
              <a:rPr lang="zh-CN" altLang="en-US" dirty="0"/>
              <a:t>旧版代码：仍在使用的旧软件</a:t>
            </a:r>
          </a:p>
          <a:p>
            <a:r>
              <a:rPr lang="zh-CN" altLang="en-US" dirty="0"/>
              <a:t>中间件：使单独的系统进行通信的软件</a:t>
            </a:r>
          </a:p>
          <a:p>
            <a:r>
              <a:rPr lang="zh-CN" altLang="en-US" dirty="0"/>
              <a:t>灾难恢复策略：应对自然灾害，设备故障或被黑客入侵</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19</a:t>
            </a:fld>
            <a:endParaRPr lang="en-US" dirty="0"/>
          </a:p>
        </p:txBody>
      </p:sp>
    </p:spTree>
    <p:extLst>
      <p:ext uri="{BB962C8B-B14F-4D97-AF65-F5344CB8AC3E}">
        <p14:creationId xmlns:p14="http://schemas.microsoft.com/office/powerpoint/2010/main" val="3558842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其他电子商务模式</a:t>
            </a:r>
          </a:p>
          <a:p>
            <a:r>
              <a:rPr lang="en-US" altLang="zh-CN" dirty="0"/>
              <a:t>eBay</a:t>
            </a:r>
            <a:r>
              <a:rPr lang="zh-CN" altLang="en-US" dirty="0"/>
              <a:t>：点对点拍卖式销售</a:t>
            </a:r>
          </a:p>
          <a:p>
            <a:r>
              <a:rPr lang="en-US" altLang="zh-CN" dirty="0"/>
              <a:t>Craigslist</a:t>
            </a:r>
            <a:r>
              <a:rPr lang="zh-CN" altLang="en-US" dirty="0"/>
              <a:t>：点对点分类广告</a:t>
            </a:r>
          </a:p>
          <a:p>
            <a:r>
              <a:rPr lang="en-US" altLang="zh-CN" dirty="0"/>
              <a:t>Groupon</a:t>
            </a:r>
            <a:r>
              <a:rPr lang="zh-CN" altLang="en-US" dirty="0"/>
              <a:t>：团体优惠券</a:t>
            </a:r>
          </a:p>
          <a:p>
            <a:r>
              <a:rPr lang="zh-CN" altLang="en-US" dirty="0"/>
              <a:t>企业仅将优惠券发布一天</a:t>
            </a:r>
          </a:p>
          <a:p>
            <a:r>
              <a:rPr lang="zh-CN" altLang="en-US" dirty="0"/>
              <a:t>所需的最低人数</a:t>
            </a:r>
          </a:p>
          <a:p>
            <a:r>
              <a:rPr lang="en-US" altLang="zh-CN" dirty="0"/>
              <a:t>PayPal</a:t>
            </a:r>
            <a:r>
              <a:rPr lang="zh-CN" altLang="en-US" dirty="0"/>
              <a:t>：在线支付服务</a:t>
            </a:r>
          </a:p>
          <a:p>
            <a:r>
              <a:rPr lang="en-US" altLang="zh-CN" dirty="0"/>
              <a:t>Apple Pay</a:t>
            </a:r>
            <a:r>
              <a:rPr lang="zh-CN" altLang="en-US" dirty="0"/>
              <a:t>和类似系统：移动支付系统</a:t>
            </a:r>
          </a:p>
          <a:p>
            <a:r>
              <a:rPr lang="zh-CN" altLang="en-US" dirty="0"/>
              <a:t>比特币：虚拟货币</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20</a:t>
            </a:fld>
            <a:endParaRPr lang="en-US" dirty="0"/>
          </a:p>
        </p:txBody>
      </p:sp>
    </p:spTree>
    <p:extLst>
      <p:ext uri="{BB962C8B-B14F-4D97-AF65-F5344CB8AC3E}">
        <p14:creationId xmlns:p14="http://schemas.microsoft.com/office/powerpoint/2010/main" val="35222457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数据库存储大量数据</a:t>
            </a:r>
          </a:p>
          <a:p>
            <a:r>
              <a:rPr lang="zh-CN" altLang="en-US" dirty="0"/>
              <a:t>企业需要以下数据库：</a:t>
            </a:r>
          </a:p>
          <a:p>
            <a:r>
              <a:rPr lang="zh-CN" altLang="en-US" dirty="0"/>
              <a:t>库存，人员，客户，供应商和财务</a:t>
            </a:r>
          </a:p>
          <a:p>
            <a:r>
              <a:rPr lang="zh-CN" altLang="en-US" dirty="0"/>
              <a:t>资料组织</a:t>
            </a:r>
          </a:p>
          <a:p>
            <a:r>
              <a:rPr lang="zh-CN" altLang="en-US" dirty="0"/>
              <a:t>位和字节：计算机数据的基本部分</a:t>
            </a:r>
          </a:p>
          <a:p>
            <a:r>
              <a:rPr lang="zh-CN" altLang="en-US" dirty="0"/>
              <a:t>领域：一条有意义的信息</a:t>
            </a:r>
          </a:p>
          <a:p>
            <a:r>
              <a:rPr lang="zh-CN" altLang="en-US" dirty="0"/>
              <a:t>记录：一组相关字段</a:t>
            </a:r>
          </a:p>
          <a:p>
            <a:r>
              <a:rPr lang="zh-CN" altLang="en-US" dirty="0"/>
              <a:t>数据文件：一组相关记录</a:t>
            </a:r>
          </a:p>
          <a:p>
            <a:r>
              <a:rPr lang="zh-CN" altLang="en-US" dirty="0"/>
              <a:t>数据库：一组相关的数据文件</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21</a:t>
            </a:fld>
            <a:endParaRPr lang="en-US" dirty="0"/>
          </a:p>
        </p:txBody>
      </p:sp>
    </p:spTree>
    <p:extLst>
      <p:ext uri="{BB962C8B-B14F-4D97-AF65-F5344CB8AC3E}">
        <p14:creationId xmlns:p14="http://schemas.microsoft.com/office/powerpoint/2010/main" val="3198483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23</a:t>
            </a:fld>
            <a:endParaRPr lang="en-US" dirty="0"/>
          </a:p>
        </p:txBody>
      </p:sp>
    </p:spTree>
    <p:extLst>
      <p:ext uri="{BB962C8B-B14F-4D97-AF65-F5344CB8AC3E}">
        <p14:creationId xmlns:p14="http://schemas.microsoft.com/office/powerpoint/2010/main" val="3499738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为您服务的地毯：员工记录的示例</a:t>
            </a:r>
          </a:p>
          <a:p>
            <a:r>
              <a:rPr lang="zh-CN" altLang="en-US" dirty="0"/>
              <a:t>记录</a:t>
            </a:r>
            <a:r>
              <a:rPr lang="en-US" altLang="zh-CN" dirty="0"/>
              <a:t>=</a:t>
            </a:r>
            <a:r>
              <a:rPr lang="zh-CN" altLang="en-US" dirty="0"/>
              <a:t>一名员工</a:t>
            </a:r>
          </a:p>
          <a:p>
            <a:r>
              <a:rPr lang="zh-CN" altLang="en-US" dirty="0"/>
              <a:t>每个字段都有：</a:t>
            </a:r>
          </a:p>
          <a:p>
            <a:r>
              <a:rPr lang="zh-CN" altLang="en-US" dirty="0"/>
              <a:t>具有特定数据类型的字段名称（类别）</a:t>
            </a:r>
          </a:p>
          <a:p>
            <a:r>
              <a:rPr lang="zh-CN" altLang="en-US" dirty="0"/>
              <a:t>所选记录（员工）的字段中的值</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24</a:t>
            </a:fld>
            <a:endParaRPr lang="en-US" dirty="0"/>
          </a:p>
        </p:txBody>
      </p:sp>
    </p:spTree>
    <p:extLst>
      <p:ext uri="{BB962C8B-B14F-4D97-AF65-F5344CB8AC3E}">
        <p14:creationId xmlns:p14="http://schemas.microsoft.com/office/powerpoint/2010/main" val="3859831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数据库管理系统（</a:t>
            </a:r>
            <a:r>
              <a:rPr lang="en-US" altLang="zh-CN" dirty="0"/>
              <a:t>DBMS</a:t>
            </a:r>
            <a:r>
              <a:rPr lang="zh-CN" altLang="en-US" dirty="0"/>
              <a:t>）</a:t>
            </a:r>
          </a:p>
          <a:p>
            <a:r>
              <a:rPr lang="zh-CN" altLang="en-US" dirty="0"/>
              <a:t>管理数据库中的文件</a:t>
            </a:r>
          </a:p>
          <a:p>
            <a:r>
              <a:rPr lang="zh-CN" altLang="en-US" dirty="0"/>
              <a:t>关系数据库模型：文件是二维表</a:t>
            </a:r>
          </a:p>
          <a:p>
            <a:r>
              <a:rPr lang="zh-CN" altLang="en-US" dirty="0"/>
              <a:t>实体：系统的一个独特组成部分</a:t>
            </a:r>
          </a:p>
          <a:p>
            <a:r>
              <a:rPr lang="zh-CN" altLang="en-US" dirty="0"/>
              <a:t>例如：员工，客户或待售地毯</a:t>
            </a:r>
          </a:p>
          <a:p>
            <a:r>
              <a:rPr lang="zh-CN" altLang="en-US" dirty="0"/>
              <a:t>元组：关系表的一行</a:t>
            </a:r>
          </a:p>
          <a:p>
            <a:r>
              <a:rPr lang="zh-CN" altLang="en-US" dirty="0"/>
              <a:t>属性：字段类别</a:t>
            </a:r>
          </a:p>
          <a:p>
            <a:r>
              <a:rPr lang="zh-CN" altLang="en-US" dirty="0"/>
              <a:t>主键：唯一标识元组的属性</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25</a:t>
            </a:fld>
            <a:endParaRPr lang="en-US" dirty="0"/>
          </a:p>
        </p:txBody>
      </p:sp>
    </p:spTree>
    <p:extLst>
      <p:ext uri="{BB962C8B-B14F-4D97-AF65-F5344CB8AC3E}">
        <p14:creationId xmlns:p14="http://schemas.microsoft.com/office/powerpoint/2010/main" val="41194600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SQL</a:t>
            </a:r>
            <a:r>
              <a:rPr lang="zh-CN" altLang="en-US" dirty="0"/>
              <a:t>（结构化查询语言）</a:t>
            </a:r>
          </a:p>
          <a:p>
            <a:r>
              <a:rPr lang="en-US" altLang="zh-CN" dirty="0"/>
              <a:t>DBMS</a:t>
            </a:r>
            <a:r>
              <a:rPr lang="zh-CN" altLang="en-US" dirty="0"/>
              <a:t>的标准查询语言</a:t>
            </a:r>
          </a:p>
          <a:p>
            <a:r>
              <a:rPr lang="zh-CN" altLang="en-US" dirty="0"/>
              <a:t>使用</a:t>
            </a:r>
            <a:r>
              <a:rPr lang="en-US" altLang="zh-CN" dirty="0"/>
              <a:t>SQL</a:t>
            </a:r>
            <a:r>
              <a:rPr lang="zh-CN" altLang="en-US" dirty="0"/>
              <a:t>查询根据某些条件检索数据</a:t>
            </a:r>
          </a:p>
          <a:p>
            <a:r>
              <a:rPr lang="zh-CN" altLang="en-US" dirty="0"/>
              <a:t>示例</a:t>
            </a:r>
            <a:r>
              <a:rPr lang="en-US" altLang="zh-CN" dirty="0"/>
              <a:t>1</a:t>
            </a:r>
            <a:r>
              <a:rPr lang="zh-CN" altLang="en-US" dirty="0"/>
              <a:t>：检索名为</a:t>
            </a:r>
            <a:r>
              <a:rPr lang="en-US" altLang="zh-CN" dirty="0" err="1"/>
              <a:t>Perreira</a:t>
            </a:r>
            <a:r>
              <a:rPr lang="zh-CN" altLang="en-US" dirty="0"/>
              <a:t>的员工的员工姓名，工资率和工作时间</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27</a:t>
            </a:fld>
            <a:endParaRPr lang="en-US" dirty="0"/>
          </a:p>
        </p:txBody>
      </p:sp>
    </p:spTree>
    <p:extLst>
      <p:ext uri="{BB962C8B-B14F-4D97-AF65-F5344CB8AC3E}">
        <p14:creationId xmlns:p14="http://schemas.microsoft.com/office/powerpoint/2010/main" val="13834855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多个表可能包含相关数据</a:t>
            </a:r>
          </a:p>
          <a:p>
            <a:r>
              <a:rPr lang="zh-CN" altLang="en-US" dirty="0"/>
              <a:t>示例：“为您提供地毯”的保险单</a:t>
            </a:r>
          </a:p>
          <a:p>
            <a:r>
              <a:rPr lang="zh-CN" altLang="en-US" dirty="0"/>
              <a:t>外键：一个表中的一个属性，另一个表中的键</a:t>
            </a:r>
          </a:p>
          <a:p>
            <a:r>
              <a:rPr lang="zh-CN" altLang="en-US" dirty="0"/>
              <a:t>将一个表中的数据连接到另一个表</a:t>
            </a:r>
          </a:p>
          <a:p>
            <a:r>
              <a:rPr lang="zh-CN" altLang="en-US" dirty="0"/>
              <a:t>示例：</a:t>
            </a:r>
            <a:r>
              <a:rPr lang="en-US" altLang="zh-CN" dirty="0" err="1"/>
              <a:t>EmployeeID</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30</a:t>
            </a:fld>
            <a:endParaRPr lang="en-US" dirty="0"/>
          </a:p>
        </p:txBody>
      </p:sp>
    </p:spTree>
    <p:extLst>
      <p:ext uri="{BB962C8B-B14F-4D97-AF65-F5344CB8AC3E}">
        <p14:creationId xmlns:p14="http://schemas.microsoft.com/office/powerpoint/2010/main" val="2150708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关系数据库操作</a:t>
            </a:r>
          </a:p>
          <a:p>
            <a:r>
              <a:rPr lang="zh-CN" altLang="en-US" dirty="0"/>
              <a:t>项目：从一组元组中选择一些属性</a:t>
            </a:r>
          </a:p>
          <a:p>
            <a:r>
              <a:rPr lang="zh-CN" altLang="en-US" dirty="0"/>
              <a:t>选择姓氏，名字，计划类型</a:t>
            </a:r>
          </a:p>
          <a:p>
            <a:r>
              <a:rPr lang="zh-CN" altLang="en-US" dirty="0"/>
              <a:t>来自员工，保险单</a:t>
            </a:r>
          </a:p>
          <a:p>
            <a:r>
              <a:rPr lang="zh-CN" altLang="en-US" dirty="0"/>
              <a:t>限制：选择符合条件的元组</a:t>
            </a:r>
          </a:p>
          <a:p>
            <a:r>
              <a:rPr lang="en-US" altLang="zh-CN" dirty="0"/>
              <a:t>WHERE </a:t>
            </a:r>
            <a:r>
              <a:rPr lang="en-US" altLang="zh-CN" dirty="0" err="1"/>
              <a:t>LastName</a:t>
            </a:r>
            <a:r>
              <a:rPr lang="en-US" altLang="zh-CN" dirty="0"/>
              <a:t> =“</a:t>
            </a:r>
            <a:r>
              <a:rPr lang="zh-CN" altLang="en-US" dirty="0"/>
              <a:t>高野”</a:t>
            </a:r>
          </a:p>
          <a:p>
            <a:r>
              <a:rPr lang="en-US" altLang="zh-CN" dirty="0"/>
              <a:t>AND FirstName =“</a:t>
            </a:r>
            <a:r>
              <a:rPr lang="zh-CN" altLang="en-US" dirty="0"/>
              <a:t>弗雷德里克”</a:t>
            </a:r>
          </a:p>
          <a:p>
            <a:r>
              <a:rPr lang="zh-CN" altLang="en-US" dirty="0"/>
              <a:t>联接：合并来自不同表的元组</a:t>
            </a:r>
          </a:p>
          <a:p>
            <a:r>
              <a:rPr lang="zh-CN" altLang="en-US" dirty="0"/>
              <a:t>来自员工，保险单</a:t>
            </a:r>
          </a:p>
          <a:p>
            <a:r>
              <a:rPr lang="en-US" altLang="zh-CN" dirty="0"/>
              <a:t>…</a:t>
            </a:r>
          </a:p>
          <a:p>
            <a:r>
              <a:rPr lang="en-US" altLang="zh-CN" dirty="0"/>
              <a:t>AND ID =</a:t>
            </a:r>
            <a:r>
              <a:rPr lang="zh-CN" altLang="en-US" dirty="0"/>
              <a:t>员工</a:t>
            </a:r>
            <a:r>
              <a:rPr lang="en-US" altLang="zh-CN" dirty="0"/>
              <a:t>ID</a:t>
            </a:r>
            <a:r>
              <a:rPr lang="zh-CN" altLang="en-US" dirty="0"/>
              <a:t>；</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33</a:t>
            </a:fld>
            <a:endParaRPr lang="en-US" dirty="0"/>
          </a:p>
        </p:txBody>
      </p:sp>
    </p:spTree>
    <p:extLst>
      <p:ext uri="{BB962C8B-B14F-4D97-AF65-F5344CB8AC3E}">
        <p14:creationId xmlns:p14="http://schemas.microsoft.com/office/powerpoint/2010/main" val="4977262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数据库完整性：添加</a:t>
            </a:r>
            <a:r>
              <a:rPr lang="en-US" altLang="zh-CN" dirty="0"/>
              <a:t>/</a:t>
            </a:r>
            <a:r>
              <a:rPr lang="zh-CN" altLang="en-US" dirty="0"/>
              <a:t>删除数据时进行验证</a:t>
            </a:r>
          </a:p>
          <a:p>
            <a:r>
              <a:rPr lang="zh-CN" altLang="en-US" dirty="0"/>
              <a:t>实体完整性：不会丢失任何主键</a:t>
            </a:r>
          </a:p>
          <a:p>
            <a:r>
              <a:rPr lang="zh-CN" altLang="en-US" dirty="0"/>
              <a:t>数据完整性：值必须与类别约束相匹配（例如，为有效的工资率）</a:t>
            </a:r>
          </a:p>
          <a:p>
            <a:r>
              <a:rPr lang="zh-CN" altLang="en-US" dirty="0"/>
              <a:t>参照完整性：外键必须与相关表中的主键值匹配</a:t>
            </a:r>
          </a:p>
          <a:p>
            <a:r>
              <a:rPr lang="zh-CN" altLang="en-US" dirty="0"/>
              <a:t>效率：</a:t>
            </a:r>
          </a:p>
          <a:p>
            <a:r>
              <a:rPr lang="zh-CN" altLang="en-US" dirty="0"/>
              <a:t>磁盘访问缓慢</a:t>
            </a:r>
          </a:p>
          <a:p>
            <a:r>
              <a:rPr lang="zh-CN" altLang="en-US" dirty="0"/>
              <a:t>文件管理系统可以组织磁盘文件以加快访问速度</a:t>
            </a:r>
          </a:p>
          <a:p>
            <a:r>
              <a:rPr lang="zh-CN" altLang="en-US" dirty="0"/>
              <a:t>分布式数据库：跨计算机网络存储的数据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35</a:t>
            </a:fld>
            <a:endParaRPr lang="en-US" dirty="0"/>
          </a:p>
        </p:txBody>
      </p:sp>
    </p:spTree>
    <p:extLst>
      <p:ext uri="{BB962C8B-B14F-4D97-AF65-F5344CB8AC3E}">
        <p14:creationId xmlns:p14="http://schemas.microsoft.com/office/powerpoint/2010/main" val="292482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大数据：大量可用数据</a:t>
            </a:r>
          </a:p>
          <a:p>
            <a:r>
              <a:rPr lang="zh-CN" altLang="en-US" dirty="0"/>
              <a:t>数据分析：查找正确的数据集，以正确的格式放置数据以及编写查询以提取信息的过程</a:t>
            </a:r>
          </a:p>
          <a:p>
            <a:r>
              <a:rPr lang="zh-CN" altLang="en-US" dirty="0"/>
              <a:t>数据科学：包含数据分析任务，但需要企业知识以进行有用的查询，并需要使用统计数据和可视化技术来解释结果并预测实现预定目标的未来策略</a:t>
            </a:r>
          </a:p>
          <a:p>
            <a:r>
              <a:rPr lang="zh-CN" altLang="en-US" dirty="0"/>
              <a:t>数据仓库：包含当前和已归档数据以供研究和分析的数据库集合</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40</a:t>
            </a:fld>
            <a:endParaRPr lang="en-US" dirty="0"/>
          </a:p>
        </p:txBody>
      </p:sp>
    </p:spTree>
    <p:extLst>
      <p:ext uri="{BB962C8B-B14F-4D97-AF65-F5344CB8AC3E}">
        <p14:creationId xmlns:p14="http://schemas.microsoft.com/office/powerpoint/2010/main" val="306863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数据挖掘：分析数据以通过以下几个步骤提取和解释先前隐藏的模式的过程：</a:t>
            </a:r>
          </a:p>
          <a:p>
            <a:r>
              <a:rPr lang="en-US" altLang="zh-CN" dirty="0"/>
              <a:t>1.</a:t>
            </a:r>
            <a:r>
              <a:rPr lang="zh-CN" altLang="en-US" dirty="0"/>
              <a:t>确定要解决的问题</a:t>
            </a:r>
          </a:p>
          <a:p>
            <a:r>
              <a:rPr lang="en-US" altLang="zh-CN" dirty="0"/>
              <a:t>2.</a:t>
            </a:r>
            <a:r>
              <a:rPr lang="zh-CN" altLang="en-US" dirty="0"/>
              <a:t>检查数据的状况：所有数据都具有相同的结构吗？ 元组是否缺少信息？</a:t>
            </a:r>
          </a:p>
          <a:p>
            <a:r>
              <a:rPr lang="en-US" altLang="zh-CN" dirty="0"/>
              <a:t>3.</a:t>
            </a:r>
            <a:r>
              <a:rPr lang="zh-CN" altLang="en-US" dirty="0"/>
              <a:t>确定一个有助于弄清楚模式的模型：模式对数据进行分类，以确定给定结果的最强预测因子</a:t>
            </a:r>
            <a:r>
              <a:rPr lang="en-US" altLang="zh-CN" dirty="0"/>
              <a:t>–</a:t>
            </a:r>
            <a:r>
              <a:rPr lang="zh-CN" altLang="en-US" dirty="0"/>
              <a:t>这是数据挖掘部分：模型的创建</a:t>
            </a:r>
          </a:p>
          <a:p>
            <a:r>
              <a:rPr lang="en-US" altLang="zh-CN" dirty="0"/>
              <a:t>4.</a:t>
            </a:r>
            <a:r>
              <a:rPr lang="zh-CN" altLang="en-US" dirty="0"/>
              <a:t>评估您的模型：进一步的数据是否证明了预测结果？ 不同的模型会带来更好的结果吗？</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41</a:t>
            </a:fld>
            <a:endParaRPr lang="en-US" dirty="0"/>
          </a:p>
        </p:txBody>
      </p:sp>
    </p:spTree>
    <p:extLst>
      <p:ext uri="{BB962C8B-B14F-4D97-AF65-F5344CB8AC3E}">
        <p14:creationId xmlns:p14="http://schemas.microsoft.com/office/powerpoint/2010/main" val="22120198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决策树</a:t>
            </a:r>
          </a:p>
          <a:p>
            <a:r>
              <a:rPr lang="zh-CN" altLang="en-US" dirty="0"/>
              <a:t>一种模型</a:t>
            </a:r>
          </a:p>
          <a:p>
            <a:r>
              <a:rPr lang="zh-CN" altLang="en-US" dirty="0"/>
              <a:t>易于转换为算法</a:t>
            </a:r>
          </a:p>
          <a:p>
            <a:r>
              <a:rPr lang="zh-CN" altLang="en-US" dirty="0"/>
              <a:t>模型太简单了吗？</a:t>
            </a:r>
          </a:p>
          <a:p>
            <a:r>
              <a:rPr lang="zh-CN" altLang="en-US" dirty="0"/>
              <a:t>结果算法有偏差吗？</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42</a:t>
            </a:fld>
            <a:endParaRPr lang="en-US" dirty="0"/>
          </a:p>
        </p:txBody>
      </p:sp>
    </p:spTree>
    <p:extLst>
      <p:ext uri="{BB962C8B-B14F-4D97-AF65-F5344CB8AC3E}">
        <p14:creationId xmlns:p14="http://schemas.microsoft.com/office/powerpoint/2010/main" val="16063421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其他数据科学工具</a:t>
            </a:r>
          </a:p>
          <a:p>
            <a:r>
              <a:rPr lang="zh-CN" altLang="en-US" dirty="0"/>
              <a:t>统计分析</a:t>
            </a:r>
          </a:p>
          <a:p>
            <a:r>
              <a:rPr lang="zh-CN" altLang="en-US" dirty="0"/>
              <a:t>图形可视化</a:t>
            </a:r>
          </a:p>
          <a:p>
            <a:r>
              <a:rPr lang="zh-CN" altLang="en-US" dirty="0"/>
              <a:t>语言</a:t>
            </a:r>
            <a:r>
              <a:rPr lang="en-US" altLang="zh-CN" dirty="0"/>
              <a:t>R</a:t>
            </a:r>
            <a:r>
              <a:rPr lang="zh-CN" altLang="en-US" dirty="0"/>
              <a:t>可以帮助完成这两项任务</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43</a:t>
            </a:fld>
            <a:endParaRPr lang="en-US" dirty="0"/>
          </a:p>
        </p:txBody>
      </p:sp>
    </p:spTree>
    <p:extLst>
      <p:ext uri="{BB962C8B-B14F-4D97-AF65-F5344CB8AC3E}">
        <p14:creationId xmlns:p14="http://schemas.microsoft.com/office/powerpoint/2010/main" val="1745423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与数据挖掘相关的隐私问题</a:t>
            </a:r>
          </a:p>
          <a:p>
            <a:r>
              <a:rPr lang="zh-CN" altLang="en-US" dirty="0"/>
              <a:t>自动分析大量数据以发现隐藏的模式</a:t>
            </a:r>
          </a:p>
          <a:p>
            <a:r>
              <a:rPr lang="zh-CN" altLang="en-US" dirty="0"/>
              <a:t>数据经纪人：收集和出售数据的公司，例如：</a:t>
            </a:r>
          </a:p>
          <a:p>
            <a:r>
              <a:rPr lang="zh-CN" altLang="en-US" dirty="0"/>
              <a:t>从其他公司或数据经纪人处购买或获取的出生证明，结婚证明，公开信息以及非公开数据。</a:t>
            </a:r>
          </a:p>
          <a:p>
            <a:r>
              <a:rPr lang="zh-CN" altLang="en-US" dirty="0"/>
              <a:t>但是，数据科学可以为</a:t>
            </a:r>
          </a:p>
          <a:p>
            <a:r>
              <a:rPr lang="zh-CN" altLang="en-US" dirty="0"/>
              <a:t>医学，科学，生态学以及更多领域</a:t>
            </a:r>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44</a:t>
            </a:fld>
            <a:endParaRPr lang="en-US" dirty="0"/>
          </a:p>
        </p:txBody>
      </p:sp>
    </p:spTree>
    <p:extLst>
      <p:ext uri="{BB962C8B-B14F-4D97-AF65-F5344CB8AC3E}">
        <p14:creationId xmlns:p14="http://schemas.microsoft.com/office/powerpoint/2010/main" val="2728067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电子商务是我们经济的核心部分</a:t>
            </a:r>
          </a:p>
          <a:p>
            <a:r>
              <a:rPr lang="zh-CN" altLang="en-US" dirty="0"/>
              <a:t>决定进入在线世界的企业必须仔细计划</a:t>
            </a:r>
          </a:p>
          <a:p>
            <a:r>
              <a:rPr lang="zh-CN" altLang="en-US" dirty="0"/>
              <a:t>电子商务网站设计很复杂</a:t>
            </a:r>
          </a:p>
          <a:p>
            <a:r>
              <a:rPr lang="zh-CN" altLang="en-US" dirty="0"/>
              <a:t>电子商务需要集成多个计算机系统：库存，会计，供应商等。</a:t>
            </a:r>
          </a:p>
          <a:p>
            <a:r>
              <a:rPr lang="zh-CN" altLang="en-US" dirty="0"/>
              <a:t>数据库是用于存储大量数据的系统</a:t>
            </a:r>
          </a:p>
          <a:p>
            <a:r>
              <a:rPr lang="zh-CN" altLang="en-US" dirty="0"/>
              <a:t>数据被组织成字段，记录，数据文件和数据库</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45</a:t>
            </a:fld>
            <a:endParaRPr lang="en-US" dirty="0"/>
          </a:p>
        </p:txBody>
      </p:sp>
    </p:spTree>
    <p:extLst>
      <p:ext uri="{BB962C8B-B14F-4D97-AF65-F5344CB8AC3E}">
        <p14:creationId xmlns:p14="http://schemas.microsoft.com/office/powerpoint/2010/main" val="20189249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DBMS</a:t>
            </a:r>
            <a:r>
              <a:rPr lang="zh-CN" altLang="en-US" dirty="0"/>
              <a:t>管理数据库文件</a:t>
            </a:r>
          </a:p>
          <a:p>
            <a:r>
              <a:rPr lang="zh-CN" altLang="en-US" dirty="0"/>
              <a:t>关系数据库模型是最常见的：记录代表实体； 所有数据都被视为二维表的集合</a:t>
            </a:r>
          </a:p>
          <a:p>
            <a:r>
              <a:rPr lang="en-US" altLang="zh-CN" dirty="0"/>
              <a:t>SQL</a:t>
            </a:r>
            <a:r>
              <a:rPr lang="zh-CN" altLang="en-US" dirty="0"/>
              <a:t>是从</a:t>
            </a:r>
            <a:r>
              <a:rPr lang="en-US" altLang="zh-CN" dirty="0"/>
              <a:t>DBMS</a:t>
            </a:r>
            <a:r>
              <a:rPr lang="zh-CN" altLang="en-US" dirty="0"/>
              <a:t>检索数据的最常见查询语言</a:t>
            </a:r>
          </a:p>
          <a:p>
            <a:r>
              <a:rPr lang="zh-CN" altLang="en-US" dirty="0"/>
              <a:t>数据库必须确保完整性，效率和（有时）对数据的分布式访问</a:t>
            </a:r>
          </a:p>
          <a:p>
            <a:r>
              <a:rPr lang="zh-CN" altLang="en-US" dirty="0"/>
              <a:t>数据挖掘发现大数据集中的隐藏模式</a:t>
            </a:r>
          </a:p>
          <a:p>
            <a:r>
              <a:rPr lang="zh-CN" altLang="en-US" dirty="0"/>
              <a:t>隐私问题归因于数据挖掘技术</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46</a:t>
            </a:fld>
            <a:endParaRPr lang="en-US" dirty="0"/>
          </a:p>
        </p:txBody>
      </p:sp>
    </p:spTree>
    <p:extLst>
      <p:ext uri="{BB962C8B-B14F-4D97-AF65-F5344CB8AC3E}">
        <p14:creationId xmlns:p14="http://schemas.microsoft.com/office/powerpoint/2010/main" val="34913237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ctr" anchorCtr="0">
            <a:normAutofit/>
          </a:bodyPr>
          <a:lstStyle>
            <a:lvl1pPr algn="ctr">
              <a:lnSpc>
                <a:spcPct val="100000"/>
              </a:lnSpc>
              <a:defRPr sz="36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marL="457200" indent="-457200">
              <a:buClr>
                <a:srgbClr val="34B14B"/>
              </a:buClr>
              <a:defRPr sz="2600" b="0" i="0">
                <a:latin typeface="Arial"/>
                <a:cs typeface="Arial"/>
              </a:defRPr>
            </a:lvl1pPr>
            <a:lvl2pPr marL="914400" indent="-457200">
              <a:buClr>
                <a:srgbClr val="34B14B"/>
              </a:buClr>
              <a:defRPr sz="2400" b="0" i="0">
                <a:latin typeface="Arial"/>
                <a:cs typeface="Arial"/>
              </a:defRPr>
            </a:lvl2pPr>
            <a:lvl3pPr marL="1371600" indent="-457200">
              <a:buClr>
                <a:srgbClr val="34B14B"/>
              </a:buClr>
              <a:buFont typeface="Wingdings" pitchFamily="2" charset="2"/>
              <a:buChar char="§"/>
              <a:defRPr sz="2200" b="0" i="0">
                <a:latin typeface="Arial"/>
                <a:cs typeface="Arial"/>
              </a:defRPr>
            </a:lvl3pPr>
            <a:lvl4pPr marL="1828800" indent="-457200">
              <a:buClr>
                <a:srgbClr val="34B14B"/>
              </a:buClr>
              <a:buFont typeface="Courier New" pitchFamily="49" charset="0"/>
              <a:buChar char="o"/>
              <a:defRPr b="0" i="0">
                <a:latin typeface="Arial"/>
                <a:cs typeface="Arial"/>
              </a:defRPr>
            </a:lvl4pPr>
            <a:lvl5pPr marL="2286000" indent="-457200">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57200" y="209550"/>
            <a:ext cx="8229600"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219958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2473" y="1868234"/>
            <a:ext cx="3490154" cy="1521333"/>
          </a:xfrm>
        </p:spPr>
        <p:txBody>
          <a:bodyPr>
            <a:normAutofit/>
          </a:bodyPr>
          <a:lstStyle/>
          <a:p>
            <a:pPr lvl="1" algn="ctr" defTabSz="457200" rtl="0">
              <a:spcBef>
                <a:spcPct val="0"/>
              </a:spcBef>
            </a:pPr>
            <a:r>
              <a:rPr lang="en-US" sz="4000" b="1" dirty="0">
                <a:latin typeface="Arial" pitchFamily="34" charset="0"/>
                <a:cs typeface="Arial" pitchFamily="34" charset="0"/>
              </a:rPr>
              <a:t>Chapter 14</a:t>
            </a:r>
            <a:endParaRPr lang="en-US" sz="4000" dirty="0">
              <a:solidFill>
                <a:schemeClr val="tx1"/>
              </a:solidFill>
              <a:latin typeface="Arial" pitchFamily="34" charset="0"/>
              <a:cs typeface="Arial" pitchFamily="34" charset="0"/>
            </a:endParaRPr>
          </a:p>
        </p:txBody>
      </p:sp>
      <p:sp>
        <p:nvSpPr>
          <p:cNvPr id="17" name="Subtitle 16"/>
          <p:cNvSpPr>
            <a:spLocks noGrp="1"/>
          </p:cNvSpPr>
          <p:nvPr>
            <p:ph type="subTitle" idx="1"/>
          </p:nvPr>
        </p:nvSpPr>
        <p:spPr>
          <a:xfrm>
            <a:off x="5323208" y="3103690"/>
            <a:ext cx="3709317" cy="2638247"/>
          </a:xfrm>
        </p:spPr>
        <p:txBody>
          <a:bodyPr anchor="ctr"/>
          <a:lstStyle/>
          <a:p>
            <a:pPr marL="0" lvl="1"/>
            <a:r>
              <a:rPr lang="en-US" sz="3600" dirty="0">
                <a:solidFill>
                  <a:schemeClr val="tx1"/>
                </a:solidFill>
                <a:latin typeface="Arial" pitchFamily="34" charset="0"/>
                <a:ea typeface="ＭＳ Ｐゴシック" pitchFamily="34" charset="-128"/>
                <a:cs typeface="Arial" pitchFamily="34" charset="0"/>
              </a:rPr>
              <a:t>Ecommerce, Databases, and Data Science</a:t>
            </a:r>
          </a:p>
        </p:txBody>
      </p:sp>
    </p:spTree>
    <p:extLst>
      <p:ext uri="{BB962C8B-B14F-4D97-AF65-F5344CB8AC3E}">
        <p14:creationId xmlns:p14="http://schemas.microsoft.com/office/powerpoint/2010/main" val="3746732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Learning Objectives (1 of 2)</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a:bodyPr>
          <a:lstStyle/>
          <a:p>
            <a:r>
              <a:rPr lang="en-US" altLang="en-US" dirty="0"/>
              <a:t>Explain the issues, pros, and cons of whether to create an ecommerce website. </a:t>
            </a:r>
          </a:p>
          <a:p>
            <a:r>
              <a:rPr lang="en-US" altLang="en-US" dirty="0"/>
              <a:t>List the components of online transactions, and explain what is involved in each step. </a:t>
            </a:r>
          </a:p>
          <a:p>
            <a:r>
              <a:rPr lang="en-US" altLang="en-US" dirty="0"/>
              <a:t>List one other ecommerce model besides the online </a:t>
            </a:r>
            <a:r>
              <a:rPr lang="en-US" altLang="en-US" dirty="0">
                <a:solidFill>
                  <a:srgbClr val="FF0000"/>
                </a:solidFill>
              </a:rPr>
              <a:t>retailer</a:t>
            </a:r>
            <a:r>
              <a:rPr lang="en-US" altLang="en-US" dirty="0"/>
              <a:t> selling to the general public and explain how it works. </a:t>
            </a:r>
          </a:p>
          <a:p>
            <a:r>
              <a:rPr lang="en-US" altLang="en-US" dirty="0"/>
              <a:t>List one other electronic payment system besides traditional credit cards and explain how it works.</a:t>
            </a:r>
          </a:p>
        </p:txBody>
      </p:sp>
      <p:sp>
        <p:nvSpPr>
          <p:cNvPr id="5" name="TextBox 4">
            <a:extLst>
              <a:ext uri="{FF2B5EF4-FFF2-40B4-BE49-F238E27FC236}">
                <a16:creationId xmlns:a16="http://schemas.microsoft.com/office/drawing/2014/main" id="{B174367E-1796-4256-B524-FD322238B9F1}"/>
              </a:ext>
            </a:extLst>
          </p:cNvPr>
          <p:cNvSpPr txBox="1"/>
          <p:nvPr/>
        </p:nvSpPr>
        <p:spPr>
          <a:xfrm>
            <a:off x="202557" y="3463725"/>
            <a:ext cx="966486" cy="369332"/>
          </a:xfrm>
          <a:prstGeom prst="rect">
            <a:avLst/>
          </a:prstGeom>
          <a:noFill/>
        </p:spPr>
        <p:txBody>
          <a:bodyPr wrap="square">
            <a:spAutoFit/>
          </a:bodyPr>
          <a:lstStyle/>
          <a:p>
            <a:r>
              <a:rPr lang="zh-CN" altLang="en-US" dirty="0">
                <a:solidFill>
                  <a:srgbClr val="FF0000"/>
                </a:solidFill>
              </a:rPr>
              <a:t>零售商</a:t>
            </a:r>
            <a:endParaRPr lang="en-US" dirty="0">
              <a:solidFill>
                <a:srgbClr val="FF0000"/>
              </a:solidFill>
            </a:endParaRP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Learning Objectives (2 of 2)</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a:bodyPr>
          <a:lstStyle/>
          <a:p>
            <a:r>
              <a:rPr lang="en-US" altLang="en-US" dirty="0"/>
              <a:t>Describe the relational database model </a:t>
            </a:r>
          </a:p>
          <a:p>
            <a:r>
              <a:rPr lang="en-US" altLang="en-US" dirty="0"/>
              <a:t>Frame simple queries in SQL to retrieve information from one or more tables in a relational database </a:t>
            </a:r>
          </a:p>
          <a:p>
            <a:r>
              <a:rPr lang="en-US" altLang="en-US" dirty="0"/>
              <a:t>Define data mining </a:t>
            </a:r>
          </a:p>
          <a:p>
            <a:r>
              <a:rPr lang="en-US" altLang="en-US" dirty="0"/>
              <a:t>List three sources data brokers use to collect data on individuals </a:t>
            </a:r>
          </a:p>
          <a:p>
            <a:r>
              <a:rPr lang="en-US" altLang="en-US" dirty="0"/>
              <a:t>Give an example of data science used "for the greater good"</a:t>
            </a:r>
          </a:p>
        </p:txBody>
      </p:sp>
    </p:spTree>
    <p:extLst>
      <p:ext uri="{BB962C8B-B14F-4D97-AF65-F5344CB8AC3E}">
        <p14:creationId xmlns:p14="http://schemas.microsoft.com/office/powerpoint/2010/main" val="2793489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Introduction</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280220" y="1231266"/>
            <a:ext cx="8716296" cy="4894898"/>
          </a:xfrm>
        </p:spPr>
        <p:txBody>
          <a:bodyPr>
            <a:normAutofit/>
          </a:bodyPr>
          <a:lstStyle/>
          <a:p>
            <a:r>
              <a:rPr lang="en-US" altLang="en-US" dirty="0"/>
              <a:t>The World Wide Web enables businesses to communicate with customers through:</a:t>
            </a:r>
          </a:p>
          <a:p>
            <a:pPr lvl="1">
              <a:buFont typeface="Arial" panose="020B0604020202020204" pitchFamily="34" charset="0"/>
              <a:buChar char="–"/>
            </a:pPr>
            <a:r>
              <a:rPr lang="en-US" altLang="en-US" dirty="0"/>
              <a:t> Advertising</a:t>
            </a:r>
          </a:p>
          <a:p>
            <a:pPr lvl="1">
              <a:buFont typeface="Arial" panose="020B0604020202020204" pitchFamily="34" charset="0"/>
              <a:buChar char="–"/>
            </a:pPr>
            <a:r>
              <a:rPr lang="en-US" altLang="en-US" dirty="0"/>
              <a:t> Follow-up support</a:t>
            </a:r>
          </a:p>
          <a:p>
            <a:pPr lvl="1">
              <a:buFont typeface="Arial" panose="020B0604020202020204" pitchFamily="34" charset="0"/>
              <a:buChar char="–"/>
            </a:pPr>
            <a:r>
              <a:rPr lang="en-US" altLang="en-US" dirty="0"/>
              <a:t> Sales to consumers</a:t>
            </a:r>
          </a:p>
          <a:p>
            <a:pPr lvl="1">
              <a:buFont typeface="Arial" panose="020B0604020202020204" pitchFamily="34" charset="0"/>
              <a:buChar char="–"/>
            </a:pPr>
            <a:r>
              <a:rPr lang="en-US" altLang="en-US" dirty="0"/>
              <a:t> Sales to other businesses</a:t>
            </a:r>
          </a:p>
          <a:p>
            <a:pPr lvl="1">
              <a:buFont typeface="Arial" panose="020B0604020202020204" pitchFamily="34" charset="0"/>
              <a:buChar char="–"/>
            </a:pPr>
            <a:r>
              <a:rPr lang="en-US" altLang="en-US" dirty="0"/>
              <a:t> Non-sales transactions (statements and bill pay)</a:t>
            </a:r>
          </a:p>
        </p:txBody>
      </p:sp>
    </p:spTree>
    <p:extLst>
      <p:ext uri="{BB962C8B-B14F-4D97-AF65-F5344CB8AC3E}">
        <p14:creationId xmlns:p14="http://schemas.microsoft.com/office/powerpoint/2010/main" val="2315963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(1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393035" y="1199182"/>
            <a:ext cx="8398039" cy="5009114"/>
          </a:xfrm>
        </p:spPr>
        <p:txBody>
          <a:bodyPr>
            <a:normAutofit/>
          </a:bodyPr>
          <a:lstStyle/>
          <a:p>
            <a:r>
              <a:rPr lang="en-US" altLang="en-US" b="1" dirty="0"/>
              <a:t>Ecommerce</a:t>
            </a:r>
            <a:r>
              <a:rPr lang="en-US" altLang="en-US" dirty="0"/>
              <a:t>: business conducted with the Internet and via the web including sales, advertising, and bill pay options</a:t>
            </a:r>
          </a:p>
          <a:p>
            <a:r>
              <a:rPr lang="en-US" altLang="en-US" dirty="0"/>
              <a:t>Setting up an organization for ecommerce can be as intensive as setting up a physical store front.</a:t>
            </a:r>
          </a:p>
          <a:p>
            <a:r>
              <a:rPr lang="en-US" altLang="en-US" dirty="0"/>
              <a:t>What business problem are you solving?</a:t>
            </a:r>
          </a:p>
          <a:p>
            <a:pPr lvl="1">
              <a:buFont typeface="Arial" panose="020B0604020202020204" pitchFamily="34" charset="0"/>
              <a:buChar char="–"/>
            </a:pPr>
            <a:r>
              <a:rPr lang="en-US" altLang="en-US" dirty="0"/>
              <a:t> Broadening the customer base</a:t>
            </a:r>
          </a:p>
          <a:p>
            <a:pPr lvl="1">
              <a:buFont typeface="Arial" panose="020B0604020202020204" pitchFamily="34" charset="0"/>
              <a:buChar char="–"/>
            </a:pPr>
            <a:r>
              <a:rPr lang="en-US" altLang="en-US" dirty="0"/>
              <a:t> Recapturing customers lost to online competitors</a:t>
            </a:r>
          </a:p>
          <a:p>
            <a:pPr lvl="1">
              <a:buFont typeface="Arial" panose="020B0604020202020204" pitchFamily="34" charset="0"/>
              <a:buChar char="–"/>
            </a:pPr>
            <a:r>
              <a:rPr lang="en-US" altLang="en-US" dirty="0"/>
              <a:t> Serving existing customers better</a:t>
            </a:r>
          </a:p>
          <a:p>
            <a:pPr lvl="1">
              <a:buFont typeface="Arial" panose="020B0604020202020204" pitchFamily="34" charset="0"/>
              <a:buChar char="–"/>
            </a:pPr>
            <a:r>
              <a:rPr lang="en-US" altLang="en-US" dirty="0"/>
              <a:t> Integrating departments of existing business</a:t>
            </a:r>
          </a:p>
        </p:txBody>
      </p:sp>
    </p:spTree>
    <p:extLst>
      <p:ext uri="{BB962C8B-B14F-4D97-AF65-F5344CB8AC3E}">
        <p14:creationId xmlns:p14="http://schemas.microsoft.com/office/powerpoint/2010/main" val="2865916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(2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t>Risks of moving online</a:t>
            </a:r>
          </a:p>
          <a:p>
            <a:pPr lvl="1">
              <a:buFont typeface="Arial" panose="020B0604020202020204" pitchFamily="34" charset="0"/>
              <a:buChar char="–"/>
            </a:pPr>
            <a:r>
              <a:rPr lang="en-US" altLang="en-US" dirty="0"/>
              <a:t>Same customers moving from in-store to online</a:t>
            </a:r>
          </a:p>
          <a:p>
            <a:pPr lvl="1">
              <a:buFont typeface="Arial" panose="020B0604020202020204" pitchFamily="34" charset="0"/>
              <a:buChar char="–"/>
            </a:pPr>
            <a:r>
              <a:rPr lang="en-US" altLang="en-US" dirty="0"/>
              <a:t>Facing new competition online</a:t>
            </a:r>
          </a:p>
          <a:p>
            <a:pPr lvl="1">
              <a:buFont typeface="Arial" panose="020B0604020202020204" pitchFamily="34" charset="0"/>
              <a:buChar char="–"/>
            </a:pPr>
            <a:r>
              <a:rPr lang="en-US" altLang="en-US" dirty="0"/>
              <a:t>Existing customers don’t need/want online store</a:t>
            </a:r>
          </a:p>
          <a:p>
            <a:pPr lvl="1">
              <a:buFont typeface="Arial" panose="020B0604020202020204" pitchFamily="34" charset="0"/>
              <a:buChar char="–"/>
            </a:pPr>
            <a:r>
              <a:rPr lang="en-US" altLang="en-US" dirty="0"/>
              <a:t>Employee concerns</a:t>
            </a:r>
          </a:p>
          <a:p>
            <a:r>
              <a:rPr lang="en-US" altLang="en-US" dirty="0"/>
              <a:t>Costs of moving online</a:t>
            </a:r>
          </a:p>
          <a:p>
            <a:pPr lvl="1">
              <a:buFont typeface="Arial" panose="020B0604020202020204" pitchFamily="34" charset="0"/>
              <a:buChar char="–"/>
            </a:pPr>
            <a:r>
              <a:rPr lang="en-US" altLang="en-US" dirty="0"/>
              <a:t>Computer equipment and infrastructure</a:t>
            </a:r>
          </a:p>
          <a:p>
            <a:pPr lvl="1">
              <a:buFont typeface="Arial" panose="020B0604020202020204" pitchFamily="34" charset="0"/>
              <a:buChar char="–"/>
            </a:pPr>
            <a:r>
              <a:rPr lang="en-US" altLang="en-US" dirty="0"/>
              <a:t>Hiring personnel to manage the website</a:t>
            </a:r>
          </a:p>
          <a:p>
            <a:pPr lvl="1">
              <a:buFont typeface="Arial" panose="020B0604020202020204" pitchFamily="34" charset="0"/>
              <a:buChar char="–"/>
            </a:pPr>
            <a:r>
              <a:rPr lang="en-US" altLang="en-US" dirty="0"/>
              <a:t>Legal expertise required to protect your intellectual property, regulations online, and customer privacy</a:t>
            </a:r>
          </a:p>
        </p:txBody>
      </p:sp>
    </p:spTree>
    <p:extLst>
      <p:ext uri="{BB962C8B-B14F-4D97-AF65-F5344CB8AC3E}">
        <p14:creationId xmlns:p14="http://schemas.microsoft.com/office/powerpoint/2010/main" val="28034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(3 of 16)</a:t>
            </a:r>
            <a:endParaRPr lang="en-US" b="0" dirty="0">
              <a:latin typeface="Arial" pitchFamily="34" charset="0"/>
              <a:cs typeface="Arial" pitchFamily="34" charset="0"/>
            </a:endParaRPr>
          </a:p>
        </p:txBody>
      </p:sp>
      <p:sp>
        <p:nvSpPr>
          <p:cNvPr id="2" name="Content Placeholder 1"/>
          <p:cNvSpPr>
            <a:spLocks noGrp="1"/>
          </p:cNvSpPr>
          <p:nvPr>
            <p:ph idx="1"/>
          </p:nvPr>
        </p:nvSpPr>
        <p:spPr/>
        <p:txBody>
          <a:bodyPr/>
          <a:lstStyle/>
          <a:p>
            <a:r>
              <a:rPr lang="en-US" altLang="en-US" dirty="0"/>
              <a:t>Ecommerce decisions:</a:t>
            </a:r>
          </a:p>
          <a:p>
            <a:pPr lvl="1">
              <a:buFont typeface="Arial" panose="020B0604020202020204" pitchFamily="34" charset="0"/>
              <a:buChar char="–"/>
            </a:pPr>
            <a:r>
              <a:rPr lang="en-US" altLang="en-US" dirty="0"/>
              <a:t>Design website in-house or hire an </a:t>
            </a:r>
            <a:r>
              <a:rPr lang="en-US" altLang="en-US" b="1" dirty="0"/>
              <a:t>ASP (Application Service Provider)</a:t>
            </a:r>
          </a:p>
          <a:p>
            <a:pPr lvl="1">
              <a:buFont typeface="Arial" panose="020B0604020202020204" pitchFamily="34" charset="0"/>
              <a:buChar char="–"/>
            </a:pPr>
            <a:r>
              <a:rPr lang="en-US" altLang="en-US" dirty="0"/>
              <a:t>Buy or lease equipment</a:t>
            </a:r>
          </a:p>
          <a:p>
            <a:pPr lvl="1">
              <a:buFont typeface="Arial" panose="020B0604020202020204" pitchFamily="34" charset="0"/>
              <a:buChar char="–"/>
            </a:pPr>
            <a:r>
              <a:rPr lang="en-US" altLang="en-US" dirty="0"/>
              <a:t>Use existing software or have custom software written</a:t>
            </a:r>
          </a:p>
        </p:txBody>
      </p:sp>
    </p:spTree>
    <p:extLst>
      <p:ext uri="{BB962C8B-B14F-4D97-AF65-F5344CB8AC3E}">
        <p14:creationId xmlns:p14="http://schemas.microsoft.com/office/powerpoint/2010/main" val="3937062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Ecommerce (4 of 16)</a:t>
            </a:r>
            <a:endParaRPr lang="en-US" dirty="0"/>
          </a:p>
        </p:txBody>
      </p:sp>
      <p:sp>
        <p:nvSpPr>
          <p:cNvPr id="3" name="Content Placeholder 2"/>
          <p:cNvSpPr>
            <a:spLocks noGrp="1"/>
          </p:cNvSpPr>
          <p:nvPr>
            <p:ph idx="1"/>
          </p:nvPr>
        </p:nvSpPr>
        <p:spPr/>
        <p:txBody>
          <a:bodyPr/>
          <a:lstStyle/>
          <a:p>
            <a:r>
              <a:rPr lang="en-US" altLang="en-US" dirty="0"/>
              <a:t>Customer transaction overview </a:t>
            </a:r>
          </a:p>
          <a:p>
            <a:pPr lvl="1">
              <a:buFont typeface="Arial" panose="020B0604020202020204" pitchFamily="34" charset="0"/>
              <a:buChar char="–"/>
            </a:pPr>
            <a:r>
              <a:rPr lang="en-US" altLang="en-US" dirty="0"/>
              <a:t>Customer learns of your site and goes there</a:t>
            </a:r>
          </a:p>
          <a:p>
            <a:pPr lvl="1">
              <a:buFont typeface="Arial" panose="020B0604020202020204" pitchFamily="34" charset="0"/>
              <a:buChar char="–"/>
            </a:pPr>
            <a:r>
              <a:rPr lang="en-US" altLang="en-US" dirty="0"/>
              <a:t>Identify return customers and personalize the site</a:t>
            </a:r>
          </a:p>
          <a:p>
            <a:pPr lvl="1">
              <a:buFont typeface="Arial" panose="020B0604020202020204" pitchFamily="34" charset="0"/>
              <a:buChar char="–"/>
            </a:pPr>
            <a:r>
              <a:rPr lang="en-US" altLang="en-US" dirty="0"/>
              <a:t>Provide a secure environment for making purchase</a:t>
            </a:r>
          </a:p>
          <a:p>
            <a:pPr lvl="1">
              <a:buFont typeface="Arial" panose="020B0604020202020204" pitchFamily="34" charset="0"/>
              <a:buChar char="–"/>
            </a:pPr>
            <a:r>
              <a:rPr lang="en-US" altLang="en-US" dirty="0"/>
              <a:t>Process the payment </a:t>
            </a:r>
          </a:p>
          <a:p>
            <a:pPr lvl="1">
              <a:buFont typeface="Arial" panose="020B0604020202020204" pitchFamily="34" charset="0"/>
              <a:buChar char="–"/>
            </a:pPr>
            <a:r>
              <a:rPr lang="en-US" altLang="en-US" dirty="0"/>
              <a:t>Communicate with accounting and credit company</a:t>
            </a:r>
          </a:p>
          <a:p>
            <a:pPr>
              <a:buFont typeface="Arial" panose="020B0604020202020204" pitchFamily="34" charset="0"/>
              <a:buChar char="•"/>
            </a:pPr>
            <a:r>
              <a:rPr lang="en-US" altLang="en-US" dirty="0"/>
              <a:t>Order fulfillment</a:t>
            </a:r>
          </a:p>
          <a:p>
            <a:pPr lvl="1">
              <a:buFont typeface="Arial" panose="020B0604020202020204" pitchFamily="34" charset="0"/>
              <a:buChar char="–"/>
            </a:pPr>
            <a:r>
              <a:rPr lang="en-US" altLang="en-US" dirty="0"/>
              <a:t>Update inventory</a:t>
            </a:r>
          </a:p>
          <a:p>
            <a:pPr lvl="1">
              <a:buFont typeface="Arial" panose="020B0604020202020204" pitchFamily="34" charset="0"/>
              <a:buChar char="–"/>
            </a:pPr>
            <a:r>
              <a:rPr lang="en-US" altLang="en-US" dirty="0"/>
              <a:t>Contact shipping system and shipping company</a:t>
            </a:r>
          </a:p>
          <a:p>
            <a:pPr lvl="1">
              <a:buFont typeface="Arial" panose="020B0604020202020204" pitchFamily="34" charset="0"/>
              <a:buChar char="–"/>
            </a:pPr>
            <a:r>
              <a:rPr lang="en-US" altLang="en-US" dirty="0"/>
              <a:t>Arrange pick up and delivery to customer</a:t>
            </a:r>
          </a:p>
        </p:txBody>
      </p:sp>
    </p:spTree>
    <p:extLst>
      <p:ext uri="{BB962C8B-B14F-4D97-AF65-F5344CB8AC3E}">
        <p14:creationId xmlns:p14="http://schemas.microsoft.com/office/powerpoint/2010/main" val="2501707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kern="0" dirty="0">
                <a:ea typeface="MS PGothic" charset="-128"/>
              </a:rPr>
              <a:t>Ecommerce (5 of 16)</a:t>
            </a:r>
            <a:endParaRPr lang="en-US" b="0" dirty="0">
              <a:latin typeface="Arial" pitchFamily="34" charset="0"/>
              <a:cs typeface="Arial" pitchFamily="34" charset="0"/>
            </a:endParaRPr>
          </a:p>
        </p:txBody>
      </p:sp>
      <p:pic>
        <p:nvPicPr>
          <p:cNvPr id="4" name="Picture 5" descr="The flowchart displays a typical online transaction in nine steps. Step 1: customer uses the internet to search on client website. 2. Customer connects to customer database management system. 3. Customer places and order on the online order entry system. 4. Order is processed in the accounting system. 5. There is a credit verification. 6. Order is updated in the inventory system. 7. Order is updated in the shipping system. 8. Order is passes on to the shipper. 9. the shipper delivers the goods to the customer.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3225" y="1553222"/>
            <a:ext cx="5695870" cy="425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3383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(6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t>How do customers learn about your site?</a:t>
            </a:r>
          </a:p>
          <a:p>
            <a:pPr lvl="1">
              <a:buFont typeface="Arial" panose="020B0604020202020204" pitchFamily="34" charset="0"/>
              <a:buChar char="–"/>
            </a:pPr>
            <a:r>
              <a:rPr lang="en-US" altLang="en-US" dirty="0"/>
              <a:t>Conventional print advertising with URL</a:t>
            </a:r>
          </a:p>
          <a:p>
            <a:pPr lvl="1">
              <a:buFont typeface="Arial" panose="020B0604020202020204" pitchFamily="34" charset="0"/>
              <a:buChar char="–"/>
            </a:pPr>
            <a:r>
              <a:rPr lang="en-US" altLang="en-US" dirty="0"/>
              <a:t>An obvious </a:t>
            </a:r>
            <a:r>
              <a:rPr lang="en-US" altLang="en-US" b="1" dirty="0"/>
              <a:t>domain name</a:t>
            </a:r>
            <a:r>
              <a:rPr lang="en-US" altLang="en-US" dirty="0"/>
              <a:t> (home page URL)</a:t>
            </a:r>
          </a:p>
          <a:p>
            <a:pPr lvl="2"/>
            <a:r>
              <a:rPr lang="en-US" altLang="en-US" b="1" dirty="0"/>
              <a:t>ICANN (Internet Corporation for Assigned Names and Numbers)</a:t>
            </a:r>
            <a:r>
              <a:rPr lang="en-US" altLang="en-US" dirty="0"/>
              <a:t> registers domain names</a:t>
            </a:r>
          </a:p>
          <a:p>
            <a:pPr lvl="1">
              <a:buFont typeface="Arial" panose="020B0604020202020204" pitchFamily="34" charset="0"/>
              <a:buChar char="–"/>
            </a:pPr>
            <a:r>
              <a:rPr lang="en-US" altLang="en-US" dirty="0"/>
              <a:t>Search engine results (sponsored link)</a:t>
            </a:r>
          </a:p>
          <a:p>
            <a:pPr lvl="1">
              <a:buFont typeface="Arial" panose="020B0604020202020204" pitchFamily="34" charset="0"/>
              <a:buChar char="–"/>
            </a:pPr>
            <a:r>
              <a:rPr lang="en-US" altLang="en-US" dirty="0"/>
              <a:t>Presence on a </a:t>
            </a:r>
            <a:r>
              <a:rPr lang="en-US" altLang="en-US" b="1" dirty="0"/>
              <a:t>portal </a:t>
            </a:r>
            <a:r>
              <a:rPr lang="en-US" altLang="en-US" dirty="0"/>
              <a:t>(website about a topic) with links to retail, wholesale, and informational websites</a:t>
            </a:r>
          </a:p>
        </p:txBody>
      </p:sp>
    </p:spTree>
    <p:extLst>
      <p:ext uri="{BB962C8B-B14F-4D97-AF65-F5344CB8AC3E}">
        <p14:creationId xmlns:p14="http://schemas.microsoft.com/office/powerpoint/2010/main" val="705819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(7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t>Identify return customers and personalize the site</a:t>
            </a:r>
          </a:p>
          <a:p>
            <a:pPr lvl="1">
              <a:buFont typeface="Arial" panose="020B0604020202020204" pitchFamily="34" charset="0"/>
              <a:buChar char="–"/>
            </a:pPr>
            <a:r>
              <a:rPr lang="en-US" altLang="en-US" dirty="0"/>
              <a:t>Require the user to register and log in</a:t>
            </a:r>
          </a:p>
          <a:p>
            <a:pPr lvl="2"/>
            <a:r>
              <a:rPr lang="en-US" altLang="en-US" dirty="0"/>
              <a:t>Connects to the database with the user’s past history on the site</a:t>
            </a:r>
          </a:p>
          <a:p>
            <a:pPr lvl="1">
              <a:buFont typeface="Arial" panose="020B0604020202020204" pitchFamily="34" charset="0"/>
              <a:buChar char="–"/>
            </a:pPr>
            <a:r>
              <a:rPr lang="en-US" altLang="en-US" dirty="0"/>
              <a:t>Leave a </a:t>
            </a:r>
            <a:r>
              <a:rPr lang="en-US" altLang="en-US" b="1" dirty="0">
                <a:solidFill>
                  <a:srgbClr val="FF0000"/>
                </a:solidFill>
              </a:rPr>
              <a:t>cookie</a:t>
            </a:r>
            <a:r>
              <a:rPr lang="en-US" altLang="en-US" dirty="0"/>
              <a:t> on the user’s computer</a:t>
            </a:r>
          </a:p>
          <a:p>
            <a:pPr lvl="2"/>
            <a:r>
              <a:rPr lang="en-US" altLang="en-US" dirty="0"/>
              <a:t>Small text file containing information about the user</a:t>
            </a:r>
          </a:p>
          <a:p>
            <a:pPr lvl="2"/>
            <a:r>
              <a:rPr lang="en-US" altLang="en-US" dirty="0"/>
              <a:t>Allows continuity between one page of a site and another</a:t>
            </a:r>
          </a:p>
          <a:p>
            <a:pPr lvl="2"/>
            <a:r>
              <a:rPr lang="en-US" altLang="en-US" dirty="0"/>
              <a:t>(Relatively) harmless</a:t>
            </a:r>
          </a:p>
        </p:txBody>
      </p:sp>
    </p:spTree>
    <p:extLst>
      <p:ext uri="{BB962C8B-B14F-4D97-AF65-F5344CB8AC3E}">
        <p14:creationId xmlns:p14="http://schemas.microsoft.com/office/powerpoint/2010/main" val="1506454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(8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dirty="0"/>
              <a:t>Provide a secure environment for making a purchase</a:t>
            </a:r>
          </a:p>
          <a:p>
            <a:pPr lvl="1">
              <a:buFont typeface="Arial" panose="020B0604020202020204" pitchFamily="34" charset="0"/>
            </a:pPr>
            <a:r>
              <a:rPr lang="en-US" altLang="en-US" dirty="0"/>
              <a:t>Encryption: ensure sensitive information is encrypted for transmission</a:t>
            </a:r>
          </a:p>
          <a:p>
            <a:pPr lvl="1">
              <a:buFont typeface="Arial" panose="020B0604020202020204" pitchFamily="34" charset="0"/>
            </a:pPr>
            <a:r>
              <a:rPr lang="en-US" altLang="en-US" dirty="0"/>
              <a:t>Authentication: verify that your website is legitimate</a:t>
            </a:r>
          </a:p>
        </p:txBody>
      </p:sp>
    </p:spTree>
    <p:extLst>
      <p:ext uri="{BB962C8B-B14F-4D97-AF65-F5344CB8AC3E}">
        <p14:creationId xmlns:p14="http://schemas.microsoft.com/office/powerpoint/2010/main" val="3455718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kern="0" dirty="0">
                <a:ea typeface="MS PGothic" charset="-128"/>
              </a:rPr>
              <a:t>Ecommerce (9 of 16)</a:t>
            </a:r>
            <a:endParaRPr lang="en-US" b="0" dirty="0">
              <a:latin typeface="Arial" pitchFamily="34" charset="0"/>
              <a:cs typeface="Arial" pitchFamily="34" charset="0"/>
            </a:endParaRPr>
          </a:p>
        </p:txBody>
      </p:sp>
      <p:pic>
        <p:nvPicPr>
          <p:cNvPr id="5" name="Picture 5" descr="The figure shows a screenshot of a secure site assurance. The text in the screenshot reads: you are connected to rugs-for-you, dot, com which is run by rugs-for-you.inc. Somewheresville Tennessee, U S, Verified by: verisign.inc. An image of a lock is placed at the beginning of the sentence: the connection to this website is secure. A small question mark is placed at the left bottom and a button for more information is placed at the right  bottom.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4175" y="1537180"/>
            <a:ext cx="4503146" cy="425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7995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(10 of 16)</a:t>
            </a:r>
            <a:endParaRPr lang="en-US" b="0" dirty="0">
              <a:latin typeface="Arial" pitchFamily="34" charset="0"/>
              <a:cs typeface="Arial" pitchFamily="34" charset="0"/>
            </a:endParaRPr>
          </a:p>
        </p:txBody>
      </p:sp>
      <p:sp>
        <p:nvSpPr>
          <p:cNvPr id="2" name="Content Placeholder 1"/>
          <p:cNvSpPr>
            <a:spLocks noGrp="1"/>
          </p:cNvSpPr>
          <p:nvPr>
            <p:ph idx="1"/>
          </p:nvPr>
        </p:nvSpPr>
        <p:spPr/>
        <p:txBody>
          <a:bodyPr vert="horz" lIns="91440" tIns="45720" rIns="91440" bIns="45720" rtlCol="0">
            <a:normAutofit/>
          </a:bodyPr>
          <a:lstStyle/>
          <a:p>
            <a:r>
              <a:rPr lang="en-US" altLang="en-US" dirty="0"/>
              <a:t>Process payment </a:t>
            </a:r>
          </a:p>
          <a:p>
            <a:pPr lvl="1">
              <a:buFont typeface="Arial" panose="020B0604020202020204" pitchFamily="34" charset="0"/>
            </a:pPr>
            <a:r>
              <a:rPr lang="en-US" altLang="en-US" dirty="0"/>
              <a:t>Option 1: while the customer waits</a:t>
            </a:r>
          </a:p>
          <a:p>
            <a:pPr lvl="2"/>
            <a:r>
              <a:rPr lang="en-US" altLang="en-US" dirty="0"/>
              <a:t>Online form communicates with accounting software</a:t>
            </a:r>
          </a:p>
          <a:p>
            <a:pPr lvl="2"/>
            <a:r>
              <a:rPr lang="en-US" altLang="en-US" dirty="0"/>
              <a:t>Accounting system verifies customer credit</a:t>
            </a:r>
          </a:p>
          <a:p>
            <a:pPr lvl="2"/>
            <a:r>
              <a:rPr lang="en-US" altLang="en-US" dirty="0"/>
              <a:t>Customer can correct bad information</a:t>
            </a:r>
          </a:p>
          <a:p>
            <a:pPr lvl="2"/>
            <a:r>
              <a:rPr lang="en-US" altLang="en-US" dirty="0"/>
              <a:t>No need to keep credit card numbers</a:t>
            </a:r>
          </a:p>
          <a:p>
            <a:pPr lvl="1">
              <a:buFont typeface="Arial" panose="020B0604020202020204" pitchFamily="34" charset="0"/>
            </a:pPr>
            <a:r>
              <a:rPr lang="en-US" altLang="en-US" dirty="0"/>
              <a:t>Option 2</a:t>
            </a:r>
          </a:p>
          <a:p>
            <a:pPr lvl="2"/>
            <a:r>
              <a:rPr lang="en-US" altLang="en-US" dirty="0"/>
              <a:t>Record the order and payment information</a:t>
            </a:r>
          </a:p>
          <a:p>
            <a:pPr lvl="2"/>
            <a:r>
              <a:rPr lang="en-US" altLang="en-US" dirty="0"/>
              <a:t>Verify and complete the transaction offline</a:t>
            </a:r>
          </a:p>
          <a:p>
            <a:pPr lvl="2"/>
            <a:r>
              <a:rPr lang="en-US" altLang="en-US" dirty="0"/>
              <a:t>Send email confirmation to the customer</a:t>
            </a:r>
          </a:p>
        </p:txBody>
      </p:sp>
    </p:spTree>
    <p:extLst>
      <p:ext uri="{BB962C8B-B14F-4D97-AF65-F5344CB8AC3E}">
        <p14:creationId xmlns:p14="http://schemas.microsoft.com/office/powerpoint/2010/main" val="950016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(11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dirty="0"/>
              <a:t>Fulfill the order</a:t>
            </a:r>
          </a:p>
          <a:p>
            <a:pPr lvl="1">
              <a:buFont typeface="Arial" panose="020B0604020202020204" pitchFamily="34" charset="0"/>
            </a:pPr>
            <a:r>
              <a:rPr lang="en-US" altLang="en-US" dirty="0"/>
              <a:t>Communicate with online inventory</a:t>
            </a:r>
          </a:p>
          <a:p>
            <a:pPr lvl="2"/>
            <a:r>
              <a:rPr lang="en-US" altLang="en-US" dirty="0"/>
              <a:t>Reduce item counts for purchased items</a:t>
            </a:r>
          </a:p>
          <a:p>
            <a:pPr lvl="1">
              <a:buFont typeface="Arial" panose="020B0604020202020204" pitchFamily="34" charset="0"/>
            </a:pPr>
            <a:r>
              <a:rPr lang="en-US" altLang="en-US" dirty="0"/>
              <a:t>Arrange for shipping </a:t>
            </a:r>
          </a:p>
          <a:p>
            <a:pPr lvl="2"/>
            <a:r>
              <a:rPr lang="en-US" altLang="en-US" dirty="0"/>
              <a:t>Online shipping system</a:t>
            </a:r>
          </a:p>
          <a:p>
            <a:pPr lvl="2"/>
            <a:r>
              <a:rPr lang="en-US" altLang="en-US" dirty="0"/>
              <a:t>External shipping company</a:t>
            </a:r>
          </a:p>
          <a:p>
            <a:pPr lvl="1">
              <a:buFont typeface="Arial" panose="020B0604020202020204" pitchFamily="34" charset="0"/>
            </a:pPr>
            <a:r>
              <a:rPr lang="en-US" altLang="en-US" dirty="0"/>
              <a:t>Arrange pick-up at the warehouse and delivery to the customer</a:t>
            </a:r>
          </a:p>
        </p:txBody>
      </p:sp>
    </p:spTree>
    <p:extLst>
      <p:ext uri="{BB962C8B-B14F-4D97-AF65-F5344CB8AC3E}">
        <p14:creationId xmlns:p14="http://schemas.microsoft.com/office/powerpoint/2010/main" val="1514246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(12 of 16)</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dirty="0"/>
              <a:t>Website design: overall</a:t>
            </a:r>
          </a:p>
          <a:p>
            <a:pPr lvl="1">
              <a:buFont typeface="Arial" panose="020B0604020202020204" pitchFamily="34" charset="0"/>
            </a:pPr>
            <a:r>
              <a:rPr lang="en-US" altLang="en-US" dirty="0"/>
              <a:t>Attractive with new products displayed</a:t>
            </a:r>
          </a:p>
          <a:p>
            <a:pPr lvl="1">
              <a:buFont typeface="Arial" panose="020B0604020202020204" pitchFamily="34" charset="0"/>
            </a:pPr>
            <a:r>
              <a:rPr lang="en-US" altLang="en-US" dirty="0"/>
              <a:t>Good design principles</a:t>
            </a:r>
          </a:p>
          <a:p>
            <a:pPr lvl="1">
              <a:buFont typeface="Arial" panose="020B0604020202020204" pitchFamily="34" charset="0"/>
            </a:pPr>
            <a:r>
              <a:rPr lang="en-US" altLang="en-US" dirty="0"/>
              <a:t>Organize for natural shopping habits</a:t>
            </a:r>
          </a:p>
          <a:p>
            <a:pPr lvl="1">
              <a:buFont typeface="Arial" panose="020B0604020202020204" pitchFamily="34" charset="0"/>
            </a:pPr>
            <a:r>
              <a:rPr lang="en-US" altLang="en-US" dirty="0"/>
              <a:t>Make it easy to navigate</a:t>
            </a:r>
          </a:p>
          <a:p>
            <a:pPr lvl="2"/>
            <a:r>
              <a:rPr lang="en-US" altLang="en-US" dirty="0"/>
              <a:t>Provide site map or navigation bar</a:t>
            </a:r>
          </a:p>
          <a:p>
            <a:pPr lvl="2"/>
            <a:r>
              <a:rPr lang="en-US" altLang="en-US" dirty="0"/>
              <a:t>No more than four clicks from one page to another</a:t>
            </a:r>
          </a:p>
          <a:p>
            <a:pPr lvl="1">
              <a:buFont typeface="Arial" panose="020B0604020202020204" pitchFamily="34" charset="0"/>
            </a:pPr>
            <a:r>
              <a:rPr lang="en-US" altLang="en-US" dirty="0"/>
              <a:t>Encourage browsing and targeted searching</a:t>
            </a:r>
          </a:p>
          <a:p>
            <a:pPr lvl="1">
              <a:buFont typeface="Arial" panose="020B0604020202020204" pitchFamily="34" charset="0"/>
            </a:pPr>
            <a:r>
              <a:rPr lang="en-US" altLang="en-US" dirty="0"/>
              <a:t>Ensure the site works on different platforms and browsers</a:t>
            </a:r>
          </a:p>
        </p:txBody>
      </p:sp>
    </p:spTree>
    <p:extLst>
      <p:ext uri="{BB962C8B-B14F-4D97-AF65-F5344CB8AC3E}">
        <p14:creationId xmlns:p14="http://schemas.microsoft.com/office/powerpoint/2010/main" val="2848626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(13 of 16)</a:t>
            </a:r>
            <a:endParaRPr lang="en-US" b="0" dirty="0">
              <a:latin typeface="Arial" pitchFamily="34" charset="0"/>
              <a:cs typeface="Arial" pitchFamily="34" charset="0"/>
            </a:endParaRPr>
          </a:p>
        </p:txBody>
      </p:sp>
      <p:sp>
        <p:nvSpPr>
          <p:cNvPr id="3" name="Content Placeholder 2"/>
          <p:cNvSpPr>
            <a:spLocks noGrp="1"/>
          </p:cNvSpPr>
          <p:nvPr>
            <p:ph idx="1"/>
          </p:nvPr>
        </p:nvSpPr>
        <p:spPr/>
        <p:txBody>
          <a:bodyPr vert="horz" lIns="91440" tIns="45720" rIns="91440" bIns="45720" rtlCol="0">
            <a:normAutofit/>
          </a:bodyPr>
          <a:lstStyle/>
          <a:p>
            <a:r>
              <a:rPr lang="en-US" altLang="en-US" dirty="0"/>
              <a:t>Website design: purchase</a:t>
            </a:r>
          </a:p>
          <a:p>
            <a:pPr lvl="1">
              <a:buFont typeface="Arial" panose="020B0604020202020204" pitchFamily="34" charset="0"/>
            </a:pPr>
            <a:r>
              <a:rPr lang="en-US" altLang="en-US" dirty="0"/>
              <a:t>Provide electronic “shopping carts”</a:t>
            </a:r>
          </a:p>
          <a:p>
            <a:pPr lvl="1">
              <a:buFont typeface="Arial" panose="020B0604020202020204" pitchFamily="34" charset="0"/>
            </a:pPr>
            <a:r>
              <a:rPr lang="en-US" altLang="en-US" dirty="0"/>
              <a:t>Checkout steps that:</a:t>
            </a:r>
          </a:p>
          <a:p>
            <a:pPr lvl="2"/>
            <a:r>
              <a:rPr lang="en-US" altLang="en-US" dirty="0"/>
              <a:t>Always show details of order</a:t>
            </a:r>
          </a:p>
          <a:p>
            <a:pPr lvl="2"/>
            <a:r>
              <a:rPr lang="en-US" altLang="en-US" dirty="0"/>
              <a:t>Clearly indicate what the next button click does</a:t>
            </a:r>
          </a:p>
          <a:p>
            <a:pPr lvl="2"/>
            <a:r>
              <a:rPr lang="en-US" altLang="en-US" dirty="0"/>
              <a:t>Allow the customer to go back and change things</a:t>
            </a:r>
          </a:p>
          <a:p>
            <a:pPr lvl="2"/>
            <a:r>
              <a:rPr lang="en-US" altLang="en-US" dirty="0"/>
              <a:t>Give the customer shipping options</a:t>
            </a:r>
          </a:p>
          <a:p>
            <a:pPr lvl="2"/>
            <a:r>
              <a:rPr lang="en-US" altLang="en-US" dirty="0"/>
              <a:t>Provide email with order information and shipping confirmation</a:t>
            </a:r>
          </a:p>
        </p:txBody>
      </p:sp>
    </p:spTree>
    <p:extLst>
      <p:ext uri="{BB962C8B-B14F-4D97-AF65-F5344CB8AC3E}">
        <p14:creationId xmlns:p14="http://schemas.microsoft.com/office/powerpoint/2010/main" val="2388136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(14 of 16)</a:t>
            </a:r>
            <a:endParaRPr lang="en-US" b="0" dirty="0">
              <a:latin typeface="Arial" pitchFamily="34" charset="0"/>
              <a:cs typeface="Arial" pitchFamily="34" charset="0"/>
            </a:endParaRPr>
          </a:p>
        </p:txBody>
      </p:sp>
      <p:sp>
        <p:nvSpPr>
          <p:cNvPr id="7" name="Content Placeholder 6"/>
          <p:cNvSpPr>
            <a:spLocks noGrp="1"/>
          </p:cNvSpPr>
          <p:nvPr>
            <p:ph idx="1"/>
          </p:nvPr>
        </p:nvSpPr>
        <p:spPr>
          <a:xfrm>
            <a:off x="376992" y="1231266"/>
            <a:ext cx="8480320" cy="4894898"/>
          </a:xfrm>
        </p:spPr>
        <p:txBody>
          <a:bodyPr vert="horz" lIns="91440" tIns="45720" rIns="91440" bIns="45720" rtlCol="0">
            <a:normAutofit/>
          </a:bodyPr>
          <a:lstStyle/>
          <a:p>
            <a:r>
              <a:rPr lang="en-US" altLang="en-US" dirty="0"/>
              <a:t>Website design: other information</a:t>
            </a:r>
          </a:p>
          <a:p>
            <a:pPr lvl="1">
              <a:buFont typeface="Arial" panose="020B0604020202020204" pitchFamily="34" charset="0"/>
            </a:pPr>
            <a:r>
              <a:rPr lang="en-US" altLang="en-US" dirty="0"/>
              <a:t>FAQ page and link to customer service</a:t>
            </a:r>
          </a:p>
          <a:p>
            <a:pPr lvl="1">
              <a:buFont typeface="Arial" panose="020B0604020202020204" pitchFamily="34" charset="0"/>
            </a:pPr>
            <a:r>
              <a:rPr lang="en-US" altLang="en-US" dirty="0"/>
              <a:t>Entries allowed for customer reviews or forums</a:t>
            </a:r>
          </a:p>
          <a:p>
            <a:pPr lvl="1">
              <a:buFont typeface="Arial" panose="020B0604020202020204" pitchFamily="34" charset="0"/>
            </a:pPr>
            <a:r>
              <a:rPr lang="en-US" altLang="en-US" dirty="0"/>
              <a:t>News and press releases</a:t>
            </a:r>
          </a:p>
          <a:p>
            <a:pPr lvl="1">
              <a:buFont typeface="Arial" panose="020B0604020202020204" pitchFamily="34" charset="0"/>
            </a:pPr>
            <a:r>
              <a:rPr lang="en-US" altLang="en-US" dirty="0"/>
              <a:t>Links to your social media sites</a:t>
            </a:r>
          </a:p>
        </p:txBody>
      </p:sp>
    </p:spTree>
    <p:extLst>
      <p:ext uri="{BB962C8B-B14F-4D97-AF65-F5344CB8AC3E}">
        <p14:creationId xmlns:p14="http://schemas.microsoft.com/office/powerpoint/2010/main" val="331796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(15 of 16)</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pPr lvl="1">
              <a:buFont typeface="Arial" panose="020B0604020202020204" pitchFamily="34" charset="0"/>
            </a:pPr>
            <a:r>
              <a:rPr lang="en-US" altLang="en-US" dirty="0"/>
              <a:t>Multiple software systems must communicate</a:t>
            </a:r>
          </a:p>
          <a:p>
            <a:pPr lvl="2"/>
            <a:r>
              <a:rPr lang="en-US" altLang="en-US" dirty="0"/>
              <a:t>Website, accounting, inventory, and shipping</a:t>
            </a:r>
          </a:p>
          <a:p>
            <a:pPr lvl="2"/>
            <a:r>
              <a:rPr lang="en-US" altLang="en-US" dirty="0"/>
              <a:t>Suppliers, orders, and billing</a:t>
            </a:r>
          </a:p>
          <a:p>
            <a:pPr lvl="2"/>
            <a:r>
              <a:rPr lang="en-US" altLang="en-US" dirty="0"/>
              <a:t>Personnel</a:t>
            </a:r>
          </a:p>
          <a:p>
            <a:pPr lvl="1">
              <a:buFont typeface="Arial" panose="020B0604020202020204" pitchFamily="34" charset="0"/>
            </a:pPr>
            <a:r>
              <a:rPr lang="en-US" altLang="en-US" b="1" dirty="0"/>
              <a:t>Legacy code</a:t>
            </a:r>
            <a:r>
              <a:rPr lang="en-US" altLang="en-US" dirty="0"/>
              <a:t>: existing old software still in use</a:t>
            </a:r>
          </a:p>
          <a:p>
            <a:pPr lvl="1">
              <a:buFont typeface="Arial" panose="020B0604020202020204" pitchFamily="34" charset="0"/>
            </a:pPr>
            <a:r>
              <a:rPr lang="en-US" altLang="en-US" b="1" dirty="0"/>
              <a:t>Middleware</a:t>
            </a:r>
            <a:r>
              <a:rPr lang="en-US" altLang="en-US" dirty="0"/>
              <a:t>: software to enable separate systems to communicate</a:t>
            </a:r>
          </a:p>
          <a:p>
            <a:pPr lvl="1">
              <a:buFont typeface="Arial" panose="020B0604020202020204" pitchFamily="34" charset="0"/>
            </a:pPr>
            <a:r>
              <a:rPr lang="en-US" altLang="en-US" b="1" dirty="0"/>
              <a:t>Disaster recovery strategy</a:t>
            </a:r>
            <a:r>
              <a:rPr lang="en-US" altLang="en-US" dirty="0"/>
              <a:t>: response to natural disasters, equipment failures, or being hacked</a:t>
            </a:r>
          </a:p>
        </p:txBody>
      </p:sp>
    </p:spTree>
    <p:extLst>
      <p:ext uri="{BB962C8B-B14F-4D97-AF65-F5344CB8AC3E}">
        <p14:creationId xmlns:p14="http://schemas.microsoft.com/office/powerpoint/2010/main" val="2542617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(16 of 16)</a:t>
            </a:r>
            <a:endParaRPr lang="en-US" b="0" dirty="0">
              <a:latin typeface="Arial" pitchFamily="34" charset="0"/>
              <a:cs typeface="Arial" pitchFamily="34" charset="0"/>
            </a:endParaRPr>
          </a:p>
        </p:txBody>
      </p:sp>
      <p:sp>
        <p:nvSpPr>
          <p:cNvPr id="3" name="Content Placeholder 2"/>
          <p:cNvSpPr>
            <a:spLocks noGrp="1"/>
          </p:cNvSpPr>
          <p:nvPr>
            <p:ph idx="1"/>
          </p:nvPr>
        </p:nvSpPr>
        <p:spPr/>
        <p:txBody>
          <a:bodyPr vert="horz" lIns="91440" tIns="45720" rIns="91440" bIns="45720" rtlCol="0">
            <a:normAutofit/>
          </a:bodyPr>
          <a:lstStyle/>
          <a:p>
            <a:r>
              <a:rPr lang="en-US" altLang="en-US" dirty="0"/>
              <a:t>Other ecommerce models</a:t>
            </a:r>
          </a:p>
          <a:p>
            <a:pPr lvl="1">
              <a:buFont typeface="Arial" panose="020B0604020202020204" pitchFamily="34" charset="0"/>
            </a:pPr>
            <a:r>
              <a:rPr lang="en-US" altLang="en-US" dirty="0"/>
              <a:t>eBay: peer-to-peer auction-style sales</a:t>
            </a:r>
          </a:p>
          <a:p>
            <a:pPr lvl="1">
              <a:buFont typeface="Arial" panose="020B0604020202020204" pitchFamily="34" charset="0"/>
            </a:pPr>
            <a:r>
              <a:rPr lang="en-US" altLang="en-US" dirty="0"/>
              <a:t>Craigslist: peer-to-peer classified ads</a:t>
            </a:r>
          </a:p>
          <a:p>
            <a:pPr lvl="1">
              <a:buFont typeface="Arial" panose="020B0604020202020204" pitchFamily="34" charset="0"/>
            </a:pPr>
            <a:r>
              <a:rPr lang="en-US" altLang="en-US" dirty="0"/>
              <a:t>Groupon: group coupons</a:t>
            </a:r>
          </a:p>
          <a:p>
            <a:pPr lvl="2"/>
            <a:r>
              <a:rPr lang="en-US" altLang="en-US" dirty="0"/>
              <a:t>Businesses post coupons for one day only</a:t>
            </a:r>
          </a:p>
          <a:p>
            <a:pPr lvl="2"/>
            <a:r>
              <a:rPr lang="en-US" altLang="en-US" dirty="0"/>
              <a:t>Minimum number required</a:t>
            </a:r>
          </a:p>
          <a:p>
            <a:pPr lvl="1">
              <a:buFont typeface="Arial" panose="020B0604020202020204" pitchFamily="34" charset="0"/>
            </a:pPr>
            <a:r>
              <a:rPr lang="en-US" altLang="en-US" dirty="0"/>
              <a:t>PayPal: online payment service</a:t>
            </a:r>
          </a:p>
          <a:p>
            <a:pPr lvl="1">
              <a:buFont typeface="Arial" panose="020B0604020202020204" pitchFamily="34" charset="0"/>
            </a:pPr>
            <a:r>
              <a:rPr lang="en-US" altLang="en-US" dirty="0"/>
              <a:t>Apple Pay and similar system: mobile payment systems</a:t>
            </a:r>
          </a:p>
          <a:p>
            <a:pPr lvl="1">
              <a:buFont typeface="Arial" panose="020B0604020202020204" pitchFamily="34" charset="0"/>
            </a:pPr>
            <a:r>
              <a:rPr lang="en-US" altLang="en-US" dirty="0"/>
              <a:t>Bitcoin: virtual currency</a:t>
            </a:r>
          </a:p>
        </p:txBody>
      </p:sp>
    </p:spTree>
    <p:extLst>
      <p:ext uri="{BB962C8B-B14F-4D97-AF65-F5344CB8AC3E}">
        <p14:creationId xmlns:p14="http://schemas.microsoft.com/office/powerpoint/2010/main" val="1669816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27812"/>
            <a:ext cx="9144000" cy="1060704"/>
          </a:xfrm>
        </p:spPr>
        <p:txBody>
          <a:bodyPr anchor="ctr">
            <a:noAutofit/>
          </a:bodyPr>
          <a:lstStyle/>
          <a:p>
            <a:r>
              <a:rPr lang="en-US" altLang="en-US" dirty="0"/>
              <a:t>Databases (1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dirty="0"/>
              <a:t>Databases store large amounts of data</a:t>
            </a:r>
          </a:p>
          <a:p>
            <a:r>
              <a:rPr lang="en-US" altLang="en-US" dirty="0"/>
              <a:t>Businesses require databases for:</a:t>
            </a:r>
          </a:p>
          <a:p>
            <a:pPr lvl="1">
              <a:buFont typeface="Arial" panose="020B0604020202020204" pitchFamily="34" charset="0"/>
            </a:pPr>
            <a:r>
              <a:rPr lang="en-US" altLang="en-US" dirty="0"/>
              <a:t>Inventory, personnel, customers, suppliers, and financials</a:t>
            </a:r>
          </a:p>
          <a:p>
            <a:r>
              <a:rPr lang="en-US" altLang="en-US" dirty="0"/>
              <a:t>Data organization</a:t>
            </a:r>
          </a:p>
          <a:p>
            <a:pPr lvl="1">
              <a:buFont typeface="Arial" panose="020B0604020202020204" pitchFamily="34" charset="0"/>
            </a:pPr>
            <a:r>
              <a:rPr lang="en-US" altLang="en-US" dirty="0"/>
              <a:t>Bits and bytes: basic pieces of computer data</a:t>
            </a:r>
          </a:p>
          <a:p>
            <a:pPr lvl="1">
              <a:buFont typeface="Arial" panose="020B0604020202020204" pitchFamily="34" charset="0"/>
            </a:pPr>
            <a:r>
              <a:rPr lang="en-US" altLang="en-US" b="1" dirty="0"/>
              <a:t>Field</a:t>
            </a:r>
            <a:r>
              <a:rPr lang="en-US" altLang="en-US" dirty="0"/>
              <a:t>: one meaningful piece of information</a:t>
            </a:r>
          </a:p>
          <a:p>
            <a:pPr lvl="1">
              <a:buFont typeface="Arial" panose="020B0604020202020204" pitchFamily="34" charset="0"/>
            </a:pPr>
            <a:r>
              <a:rPr lang="en-US" altLang="en-US" b="1" dirty="0"/>
              <a:t>Record</a:t>
            </a:r>
            <a:r>
              <a:rPr lang="en-US" altLang="en-US" dirty="0"/>
              <a:t>: a set of related fields</a:t>
            </a:r>
          </a:p>
          <a:p>
            <a:pPr lvl="1">
              <a:buFont typeface="Arial" panose="020B0604020202020204" pitchFamily="34" charset="0"/>
            </a:pPr>
            <a:r>
              <a:rPr lang="en-US" altLang="en-US" b="1" dirty="0"/>
              <a:t>Data file</a:t>
            </a:r>
            <a:r>
              <a:rPr lang="en-US" altLang="en-US" dirty="0"/>
              <a:t>: a set of related records </a:t>
            </a:r>
          </a:p>
          <a:p>
            <a:pPr lvl="1">
              <a:buFont typeface="Arial" panose="020B0604020202020204" pitchFamily="34" charset="0"/>
            </a:pPr>
            <a:r>
              <a:rPr lang="en-US" altLang="en-US" b="1" dirty="0"/>
              <a:t>Database</a:t>
            </a:r>
            <a:r>
              <a:rPr lang="en-US" altLang="en-US" dirty="0"/>
              <a:t>: a set of related data files</a:t>
            </a:r>
          </a:p>
        </p:txBody>
      </p:sp>
    </p:spTree>
    <p:extLst>
      <p:ext uri="{BB962C8B-B14F-4D97-AF65-F5344CB8AC3E}">
        <p14:creationId xmlns:p14="http://schemas.microsoft.com/office/powerpoint/2010/main" val="1235335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kern="0" dirty="0">
                <a:ea typeface="ＭＳ Ｐゴシック" pitchFamily="34" charset="-128"/>
                <a:cs typeface="ＭＳ Ｐゴシック" charset="-128"/>
              </a:rPr>
              <a:t>Databases (2 of 15)</a:t>
            </a:r>
            <a:endParaRPr lang="en-US" b="0" dirty="0">
              <a:latin typeface="Arial" pitchFamily="34" charset="0"/>
              <a:cs typeface="Arial" pitchFamily="34" charset="0"/>
            </a:endParaRPr>
          </a:p>
        </p:txBody>
      </p:sp>
      <p:pic>
        <p:nvPicPr>
          <p:cNvPr id="4" name="Picture 5" descr="The figure displays the data organization hierarchy. The database is the entire region of a rectangular block. The rectangle is divided into three equal vertical parts, and each part is called a field. The rectangle is further divided in four rows; the width of one row is called a record, the record consists of bytes each byte is equal to 8 bits.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8161" y="2035739"/>
            <a:ext cx="6030167" cy="328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5218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(3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4" y="1231266"/>
            <a:ext cx="8301786" cy="1078797"/>
          </a:xfrm>
        </p:spPr>
        <p:txBody>
          <a:bodyPr vert="horz" lIns="91440" tIns="45720" rIns="91440" bIns="45720" rtlCol="0">
            <a:normAutofit/>
          </a:bodyPr>
          <a:lstStyle/>
          <a:p>
            <a:r>
              <a:rPr lang="en-US" altLang="en-US" dirty="0"/>
              <a:t>Data files are represented as tables</a:t>
            </a:r>
          </a:p>
          <a:p>
            <a:pPr lvl="1">
              <a:buFont typeface="Arial" panose="020B0604020202020204" pitchFamily="34" charset="0"/>
            </a:pPr>
            <a:r>
              <a:rPr lang="en-US" altLang="en-US" dirty="0"/>
              <a:t>Records are rows; fields are columns</a:t>
            </a:r>
          </a:p>
        </p:txBody>
      </p:sp>
      <p:pic>
        <p:nvPicPr>
          <p:cNvPr id="5" name="Picture 7" descr="The image displays a rectangular box, called a file, with three columns representing the fields of information. Each field has five records: record 1, record 2, record 3, record 4, and record 5.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0619" y="2650758"/>
            <a:ext cx="6862763" cy="3268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2653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(4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73245" y="1327518"/>
            <a:ext cx="8253660" cy="2330081"/>
          </a:xfrm>
        </p:spPr>
        <p:txBody>
          <a:bodyPr vert="horz" lIns="91440" tIns="45720" rIns="91440" bIns="45720" rtlCol="0">
            <a:normAutofit/>
          </a:bodyPr>
          <a:lstStyle/>
          <a:p>
            <a:r>
              <a:rPr lang="en-US" altLang="en-US" dirty="0"/>
              <a:t>Rugs-for-You: example of an employee record</a:t>
            </a:r>
          </a:p>
          <a:p>
            <a:pPr lvl="1">
              <a:buFont typeface="Arial" panose="020B0604020202020204" pitchFamily="34" charset="0"/>
            </a:pPr>
            <a:r>
              <a:rPr lang="en-US" altLang="en-US" dirty="0"/>
              <a:t>Record = one employee</a:t>
            </a:r>
          </a:p>
          <a:p>
            <a:pPr lvl="1">
              <a:buFont typeface="Arial" panose="020B0604020202020204" pitchFamily="34" charset="0"/>
            </a:pPr>
            <a:r>
              <a:rPr lang="en-US" altLang="en-US" dirty="0"/>
              <a:t>Each field has:</a:t>
            </a:r>
          </a:p>
          <a:p>
            <a:pPr lvl="2"/>
            <a:r>
              <a:rPr lang="en-US" altLang="en-US" dirty="0"/>
              <a:t>A field name (a category) with a specific data type</a:t>
            </a:r>
          </a:p>
          <a:p>
            <a:pPr lvl="2"/>
            <a:r>
              <a:rPr lang="en-US" altLang="en-US" dirty="0"/>
              <a:t>A value in the field for the selected record (employee)</a:t>
            </a:r>
          </a:p>
        </p:txBody>
      </p:sp>
      <p:pic>
        <p:nvPicPr>
          <p:cNvPr id="4" name="Picture 7" descr="The figure displays a unique record in the rugs-for-you employment file. the file has 5 columns or headers: id, last name, first name, birth date, pay rate, and hours worked. Row 1: Id, 149; last name, Takasano; first name, Frederick, birth date, 5 23 19 90; pay rate, $12.35; and hours worked, 2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040" y="3907259"/>
            <a:ext cx="7721918"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3801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(5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b="1" dirty="0"/>
              <a:t>Database management system (DBMS)</a:t>
            </a:r>
          </a:p>
          <a:p>
            <a:pPr lvl="1">
              <a:buFont typeface="Arial" panose="020B0604020202020204" pitchFamily="34" charset="0"/>
            </a:pPr>
            <a:r>
              <a:rPr lang="en-US" altLang="en-US" dirty="0"/>
              <a:t>Manages files in a database</a:t>
            </a:r>
          </a:p>
          <a:p>
            <a:r>
              <a:rPr lang="en-US" altLang="en-US" b="1" dirty="0"/>
              <a:t>Relational database model:</a:t>
            </a:r>
            <a:r>
              <a:rPr lang="en-US" altLang="en-US" dirty="0"/>
              <a:t> files are 2-d tables</a:t>
            </a:r>
          </a:p>
          <a:p>
            <a:pPr lvl="1">
              <a:buFont typeface="Arial" panose="020B0604020202020204" pitchFamily="34" charset="0"/>
            </a:pPr>
            <a:r>
              <a:rPr lang="en-US" altLang="en-US" b="1" dirty="0"/>
              <a:t>Entity</a:t>
            </a:r>
            <a:r>
              <a:rPr lang="en-US" altLang="en-US" dirty="0"/>
              <a:t>: a distinguishable component of system</a:t>
            </a:r>
          </a:p>
          <a:p>
            <a:pPr lvl="2"/>
            <a:r>
              <a:rPr lang="en-US" altLang="en-US" dirty="0"/>
              <a:t>Example: an employee, a customer, or a rug for sale</a:t>
            </a:r>
          </a:p>
          <a:p>
            <a:pPr lvl="1">
              <a:buFont typeface="Arial" panose="020B0604020202020204" pitchFamily="34" charset="0"/>
            </a:pPr>
            <a:r>
              <a:rPr lang="en-US" altLang="en-US" b="1" dirty="0"/>
              <a:t>Tuple:</a:t>
            </a:r>
            <a:r>
              <a:rPr lang="en-US" altLang="en-US" dirty="0"/>
              <a:t> a row of a relational table</a:t>
            </a:r>
          </a:p>
          <a:p>
            <a:pPr lvl="1">
              <a:buFont typeface="Arial" panose="020B0604020202020204" pitchFamily="34" charset="0"/>
            </a:pPr>
            <a:r>
              <a:rPr lang="en-US" altLang="en-US" b="1" dirty="0"/>
              <a:t>Attribute</a:t>
            </a:r>
            <a:r>
              <a:rPr lang="en-US" altLang="en-US" dirty="0"/>
              <a:t>: category of a field</a:t>
            </a:r>
          </a:p>
          <a:p>
            <a:pPr lvl="1">
              <a:buFont typeface="Arial" panose="020B0604020202020204" pitchFamily="34" charset="0"/>
            </a:pPr>
            <a:r>
              <a:rPr lang="en-US" altLang="en-US" b="1" dirty="0"/>
              <a:t>Primary key:</a:t>
            </a:r>
            <a:r>
              <a:rPr lang="en-US" altLang="en-US" dirty="0"/>
              <a:t> attribute(s) that uniquely identify a tuple</a:t>
            </a:r>
          </a:p>
        </p:txBody>
      </p:sp>
      <p:sp>
        <p:nvSpPr>
          <p:cNvPr id="2" name="TextBox 1">
            <a:extLst>
              <a:ext uri="{FF2B5EF4-FFF2-40B4-BE49-F238E27FC236}">
                <a16:creationId xmlns:a16="http://schemas.microsoft.com/office/drawing/2014/main" id="{50F8FD60-D866-44B3-B32E-E4FA0D537AA6}"/>
              </a:ext>
            </a:extLst>
          </p:cNvPr>
          <p:cNvSpPr txBox="1"/>
          <p:nvPr/>
        </p:nvSpPr>
        <p:spPr>
          <a:xfrm>
            <a:off x="5915024" y="3435796"/>
            <a:ext cx="3457575" cy="400110"/>
          </a:xfrm>
          <a:prstGeom prst="rect">
            <a:avLst/>
          </a:prstGeom>
          <a:noFill/>
        </p:spPr>
        <p:txBody>
          <a:bodyPr wrap="square" rtlCol="0">
            <a:spAutoFit/>
          </a:bodyPr>
          <a:lstStyle/>
          <a:p>
            <a:r>
              <a:rPr lang="en-US" altLang="zh-CN" sz="2000" dirty="0">
                <a:solidFill>
                  <a:srgbClr val="FF0000"/>
                </a:solidFill>
              </a:rPr>
              <a:t>Another name for record</a:t>
            </a:r>
            <a:endParaRPr lang="en-US" sz="2000" dirty="0">
              <a:solidFill>
                <a:srgbClr val="FF0000"/>
              </a:solidFill>
            </a:endParaRPr>
          </a:p>
        </p:txBody>
      </p:sp>
    </p:spTree>
    <p:extLst>
      <p:ext uri="{BB962C8B-B14F-4D97-AF65-F5344CB8AC3E}">
        <p14:creationId xmlns:p14="http://schemas.microsoft.com/office/powerpoint/2010/main" val="1756039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kern="0" dirty="0">
                <a:ea typeface="ＭＳ Ｐゴシック" pitchFamily="34" charset="-128"/>
                <a:cs typeface="ＭＳ Ｐゴシック" charset="-128"/>
              </a:rPr>
              <a:t>Databases (6 of 15)</a:t>
            </a:r>
            <a:endParaRPr lang="en-US" b="0" dirty="0">
              <a:latin typeface="Arial" pitchFamily="34" charset="0"/>
              <a:cs typeface="Arial" pitchFamily="34" charset="0"/>
            </a:endParaRPr>
          </a:p>
        </p:txBody>
      </p:sp>
      <p:pic>
        <p:nvPicPr>
          <p:cNvPr id="7" name="Picture 5" descr="The figure displays the employees table for rugs-for-you. The columns are: id, last name, first name, birth date, pay rate, and hours worked. Row 2: Id, 116; last name, Kay; first name, Janet, birth date, 3 slash, 29 slash, 1980; pay rate, $16.60; and hours worked, 94. Row 3: Id, 123; last name, Perreira; first name, Francine; birth date, 8 slash, 15 slash, 1993; pay rate, $8.50; and hours worked, 185. Row 4: Id, 149; last name, Takasano; first name, Frederick; birth date, 5 slash, 23 slash, 1990; pay rate, $12.35; and hours worked, 250. Row 5: Id, 171; last name, Kay; first name, John; birth date, 11 slash, 17 slash, 1978; pay rate, $17.80; and hours worked, 245. Row 6: Id, 165; last name, Honou; first name, Morris; birth date, 6 slash, 9 slash, 1997; pay rate, $ 6.70; and hours worked, 5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2127" y="2122240"/>
            <a:ext cx="6239746" cy="295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7678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(7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09077" y="1231266"/>
            <a:ext cx="8480320" cy="4894898"/>
          </a:xfrm>
        </p:spPr>
        <p:txBody>
          <a:bodyPr vert="horz" lIns="91440" tIns="45720" rIns="91440" bIns="45720" rtlCol="0">
            <a:normAutofit/>
          </a:bodyPr>
          <a:lstStyle/>
          <a:p>
            <a:r>
              <a:rPr lang="en-US" altLang="en-US" b="1" dirty="0"/>
              <a:t>SQL (Structured Query Language)</a:t>
            </a:r>
          </a:p>
          <a:p>
            <a:pPr lvl="1">
              <a:buFont typeface="Arial" panose="020B0604020202020204" pitchFamily="34" charset="0"/>
            </a:pPr>
            <a:r>
              <a:rPr lang="en-US" altLang="en-US" dirty="0"/>
              <a:t>Standard query language for DBMS</a:t>
            </a:r>
          </a:p>
          <a:p>
            <a:pPr lvl="1">
              <a:buFont typeface="Arial" panose="020B0604020202020204" pitchFamily="34" charset="0"/>
            </a:pPr>
            <a:r>
              <a:rPr lang="en-US" altLang="en-US" dirty="0"/>
              <a:t>Use SQL queries to retrieve data according to some criteria</a:t>
            </a:r>
          </a:p>
          <a:p>
            <a:pPr lvl="1">
              <a:buFont typeface="Arial" panose="020B0604020202020204" pitchFamily="34" charset="0"/>
            </a:pPr>
            <a:r>
              <a:rPr lang="en-US" altLang="en-US" dirty="0"/>
              <a:t>Example 1: retrieve employee name, pay rate, and hours worked for employees named Perreira </a:t>
            </a:r>
          </a:p>
        </p:txBody>
      </p:sp>
    </p:spTree>
    <p:extLst>
      <p:ext uri="{BB962C8B-B14F-4D97-AF65-F5344CB8AC3E}">
        <p14:creationId xmlns:p14="http://schemas.microsoft.com/office/powerpoint/2010/main" val="4151240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Databases (8 of 15)</a:t>
            </a:r>
            <a:endParaRPr lang="en-US" dirty="0"/>
          </a:p>
        </p:txBody>
      </p:sp>
      <p:sp>
        <p:nvSpPr>
          <p:cNvPr id="3" name="Content Placeholder 2"/>
          <p:cNvSpPr>
            <a:spLocks noGrp="1"/>
          </p:cNvSpPr>
          <p:nvPr>
            <p:ph idx="1"/>
          </p:nvPr>
        </p:nvSpPr>
        <p:spPr>
          <a:xfrm>
            <a:off x="251589" y="1231266"/>
            <a:ext cx="8640822" cy="4894898"/>
          </a:xfrm>
        </p:spPr>
        <p:txBody>
          <a:bodyPr>
            <a:normAutofit/>
          </a:bodyPr>
          <a:lstStyle/>
          <a:p>
            <a:pPr>
              <a:buFontTx/>
              <a:buNone/>
            </a:pPr>
            <a:r>
              <a:rPr lang="en-US" altLang="en-US" sz="2400" b="1" dirty="0">
                <a:latin typeface="Arial" pitchFamily="34" charset="0"/>
                <a:cs typeface="Arial" pitchFamily="34" charset="0"/>
              </a:rPr>
              <a:t>SELECT ID, LastName, FirstName, Payrate, HoursWorked</a:t>
            </a:r>
          </a:p>
          <a:p>
            <a:pPr>
              <a:buFontTx/>
              <a:buNone/>
            </a:pPr>
            <a:r>
              <a:rPr lang="en-US" altLang="en-US" sz="2400" b="1" dirty="0">
                <a:latin typeface="Arial" pitchFamily="34" charset="0"/>
                <a:cs typeface="Arial" pitchFamily="34" charset="0"/>
              </a:rPr>
              <a:t>FROM Employees</a:t>
            </a:r>
          </a:p>
          <a:p>
            <a:pPr>
              <a:buFontTx/>
              <a:buNone/>
            </a:pPr>
            <a:r>
              <a:rPr lang="en-US" altLang="en-US" sz="2400" b="1" dirty="0">
                <a:latin typeface="Arial" pitchFamily="34" charset="0"/>
                <a:cs typeface="Arial" pitchFamily="34" charset="0"/>
              </a:rPr>
              <a:t>WHERE LastName = ‘</a:t>
            </a:r>
            <a:r>
              <a:rPr lang="en-US" altLang="en-US" sz="2400" b="1" dirty="0" err="1">
                <a:latin typeface="Arial" pitchFamily="34" charset="0"/>
                <a:cs typeface="Arial" pitchFamily="34" charset="0"/>
              </a:rPr>
              <a:t>Perreira</a:t>
            </a:r>
            <a:r>
              <a:rPr lang="en-US" altLang="en-US" sz="2400" b="1" dirty="0">
                <a:latin typeface="Arial" pitchFamily="34" charset="0"/>
                <a:cs typeface="Arial" pitchFamily="34" charset="0"/>
              </a:rPr>
              <a:t>’;</a:t>
            </a:r>
          </a:p>
          <a:p>
            <a:pPr>
              <a:buFontTx/>
              <a:buNone/>
            </a:pPr>
            <a:endParaRPr lang="en-US" altLang="en-US" sz="2400" b="1" dirty="0">
              <a:latin typeface="Arial" pitchFamily="34" charset="0"/>
              <a:cs typeface="Arial" pitchFamily="34" charset="0"/>
            </a:endParaRPr>
          </a:p>
          <a:p>
            <a:pPr>
              <a:buFontTx/>
              <a:buNone/>
            </a:pPr>
            <a:r>
              <a:rPr lang="en-US" altLang="en-US" sz="2400" b="1" dirty="0">
                <a:latin typeface="Arial" pitchFamily="34" charset="0"/>
                <a:cs typeface="Arial" pitchFamily="34" charset="0"/>
              </a:rPr>
              <a:t>SELECT *</a:t>
            </a:r>
          </a:p>
          <a:p>
            <a:pPr>
              <a:buFontTx/>
              <a:buNone/>
            </a:pPr>
            <a:r>
              <a:rPr lang="en-US" altLang="en-US" sz="2400" b="1" dirty="0">
                <a:latin typeface="Arial" pitchFamily="34" charset="0"/>
                <a:cs typeface="Arial" pitchFamily="34" charset="0"/>
              </a:rPr>
              <a:t>FROM Employees</a:t>
            </a:r>
          </a:p>
          <a:p>
            <a:pPr>
              <a:buFontTx/>
              <a:buNone/>
            </a:pPr>
            <a:r>
              <a:rPr lang="en-US" altLang="en-US" sz="2400" b="1" dirty="0">
                <a:latin typeface="Arial" pitchFamily="34" charset="0"/>
                <a:cs typeface="Arial" pitchFamily="34" charset="0"/>
              </a:rPr>
              <a:t>ORDER BY ID;</a:t>
            </a:r>
          </a:p>
          <a:p>
            <a:pPr>
              <a:buFontTx/>
              <a:buNone/>
            </a:pPr>
            <a:endParaRPr lang="en-US" altLang="en-US" sz="2400" b="1" dirty="0">
              <a:latin typeface="Arial" pitchFamily="34" charset="0"/>
              <a:cs typeface="Arial" pitchFamily="34" charset="0"/>
            </a:endParaRPr>
          </a:p>
          <a:p>
            <a:pPr>
              <a:buFontTx/>
              <a:buNone/>
            </a:pPr>
            <a:r>
              <a:rPr lang="en-US" altLang="en-US" sz="2400" b="1" dirty="0">
                <a:latin typeface="Arial" pitchFamily="34" charset="0"/>
                <a:cs typeface="Arial" pitchFamily="34" charset="0"/>
              </a:rPr>
              <a:t>SELECT *</a:t>
            </a:r>
          </a:p>
          <a:p>
            <a:pPr>
              <a:buFontTx/>
              <a:buNone/>
            </a:pPr>
            <a:r>
              <a:rPr lang="en-US" altLang="en-US" sz="2400" b="1" dirty="0">
                <a:latin typeface="Arial" pitchFamily="34" charset="0"/>
                <a:cs typeface="Arial" pitchFamily="34" charset="0"/>
              </a:rPr>
              <a:t>FROM Employees</a:t>
            </a:r>
          </a:p>
          <a:p>
            <a:pPr>
              <a:buFontTx/>
              <a:buNone/>
            </a:pPr>
            <a:r>
              <a:rPr lang="en-US" altLang="en-US" sz="2400" b="1" dirty="0">
                <a:latin typeface="Arial" pitchFamily="34" charset="0"/>
                <a:cs typeface="Arial" pitchFamily="34" charset="0"/>
              </a:rPr>
              <a:t>WHERE PayRate &gt; 15.00 </a:t>
            </a:r>
          </a:p>
        </p:txBody>
      </p:sp>
    </p:spTree>
    <p:extLst>
      <p:ext uri="{BB962C8B-B14F-4D97-AF65-F5344CB8AC3E}">
        <p14:creationId xmlns:p14="http://schemas.microsoft.com/office/powerpoint/2010/main" val="2191217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(9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pPr lvl="1">
              <a:buFont typeface="Arial" panose="020B0604020202020204" pitchFamily="34" charset="0"/>
            </a:pPr>
            <a:r>
              <a:rPr lang="en-US" altLang="en-US" dirty="0"/>
              <a:t>Example 2: retrieve all employee records, sorted by ID number</a:t>
            </a:r>
          </a:p>
          <a:p>
            <a:pPr marL="0" indent="0">
              <a:buNone/>
            </a:pPr>
            <a:r>
              <a:rPr lang="en-US" altLang="en-US" sz="2400" b="1" dirty="0"/>
              <a:t>SELECT *</a:t>
            </a:r>
          </a:p>
          <a:p>
            <a:pPr marL="0" indent="0">
              <a:buNone/>
            </a:pPr>
            <a:r>
              <a:rPr lang="en-US" altLang="en-US" sz="2400" b="1" dirty="0"/>
              <a:t>FROM Employees</a:t>
            </a:r>
          </a:p>
          <a:p>
            <a:pPr marL="0" indent="0">
              <a:buNone/>
            </a:pPr>
            <a:r>
              <a:rPr lang="en-US" altLang="en-US" sz="2400" b="1" dirty="0"/>
              <a:t>ORDER BY ID;</a:t>
            </a:r>
          </a:p>
          <a:p>
            <a:pPr lvl="1">
              <a:buFont typeface="Arial" panose="020B0604020202020204" pitchFamily="34" charset="0"/>
            </a:pPr>
            <a:r>
              <a:rPr lang="en-US" altLang="en-US" b="1" dirty="0"/>
              <a:t>Example 3: retrieve records of employees who are paid more than $15.00 per hour</a:t>
            </a:r>
          </a:p>
          <a:p>
            <a:pPr marL="0" indent="0">
              <a:buNone/>
            </a:pPr>
            <a:r>
              <a:rPr lang="en-US" altLang="en-US" sz="2400" b="1" dirty="0"/>
              <a:t>SELECT *</a:t>
            </a:r>
          </a:p>
          <a:p>
            <a:pPr marL="0" indent="0">
              <a:buNone/>
            </a:pPr>
            <a:r>
              <a:rPr lang="en-US" altLang="en-US" sz="2400" b="1" dirty="0"/>
              <a:t>FROM Employees</a:t>
            </a:r>
          </a:p>
          <a:p>
            <a:pPr marL="0" indent="0">
              <a:buNone/>
            </a:pPr>
            <a:r>
              <a:rPr lang="en-US" altLang="en-US" sz="2400" b="1" dirty="0"/>
              <a:t>WHERE PayRate &gt; 15.00</a:t>
            </a:r>
          </a:p>
        </p:txBody>
      </p:sp>
    </p:spTree>
    <p:extLst>
      <p:ext uri="{BB962C8B-B14F-4D97-AF65-F5344CB8AC3E}">
        <p14:creationId xmlns:p14="http://schemas.microsoft.com/office/powerpoint/2010/main" val="1928587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(10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pPr>
              <a:buFont typeface="Arial" pitchFamily="34" charset="0"/>
              <a:buChar char="•"/>
            </a:pPr>
            <a:r>
              <a:rPr lang="en-US" altLang="en-US" sz="2400" dirty="0"/>
              <a:t>Multiple tables may contain related data</a:t>
            </a:r>
          </a:p>
          <a:p>
            <a:pPr lvl="1">
              <a:buFont typeface="Arial" panose="020B0604020202020204" pitchFamily="34" charset="0"/>
            </a:pPr>
            <a:r>
              <a:rPr lang="en-US" altLang="en-US" dirty="0"/>
              <a:t>Example: insurance policies for Rugs-for-You</a:t>
            </a:r>
          </a:p>
          <a:p>
            <a:r>
              <a:rPr lang="en-US" altLang="en-US" sz="2400" b="1" dirty="0"/>
              <a:t>Foreign key</a:t>
            </a:r>
            <a:r>
              <a:rPr lang="en-US" altLang="en-US" sz="2400" dirty="0"/>
              <a:t>: an attribute in one table that is the key in another</a:t>
            </a:r>
          </a:p>
          <a:p>
            <a:pPr lvl="1">
              <a:buFont typeface="Arial" panose="020B0604020202020204" pitchFamily="34" charset="0"/>
            </a:pPr>
            <a:r>
              <a:rPr lang="en-US" altLang="en-US" dirty="0"/>
              <a:t>Connects data in one table with another</a:t>
            </a:r>
          </a:p>
          <a:p>
            <a:pPr lvl="1">
              <a:buFont typeface="Arial" panose="020B0604020202020204" pitchFamily="34" charset="0"/>
            </a:pPr>
            <a:r>
              <a:rPr lang="en-US" altLang="en-US" dirty="0"/>
              <a:t>Example: EmployeeID</a:t>
            </a:r>
          </a:p>
        </p:txBody>
      </p:sp>
    </p:spTree>
    <p:extLst>
      <p:ext uri="{BB962C8B-B14F-4D97-AF65-F5344CB8AC3E}">
        <p14:creationId xmlns:p14="http://schemas.microsoft.com/office/powerpoint/2010/main" val="1347611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kern="0" dirty="0">
                <a:ea typeface="ＭＳ Ｐゴシック" pitchFamily="34" charset="-128"/>
                <a:cs typeface="ＭＳ Ｐゴシック" charset="-128"/>
              </a:rPr>
              <a:t>Databases (11 of 15)</a:t>
            </a:r>
            <a:endParaRPr lang="en-US" b="0" dirty="0">
              <a:latin typeface="Arial" pitchFamily="34" charset="0"/>
              <a:cs typeface="Arial" pitchFamily="34" charset="0"/>
            </a:endParaRPr>
          </a:p>
        </p:txBody>
      </p:sp>
      <p:pic>
        <p:nvPicPr>
          <p:cNvPr id="4" name="Picture 5" descr="The figure displays the insurance policies table for rugs-for-you. There are three columns for the figure and first column is employee id, second column is plan type, and the third column is date issued. Row 1: employee id, 171; plan type, B2; and date issued, eighteenth October 1998. Row 2: employee id, 171; plan type, C1; and date issued, twenty-first June 2006. Row 3: employee id, 149; plan type, B2; and date issued, sixteenth August 2012. Row 4: employee id, 149; plan type, A1; and date issued, twenty-third May 2010. Row 5: employee id, 149; plan type, C2; and date issued, eighteenth December 201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8875" y="2018115"/>
            <a:ext cx="6937074" cy="3321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54342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(12 of 15)</a:t>
            </a:r>
            <a:endParaRPr lang="en-US" b="0" dirty="0">
              <a:latin typeface="Arial" pitchFamily="34" charset="0"/>
              <a:cs typeface="Arial" pitchFamily="34" charset="0"/>
            </a:endParaRPr>
          </a:p>
        </p:txBody>
      </p:sp>
      <p:sp>
        <p:nvSpPr>
          <p:cNvPr id="3" name="Content Placeholder 2"/>
          <p:cNvSpPr>
            <a:spLocks noGrp="1"/>
          </p:cNvSpPr>
          <p:nvPr>
            <p:ph idx="1"/>
          </p:nvPr>
        </p:nvSpPr>
        <p:spPr/>
        <p:txBody>
          <a:bodyPr vert="horz" lIns="91440" tIns="45720" rIns="91440" bIns="45720" rtlCol="0">
            <a:normAutofit/>
          </a:bodyPr>
          <a:lstStyle/>
          <a:p>
            <a:pPr>
              <a:buFont typeface="Arial" pitchFamily="34" charset="0"/>
            </a:pPr>
            <a:r>
              <a:rPr lang="en-US" altLang="en-US" sz="2400" dirty="0"/>
              <a:t>Multi-table example</a:t>
            </a:r>
          </a:p>
          <a:p>
            <a:pPr marL="0" indent="0">
              <a:buNone/>
            </a:pPr>
            <a:r>
              <a:rPr lang="en-US" altLang="en-US" sz="2400" b="1" dirty="0"/>
              <a:t>SELECT LastName, FirstName, PlanType</a:t>
            </a:r>
          </a:p>
          <a:p>
            <a:pPr marL="0" indent="0">
              <a:buNone/>
            </a:pPr>
            <a:r>
              <a:rPr lang="en-US" altLang="en-US" sz="2400" b="1" dirty="0"/>
              <a:t>FROM Employees, Insurance Policies</a:t>
            </a:r>
          </a:p>
          <a:p>
            <a:pPr marL="0" indent="0">
              <a:buNone/>
            </a:pPr>
            <a:r>
              <a:rPr lang="en-US" altLang="en-US" sz="2400" b="1" dirty="0"/>
              <a:t>Where LastName = ‘Takasano’</a:t>
            </a:r>
          </a:p>
          <a:p>
            <a:pPr marL="0" indent="0">
              <a:buNone/>
            </a:pPr>
            <a:r>
              <a:rPr lang="en-US" altLang="en-US" sz="2400" b="1" dirty="0"/>
              <a:t>AND FirstName = ‘Frederick’</a:t>
            </a:r>
          </a:p>
          <a:p>
            <a:pPr marL="0" indent="0">
              <a:buNone/>
            </a:pPr>
            <a:r>
              <a:rPr lang="en-US" altLang="en-US" sz="2400" b="1" dirty="0"/>
              <a:t>AND ID = EmployeeID;</a:t>
            </a:r>
          </a:p>
        </p:txBody>
      </p:sp>
    </p:spTree>
    <p:extLst>
      <p:ext uri="{BB962C8B-B14F-4D97-AF65-F5344CB8AC3E}">
        <p14:creationId xmlns:p14="http://schemas.microsoft.com/office/powerpoint/2010/main" val="1241628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(13 of 15)</a:t>
            </a:r>
            <a:endParaRPr lang="en-US" b="0" dirty="0">
              <a:latin typeface="Arial" pitchFamily="34" charset="0"/>
              <a:cs typeface="Arial" pitchFamily="34" charset="0"/>
            </a:endParaRPr>
          </a:p>
        </p:txBody>
      </p:sp>
      <p:sp>
        <p:nvSpPr>
          <p:cNvPr id="2" name="Content Placeholder 1"/>
          <p:cNvSpPr>
            <a:spLocks noGrp="1"/>
          </p:cNvSpPr>
          <p:nvPr>
            <p:ph idx="1"/>
          </p:nvPr>
        </p:nvSpPr>
        <p:spPr/>
        <p:txBody>
          <a:bodyPr vert="horz" lIns="91440" tIns="45720" rIns="91440" bIns="45720" rtlCol="0">
            <a:normAutofit/>
          </a:bodyPr>
          <a:lstStyle/>
          <a:p>
            <a:pPr>
              <a:buFont typeface="Arial" pitchFamily="34" charset="0"/>
            </a:pPr>
            <a:r>
              <a:rPr lang="en-US" altLang="en-US" dirty="0">
                <a:solidFill>
                  <a:srgbClr val="FF0000"/>
                </a:solidFill>
              </a:rPr>
              <a:t>Relational database operations</a:t>
            </a:r>
          </a:p>
          <a:p>
            <a:pPr lvl="1"/>
            <a:r>
              <a:rPr lang="en-US" altLang="en-US" b="1" dirty="0"/>
              <a:t>Project</a:t>
            </a:r>
            <a:r>
              <a:rPr lang="en-US" altLang="en-US" dirty="0"/>
              <a:t>: pick some attributes from a set of tuples</a:t>
            </a:r>
          </a:p>
          <a:p>
            <a:pPr marL="0" indent="0">
              <a:buNone/>
            </a:pPr>
            <a:r>
              <a:rPr lang="en-US" altLang="en-US" sz="2400" dirty="0"/>
              <a:t>	SELECT LastName, FirstName, PlanType</a:t>
            </a:r>
          </a:p>
          <a:p>
            <a:pPr marL="0" indent="0">
              <a:buNone/>
            </a:pPr>
            <a:r>
              <a:rPr lang="en-US" altLang="en-US" sz="2400" dirty="0"/>
              <a:t>	FROM Employees, Insurance Policies</a:t>
            </a:r>
          </a:p>
          <a:p>
            <a:pPr lvl="1"/>
            <a:r>
              <a:rPr lang="en-US" altLang="en-US" b="1" dirty="0">
                <a:solidFill>
                  <a:srgbClr val="FF0000"/>
                </a:solidFill>
              </a:rPr>
              <a:t>Restrict</a:t>
            </a:r>
            <a:r>
              <a:rPr lang="en-US" altLang="en-US" dirty="0"/>
              <a:t>: pick tuples that meet criteria</a:t>
            </a:r>
          </a:p>
          <a:p>
            <a:pPr marL="0" indent="0">
              <a:buNone/>
            </a:pPr>
            <a:r>
              <a:rPr lang="en-US" altLang="en-US" sz="2400" dirty="0"/>
              <a:t>	WHERE LastName = ‘Takasano’</a:t>
            </a:r>
          </a:p>
          <a:p>
            <a:pPr marL="0" indent="0">
              <a:buNone/>
            </a:pPr>
            <a:r>
              <a:rPr lang="en-US" altLang="en-US" sz="2400" dirty="0"/>
              <a:t>	AND FirstName = ‘Frederick’</a:t>
            </a:r>
          </a:p>
          <a:p>
            <a:pPr lvl="1"/>
            <a:r>
              <a:rPr lang="en-US" altLang="en-US" b="1" dirty="0"/>
              <a:t>Join</a:t>
            </a:r>
            <a:r>
              <a:rPr lang="en-US" altLang="en-US" dirty="0"/>
              <a:t>: combine tuples from different tables</a:t>
            </a:r>
          </a:p>
          <a:p>
            <a:pPr marL="0" indent="0">
              <a:buNone/>
            </a:pPr>
            <a:r>
              <a:rPr lang="en-US" altLang="en-US" sz="2400" dirty="0"/>
              <a:t>	FROM Employees, Insurance Policies</a:t>
            </a:r>
          </a:p>
          <a:p>
            <a:pPr marL="0" indent="0">
              <a:buNone/>
            </a:pPr>
            <a:r>
              <a:rPr lang="en-US" altLang="en-US" sz="2400" dirty="0"/>
              <a:t>	…</a:t>
            </a:r>
          </a:p>
          <a:p>
            <a:pPr marL="0" indent="0">
              <a:buNone/>
            </a:pPr>
            <a:r>
              <a:rPr lang="en-US" altLang="en-US" sz="2400" dirty="0"/>
              <a:t>	AND ID = EmployeeID;</a:t>
            </a:r>
          </a:p>
        </p:txBody>
      </p:sp>
      <p:sp>
        <p:nvSpPr>
          <p:cNvPr id="5" name="TextBox 4">
            <a:extLst>
              <a:ext uri="{FF2B5EF4-FFF2-40B4-BE49-F238E27FC236}">
                <a16:creationId xmlns:a16="http://schemas.microsoft.com/office/drawing/2014/main" id="{296D7C87-C5A4-4329-BDEA-EC2E36E7223E}"/>
              </a:ext>
            </a:extLst>
          </p:cNvPr>
          <p:cNvSpPr txBox="1"/>
          <p:nvPr/>
        </p:nvSpPr>
        <p:spPr>
          <a:xfrm>
            <a:off x="1676400" y="2870261"/>
            <a:ext cx="720436" cy="369332"/>
          </a:xfrm>
          <a:prstGeom prst="rect">
            <a:avLst/>
          </a:prstGeom>
          <a:noFill/>
        </p:spPr>
        <p:txBody>
          <a:bodyPr wrap="square">
            <a:spAutoFit/>
          </a:bodyPr>
          <a:lstStyle/>
          <a:p>
            <a:r>
              <a:rPr lang="zh-CN" altLang="en-US" dirty="0">
                <a:solidFill>
                  <a:srgbClr val="FF0000"/>
                </a:solidFill>
              </a:rPr>
              <a:t>限制</a:t>
            </a:r>
            <a:endParaRPr lang="en-US" dirty="0">
              <a:solidFill>
                <a:srgbClr val="FF0000"/>
              </a:solidFill>
            </a:endParaRPr>
          </a:p>
        </p:txBody>
      </p:sp>
      <p:sp>
        <p:nvSpPr>
          <p:cNvPr id="7" name="TextBox 6">
            <a:extLst>
              <a:ext uri="{FF2B5EF4-FFF2-40B4-BE49-F238E27FC236}">
                <a16:creationId xmlns:a16="http://schemas.microsoft.com/office/drawing/2014/main" id="{DF0C09B4-0206-4F38-8F57-4068F159B0E4}"/>
              </a:ext>
            </a:extLst>
          </p:cNvPr>
          <p:cNvSpPr txBox="1"/>
          <p:nvPr/>
        </p:nvSpPr>
        <p:spPr>
          <a:xfrm>
            <a:off x="955964" y="4313546"/>
            <a:ext cx="4572000" cy="369332"/>
          </a:xfrm>
          <a:prstGeom prst="rect">
            <a:avLst/>
          </a:prstGeom>
          <a:noFill/>
        </p:spPr>
        <p:txBody>
          <a:bodyPr wrap="square">
            <a:spAutoFit/>
          </a:bodyPr>
          <a:lstStyle/>
          <a:p>
            <a:r>
              <a:rPr lang="zh-CN" altLang="en-US" dirty="0">
                <a:solidFill>
                  <a:srgbClr val="FF0000"/>
                </a:solidFill>
              </a:rPr>
              <a:t>联接</a:t>
            </a:r>
            <a:endParaRPr lang="en-US" dirty="0">
              <a:solidFill>
                <a:srgbClr val="FF0000"/>
              </a:solidFill>
            </a:endParaRPr>
          </a:p>
        </p:txBody>
      </p:sp>
    </p:spTree>
    <p:extLst>
      <p:ext uri="{BB962C8B-B14F-4D97-AF65-F5344CB8AC3E}">
        <p14:creationId xmlns:p14="http://schemas.microsoft.com/office/powerpoint/2010/main" val="3967181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kern="0" dirty="0">
                <a:ea typeface="MS PGothic" charset="-128"/>
              </a:rPr>
              <a:t>Databases (14 of 15)</a:t>
            </a:r>
            <a:endParaRPr lang="en-US" b="0" dirty="0">
              <a:latin typeface="Arial" pitchFamily="34" charset="0"/>
              <a:cs typeface="Arial" pitchFamily="34" charset="0"/>
            </a:endParaRPr>
          </a:p>
        </p:txBody>
      </p:sp>
      <p:pic>
        <p:nvPicPr>
          <p:cNvPr id="4" name="Picture 5" descr="The flowchart displays three components in the rugs-for-you database. Three boxes are employees, the insurance plans, and insurance policies. Box 1. Employees, I d primary key; the options are last name, first name, birth date, pay rate, and hours worked.  Box 2. Insurance plans, plan type foreign key; the options are description and monthly cost. Box 3. Insurance policies, employee I d foreign key, plan type foreign key; the option is date issued. The employees I d has insurance policies and the insurance plans are used by insurance policies. Has and used by are the relations between the box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7088" y="1231900"/>
            <a:ext cx="409648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4573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Databases (15 of 15)</a:t>
            </a:r>
            <a:endParaRPr lang="en-US" dirty="0"/>
          </a:p>
        </p:txBody>
      </p:sp>
      <p:sp>
        <p:nvSpPr>
          <p:cNvPr id="3" name="Content Placeholder 2"/>
          <p:cNvSpPr>
            <a:spLocks noGrp="1"/>
          </p:cNvSpPr>
          <p:nvPr>
            <p:ph idx="1"/>
          </p:nvPr>
        </p:nvSpPr>
        <p:spPr/>
        <p:txBody>
          <a:bodyPr vert="horz" lIns="91440" tIns="45720" rIns="91440" bIns="45720" rtlCol="0">
            <a:normAutofit fontScale="92500" lnSpcReduction="10000"/>
          </a:bodyPr>
          <a:lstStyle/>
          <a:p>
            <a:pPr>
              <a:buFont typeface="Arial" pitchFamily="34" charset="0"/>
            </a:pPr>
            <a:r>
              <a:rPr lang="en-US" altLang="en-US" dirty="0"/>
              <a:t>Database </a:t>
            </a:r>
            <a:r>
              <a:rPr lang="en-US" altLang="en-US" dirty="0">
                <a:solidFill>
                  <a:srgbClr val="FF0000"/>
                </a:solidFill>
              </a:rPr>
              <a:t>integrity</a:t>
            </a:r>
            <a:r>
              <a:rPr lang="en-US" altLang="en-US" dirty="0"/>
              <a:t>: verification as data is added/removed</a:t>
            </a:r>
          </a:p>
          <a:p>
            <a:pPr lvl="1"/>
            <a:r>
              <a:rPr lang="en-US" altLang="en-US" b="1" dirty="0"/>
              <a:t>Entity integrity:</a:t>
            </a:r>
            <a:r>
              <a:rPr lang="en-US" altLang="en-US" dirty="0"/>
              <a:t> no primary key can be missing</a:t>
            </a:r>
          </a:p>
          <a:p>
            <a:pPr lvl="1"/>
            <a:r>
              <a:rPr lang="en-US" altLang="en-US" b="1" dirty="0"/>
              <a:t>Data integrity:</a:t>
            </a:r>
            <a:r>
              <a:rPr lang="en-US" altLang="en-US" dirty="0"/>
              <a:t> values must match category </a:t>
            </a:r>
            <a:r>
              <a:rPr lang="en-US" altLang="en-US" dirty="0">
                <a:solidFill>
                  <a:srgbClr val="FF0000"/>
                </a:solidFill>
              </a:rPr>
              <a:t>constraints </a:t>
            </a:r>
            <a:r>
              <a:rPr lang="en-US" altLang="en-US" dirty="0"/>
              <a:t>(e.g., be a valid pay rate)</a:t>
            </a:r>
          </a:p>
          <a:p>
            <a:pPr lvl="1"/>
            <a:r>
              <a:rPr lang="en-US" altLang="en-US" b="1" dirty="0"/>
              <a:t>Referential integrity:</a:t>
            </a:r>
            <a:r>
              <a:rPr lang="en-US" altLang="en-US" dirty="0"/>
              <a:t> foreign keys must match a primary key value in the related table</a:t>
            </a:r>
          </a:p>
          <a:p>
            <a:pPr>
              <a:buFont typeface="Arial" pitchFamily="34" charset="0"/>
            </a:pPr>
            <a:r>
              <a:rPr lang="en-US" altLang="en-US" dirty="0"/>
              <a:t>Efficiency: </a:t>
            </a:r>
          </a:p>
          <a:p>
            <a:pPr lvl="1">
              <a:buFont typeface="Arial" pitchFamily="34" charset="0"/>
            </a:pPr>
            <a:r>
              <a:rPr lang="en-US" altLang="en-US" dirty="0"/>
              <a:t>Disk access is slow</a:t>
            </a:r>
          </a:p>
          <a:p>
            <a:pPr lvl="1">
              <a:buFont typeface="Arial" pitchFamily="34" charset="0"/>
            </a:pPr>
            <a:r>
              <a:rPr lang="en-US" altLang="en-US" dirty="0"/>
              <a:t>File management systems can organize disk files for faster access</a:t>
            </a:r>
          </a:p>
          <a:p>
            <a:pPr>
              <a:buFont typeface="Arial" pitchFamily="34" charset="0"/>
            </a:pPr>
            <a:r>
              <a:rPr lang="en-US" altLang="en-US" b="1" dirty="0"/>
              <a:t>Distributed database:</a:t>
            </a:r>
            <a:r>
              <a:rPr lang="en-US" altLang="en-US" dirty="0"/>
              <a:t> data stored across a computer network</a:t>
            </a:r>
          </a:p>
        </p:txBody>
      </p:sp>
      <p:sp>
        <p:nvSpPr>
          <p:cNvPr id="5" name="TextBox 4">
            <a:extLst>
              <a:ext uri="{FF2B5EF4-FFF2-40B4-BE49-F238E27FC236}">
                <a16:creationId xmlns:a16="http://schemas.microsoft.com/office/drawing/2014/main" id="{798E7F01-A9C0-4865-AFB7-8DCCBD9F1A35}"/>
              </a:ext>
            </a:extLst>
          </p:cNvPr>
          <p:cNvSpPr txBox="1"/>
          <p:nvPr/>
        </p:nvSpPr>
        <p:spPr>
          <a:xfrm>
            <a:off x="2535382" y="961320"/>
            <a:ext cx="1066800" cy="369332"/>
          </a:xfrm>
          <a:prstGeom prst="rect">
            <a:avLst/>
          </a:prstGeom>
          <a:noFill/>
        </p:spPr>
        <p:txBody>
          <a:bodyPr wrap="square">
            <a:spAutoFit/>
          </a:bodyPr>
          <a:lstStyle/>
          <a:p>
            <a:r>
              <a:rPr lang="zh-CN" altLang="en-US" dirty="0">
                <a:solidFill>
                  <a:srgbClr val="FF0000"/>
                </a:solidFill>
              </a:rPr>
              <a:t>完整性</a:t>
            </a:r>
            <a:endParaRPr lang="en-US" dirty="0">
              <a:solidFill>
                <a:srgbClr val="FF0000"/>
              </a:solidFill>
            </a:endParaRPr>
          </a:p>
        </p:txBody>
      </p:sp>
      <p:sp>
        <p:nvSpPr>
          <p:cNvPr id="7" name="TextBox 6">
            <a:extLst>
              <a:ext uri="{FF2B5EF4-FFF2-40B4-BE49-F238E27FC236}">
                <a16:creationId xmlns:a16="http://schemas.microsoft.com/office/drawing/2014/main" id="{5EA03524-BD19-437A-A85A-3A7746588FAB}"/>
              </a:ext>
            </a:extLst>
          </p:cNvPr>
          <p:cNvSpPr txBox="1"/>
          <p:nvPr/>
        </p:nvSpPr>
        <p:spPr>
          <a:xfrm>
            <a:off x="4433454" y="1761898"/>
            <a:ext cx="4572000" cy="369332"/>
          </a:xfrm>
          <a:prstGeom prst="rect">
            <a:avLst/>
          </a:prstGeom>
          <a:noFill/>
        </p:spPr>
        <p:txBody>
          <a:bodyPr wrap="square">
            <a:spAutoFit/>
          </a:bodyPr>
          <a:lstStyle/>
          <a:p>
            <a:r>
              <a:rPr lang="zh-CN" altLang="en-US" dirty="0">
                <a:solidFill>
                  <a:srgbClr val="FF0000"/>
                </a:solidFill>
              </a:rPr>
              <a:t>不会丢失任何主键</a:t>
            </a:r>
          </a:p>
        </p:txBody>
      </p:sp>
      <p:sp>
        <p:nvSpPr>
          <p:cNvPr id="9" name="TextBox 8">
            <a:extLst>
              <a:ext uri="{FF2B5EF4-FFF2-40B4-BE49-F238E27FC236}">
                <a16:creationId xmlns:a16="http://schemas.microsoft.com/office/drawing/2014/main" id="{DD193231-A1D8-4CF9-A1EF-FC509F5AD560}"/>
              </a:ext>
            </a:extLst>
          </p:cNvPr>
          <p:cNvSpPr txBox="1"/>
          <p:nvPr/>
        </p:nvSpPr>
        <p:spPr>
          <a:xfrm>
            <a:off x="7162800" y="2571076"/>
            <a:ext cx="1316182" cy="369332"/>
          </a:xfrm>
          <a:prstGeom prst="rect">
            <a:avLst/>
          </a:prstGeom>
          <a:noFill/>
        </p:spPr>
        <p:txBody>
          <a:bodyPr wrap="square">
            <a:spAutoFit/>
          </a:bodyPr>
          <a:lstStyle/>
          <a:p>
            <a:r>
              <a:rPr lang="zh-CN" altLang="en-US" dirty="0">
                <a:solidFill>
                  <a:srgbClr val="FF0000"/>
                </a:solidFill>
              </a:rPr>
              <a:t>约束</a:t>
            </a:r>
            <a:endParaRPr lang="en-US" dirty="0">
              <a:solidFill>
                <a:srgbClr val="FF0000"/>
              </a:solidFill>
            </a:endParaRPr>
          </a:p>
        </p:txBody>
      </p:sp>
      <p:sp>
        <p:nvSpPr>
          <p:cNvPr id="11" name="TextBox 10">
            <a:extLst>
              <a:ext uri="{FF2B5EF4-FFF2-40B4-BE49-F238E27FC236}">
                <a16:creationId xmlns:a16="http://schemas.microsoft.com/office/drawing/2014/main" id="{2BBEAFF1-B0B8-414A-89F3-50DD178B96E0}"/>
              </a:ext>
            </a:extLst>
          </p:cNvPr>
          <p:cNvSpPr txBox="1"/>
          <p:nvPr/>
        </p:nvSpPr>
        <p:spPr>
          <a:xfrm>
            <a:off x="2286000" y="5442068"/>
            <a:ext cx="4572000" cy="369332"/>
          </a:xfrm>
          <a:prstGeom prst="rect">
            <a:avLst/>
          </a:prstGeom>
          <a:noFill/>
        </p:spPr>
        <p:txBody>
          <a:bodyPr wrap="square">
            <a:spAutoFit/>
          </a:bodyPr>
          <a:lstStyle/>
          <a:p>
            <a:r>
              <a:rPr lang="zh-CN" altLang="en-US" dirty="0">
                <a:solidFill>
                  <a:srgbClr val="FF0000"/>
                </a:solidFill>
              </a:rPr>
              <a:t>分布式数据库</a:t>
            </a:r>
            <a:endParaRPr lang="en-US" dirty="0">
              <a:solidFill>
                <a:srgbClr val="FF0000"/>
              </a:solidFill>
            </a:endParaRPr>
          </a:p>
        </p:txBody>
      </p:sp>
    </p:spTree>
    <p:extLst>
      <p:ext uri="{BB962C8B-B14F-4D97-AF65-F5344CB8AC3E}">
        <p14:creationId xmlns:p14="http://schemas.microsoft.com/office/powerpoint/2010/main" val="613547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BA381A-E1FB-4DFE-A71B-CCEE5E0A1E85}"/>
              </a:ext>
            </a:extLst>
          </p:cNvPr>
          <p:cNvPicPr>
            <a:picLocks noChangeAspect="1"/>
          </p:cNvPicPr>
          <p:nvPr/>
        </p:nvPicPr>
        <p:blipFill>
          <a:blip r:embed="rId2"/>
          <a:stretch>
            <a:fillRect/>
          </a:stretch>
        </p:blipFill>
        <p:spPr>
          <a:xfrm>
            <a:off x="0" y="446084"/>
            <a:ext cx="9144000" cy="5245395"/>
          </a:xfrm>
          <a:prstGeom prst="rect">
            <a:avLst/>
          </a:prstGeom>
        </p:spPr>
      </p:pic>
    </p:spTree>
    <p:extLst>
      <p:ext uri="{BB962C8B-B14F-4D97-AF65-F5344CB8AC3E}">
        <p14:creationId xmlns:p14="http://schemas.microsoft.com/office/powerpoint/2010/main" val="35936233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25DC00-9C32-46EA-9FD7-E229006EDB74}"/>
              </a:ext>
            </a:extLst>
          </p:cNvPr>
          <p:cNvPicPr>
            <a:picLocks noChangeAspect="1"/>
          </p:cNvPicPr>
          <p:nvPr/>
        </p:nvPicPr>
        <p:blipFill>
          <a:blip r:embed="rId2"/>
          <a:stretch>
            <a:fillRect/>
          </a:stretch>
        </p:blipFill>
        <p:spPr>
          <a:xfrm>
            <a:off x="0" y="457200"/>
            <a:ext cx="9144000" cy="4589680"/>
          </a:xfrm>
          <a:prstGeom prst="rect">
            <a:avLst/>
          </a:prstGeom>
        </p:spPr>
      </p:pic>
    </p:spTree>
    <p:extLst>
      <p:ext uri="{BB962C8B-B14F-4D97-AF65-F5344CB8AC3E}">
        <p14:creationId xmlns:p14="http://schemas.microsoft.com/office/powerpoint/2010/main" val="1306141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ABEE7A-2CA3-4797-8447-D4FBA692CF1A}"/>
              </a:ext>
            </a:extLst>
          </p:cNvPr>
          <p:cNvPicPr>
            <a:picLocks noChangeAspect="1"/>
          </p:cNvPicPr>
          <p:nvPr/>
        </p:nvPicPr>
        <p:blipFill>
          <a:blip r:embed="rId2"/>
          <a:stretch>
            <a:fillRect/>
          </a:stretch>
        </p:blipFill>
        <p:spPr>
          <a:xfrm>
            <a:off x="0" y="1490240"/>
            <a:ext cx="9144000" cy="3877519"/>
          </a:xfrm>
          <a:prstGeom prst="rect">
            <a:avLst/>
          </a:prstGeom>
        </p:spPr>
      </p:pic>
    </p:spTree>
    <p:extLst>
      <p:ext uri="{BB962C8B-B14F-4D97-AF65-F5344CB8AC3E}">
        <p14:creationId xmlns:p14="http://schemas.microsoft.com/office/powerpoint/2010/main" val="2435949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736BDA-00FC-4E8B-85C1-975AA7AE725F}"/>
              </a:ext>
            </a:extLst>
          </p:cNvPr>
          <p:cNvPicPr>
            <a:picLocks noChangeAspect="1"/>
          </p:cNvPicPr>
          <p:nvPr/>
        </p:nvPicPr>
        <p:blipFill>
          <a:blip r:embed="rId2"/>
          <a:stretch>
            <a:fillRect/>
          </a:stretch>
        </p:blipFill>
        <p:spPr>
          <a:xfrm>
            <a:off x="0" y="1424885"/>
            <a:ext cx="9144000" cy="4008229"/>
          </a:xfrm>
          <a:prstGeom prst="rect">
            <a:avLst/>
          </a:prstGeom>
        </p:spPr>
      </p:pic>
    </p:spTree>
    <p:extLst>
      <p:ext uri="{BB962C8B-B14F-4D97-AF65-F5344CB8AC3E}">
        <p14:creationId xmlns:p14="http://schemas.microsoft.com/office/powerpoint/2010/main" val="149823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272C8-454E-4F0A-BD00-E8D11C804DBF}"/>
              </a:ext>
            </a:extLst>
          </p:cNvPr>
          <p:cNvSpPr>
            <a:spLocks noGrp="1"/>
          </p:cNvSpPr>
          <p:nvPr>
            <p:ph type="title"/>
          </p:nvPr>
        </p:nvSpPr>
        <p:spPr/>
        <p:txBody>
          <a:bodyPr/>
          <a:lstStyle/>
          <a:p>
            <a:r>
              <a:rPr lang="en-US" dirty="0"/>
              <a:t>Data Science (1 of 5)</a:t>
            </a:r>
          </a:p>
        </p:txBody>
      </p:sp>
      <p:sp>
        <p:nvSpPr>
          <p:cNvPr id="3" name="Content Placeholder 2">
            <a:extLst>
              <a:ext uri="{FF2B5EF4-FFF2-40B4-BE49-F238E27FC236}">
                <a16:creationId xmlns:a16="http://schemas.microsoft.com/office/drawing/2014/main" id="{1EE37436-2046-4CCB-A9C1-0A2AB77DB13C}"/>
              </a:ext>
            </a:extLst>
          </p:cNvPr>
          <p:cNvSpPr>
            <a:spLocks noGrp="1"/>
          </p:cNvSpPr>
          <p:nvPr>
            <p:ph idx="1"/>
          </p:nvPr>
        </p:nvSpPr>
        <p:spPr/>
        <p:txBody>
          <a:bodyPr>
            <a:normAutofit lnSpcReduction="10000"/>
          </a:bodyPr>
          <a:lstStyle/>
          <a:p>
            <a:r>
              <a:rPr lang="en-US" b="1" dirty="0"/>
              <a:t>Big data</a:t>
            </a:r>
            <a:r>
              <a:rPr lang="en-US" dirty="0"/>
              <a:t>: Huge amounts of available data</a:t>
            </a:r>
          </a:p>
          <a:p>
            <a:r>
              <a:rPr lang="en-US" b="1" dirty="0"/>
              <a:t>Data analysis</a:t>
            </a:r>
            <a:r>
              <a:rPr lang="en-US" dirty="0"/>
              <a:t>: Process of finding the right data sets, putting data in the right format, and writing queries to extract information</a:t>
            </a:r>
          </a:p>
          <a:p>
            <a:r>
              <a:rPr lang="en-US" b="1" dirty="0"/>
              <a:t>Data science</a:t>
            </a:r>
            <a:r>
              <a:rPr lang="en-US" dirty="0"/>
              <a:t>: Incorporates data analysis tasks, but requires knowledge of the enterprise for useful queries and the use of statistics and visualization techniques to interpret the results and predict future strategies to achieve a predetermined goal </a:t>
            </a:r>
          </a:p>
          <a:p>
            <a:r>
              <a:rPr lang="en-US" b="1" dirty="0"/>
              <a:t>Data warehouse</a:t>
            </a:r>
            <a:r>
              <a:rPr lang="en-US" dirty="0"/>
              <a:t>: A collection of databases that contain current and archived data for research and analysis </a:t>
            </a:r>
          </a:p>
        </p:txBody>
      </p:sp>
    </p:spTree>
    <p:extLst>
      <p:ext uri="{BB962C8B-B14F-4D97-AF65-F5344CB8AC3E}">
        <p14:creationId xmlns:p14="http://schemas.microsoft.com/office/powerpoint/2010/main" val="1452415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C86E-E7C3-42CA-BF77-F2442320D3EA}"/>
              </a:ext>
            </a:extLst>
          </p:cNvPr>
          <p:cNvSpPr>
            <a:spLocks noGrp="1"/>
          </p:cNvSpPr>
          <p:nvPr>
            <p:ph type="title"/>
          </p:nvPr>
        </p:nvSpPr>
        <p:spPr/>
        <p:txBody>
          <a:bodyPr/>
          <a:lstStyle/>
          <a:p>
            <a:r>
              <a:rPr lang="en-US" dirty="0"/>
              <a:t>Data Science (2 of 5)</a:t>
            </a:r>
          </a:p>
        </p:txBody>
      </p:sp>
      <p:sp>
        <p:nvSpPr>
          <p:cNvPr id="3" name="Content Placeholder 2">
            <a:extLst>
              <a:ext uri="{FF2B5EF4-FFF2-40B4-BE49-F238E27FC236}">
                <a16:creationId xmlns:a16="http://schemas.microsoft.com/office/drawing/2014/main" id="{C40CABC0-048E-4591-94EE-57B28889F6C3}"/>
              </a:ext>
            </a:extLst>
          </p:cNvPr>
          <p:cNvSpPr>
            <a:spLocks noGrp="1"/>
          </p:cNvSpPr>
          <p:nvPr>
            <p:ph idx="1"/>
          </p:nvPr>
        </p:nvSpPr>
        <p:spPr/>
        <p:txBody>
          <a:bodyPr>
            <a:normAutofit fontScale="92500"/>
          </a:bodyPr>
          <a:lstStyle/>
          <a:p>
            <a:r>
              <a:rPr lang="en-US" b="1" dirty="0"/>
              <a:t>Data mining</a:t>
            </a:r>
            <a:r>
              <a:rPr lang="en-US" dirty="0"/>
              <a:t>: Process of analyzing data to extract and interpret previously hidden patterns through several steps:</a:t>
            </a:r>
          </a:p>
          <a:p>
            <a:pPr lvl="1"/>
            <a:r>
              <a:rPr lang="en-US" dirty="0"/>
              <a:t>1. Determine the problem to be solved</a:t>
            </a:r>
          </a:p>
          <a:p>
            <a:pPr lvl="1"/>
            <a:r>
              <a:rPr lang="en-US" dirty="0"/>
              <a:t>2. Review the condition of the data: Does all data have the same structure? Are any tuples missing information?</a:t>
            </a:r>
          </a:p>
          <a:p>
            <a:pPr lvl="1"/>
            <a:r>
              <a:rPr lang="en-US" dirty="0"/>
              <a:t>3. Determine a model that will help bring out the patterns: Patterns classify the data to determine the strongest predictors of a given outcome – this is the data mining part: creation of a model</a:t>
            </a:r>
          </a:p>
          <a:p>
            <a:pPr lvl="1"/>
            <a:r>
              <a:rPr lang="en-US" dirty="0"/>
              <a:t>4. Evaluate your model: Are the results predicted borne out by further data? Would a different model give better results?</a:t>
            </a:r>
          </a:p>
        </p:txBody>
      </p:sp>
    </p:spTree>
    <p:extLst>
      <p:ext uri="{BB962C8B-B14F-4D97-AF65-F5344CB8AC3E}">
        <p14:creationId xmlns:p14="http://schemas.microsoft.com/office/powerpoint/2010/main" val="1482115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C86E-E7C3-42CA-BF77-F2442320D3EA}"/>
              </a:ext>
            </a:extLst>
          </p:cNvPr>
          <p:cNvSpPr>
            <a:spLocks noGrp="1"/>
          </p:cNvSpPr>
          <p:nvPr>
            <p:ph type="title"/>
          </p:nvPr>
        </p:nvSpPr>
        <p:spPr/>
        <p:txBody>
          <a:bodyPr/>
          <a:lstStyle/>
          <a:p>
            <a:r>
              <a:rPr lang="en-US" dirty="0"/>
              <a:t>Data Science (3 of 5) </a:t>
            </a:r>
          </a:p>
        </p:txBody>
      </p:sp>
      <p:sp>
        <p:nvSpPr>
          <p:cNvPr id="3" name="Content Placeholder 2">
            <a:extLst>
              <a:ext uri="{FF2B5EF4-FFF2-40B4-BE49-F238E27FC236}">
                <a16:creationId xmlns:a16="http://schemas.microsoft.com/office/drawing/2014/main" id="{C40CABC0-048E-4591-94EE-57B28889F6C3}"/>
              </a:ext>
            </a:extLst>
          </p:cNvPr>
          <p:cNvSpPr>
            <a:spLocks noGrp="1"/>
          </p:cNvSpPr>
          <p:nvPr>
            <p:ph idx="1"/>
          </p:nvPr>
        </p:nvSpPr>
        <p:spPr/>
        <p:txBody>
          <a:bodyPr>
            <a:normAutofit/>
          </a:bodyPr>
          <a:lstStyle/>
          <a:p>
            <a:r>
              <a:rPr lang="en-US" dirty="0"/>
              <a:t>Decision Tree</a:t>
            </a:r>
          </a:p>
          <a:p>
            <a:pPr lvl="1"/>
            <a:r>
              <a:rPr lang="en-US" dirty="0"/>
              <a:t>One type of model</a:t>
            </a:r>
          </a:p>
          <a:p>
            <a:r>
              <a:rPr lang="en-US" dirty="0"/>
              <a:t>Easy to convert to an algorithm</a:t>
            </a:r>
          </a:p>
          <a:p>
            <a:pPr lvl="1"/>
            <a:r>
              <a:rPr lang="en-US" dirty="0"/>
              <a:t>Is the model too simplistic?</a:t>
            </a:r>
          </a:p>
          <a:p>
            <a:pPr lvl="1"/>
            <a:r>
              <a:rPr lang="en-US" dirty="0"/>
              <a:t>Is the resulting algorithm biased?</a:t>
            </a:r>
          </a:p>
          <a:p>
            <a:pPr marL="457200" lvl="1" indent="0">
              <a:buNone/>
            </a:pPr>
            <a:endParaRPr lang="en-US" dirty="0"/>
          </a:p>
        </p:txBody>
      </p:sp>
      <p:pic>
        <p:nvPicPr>
          <p:cNvPr id="4" name="Picture 3">
            <a:extLst>
              <a:ext uri="{FF2B5EF4-FFF2-40B4-BE49-F238E27FC236}">
                <a16:creationId xmlns:a16="http://schemas.microsoft.com/office/drawing/2014/main" id="{B1101C50-E732-4D64-8F11-AB008C11DA36}"/>
              </a:ext>
            </a:extLst>
          </p:cNvPr>
          <p:cNvPicPr>
            <a:picLocks noChangeAspect="1"/>
          </p:cNvPicPr>
          <p:nvPr/>
        </p:nvPicPr>
        <p:blipFill>
          <a:blip r:embed="rId3"/>
          <a:stretch>
            <a:fillRect/>
          </a:stretch>
        </p:blipFill>
        <p:spPr>
          <a:xfrm>
            <a:off x="1408834" y="3491345"/>
            <a:ext cx="2993375" cy="2519796"/>
          </a:xfrm>
          <a:prstGeom prst="rect">
            <a:avLst/>
          </a:prstGeom>
        </p:spPr>
      </p:pic>
    </p:spTree>
    <p:extLst>
      <p:ext uri="{BB962C8B-B14F-4D97-AF65-F5344CB8AC3E}">
        <p14:creationId xmlns:p14="http://schemas.microsoft.com/office/powerpoint/2010/main" val="3873883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C86E-E7C3-42CA-BF77-F2442320D3EA}"/>
              </a:ext>
            </a:extLst>
          </p:cNvPr>
          <p:cNvSpPr>
            <a:spLocks noGrp="1"/>
          </p:cNvSpPr>
          <p:nvPr>
            <p:ph type="title"/>
          </p:nvPr>
        </p:nvSpPr>
        <p:spPr/>
        <p:txBody>
          <a:bodyPr/>
          <a:lstStyle/>
          <a:p>
            <a:r>
              <a:rPr lang="en-US" dirty="0"/>
              <a:t>Data Science (4 of 5) </a:t>
            </a:r>
          </a:p>
        </p:txBody>
      </p:sp>
      <p:sp>
        <p:nvSpPr>
          <p:cNvPr id="3" name="Content Placeholder 2">
            <a:extLst>
              <a:ext uri="{FF2B5EF4-FFF2-40B4-BE49-F238E27FC236}">
                <a16:creationId xmlns:a16="http://schemas.microsoft.com/office/drawing/2014/main" id="{C40CABC0-048E-4591-94EE-57B28889F6C3}"/>
              </a:ext>
            </a:extLst>
          </p:cNvPr>
          <p:cNvSpPr>
            <a:spLocks noGrp="1"/>
          </p:cNvSpPr>
          <p:nvPr>
            <p:ph idx="1"/>
          </p:nvPr>
        </p:nvSpPr>
        <p:spPr/>
        <p:txBody>
          <a:bodyPr>
            <a:normAutofit/>
          </a:bodyPr>
          <a:lstStyle/>
          <a:p>
            <a:r>
              <a:rPr lang="en-US" dirty="0"/>
              <a:t>Other Data Science Tools</a:t>
            </a:r>
          </a:p>
          <a:p>
            <a:pPr lvl="1"/>
            <a:r>
              <a:rPr lang="en-US" dirty="0"/>
              <a:t>Statistical analysis</a:t>
            </a:r>
          </a:p>
          <a:p>
            <a:pPr lvl="1"/>
            <a:r>
              <a:rPr lang="en-US" dirty="0"/>
              <a:t>Graphical visualization</a:t>
            </a:r>
          </a:p>
          <a:p>
            <a:pPr lvl="1"/>
            <a:r>
              <a:rPr lang="en-US" dirty="0"/>
              <a:t>Language R can help with both these tasks</a:t>
            </a:r>
          </a:p>
          <a:p>
            <a:pPr marL="457200" lvl="1" indent="0">
              <a:buNone/>
            </a:pPr>
            <a:endParaRPr lang="en-US" dirty="0"/>
          </a:p>
        </p:txBody>
      </p:sp>
      <p:pic>
        <p:nvPicPr>
          <p:cNvPr id="5" name="Picture 4">
            <a:extLst>
              <a:ext uri="{FF2B5EF4-FFF2-40B4-BE49-F238E27FC236}">
                <a16:creationId xmlns:a16="http://schemas.microsoft.com/office/drawing/2014/main" id="{364DED0F-EC18-4014-9891-15FCABF7B3B9}"/>
              </a:ext>
            </a:extLst>
          </p:cNvPr>
          <p:cNvPicPr>
            <a:picLocks noChangeAspect="1"/>
          </p:cNvPicPr>
          <p:nvPr/>
        </p:nvPicPr>
        <p:blipFill>
          <a:blip r:embed="rId3"/>
          <a:stretch>
            <a:fillRect/>
          </a:stretch>
        </p:blipFill>
        <p:spPr>
          <a:xfrm>
            <a:off x="1938338" y="3020291"/>
            <a:ext cx="3024018" cy="3166196"/>
          </a:xfrm>
          <a:prstGeom prst="rect">
            <a:avLst/>
          </a:prstGeom>
        </p:spPr>
      </p:pic>
    </p:spTree>
    <p:extLst>
      <p:ext uri="{BB962C8B-B14F-4D97-AF65-F5344CB8AC3E}">
        <p14:creationId xmlns:p14="http://schemas.microsoft.com/office/powerpoint/2010/main" val="4083599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 Science (5 of 5)</a:t>
            </a:r>
            <a:endParaRPr lang="en-US" dirty="0"/>
          </a:p>
        </p:txBody>
      </p:sp>
      <p:sp>
        <p:nvSpPr>
          <p:cNvPr id="3" name="Content Placeholder 2"/>
          <p:cNvSpPr>
            <a:spLocks noGrp="1"/>
          </p:cNvSpPr>
          <p:nvPr>
            <p:ph idx="1"/>
          </p:nvPr>
        </p:nvSpPr>
        <p:spPr/>
        <p:txBody>
          <a:bodyPr>
            <a:normAutofit/>
          </a:bodyPr>
          <a:lstStyle/>
          <a:p>
            <a:r>
              <a:rPr lang="en-US" altLang="en-US" dirty="0"/>
              <a:t>Privacy issues associated with </a:t>
            </a:r>
            <a:r>
              <a:rPr lang="en-US" altLang="en-US" b="1" dirty="0"/>
              <a:t>data mining</a:t>
            </a:r>
          </a:p>
          <a:p>
            <a:pPr marL="1147763">
              <a:buFont typeface="Arial" panose="020B0604020202020204" pitchFamily="34" charset="0"/>
              <a:buChar char="–"/>
            </a:pPr>
            <a:r>
              <a:rPr lang="en-US" altLang="en-US" sz="2400" dirty="0"/>
              <a:t>Automatically analyzing large amounts of data to uncover hidden patterns</a:t>
            </a:r>
          </a:p>
          <a:p>
            <a:r>
              <a:rPr lang="en-US" altLang="en-US" b="1" dirty="0"/>
              <a:t>Data brokers</a:t>
            </a:r>
            <a:r>
              <a:rPr lang="en-US" altLang="en-US" dirty="0"/>
              <a:t>: companies that collect and sell data such as:</a:t>
            </a:r>
          </a:p>
          <a:p>
            <a:pPr lvl="1"/>
            <a:r>
              <a:rPr lang="en-US" altLang="en-US" sz="2600" dirty="0"/>
              <a:t>Birth certificates, marriage certificates, </a:t>
            </a:r>
            <a:r>
              <a:rPr lang="en-US" altLang="en-US" sz="2600" dirty="0" err="1"/>
              <a:t>publically</a:t>
            </a:r>
            <a:r>
              <a:rPr lang="en-US" altLang="en-US" sz="2600" dirty="0"/>
              <a:t> available information, and nonpublic data purchased or acquired from other companies or data brokers.</a:t>
            </a:r>
          </a:p>
          <a:p>
            <a:r>
              <a:rPr lang="en-US" altLang="en-US" dirty="0" err="1"/>
              <a:t>Nontheless</a:t>
            </a:r>
            <a:r>
              <a:rPr lang="en-US" altLang="en-US" dirty="0"/>
              <a:t>, data science can make contributions to</a:t>
            </a:r>
          </a:p>
          <a:p>
            <a:pPr lvl="1"/>
            <a:r>
              <a:rPr lang="en-US" altLang="en-US" dirty="0"/>
              <a:t>Medicine, science, ecology, and many more fields    </a:t>
            </a:r>
          </a:p>
          <a:p>
            <a:pPr marL="690563" indent="0">
              <a:buNone/>
            </a:pPr>
            <a:endParaRPr lang="en-US" altLang="en-US" sz="2400" dirty="0"/>
          </a:p>
        </p:txBody>
      </p:sp>
    </p:spTree>
    <p:extLst>
      <p:ext uri="{BB962C8B-B14F-4D97-AF65-F5344CB8AC3E}">
        <p14:creationId xmlns:p14="http://schemas.microsoft.com/office/powerpoint/2010/main" val="2869257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(1 of 2)</a:t>
            </a:r>
            <a:endParaRPr lang="en-US" dirty="0"/>
          </a:p>
        </p:txBody>
      </p:sp>
      <p:sp>
        <p:nvSpPr>
          <p:cNvPr id="3" name="Content Placeholder 2"/>
          <p:cNvSpPr>
            <a:spLocks noGrp="1"/>
          </p:cNvSpPr>
          <p:nvPr>
            <p:ph idx="1"/>
          </p:nvPr>
        </p:nvSpPr>
        <p:spPr/>
        <p:txBody>
          <a:bodyPr vert="horz" lIns="91440" tIns="45720" rIns="91440" bIns="45720" rtlCol="0">
            <a:normAutofit/>
          </a:bodyPr>
          <a:lstStyle/>
          <a:p>
            <a:r>
              <a:rPr lang="en-US" altLang="en-US" dirty="0"/>
              <a:t>Ecommerce is a central part of our economy</a:t>
            </a:r>
          </a:p>
          <a:p>
            <a:r>
              <a:rPr lang="en-US" altLang="en-US" dirty="0"/>
              <a:t>Businesses deciding to enter the online world must plan carefully</a:t>
            </a:r>
          </a:p>
          <a:p>
            <a:r>
              <a:rPr lang="en-US" altLang="en-US" dirty="0"/>
              <a:t>Ecommerce web design is complicated</a:t>
            </a:r>
          </a:p>
          <a:p>
            <a:r>
              <a:rPr lang="en-US" altLang="en-US" dirty="0"/>
              <a:t>Ecommerce requires integrating multiple computer systems: inventory, accounting, suppliers, etc.</a:t>
            </a:r>
          </a:p>
          <a:p>
            <a:r>
              <a:rPr lang="en-US" altLang="en-US" dirty="0"/>
              <a:t>Databases are systems to store large amounts of data</a:t>
            </a:r>
          </a:p>
          <a:p>
            <a:r>
              <a:rPr lang="en-US" altLang="en-US" dirty="0"/>
              <a:t>Data is organized into fields, records, data files, and databases</a:t>
            </a:r>
          </a:p>
        </p:txBody>
      </p:sp>
    </p:spTree>
    <p:extLst>
      <p:ext uri="{BB962C8B-B14F-4D97-AF65-F5344CB8AC3E}">
        <p14:creationId xmlns:p14="http://schemas.microsoft.com/office/powerpoint/2010/main" val="7176176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(2 of 2)</a:t>
            </a:r>
            <a:endParaRPr lang="en-US" dirty="0"/>
          </a:p>
        </p:txBody>
      </p:sp>
      <p:sp>
        <p:nvSpPr>
          <p:cNvPr id="3" name="Content Placeholder 2"/>
          <p:cNvSpPr>
            <a:spLocks noGrp="1"/>
          </p:cNvSpPr>
          <p:nvPr>
            <p:ph idx="1"/>
          </p:nvPr>
        </p:nvSpPr>
        <p:spPr/>
        <p:txBody>
          <a:bodyPr/>
          <a:lstStyle/>
          <a:p>
            <a:r>
              <a:rPr lang="en-US" altLang="en-US" dirty="0"/>
              <a:t>DBMS manages files of databases</a:t>
            </a:r>
          </a:p>
          <a:p>
            <a:r>
              <a:rPr lang="en-US" altLang="en-US" dirty="0"/>
              <a:t>The relational database model is the most common: records represent entities; all data is viewed as sets of 2-d tables</a:t>
            </a:r>
          </a:p>
          <a:p>
            <a:r>
              <a:rPr lang="en-US" altLang="en-US" dirty="0"/>
              <a:t>SQL is the most common query language for retrieving data from a DBMS</a:t>
            </a:r>
          </a:p>
          <a:p>
            <a:r>
              <a:rPr lang="en-US" altLang="en-US" dirty="0"/>
              <a:t>Databases must ensure integrity, efficiency, and (sometimes) distributed access to data</a:t>
            </a:r>
          </a:p>
          <a:p>
            <a:r>
              <a:rPr lang="en-US" altLang="en-US" dirty="0"/>
              <a:t>Data mining discovers hidden patterns in a big data set</a:t>
            </a:r>
          </a:p>
          <a:p>
            <a:r>
              <a:rPr lang="en-US" altLang="en-US" dirty="0"/>
              <a:t>Privacy issues arise due to data mining techniques</a:t>
            </a:r>
          </a:p>
        </p:txBody>
      </p:sp>
    </p:spTree>
    <p:extLst>
      <p:ext uri="{BB962C8B-B14F-4D97-AF65-F5344CB8AC3E}">
        <p14:creationId xmlns:p14="http://schemas.microsoft.com/office/powerpoint/2010/main" val="2438753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2336</TotalTime>
  <Words>3610</Words>
  <Application>Microsoft Office PowerPoint</Application>
  <PresentationFormat>On-screen Show (4:3)</PresentationFormat>
  <Paragraphs>515</Paragraphs>
  <Slides>46</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Courier New</vt:lpstr>
      <vt:lpstr>Wingdings</vt:lpstr>
      <vt:lpstr>Office Theme</vt:lpstr>
      <vt:lpstr>Chapter 14</vt:lpstr>
      <vt:lpstr>Learning Objectives (1 of 2)</vt:lpstr>
      <vt:lpstr>Learning Objectives (2 of 2)</vt:lpstr>
      <vt:lpstr>Introduction</vt:lpstr>
      <vt:lpstr>Ecommerce (1 of 16)</vt:lpstr>
      <vt:lpstr>Ecommerce (2 of 16)</vt:lpstr>
      <vt:lpstr>Ecommerce (3 of 16)</vt:lpstr>
      <vt:lpstr>Ecommerce (4 of 16)</vt:lpstr>
      <vt:lpstr>Ecommerce (5 of 16)</vt:lpstr>
      <vt:lpstr>Ecommerce (6 of 16)</vt:lpstr>
      <vt:lpstr>Ecommerce (7 of 16)</vt:lpstr>
      <vt:lpstr>Ecommerce (8 of 16)</vt:lpstr>
      <vt:lpstr>Ecommerce (9 of 16)</vt:lpstr>
      <vt:lpstr>Ecommerce (10 of 16)</vt:lpstr>
      <vt:lpstr>Ecommerce (11 of 16)</vt:lpstr>
      <vt:lpstr>Ecommerce (12 of 16)</vt:lpstr>
      <vt:lpstr>Ecommerce (13 of 16)</vt:lpstr>
      <vt:lpstr>Ecommerce (14 of 16)</vt:lpstr>
      <vt:lpstr>Ecommerce (15 of 16)</vt:lpstr>
      <vt:lpstr>Ecommerce (16 of 16)</vt:lpstr>
      <vt:lpstr>Databases (1 of 15)</vt:lpstr>
      <vt:lpstr>Databases (2 of 15)</vt:lpstr>
      <vt:lpstr>Databases (3 of 15)</vt:lpstr>
      <vt:lpstr>Databases (4 of 15)</vt:lpstr>
      <vt:lpstr>Databases (5 of 15)</vt:lpstr>
      <vt:lpstr>Databases (6 of 15)</vt:lpstr>
      <vt:lpstr>Databases (7 of 15)</vt:lpstr>
      <vt:lpstr>Databases (8 of 15)</vt:lpstr>
      <vt:lpstr>Databases (9 of 15)</vt:lpstr>
      <vt:lpstr>Databases (10 of 15)</vt:lpstr>
      <vt:lpstr>Databases (11 of 15)</vt:lpstr>
      <vt:lpstr>Databases (12 of 15)</vt:lpstr>
      <vt:lpstr>Databases (13 of 15)</vt:lpstr>
      <vt:lpstr>Databases (14 of 15)</vt:lpstr>
      <vt:lpstr>Databases (15 of 15)</vt:lpstr>
      <vt:lpstr>PowerPoint Presentation</vt:lpstr>
      <vt:lpstr>PowerPoint Presentation</vt:lpstr>
      <vt:lpstr>PowerPoint Presentation</vt:lpstr>
      <vt:lpstr>PowerPoint Presentation</vt:lpstr>
      <vt:lpstr>Data Science (1 of 5)</vt:lpstr>
      <vt:lpstr>Data Science (2 of 5)</vt:lpstr>
      <vt:lpstr>Data Science (3 of 5) </vt:lpstr>
      <vt:lpstr>Data Science (4 of 5) </vt:lpstr>
      <vt:lpstr>Data Science (5 of 5)</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Electronic Commerce, Databases, and Personal Privacy</dc:title>
  <dc:creator>Schneider</dc:creator>
  <cp:lastModifiedBy>Jiahui Xia</cp:lastModifiedBy>
  <cp:revision>247</cp:revision>
  <dcterms:created xsi:type="dcterms:W3CDTF">2015-05-05T09:30:46Z</dcterms:created>
  <dcterms:modified xsi:type="dcterms:W3CDTF">2020-11-22T02:37:55Z</dcterms:modified>
</cp:coreProperties>
</file>