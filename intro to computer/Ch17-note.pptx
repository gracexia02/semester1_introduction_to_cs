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handoutMasterIdLst>
    <p:handoutMasterId r:id="rId55"/>
  </p:handoutMasterIdLst>
  <p:sldIdLst>
    <p:sldId id="308" r:id="rId2"/>
    <p:sldId id="257" r:id="rId3"/>
    <p:sldId id="290" r:id="rId4"/>
    <p:sldId id="258" r:id="rId5"/>
    <p:sldId id="30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5">
          <p15:clr>
            <a:srgbClr val="A4A3A4"/>
          </p15:clr>
        </p15:guide>
        <p15:guide id="2" pos="5612">
          <p15:clr>
            <a:srgbClr val="A4A3A4"/>
          </p15:clr>
        </p15:guide>
        <p15:guide id="3" pos="4085">
          <p15:clr>
            <a:srgbClr val="A4A3A4"/>
          </p15:clr>
        </p15:guide>
        <p15:guide id="4" pos="288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B14B"/>
    <a:srgbClr val="5FC3DA"/>
    <a:srgbClr val="536E75"/>
    <a:srgbClr val="D2D927"/>
    <a:srgbClr val="1F3668"/>
    <a:srgbClr val="D72229"/>
    <a:srgbClr val="5A7B36"/>
    <a:srgbClr val="2C3C22"/>
    <a:srgbClr val="A2D35D"/>
    <a:srgbClr val="F3702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257" autoAdjust="0"/>
    <p:restoredTop sz="75169" autoAdjust="0"/>
  </p:normalViewPr>
  <p:slideViewPr>
    <p:cSldViewPr snapToGrid="0">
      <p:cViewPr varScale="1">
        <p:scale>
          <a:sx n="50" d="100"/>
          <a:sy n="50" d="100"/>
        </p:scale>
        <p:origin x="1484" y="44"/>
      </p:cViewPr>
      <p:guideLst>
        <p:guide orient="horz" pos="705"/>
        <p:guide pos="5612"/>
        <p:guide pos="4085"/>
        <p:guide pos="288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114" d="100"/>
          <a:sy n="114" d="100"/>
        </p:scale>
        <p:origin x="-5032"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A65FDED-9808-2145-B21E-E47DA86996FE}" type="datetimeFigureOut">
              <a:rPr lang="en-US" smtClean="0"/>
              <a:t>12/2/2020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5C2110-F9BA-5949-A42B-CE3DC41F2361}" type="slidenum">
              <a:rPr lang="en-US" smtClean="0"/>
              <a:t>‹#›</a:t>
            </a:fld>
            <a:endParaRPr lang="en-US" dirty="0"/>
          </a:p>
        </p:txBody>
      </p:sp>
    </p:spTree>
    <p:extLst>
      <p:ext uri="{BB962C8B-B14F-4D97-AF65-F5344CB8AC3E}">
        <p14:creationId xmlns:p14="http://schemas.microsoft.com/office/powerpoint/2010/main" val="29341999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2B3269-F868-1148-8D0F-00224D62984F}" type="datetimeFigureOut">
              <a:rPr lang="en-US" smtClean="0"/>
              <a:t>12/2/2020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483670-0D61-9349-97AC-A9731AA75D95}" type="slidenum">
              <a:rPr lang="en-US" smtClean="0"/>
              <a:t>‹#›</a:t>
            </a:fld>
            <a:endParaRPr lang="en-US" dirty="0"/>
          </a:p>
        </p:txBody>
      </p:sp>
    </p:spTree>
    <p:extLst>
      <p:ext uri="{BB962C8B-B14F-4D97-AF65-F5344CB8AC3E}">
        <p14:creationId xmlns:p14="http://schemas.microsoft.com/office/powerpoint/2010/main" val="392382414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483670-0D61-9349-97AC-A9731AA75D95}" type="slidenum">
              <a:rPr lang="en-US" smtClean="0"/>
              <a:t>1</a:t>
            </a:fld>
            <a:endParaRPr lang="en-US" dirty="0"/>
          </a:p>
        </p:txBody>
      </p:sp>
    </p:spTree>
    <p:extLst>
      <p:ext uri="{BB962C8B-B14F-4D97-AF65-F5344CB8AC3E}">
        <p14:creationId xmlns:p14="http://schemas.microsoft.com/office/powerpoint/2010/main" val="3968861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使用道德推理来评估与计算相关的社会问题</a:t>
            </a:r>
          </a:p>
          <a:p>
            <a:r>
              <a:rPr lang="zh-CN" altLang="en-US" dirty="0"/>
              <a:t>了解数字共享文案知识产权的共享问题，例如音乐，视频，照片，书籍和视频游戏软件</a:t>
            </a:r>
          </a:p>
          <a:p>
            <a:r>
              <a:rPr lang="zh-CN" altLang="en-US" dirty="0"/>
              <a:t>讨论个人隐私权与政府对安全性的关注之间的权衡</a:t>
            </a:r>
          </a:p>
          <a:p>
            <a:r>
              <a:rPr lang="zh-CN" altLang="en-US" dirty="0"/>
              <a:t>提供论据以支持和反对声称自称对社会有益的黑客</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a:t>
            </a:fld>
            <a:endParaRPr lang="en-US" dirty="0"/>
          </a:p>
        </p:txBody>
      </p:sp>
    </p:spTree>
    <p:extLst>
      <p:ext uri="{BB962C8B-B14F-4D97-AF65-F5344CB8AC3E}">
        <p14:creationId xmlns:p14="http://schemas.microsoft.com/office/powerpoint/2010/main" val="218940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描述网络欺凌行为以及为何很难采取法律补救措施</a:t>
            </a:r>
          </a:p>
          <a:p>
            <a:r>
              <a:rPr lang="zh-CN" altLang="en-US" dirty="0"/>
              <a:t>解释社交媒体的巨大增长带来的潜在危险</a:t>
            </a:r>
          </a:p>
          <a:p>
            <a:r>
              <a:rPr lang="zh-CN" altLang="en-US" dirty="0"/>
              <a:t>讨论社交媒体如何使在全球范围内传播谣言和虚假信息变得容易，这些谣言和虚假信息可能会对全球政府产生深远影响</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a:t>
            </a:fld>
            <a:endParaRPr lang="en-US" dirty="0"/>
          </a:p>
        </p:txBody>
      </p:sp>
    </p:spTree>
    <p:extLst>
      <p:ext uri="{BB962C8B-B14F-4D97-AF65-F5344CB8AC3E}">
        <p14:creationId xmlns:p14="http://schemas.microsoft.com/office/powerpoint/2010/main" val="11491274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与信息技术有关的社会和道德问题是不可避免的</a:t>
            </a:r>
          </a:p>
          <a:p>
            <a:r>
              <a:rPr lang="zh-CN" altLang="en-US" dirty="0"/>
              <a:t>仅仅因为我们可以，并不意味着我们应该</a:t>
            </a:r>
          </a:p>
          <a:p>
            <a:r>
              <a:rPr lang="zh-CN" altLang="en-US" dirty="0"/>
              <a:t>培养思考此类问题的技巧</a:t>
            </a:r>
          </a:p>
          <a:p>
            <a:r>
              <a:rPr lang="zh-CN" altLang="en-US" dirty="0"/>
              <a:t>了解数字空间中的道德与伦理</a:t>
            </a:r>
          </a:p>
          <a:p>
            <a:r>
              <a:rPr lang="zh-CN" altLang="en-US" dirty="0"/>
              <a:t>案例研究介绍了重要的道德问题</a:t>
            </a:r>
          </a:p>
          <a:p>
            <a:r>
              <a:rPr lang="zh-CN" altLang="en-US" dirty="0"/>
              <a:t>描述支持和反对某些立场的论点</a:t>
            </a:r>
          </a:p>
          <a:p>
            <a:r>
              <a:rPr lang="zh-CN" altLang="en-US" dirty="0"/>
              <a:t>根据道德评价论点</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a:t>
            </a:fld>
            <a:endParaRPr lang="en-US" dirty="0"/>
          </a:p>
        </p:txBody>
      </p:sp>
    </p:spTree>
    <p:extLst>
      <p:ext uri="{BB962C8B-B14F-4D97-AF65-F5344CB8AC3E}">
        <p14:creationId xmlns:p14="http://schemas.microsoft.com/office/powerpoint/2010/main" val="966426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开发了</a:t>
            </a:r>
            <a:r>
              <a:rPr lang="en-US" altLang="zh-CN" dirty="0"/>
              <a:t>Napster</a:t>
            </a:r>
            <a:r>
              <a:rPr lang="zh-CN" altLang="en-US" dirty="0"/>
              <a:t>文件共享系统（</a:t>
            </a:r>
            <a:r>
              <a:rPr lang="en-US" altLang="zh-CN" dirty="0"/>
              <a:t>1999</a:t>
            </a:r>
            <a:r>
              <a:rPr lang="zh-CN" altLang="en-US" dirty="0"/>
              <a:t>年）</a:t>
            </a:r>
          </a:p>
          <a:p>
            <a:r>
              <a:rPr lang="zh-CN" altLang="en-US" dirty="0"/>
              <a:t>点对点文件共享</a:t>
            </a:r>
          </a:p>
          <a:p>
            <a:r>
              <a:rPr lang="zh-CN" altLang="en-US" dirty="0"/>
              <a:t>该软件将用户互相介绍</a:t>
            </a:r>
          </a:p>
          <a:p>
            <a:r>
              <a:rPr lang="zh-CN" altLang="en-US" dirty="0"/>
              <a:t>共享直接发生在用户之间</a:t>
            </a:r>
          </a:p>
          <a:p>
            <a:r>
              <a:rPr lang="zh-CN" altLang="en-US" dirty="0"/>
              <a:t>唱片公司对</a:t>
            </a:r>
            <a:r>
              <a:rPr lang="en-US" altLang="zh-CN" dirty="0"/>
              <a:t>Napster</a:t>
            </a:r>
            <a:r>
              <a:rPr lang="zh-CN" altLang="en-US" dirty="0"/>
              <a:t>提起诉讼，</a:t>
            </a:r>
            <a:r>
              <a:rPr lang="en-US" altLang="zh-CN" dirty="0"/>
              <a:t>1999</a:t>
            </a:r>
            <a:r>
              <a:rPr lang="zh-CN" altLang="en-US" dirty="0"/>
              <a:t>年</a:t>
            </a:r>
          </a:p>
          <a:p>
            <a:r>
              <a:rPr lang="zh-CN" altLang="en-US" dirty="0"/>
              <a:t>诉讼称，</a:t>
            </a:r>
            <a:r>
              <a:rPr lang="en-US" altLang="zh-CN" dirty="0"/>
              <a:t>Napster</a:t>
            </a:r>
            <a:r>
              <a:rPr lang="zh-CN" altLang="en-US" dirty="0"/>
              <a:t>是一种鼓励大规模侵犯版权的阴谋</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6</a:t>
            </a:fld>
            <a:endParaRPr lang="en-US" dirty="0"/>
          </a:p>
        </p:txBody>
      </p:sp>
    </p:spTree>
    <p:extLst>
      <p:ext uri="{BB962C8B-B14F-4D97-AF65-F5344CB8AC3E}">
        <p14:creationId xmlns:p14="http://schemas.microsoft.com/office/powerpoint/2010/main" val="2525373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事实</a:t>
            </a:r>
          </a:p>
          <a:p>
            <a:r>
              <a:rPr lang="zh-CN" altLang="en-US" dirty="0"/>
              <a:t>大多数共享音乐都拥有版权</a:t>
            </a:r>
          </a:p>
          <a:p>
            <a:r>
              <a:rPr lang="zh-CN" altLang="en-US" dirty="0"/>
              <a:t>许多艺术家反对分享</a:t>
            </a:r>
            <a:r>
              <a:rPr lang="en-US" altLang="zh-CN" dirty="0"/>
              <a:t>-</a:t>
            </a:r>
            <a:r>
              <a:rPr lang="zh-CN" altLang="en-US" dirty="0"/>
              <a:t>他们没有收入</a:t>
            </a:r>
          </a:p>
          <a:p>
            <a:r>
              <a:rPr lang="zh-CN" altLang="en-US" dirty="0"/>
              <a:t>一些艺术家支持分享</a:t>
            </a:r>
          </a:p>
          <a:p>
            <a:r>
              <a:rPr lang="en-US" altLang="zh-CN" dirty="0"/>
              <a:t>Napster</a:t>
            </a:r>
            <a:r>
              <a:rPr lang="zh-CN" altLang="en-US" dirty="0"/>
              <a:t>索赔</a:t>
            </a:r>
          </a:p>
          <a:p>
            <a:r>
              <a:rPr lang="en-US" altLang="zh-CN" dirty="0"/>
              <a:t>Napster</a:t>
            </a:r>
            <a:r>
              <a:rPr lang="zh-CN" altLang="en-US" dirty="0"/>
              <a:t>报告的歌曲位置，不参与实际共享</a:t>
            </a:r>
          </a:p>
          <a:p>
            <a:r>
              <a:rPr lang="zh-CN" altLang="en-US" dirty="0"/>
              <a:t>他们不对用户的行为负责</a:t>
            </a:r>
          </a:p>
          <a:p>
            <a:r>
              <a:rPr lang="zh-CN" altLang="en-US" dirty="0"/>
              <a:t>根据版权法，以这种方式交换文件应该是“合理使用”</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7</a:t>
            </a:fld>
            <a:endParaRPr lang="en-US" dirty="0"/>
          </a:p>
        </p:txBody>
      </p:sp>
    </p:spTree>
    <p:extLst>
      <p:ext uri="{BB962C8B-B14F-4D97-AF65-F5344CB8AC3E}">
        <p14:creationId xmlns:p14="http://schemas.microsoft.com/office/powerpoint/2010/main" val="39835352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Napster</a:t>
            </a:r>
            <a:r>
              <a:rPr lang="zh-CN" altLang="en-US" dirty="0"/>
              <a:t>败诉并上诉，于</a:t>
            </a:r>
            <a:r>
              <a:rPr lang="en-US" altLang="zh-CN" dirty="0"/>
              <a:t>2001</a:t>
            </a:r>
            <a:r>
              <a:rPr lang="zh-CN" altLang="en-US" dirty="0"/>
              <a:t>年关闭</a:t>
            </a:r>
          </a:p>
          <a:p>
            <a:r>
              <a:rPr lang="zh-CN" altLang="en-US" dirty="0"/>
              <a:t>合法与否共享电影是一个日益严重的问题</a:t>
            </a:r>
          </a:p>
          <a:p>
            <a:r>
              <a:rPr lang="zh-CN" altLang="en-US" dirty="0"/>
              <a:t>从网上下载图像以供个人使用</a:t>
            </a:r>
          </a:p>
          <a:p>
            <a:r>
              <a:rPr lang="zh-CN" altLang="en-US" dirty="0"/>
              <a:t>道德（非法律）问题</a:t>
            </a:r>
          </a:p>
          <a:p>
            <a:r>
              <a:rPr lang="zh-CN" altLang="en-US" dirty="0"/>
              <a:t>交换受版权保护的音乐文件是否正确？</a:t>
            </a:r>
          </a:p>
          <a:p>
            <a:r>
              <a:rPr lang="zh-CN" altLang="en-US" dirty="0"/>
              <a:t>提供搜索引擎以使用户可以在彼此的数据库中搜索受版权保护的资料是否正确？</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8</a:t>
            </a:fld>
            <a:endParaRPr lang="en-US" dirty="0"/>
          </a:p>
        </p:txBody>
      </p:sp>
    </p:spTree>
    <p:extLst>
      <p:ext uri="{BB962C8B-B14F-4D97-AF65-F5344CB8AC3E}">
        <p14:creationId xmlns:p14="http://schemas.microsoft.com/office/powerpoint/2010/main" val="7656717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道德：研究如何确定某件事在道德上是对还是错</a:t>
            </a:r>
          </a:p>
          <a:p>
            <a:r>
              <a:rPr lang="zh-CN" altLang="en-US" dirty="0"/>
              <a:t>我们如何判断对与错？</a:t>
            </a:r>
          </a:p>
          <a:p>
            <a:r>
              <a:rPr lang="zh-CN" altLang="en-US" dirty="0"/>
              <a:t>结果论着眼于行为的后果，无论是对结果的好坏</a:t>
            </a:r>
          </a:p>
          <a:p>
            <a:r>
              <a:rPr lang="zh-CN" altLang="en-US" dirty="0"/>
              <a:t>功利主义：从整体上看对每个人都有好处</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10</a:t>
            </a:fld>
            <a:endParaRPr lang="en-US" dirty="0"/>
          </a:p>
        </p:txBody>
      </p:sp>
    </p:spTree>
    <p:extLst>
      <p:ext uri="{BB962C8B-B14F-4D97-AF65-F5344CB8AC3E}">
        <p14:creationId xmlns:p14="http://schemas.microsoft.com/office/powerpoint/2010/main" val="24622292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功利论点＃</a:t>
            </a:r>
            <a:r>
              <a:rPr lang="en-US" altLang="zh-CN" dirty="0"/>
              <a:t>1</a:t>
            </a:r>
            <a:r>
              <a:rPr lang="zh-CN" altLang="en-US" dirty="0"/>
              <a:t>：可以复制</a:t>
            </a:r>
          </a:p>
          <a:p>
            <a:r>
              <a:rPr lang="zh-CN" altLang="en-US" dirty="0"/>
              <a:t>音乐使用者比发行人多</a:t>
            </a:r>
          </a:p>
          <a:p>
            <a:r>
              <a:rPr lang="zh-CN" altLang="en-US" dirty="0"/>
              <a:t>音乐用户乐于免费使用</a:t>
            </a:r>
          </a:p>
          <a:p>
            <a:r>
              <a:rPr lang="zh-CN" altLang="en-US" dirty="0"/>
              <a:t>出版商对其产品进行宣传</a:t>
            </a:r>
          </a:p>
          <a:p>
            <a:r>
              <a:rPr lang="zh-CN" altLang="en-US" dirty="0"/>
              <a:t>文件共享类似于在广播中收听歌曲</a:t>
            </a:r>
          </a:p>
          <a:p>
            <a:r>
              <a:rPr lang="zh-CN" altLang="en-US" dirty="0"/>
              <a:t>很多用户在听了歌后就买了</a:t>
            </a:r>
          </a:p>
          <a:p>
            <a:r>
              <a:rPr lang="zh-CN" altLang="en-US" dirty="0"/>
              <a:t>销量下降可能与购买歌曲而不是专辑有关</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11</a:t>
            </a:fld>
            <a:endParaRPr lang="en-US" dirty="0"/>
          </a:p>
        </p:txBody>
      </p:sp>
    </p:spTree>
    <p:extLst>
      <p:ext uri="{BB962C8B-B14F-4D97-AF65-F5344CB8AC3E}">
        <p14:creationId xmlns:p14="http://schemas.microsoft.com/office/powerpoint/2010/main" val="13265517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功利论点</a:t>
            </a:r>
            <a:r>
              <a:rPr lang="en-US" altLang="zh-CN" dirty="0"/>
              <a:t>2</a:t>
            </a:r>
            <a:r>
              <a:rPr lang="zh-CN" altLang="en-US" dirty="0"/>
              <a:t>：复制不正确</a:t>
            </a:r>
          </a:p>
          <a:p>
            <a:r>
              <a:rPr lang="zh-CN" altLang="en-US" dirty="0"/>
              <a:t>早期共享</a:t>
            </a:r>
            <a:r>
              <a:rPr lang="en-US" altLang="zh-CN" dirty="0"/>
              <a:t>MP3</a:t>
            </a:r>
            <a:r>
              <a:rPr lang="zh-CN" altLang="en-US" dirty="0"/>
              <a:t>鼓励了</a:t>
            </a:r>
            <a:r>
              <a:rPr lang="en-US" altLang="zh-CN" dirty="0"/>
              <a:t>CD</a:t>
            </a:r>
            <a:r>
              <a:rPr lang="zh-CN" altLang="en-US" dirty="0"/>
              <a:t>的销售，但长期趋势是销售减少</a:t>
            </a:r>
          </a:p>
          <a:p>
            <a:r>
              <a:rPr lang="en-US" altLang="zh-CN" dirty="0"/>
              <a:t>iTunes</a:t>
            </a:r>
            <a:r>
              <a:rPr lang="zh-CN" altLang="en-US" dirty="0"/>
              <a:t>和亚马逊一次出售一首歌曲以与非法文件共享竞争</a:t>
            </a:r>
          </a:p>
          <a:p>
            <a:r>
              <a:rPr lang="zh-CN" altLang="en-US" dirty="0"/>
              <a:t>如果出版商无法获利，那么音乐制作量将减少</a:t>
            </a:r>
          </a:p>
          <a:p>
            <a:r>
              <a:rPr lang="zh-CN" altLang="en-US" dirty="0"/>
              <a:t>版权保护是法律，音乐文件共享显然是非法的； 鼓励非法行为是错误的</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12</a:t>
            </a:fld>
            <a:endParaRPr lang="en-US" dirty="0"/>
          </a:p>
        </p:txBody>
      </p:sp>
    </p:spTree>
    <p:extLst>
      <p:ext uri="{BB962C8B-B14F-4D97-AF65-F5344CB8AC3E}">
        <p14:creationId xmlns:p14="http://schemas.microsoft.com/office/powerpoint/2010/main" val="1934316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辩证法：对话，从双方探讨一个问题以增进理解</a:t>
            </a:r>
          </a:p>
          <a:p>
            <a:r>
              <a:rPr lang="zh-CN" altLang="en-US" dirty="0"/>
              <a:t>一个例子：</a:t>
            </a:r>
          </a:p>
          <a:p>
            <a:r>
              <a:rPr lang="zh-CN" altLang="en-US" dirty="0"/>
              <a:t>事实是音乐销量持续下降</a:t>
            </a:r>
          </a:p>
          <a:p>
            <a:r>
              <a:rPr lang="zh-CN" altLang="en-US" dirty="0"/>
              <a:t>从长远来看，少发行音乐是一种有力的主张</a:t>
            </a:r>
          </a:p>
          <a:p>
            <a:r>
              <a:rPr lang="zh-CN" altLang="en-US" dirty="0"/>
              <a:t>鲜为人知的艺术家可能会使用文件共享来提高知名度，具体取决于表演收入</a:t>
            </a:r>
          </a:p>
          <a:p>
            <a:r>
              <a:rPr lang="zh-CN" altLang="en-US" dirty="0"/>
              <a:t>从新的角度重新思考音乐产业</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13</a:t>
            </a:fld>
            <a:endParaRPr lang="en-US" dirty="0"/>
          </a:p>
        </p:txBody>
      </p:sp>
    </p:spTree>
    <p:extLst>
      <p:ext uri="{BB962C8B-B14F-4D97-AF65-F5344CB8AC3E}">
        <p14:creationId xmlns:p14="http://schemas.microsoft.com/office/powerpoint/2010/main" val="22796465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执法部门需要窃听属于嫌疑犯的电话</a:t>
            </a:r>
          </a:p>
          <a:p>
            <a:r>
              <a:rPr lang="zh-CN" altLang="en-US" dirty="0"/>
              <a:t>在采用蜂窝技术之前，窃听就是将主电话线从字面上拆分成建筑物</a:t>
            </a:r>
          </a:p>
          <a:p>
            <a:r>
              <a:rPr lang="zh-CN" altLang="en-US" dirty="0"/>
              <a:t>手机和</a:t>
            </a:r>
            <a:r>
              <a:rPr lang="en-US" altLang="zh-CN" dirty="0"/>
              <a:t>VoIP</a:t>
            </a:r>
            <a:r>
              <a:rPr lang="zh-CN" altLang="en-US" dirty="0"/>
              <a:t>的现代使用使电话水龙头复杂化</a:t>
            </a:r>
          </a:p>
          <a:p>
            <a:r>
              <a:rPr lang="zh-CN" altLang="en-US" dirty="0"/>
              <a:t>但是，大多数</a:t>
            </a:r>
            <a:r>
              <a:rPr lang="en-US" altLang="zh-CN" dirty="0"/>
              <a:t>/</a:t>
            </a:r>
            <a:r>
              <a:rPr lang="zh-CN" altLang="en-US" dirty="0"/>
              <a:t>所有电话都是通过计算机系统进行的</a:t>
            </a:r>
          </a:p>
          <a:p>
            <a:r>
              <a:rPr lang="zh-CN" altLang="en-US" dirty="0"/>
              <a:t>法律要求所有电信都支持“合法拦截”（</a:t>
            </a:r>
            <a:r>
              <a:rPr lang="en-US" altLang="zh-CN" dirty="0"/>
              <a:t>LI</a:t>
            </a:r>
            <a:r>
              <a:rPr lang="zh-CN" altLang="en-US" dirty="0"/>
              <a:t>）系统进行窃听</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14</a:t>
            </a:fld>
            <a:endParaRPr lang="en-US" dirty="0"/>
          </a:p>
        </p:txBody>
      </p:sp>
    </p:spTree>
    <p:extLst>
      <p:ext uri="{BB962C8B-B14F-4D97-AF65-F5344CB8AC3E}">
        <p14:creationId xmlns:p14="http://schemas.microsoft.com/office/powerpoint/2010/main" val="777059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内置的</a:t>
            </a:r>
            <a:r>
              <a:rPr lang="en-US" altLang="zh-CN" dirty="0"/>
              <a:t>LI</a:t>
            </a:r>
            <a:r>
              <a:rPr lang="zh-CN" altLang="en-US" dirty="0"/>
              <a:t>系统是黑客的目标</a:t>
            </a:r>
          </a:p>
          <a:p>
            <a:r>
              <a:rPr lang="zh-CN" altLang="en-US" dirty="0"/>
              <a:t>在希腊，黑客窃听了</a:t>
            </a:r>
            <a:r>
              <a:rPr lang="en-US" altLang="zh-CN" dirty="0"/>
              <a:t>100</a:t>
            </a:r>
            <a:r>
              <a:rPr lang="zh-CN" altLang="en-US" dirty="0"/>
              <a:t>名主要商业和政治领导人</a:t>
            </a:r>
          </a:p>
          <a:p>
            <a:r>
              <a:rPr lang="zh-CN" altLang="en-US" dirty="0"/>
              <a:t>找不到谁这样做的原因</a:t>
            </a:r>
          </a:p>
          <a:p>
            <a:r>
              <a:rPr lang="zh-CN" altLang="en-US" dirty="0"/>
              <a:t>道德问题</a:t>
            </a:r>
          </a:p>
          <a:p>
            <a:r>
              <a:rPr lang="zh-CN" altLang="en-US" dirty="0"/>
              <a:t>要求</a:t>
            </a:r>
            <a:r>
              <a:rPr lang="en-US" altLang="zh-CN" dirty="0"/>
              <a:t>LI</a:t>
            </a:r>
            <a:r>
              <a:rPr lang="zh-CN" altLang="en-US" dirty="0"/>
              <a:t>软件的决定如何影响隐私和安全性？</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15</a:t>
            </a:fld>
            <a:endParaRPr lang="en-US" dirty="0"/>
          </a:p>
        </p:txBody>
      </p:sp>
    </p:spTree>
    <p:extLst>
      <p:ext uri="{BB962C8B-B14F-4D97-AF65-F5344CB8AC3E}">
        <p14:creationId xmlns:p14="http://schemas.microsoft.com/office/powerpoint/2010/main" val="3693892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类比的道德推理</a:t>
            </a:r>
          </a:p>
          <a:p>
            <a:r>
              <a:rPr lang="zh-CN" altLang="en-US" dirty="0"/>
              <a:t>每个人都比喻类比</a:t>
            </a:r>
          </a:p>
          <a:p>
            <a:r>
              <a:rPr lang="zh-CN" altLang="en-US" dirty="0"/>
              <a:t>类比从来都不是完美的：哪些方面很重要？</a:t>
            </a:r>
          </a:p>
          <a:p>
            <a:r>
              <a:rPr lang="zh-CN" altLang="en-US" dirty="0"/>
              <a:t>将决策从一个问题应用于另一个</a:t>
            </a:r>
          </a:p>
          <a:p>
            <a:r>
              <a:rPr lang="zh-CN" altLang="en-US" dirty="0"/>
              <a:t>找出不适合的地方； 通常是问题的重要方面</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16</a:t>
            </a:fld>
            <a:endParaRPr lang="en-US" dirty="0"/>
          </a:p>
        </p:txBody>
      </p:sp>
    </p:spTree>
    <p:extLst>
      <p:ext uri="{BB962C8B-B14F-4D97-AF65-F5344CB8AC3E}">
        <p14:creationId xmlns:p14="http://schemas.microsoft.com/office/powerpoint/2010/main" val="19370919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类比</a:t>
            </a:r>
            <a:r>
              <a:rPr lang="en-US" altLang="zh-CN" dirty="0"/>
              <a:t>1</a:t>
            </a:r>
            <a:r>
              <a:rPr lang="zh-CN" altLang="en-US" dirty="0"/>
              <a:t>：</a:t>
            </a:r>
            <a:r>
              <a:rPr lang="en-US" altLang="zh-CN" dirty="0"/>
              <a:t>LI</a:t>
            </a:r>
            <a:r>
              <a:rPr lang="zh-CN" altLang="en-US" dirty="0"/>
              <a:t>就像要求每个人记录面对面的谈话</a:t>
            </a:r>
          </a:p>
          <a:p>
            <a:r>
              <a:rPr lang="zh-CN" altLang="en-US" dirty="0"/>
              <a:t>专注于</a:t>
            </a:r>
            <a:r>
              <a:rPr lang="en-US" altLang="zh-CN" dirty="0"/>
              <a:t>VoIP</a:t>
            </a:r>
            <a:r>
              <a:rPr lang="zh-CN" altLang="en-US" dirty="0"/>
              <a:t>（例如</a:t>
            </a:r>
            <a:r>
              <a:rPr lang="en-US" altLang="zh-CN" dirty="0"/>
              <a:t>Skype</a:t>
            </a:r>
            <a:r>
              <a:rPr lang="zh-CN" altLang="en-US" dirty="0"/>
              <a:t>）</a:t>
            </a:r>
          </a:p>
          <a:p>
            <a:r>
              <a:rPr lang="en-US" altLang="zh-CN" dirty="0"/>
              <a:t>VoIP</a:t>
            </a:r>
            <a:r>
              <a:rPr lang="zh-CN" altLang="en-US" dirty="0"/>
              <a:t>与面对面的相似之处</a:t>
            </a:r>
          </a:p>
          <a:p>
            <a:r>
              <a:rPr lang="zh-CN" altLang="en-US" dirty="0"/>
              <a:t>交流形式</a:t>
            </a:r>
          </a:p>
          <a:p>
            <a:r>
              <a:rPr lang="zh-CN" altLang="en-US" dirty="0"/>
              <a:t>意图包括有限数量</a:t>
            </a:r>
          </a:p>
          <a:p>
            <a:r>
              <a:rPr lang="zh-CN" altLang="en-US" dirty="0"/>
              <a:t>其他人可能会听</a:t>
            </a:r>
          </a:p>
          <a:p>
            <a:r>
              <a:rPr lang="zh-CN" altLang="en-US" dirty="0"/>
              <a:t>易于他人使用； 所需的录音允许政府或黑客滥用</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17</a:t>
            </a:fld>
            <a:endParaRPr lang="en-US" dirty="0"/>
          </a:p>
        </p:txBody>
      </p:sp>
    </p:spTree>
    <p:extLst>
      <p:ext uri="{BB962C8B-B14F-4D97-AF65-F5344CB8AC3E}">
        <p14:creationId xmlns:p14="http://schemas.microsoft.com/office/powerpoint/2010/main" val="25394765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关于面对面对话的决定</a:t>
            </a:r>
          </a:p>
          <a:p>
            <a:r>
              <a:rPr lang="zh-CN" altLang="en-US" dirty="0"/>
              <a:t>不定期监视私人对话</a:t>
            </a:r>
          </a:p>
          <a:p>
            <a:r>
              <a:rPr lang="zh-CN" altLang="en-US" dirty="0"/>
              <a:t>仅根据法院命令和可能的原因进行监视</a:t>
            </a:r>
          </a:p>
          <a:p>
            <a:r>
              <a:rPr lang="zh-CN" altLang="en-US" dirty="0"/>
              <a:t>我们不会一直记录所有对话</a:t>
            </a:r>
          </a:p>
          <a:p>
            <a:r>
              <a:rPr lang="zh-CN" altLang="en-US" dirty="0"/>
              <a:t>类比对</a:t>
            </a:r>
            <a:r>
              <a:rPr lang="en-US" altLang="zh-CN" dirty="0"/>
              <a:t>VoIP</a:t>
            </a:r>
            <a:r>
              <a:rPr lang="zh-CN" altLang="en-US" dirty="0"/>
              <a:t>的影响</a:t>
            </a:r>
          </a:p>
          <a:p>
            <a:r>
              <a:rPr lang="en-US" altLang="zh-CN" dirty="0"/>
              <a:t>LI</a:t>
            </a:r>
            <a:r>
              <a:rPr lang="zh-CN" altLang="en-US" dirty="0"/>
              <a:t>系统超越了私人对话的规则</a:t>
            </a:r>
          </a:p>
          <a:p>
            <a:r>
              <a:rPr lang="zh-CN" altLang="en-US" dirty="0"/>
              <a:t>没有</a:t>
            </a:r>
            <a:r>
              <a:rPr lang="en-US" altLang="zh-CN" dirty="0"/>
              <a:t>LI</a:t>
            </a:r>
            <a:r>
              <a:rPr lang="zh-CN" altLang="en-US" dirty="0"/>
              <a:t>，执法部门仍可以像面对面交谈一样进行监控</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18</a:t>
            </a:fld>
            <a:endParaRPr lang="en-US" dirty="0"/>
          </a:p>
        </p:txBody>
      </p:sp>
    </p:spTree>
    <p:extLst>
      <p:ext uri="{BB962C8B-B14F-4D97-AF65-F5344CB8AC3E}">
        <p14:creationId xmlns:p14="http://schemas.microsoft.com/office/powerpoint/2010/main" val="5498104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类比问题</a:t>
            </a:r>
          </a:p>
          <a:p>
            <a:r>
              <a:rPr lang="zh-CN" altLang="en-US" dirty="0"/>
              <a:t>此参数适用于普通电话窃听</a:t>
            </a:r>
          </a:p>
          <a:p>
            <a:r>
              <a:rPr lang="zh-CN" altLang="en-US" dirty="0"/>
              <a:t>社会接受一些电话水龙头的需要</a:t>
            </a:r>
          </a:p>
          <a:p>
            <a:r>
              <a:rPr lang="zh-CN" altLang="en-US" dirty="0"/>
              <a:t>类比的哪些功能无效？</a:t>
            </a:r>
          </a:p>
          <a:p>
            <a:r>
              <a:rPr lang="zh-CN" altLang="en-US" dirty="0"/>
              <a:t>第四方参与：电信提供商</a:t>
            </a:r>
          </a:p>
          <a:p>
            <a:r>
              <a:rPr lang="zh-CN" altLang="en-US" dirty="0"/>
              <a:t>需要包括中间人的类比</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19</a:t>
            </a:fld>
            <a:endParaRPr lang="en-US" dirty="0"/>
          </a:p>
        </p:txBody>
      </p:sp>
    </p:spTree>
    <p:extLst>
      <p:ext uri="{BB962C8B-B14F-4D97-AF65-F5344CB8AC3E}">
        <p14:creationId xmlns:p14="http://schemas.microsoft.com/office/powerpoint/2010/main" val="32456326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类比</a:t>
            </a:r>
            <a:r>
              <a:rPr lang="en-US" altLang="zh-CN" dirty="0"/>
              <a:t>2</a:t>
            </a:r>
            <a:r>
              <a:rPr lang="zh-CN" altLang="en-US" dirty="0"/>
              <a:t>：</a:t>
            </a:r>
            <a:r>
              <a:rPr lang="en-US" altLang="zh-CN" dirty="0"/>
              <a:t>LI</a:t>
            </a:r>
            <a:r>
              <a:rPr lang="zh-CN" altLang="en-US" dirty="0"/>
              <a:t>就像银行中的可疑活动报告（</a:t>
            </a:r>
            <a:r>
              <a:rPr lang="en-US" altLang="zh-CN" dirty="0"/>
              <a:t>SAR</a:t>
            </a:r>
            <a:r>
              <a:rPr lang="zh-CN" altLang="en-US" dirty="0"/>
              <a:t>）</a:t>
            </a:r>
          </a:p>
          <a:p>
            <a:r>
              <a:rPr lang="zh-CN" altLang="en-US" dirty="0"/>
              <a:t>美国银行发现可疑交易时必须通知政府</a:t>
            </a:r>
          </a:p>
          <a:p>
            <a:r>
              <a:rPr lang="en-US" altLang="zh-CN" dirty="0"/>
              <a:t>LI</a:t>
            </a:r>
            <a:r>
              <a:rPr lang="zh-CN" altLang="en-US" dirty="0"/>
              <a:t>和</a:t>
            </a:r>
            <a:r>
              <a:rPr lang="en-US" altLang="zh-CN" dirty="0"/>
              <a:t>SAR</a:t>
            </a:r>
            <a:r>
              <a:rPr lang="zh-CN" altLang="en-US" dirty="0"/>
              <a:t>之间的相似之处</a:t>
            </a:r>
          </a:p>
          <a:p>
            <a:r>
              <a:rPr lang="zh-CN" altLang="en-US" dirty="0"/>
              <a:t>两者都是犯罪分子的重要资源，需要外部（守法）实体的帮助</a:t>
            </a:r>
          </a:p>
          <a:p>
            <a:r>
              <a:rPr lang="zh-CN" altLang="en-US" dirty="0"/>
              <a:t>信息有助于将犯罪嫌疑人彼此联系并发现犯罪嫌疑人网络</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20</a:t>
            </a:fld>
            <a:endParaRPr lang="en-US" dirty="0"/>
          </a:p>
        </p:txBody>
      </p:sp>
    </p:spTree>
    <p:extLst>
      <p:ext uri="{BB962C8B-B14F-4D97-AF65-F5344CB8AC3E}">
        <p14:creationId xmlns:p14="http://schemas.microsoft.com/office/powerpoint/2010/main" val="10514548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类比问题</a:t>
            </a:r>
          </a:p>
          <a:p>
            <a:r>
              <a:rPr lang="zh-CN" altLang="en-US" dirty="0"/>
              <a:t>发起信息发送的人不同（银行发起而不是政府发起）</a:t>
            </a:r>
          </a:p>
          <a:p>
            <a:r>
              <a:rPr lang="zh-CN" altLang="en-US" dirty="0"/>
              <a:t>提供的信息非常不同</a:t>
            </a:r>
          </a:p>
          <a:p>
            <a:r>
              <a:rPr lang="zh-CN" altLang="en-US" dirty="0"/>
              <a:t>银行提供时间，日期和参与者</a:t>
            </a:r>
          </a:p>
          <a:p>
            <a:r>
              <a:rPr lang="zh-CN" altLang="en-US" dirty="0"/>
              <a:t>完整的对话记录提供了更多细节</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21</a:t>
            </a:fld>
            <a:endParaRPr lang="en-US" dirty="0"/>
          </a:p>
        </p:txBody>
      </p:sp>
    </p:spTree>
    <p:extLst>
      <p:ext uri="{BB962C8B-B14F-4D97-AF65-F5344CB8AC3E}">
        <p14:creationId xmlns:p14="http://schemas.microsoft.com/office/powerpoint/2010/main" val="23007102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关于可疑活动报告的决定</a:t>
            </a:r>
          </a:p>
          <a:p>
            <a:r>
              <a:rPr lang="zh-CN" altLang="en-US" dirty="0"/>
              <a:t>应要求银行举报可疑活动</a:t>
            </a:r>
          </a:p>
          <a:p>
            <a:r>
              <a:rPr lang="zh-CN" altLang="en-US" dirty="0"/>
              <a:t>类推的含义</a:t>
            </a:r>
          </a:p>
          <a:p>
            <a:r>
              <a:rPr lang="zh-CN" altLang="en-US" dirty="0"/>
              <a:t>应要求电信公司举报可疑活动</a:t>
            </a:r>
          </a:p>
          <a:p>
            <a:r>
              <a:rPr lang="zh-CN" altLang="en-US" dirty="0"/>
              <a:t>支持详细的通话记录存储</a:t>
            </a:r>
          </a:p>
          <a:p>
            <a:r>
              <a:rPr lang="zh-CN" altLang="en-US" dirty="0"/>
              <a:t>不支持整个对话的存储</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22</a:t>
            </a:fld>
            <a:endParaRPr lang="en-US" dirty="0"/>
          </a:p>
        </p:txBody>
      </p:sp>
    </p:spTree>
    <p:extLst>
      <p:ext uri="{BB962C8B-B14F-4D97-AF65-F5344CB8AC3E}">
        <p14:creationId xmlns:p14="http://schemas.microsoft.com/office/powerpoint/2010/main" val="7494667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分析类比之后，请考虑三种可能的选项</a:t>
            </a:r>
            <a:r>
              <a:rPr lang="en-US" altLang="zh-CN" dirty="0"/>
              <a:t>/</a:t>
            </a:r>
            <a:r>
              <a:rPr lang="zh-CN" altLang="en-US" dirty="0"/>
              <a:t>解决方案：</a:t>
            </a:r>
          </a:p>
          <a:p>
            <a:r>
              <a:rPr lang="zh-CN" altLang="en-US" dirty="0"/>
              <a:t>要求所有</a:t>
            </a:r>
            <a:r>
              <a:rPr lang="en-US" altLang="zh-CN" dirty="0"/>
              <a:t>VoIP</a:t>
            </a:r>
            <a:r>
              <a:rPr lang="zh-CN" altLang="en-US" dirty="0"/>
              <a:t>系统实施</a:t>
            </a:r>
            <a:r>
              <a:rPr lang="en-US" altLang="zh-CN" dirty="0"/>
              <a:t>LI</a:t>
            </a:r>
          </a:p>
          <a:p>
            <a:r>
              <a:rPr lang="zh-CN" altLang="en-US" dirty="0"/>
              <a:t>不需要</a:t>
            </a:r>
            <a:r>
              <a:rPr lang="en-US" altLang="zh-CN" dirty="0"/>
              <a:t>LI</a:t>
            </a:r>
            <a:r>
              <a:rPr lang="zh-CN" altLang="en-US" dirty="0"/>
              <a:t>； 使用物理监听</a:t>
            </a:r>
          </a:p>
          <a:p>
            <a:r>
              <a:rPr lang="zh-CN" altLang="en-US" dirty="0"/>
              <a:t>要求</a:t>
            </a:r>
            <a:r>
              <a:rPr lang="en-US" altLang="zh-CN" dirty="0"/>
              <a:t>VoIP</a:t>
            </a:r>
            <a:r>
              <a:rPr lang="zh-CN" altLang="en-US" dirty="0"/>
              <a:t>提供商报告可疑活动，但不记录对话</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23</a:t>
            </a:fld>
            <a:endParaRPr lang="en-US" dirty="0"/>
          </a:p>
        </p:txBody>
      </p:sp>
    </p:spTree>
    <p:extLst>
      <p:ext uri="{BB962C8B-B14F-4D97-AF65-F5344CB8AC3E}">
        <p14:creationId xmlns:p14="http://schemas.microsoft.com/office/powerpoint/2010/main" val="10855068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有意者</a:t>
            </a:r>
          </a:p>
          <a:p>
            <a:r>
              <a:rPr lang="zh-CN" altLang="en-US" dirty="0"/>
              <a:t>执法</a:t>
            </a:r>
          </a:p>
          <a:p>
            <a:r>
              <a:rPr lang="zh-CN" altLang="en-US" dirty="0"/>
              <a:t>监视可以节省时间和金钱； 可以做得更好</a:t>
            </a:r>
          </a:p>
          <a:p>
            <a:r>
              <a:rPr lang="zh-CN" altLang="en-US" dirty="0"/>
              <a:t>黑客和非黑客罪犯</a:t>
            </a:r>
          </a:p>
          <a:p>
            <a:r>
              <a:rPr lang="zh-CN" altLang="en-US" dirty="0"/>
              <a:t>公众</a:t>
            </a:r>
          </a:p>
          <a:p>
            <a:r>
              <a:rPr lang="zh-CN" altLang="en-US" dirty="0"/>
              <a:t>监视有助于执法，但会降低隐私权和安全性</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24</a:t>
            </a:fld>
            <a:endParaRPr lang="en-US" dirty="0"/>
          </a:p>
        </p:txBody>
      </p:sp>
    </p:spTree>
    <p:extLst>
      <p:ext uri="{BB962C8B-B14F-4D97-AF65-F5344CB8AC3E}">
        <p14:creationId xmlns:p14="http://schemas.microsoft.com/office/powerpoint/2010/main" val="17387406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功利分析</a:t>
            </a:r>
          </a:p>
          <a:p>
            <a:r>
              <a:rPr lang="zh-CN" altLang="en-US" dirty="0"/>
              <a:t>执法</a:t>
            </a:r>
          </a:p>
          <a:p>
            <a:r>
              <a:rPr lang="zh-CN" altLang="en-US" dirty="0"/>
              <a:t>选项</a:t>
            </a:r>
            <a:r>
              <a:rPr lang="en-US" altLang="zh-CN" dirty="0"/>
              <a:t>1</a:t>
            </a:r>
            <a:r>
              <a:rPr lang="zh-CN" altLang="en-US" dirty="0"/>
              <a:t>是最好的</a:t>
            </a:r>
          </a:p>
          <a:p>
            <a:r>
              <a:rPr lang="zh-CN" altLang="en-US" dirty="0"/>
              <a:t>公众</a:t>
            </a:r>
          </a:p>
          <a:p>
            <a:r>
              <a:rPr lang="zh-CN" altLang="en-US" dirty="0"/>
              <a:t>选项</a:t>
            </a:r>
            <a:r>
              <a:rPr lang="en-US" altLang="zh-CN" dirty="0"/>
              <a:t>2</a:t>
            </a:r>
            <a:r>
              <a:rPr lang="zh-CN" altLang="en-US" dirty="0"/>
              <a:t>降低了警察的效力</a:t>
            </a:r>
          </a:p>
          <a:p>
            <a:r>
              <a:rPr lang="zh-CN" altLang="en-US" dirty="0"/>
              <a:t>选项</a:t>
            </a:r>
            <a:r>
              <a:rPr lang="en-US" altLang="zh-CN" dirty="0"/>
              <a:t>1</a:t>
            </a:r>
            <a:r>
              <a:rPr lang="zh-CN" altLang="en-US" dirty="0"/>
              <a:t>允许滥用</a:t>
            </a:r>
          </a:p>
          <a:p>
            <a:r>
              <a:rPr lang="zh-CN" altLang="en-US" dirty="0"/>
              <a:t>备选案文</a:t>
            </a:r>
            <a:r>
              <a:rPr lang="en-US" altLang="zh-CN" dirty="0"/>
              <a:t>3</a:t>
            </a:r>
            <a:r>
              <a:rPr lang="zh-CN" altLang="en-US" dirty="0"/>
              <a:t>也可能降低警察的效力</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25</a:t>
            </a:fld>
            <a:endParaRPr lang="en-US" dirty="0"/>
          </a:p>
        </p:txBody>
      </p:sp>
    </p:spTree>
    <p:extLst>
      <p:ext uri="{BB962C8B-B14F-4D97-AF65-F5344CB8AC3E}">
        <p14:creationId xmlns:p14="http://schemas.microsoft.com/office/powerpoint/2010/main" val="29889859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黑客：闯入计算机系统，发射</a:t>
            </a:r>
            <a:r>
              <a:rPr lang="en-US" altLang="zh-CN" dirty="0"/>
              <a:t>Internet</a:t>
            </a:r>
            <a:r>
              <a:rPr lang="zh-CN" altLang="en-US" dirty="0"/>
              <a:t>蠕虫和病毒，破坏网站等的人。</a:t>
            </a:r>
          </a:p>
          <a:p>
            <a:r>
              <a:rPr lang="zh-CN" altLang="en-US" dirty="0"/>
              <a:t>一些黑客显然是罪犯</a:t>
            </a:r>
          </a:p>
          <a:p>
            <a:r>
              <a:rPr lang="zh-CN" altLang="en-US" dirty="0"/>
              <a:t>无目的的破坏</a:t>
            </a:r>
          </a:p>
          <a:p>
            <a:r>
              <a:rPr lang="zh-CN" altLang="en-US" dirty="0"/>
              <a:t>身份盗窃</a:t>
            </a:r>
          </a:p>
          <a:p>
            <a:r>
              <a:rPr lang="zh-CN" altLang="en-US" dirty="0"/>
              <a:t>彻底盗窃</a:t>
            </a:r>
          </a:p>
          <a:p>
            <a:r>
              <a:rPr lang="zh-CN" altLang="en-US" dirty="0"/>
              <a:t>一些黑客从事“黑客行为”</a:t>
            </a:r>
          </a:p>
          <a:p>
            <a:r>
              <a:rPr lang="zh-CN" altLang="en-US" dirty="0"/>
              <a:t>入侵计算机是否可以带来社交好处？</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26</a:t>
            </a:fld>
            <a:endParaRPr lang="en-US" dirty="0"/>
          </a:p>
        </p:txBody>
      </p:sp>
    </p:spTree>
    <p:extLst>
      <p:ext uri="{BB962C8B-B14F-4D97-AF65-F5344CB8AC3E}">
        <p14:creationId xmlns:p14="http://schemas.microsoft.com/office/powerpoint/2010/main" val="40741894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维基解密</a:t>
            </a:r>
          </a:p>
          <a:p>
            <a:r>
              <a:rPr lang="zh-CN" altLang="en-US" dirty="0"/>
              <a:t>保护政府和企业举报人</a:t>
            </a:r>
          </a:p>
          <a:p>
            <a:r>
              <a:rPr lang="zh-CN" altLang="en-US" dirty="0"/>
              <a:t>提供安全的方式匿名共享敏感文档</a:t>
            </a:r>
          </a:p>
          <a:p>
            <a:r>
              <a:rPr lang="zh-CN" altLang="en-US" dirty="0"/>
              <a:t>美国对路透社员工开枪的视频</a:t>
            </a:r>
          </a:p>
          <a:p>
            <a:r>
              <a:rPr lang="zh-CN" altLang="en-US" dirty="0"/>
              <a:t>美国外交电报</a:t>
            </a:r>
          </a:p>
          <a:p>
            <a:r>
              <a:rPr lang="zh-CN" altLang="en-US" dirty="0"/>
              <a:t>一百万份美国机密</a:t>
            </a:r>
            <a:r>
              <a:rPr lang="en-US" altLang="zh-CN" dirty="0"/>
              <a:t>/</a:t>
            </a:r>
            <a:r>
              <a:rPr lang="zh-CN" altLang="en-US" dirty="0"/>
              <a:t>机密政府文件</a:t>
            </a:r>
          </a:p>
          <a:p>
            <a:r>
              <a:rPr lang="en-US" altLang="zh-CN" dirty="0"/>
              <a:t>WikiLeaks</a:t>
            </a:r>
            <a:r>
              <a:rPr lang="zh-CN" altLang="en-US" dirty="0"/>
              <a:t>是一家具有领导才能的上市公司</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27</a:t>
            </a:fld>
            <a:endParaRPr lang="en-US" dirty="0"/>
          </a:p>
        </p:txBody>
      </p:sp>
    </p:spTree>
    <p:extLst>
      <p:ext uri="{BB962C8B-B14F-4D97-AF65-F5344CB8AC3E}">
        <p14:creationId xmlns:p14="http://schemas.microsoft.com/office/powerpoint/2010/main" val="29740824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匿名</a:t>
            </a:r>
          </a:p>
          <a:p>
            <a:r>
              <a:rPr lang="zh-CN" altLang="en-US" dirty="0"/>
              <a:t>主要对言论自由感兴趣</a:t>
            </a:r>
          </a:p>
          <a:p>
            <a:r>
              <a:rPr lang="zh-CN" altLang="en-US" dirty="0"/>
              <a:t>没有官方领导人或组织机构</a:t>
            </a:r>
          </a:p>
          <a:p>
            <a:r>
              <a:rPr lang="zh-CN" altLang="en-US" dirty="0"/>
              <a:t>非晶态，秘密成员</a:t>
            </a:r>
          </a:p>
          <a:p>
            <a:r>
              <a:rPr lang="en-US" altLang="zh-CN" dirty="0"/>
              <a:t>DOS</a:t>
            </a:r>
            <a:r>
              <a:rPr lang="zh-CN" altLang="en-US" dirty="0"/>
              <a:t>攻击以报应制裁维基解密</a:t>
            </a:r>
          </a:p>
          <a:p>
            <a:r>
              <a:rPr lang="zh-CN" altLang="en-US" dirty="0"/>
              <a:t>突尼斯，埃及，利比亚的政府场所遭到袭击</a:t>
            </a:r>
          </a:p>
          <a:p>
            <a:r>
              <a:rPr lang="zh-CN" altLang="en-US" dirty="0"/>
              <a:t>发布公司电子邮件</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28</a:t>
            </a:fld>
            <a:endParaRPr lang="en-US" dirty="0"/>
          </a:p>
        </p:txBody>
      </p:sp>
    </p:spTree>
    <p:extLst>
      <p:ext uri="{BB962C8B-B14F-4D97-AF65-F5344CB8AC3E}">
        <p14:creationId xmlns:p14="http://schemas.microsoft.com/office/powerpoint/2010/main" val="13976702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打个比方：闯入计算机就像闯入某人的房子</a:t>
            </a:r>
          </a:p>
          <a:p>
            <a:r>
              <a:rPr lang="zh-CN" altLang="en-US" dirty="0"/>
              <a:t>相似之处</a:t>
            </a:r>
          </a:p>
          <a:p>
            <a:r>
              <a:rPr lang="zh-CN" altLang="en-US" dirty="0"/>
              <a:t>入侵者未经允许就在那里</a:t>
            </a:r>
          </a:p>
          <a:p>
            <a:r>
              <a:rPr lang="zh-CN" altLang="en-US" dirty="0"/>
              <a:t>车主采取预防措施来阻止入侵</a:t>
            </a:r>
          </a:p>
          <a:p>
            <a:r>
              <a:rPr lang="zh-CN" altLang="en-US" dirty="0"/>
              <a:t>两者都是违法的</a:t>
            </a:r>
          </a:p>
          <a:p>
            <a:r>
              <a:rPr lang="zh-CN" altLang="en-US" dirty="0"/>
              <a:t>差异性</a:t>
            </a:r>
          </a:p>
          <a:p>
            <a:r>
              <a:rPr lang="zh-CN" altLang="en-US" dirty="0"/>
              <a:t>窃贼拿走了实物，剥夺了所有者</a:t>
            </a:r>
          </a:p>
          <a:p>
            <a:r>
              <a:rPr lang="zh-CN" altLang="en-US" dirty="0"/>
              <a:t>在这种情况下，黑客会复制知识产权</a:t>
            </a:r>
          </a:p>
          <a:p>
            <a:r>
              <a:rPr lang="zh-CN" altLang="en-US" dirty="0"/>
              <a:t>黑客攻击不会威胁暴力</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29</a:t>
            </a:fld>
            <a:endParaRPr lang="en-US" dirty="0"/>
          </a:p>
        </p:txBody>
      </p:sp>
    </p:spTree>
    <p:extLst>
      <p:ext uri="{BB962C8B-B14F-4D97-AF65-F5344CB8AC3E}">
        <p14:creationId xmlns:p14="http://schemas.microsoft.com/office/powerpoint/2010/main" val="24128558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功利论点</a:t>
            </a:r>
          </a:p>
          <a:p>
            <a:r>
              <a:rPr lang="zh-CN" altLang="en-US" dirty="0"/>
              <a:t>信息所有者失去对它的控制</a:t>
            </a:r>
          </a:p>
          <a:p>
            <a:r>
              <a:rPr lang="zh-CN" altLang="en-US" dirty="0"/>
              <a:t>黑客获取信息</a:t>
            </a:r>
          </a:p>
          <a:p>
            <a:r>
              <a:rPr lang="zh-CN" altLang="en-US" dirty="0"/>
              <a:t>业主必须提高安全性</a:t>
            </a:r>
          </a:p>
          <a:p>
            <a:r>
              <a:rPr lang="zh-CN" altLang="en-US" dirty="0"/>
              <a:t>增加对脆弱性的认识可能是好的</a:t>
            </a:r>
          </a:p>
          <a:p>
            <a:r>
              <a:rPr lang="zh-CN" altLang="en-US" dirty="0"/>
              <a:t>仅由于黑客才需要提高安全性</a:t>
            </a:r>
          </a:p>
          <a:p>
            <a:r>
              <a:rPr lang="zh-CN" altLang="en-US" dirty="0"/>
              <a:t>后果不明</a:t>
            </a:r>
          </a:p>
          <a:p>
            <a:r>
              <a:rPr lang="zh-CN" altLang="en-US" dirty="0"/>
              <a:t>我们是否必须区分“好黑客”和“坏黑客”？</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30</a:t>
            </a:fld>
            <a:endParaRPr lang="en-US" dirty="0"/>
          </a:p>
        </p:txBody>
      </p:sp>
    </p:spTree>
    <p:extLst>
      <p:ext uri="{BB962C8B-B14F-4D97-AF65-F5344CB8AC3E}">
        <p14:creationId xmlns:p14="http://schemas.microsoft.com/office/powerpoint/2010/main" val="9382202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道义论证</a:t>
            </a:r>
          </a:p>
          <a:p>
            <a:r>
              <a:rPr lang="zh-CN" altLang="en-US" dirty="0"/>
              <a:t>本体论：义务与义务的研究</a:t>
            </a:r>
          </a:p>
          <a:p>
            <a:r>
              <a:rPr lang="zh-CN" altLang="en-US" dirty="0"/>
              <a:t>关注演员的职责和对他人权利的影响</a:t>
            </a:r>
          </a:p>
          <a:p>
            <a:r>
              <a:rPr lang="zh-CN" altLang="en-US" dirty="0"/>
              <a:t>分类命令（康德）：</a:t>
            </a:r>
          </a:p>
          <a:p>
            <a:r>
              <a:rPr lang="zh-CN" altLang="en-US" dirty="0"/>
              <a:t>永远不要将同胞视为目的</a:t>
            </a:r>
          </a:p>
          <a:p>
            <a:r>
              <a:rPr lang="zh-CN" altLang="en-US" dirty="0"/>
              <a:t>专注于行动的意图，而不是后果</a:t>
            </a:r>
          </a:p>
          <a:p>
            <a:r>
              <a:rPr lang="zh-CN" altLang="en-US" dirty="0"/>
              <a:t>黑客为了个人利益是不道德的。 别管他们</a:t>
            </a:r>
          </a:p>
          <a:p>
            <a:r>
              <a:rPr lang="zh-CN" altLang="en-US" dirty="0"/>
              <a:t>关注声称善意的黑客</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31</a:t>
            </a:fld>
            <a:endParaRPr lang="en-US" dirty="0"/>
          </a:p>
        </p:txBody>
      </p:sp>
    </p:spTree>
    <p:extLst>
      <p:ext uri="{BB962C8B-B14F-4D97-AF65-F5344CB8AC3E}">
        <p14:creationId xmlns:p14="http://schemas.microsoft.com/office/powerpoint/2010/main" val="38485058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黑客伦理的一部分（史蒂文</a:t>
            </a:r>
            <a:r>
              <a:rPr lang="en-US" altLang="zh-CN" dirty="0"/>
              <a:t>·</a:t>
            </a:r>
            <a:r>
              <a:rPr lang="zh-CN" altLang="en-US" dirty="0"/>
              <a:t>利维）：</a:t>
            </a:r>
          </a:p>
          <a:p>
            <a:r>
              <a:rPr lang="zh-CN" altLang="en-US" dirty="0"/>
              <a:t>“所有信息都应该免费”</a:t>
            </a:r>
          </a:p>
          <a:p>
            <a:r>
              <a:rPr lang="zh-CN" altLang="en-US" dirty="0"/>
              <a:t>要做出决定，人们需要良好的信息</a:t>
            </a:r>
          </a:p>
          <a:p>
            <a:r>
              <a:rPr lang="zh-CN" altLang="en-US" dirty="0"/>
              <a:t>黑客应始终传播信息</a:t>
            </a:r>
          </a:p>
          <a:p>
            <a:r>
              <a:rPr lang="zh-CN" altLang="en-US" dirty="0"/>
              <a:t>“轻浮的权威</a:t>
            </a:r>
            <a:r>
              <a:rPr lang="en-US" altLang="zh-CN" dirty="0"/>
              <a:t>-</a:t>
            </a:r>
            <a:r>
              <a:rPr lang="zh-CN" altLang="en-US" dirty="0"/>
              <a:t>促进权力下放”</a:t>
            </a:r>
          </a:p>
          <a:p>
            <a:r>
              <a:rPr lang="zh-CN" altLang="en-US" dirty="0"/>
              <a:t>官僚机构和规则阻止事情完成</a:t>
            </a:r>
          </a:p>
          <a:p>
            <a:r>
              <a:rPr lang="zh-CN" altLang="en-US" dirty="0"/>
              <a:t>每个黑客都应按照自己认为最好的方式行事</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32</a:t>
            </a:fld>
            <a:endParaRPr lang="en-US" dirty="0"/>
          </a:p>
        </p:txBody>
      </p:sp>
    </p:spTree>
    <p:extLst>
      <p:ext uri="{BB962C8B-B14F-4D97-AF65-F5344CB8AC3E}">
        <p14:creationId xmlns:p14="http://schemas.microsoft.com/office/powerpoint/2010/main" val="27019746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黑客伦理的道德批判</a:t>
            </a:r>
          </a:p>
          <a:p>
            <a:r>
              <a:rPr lang="zh-CN" altLang="en-US" dirty="0"/>
              <a:t>共享的信息不属于黑客</a:t>
            </a:r>
          </a:p>
          <a:p>
            <a:r>
              <a:rPr lang="zh-CN" altLang="en-US" dirty="0"/>
              <a:t>不尊重他人的意愿或安全</a:t>
            </a:r>
          </a:p>
          <a:p>
            <a:r>
              <a:rPr lang="zh-CN" altLang="en-US" dirty="0"/>
              <a:t>之所以存在规则，是因为我们作为一个社会期望电子隐私</a:t>
            </a:r>
          </a:p>
          <a:p>
            <a:r>
              <a:rPr lang="zh-CN" altLang="en-US" dirty="0"/>
              <a:t>为什么他们的道德观念会超越别人的意愿？</a:t>
            </a:r>
          </a:p>
          <a:p>
            <a:r>
              <a:rPr lang="zh-CN" altLang="en-US" dirty="0"/>
              <a:t>黑客会将他人视为达到目的的手段吗？</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33</a:t>
            </a:fld>
            <a:endParaRPr lang="en-US" dirty="0"/>
          </a:p>
        </p:txBody>
      </p:sp>
    </p:spTree>
    <p:extLst>
      <p:ext uri="{BB962C8B-B14F-4D97-AF65-F5344CB8AC3E}">
        <p14:creationId xmlns:p14="http://schemas.microsoft.com/office/powerpoint/2010/main" val="8114766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“医务人员伦理学”：知道一点，知道什么时候问</a:t>
            </a:r>
          </a:p>
          <a:p>
            <a:r>
              <a:rPr lang="zh-CN" altLang="en-US" dirty="0"/>
              <a:t>遇到道德问题时，请问以下问题：</a:t>
            </a:r>
          </a:p>
          <a:p>
            <a:r>
              <a:rPr lang="zh-CN" altLang="en-US" dirty="0"/>
              <a:t>在这种情况下谁是利益相关者？</a:t>
            </a:r>
          </a:p>
          <a:p>
            <a:r>
              <a:rPr lang="zh-CN" altLang="en-US" dirty="0"/>
              <a:t>每个利益相关者必须获得或失去什么？</a:t>
            </a:r>
          </a:p>
          <a:p>
            <a:r>
              <a:rPr lang="zh-CN" altLang="en-US" dirty="0"/>
              <a:t>重要的职责是什么？</a:t>
            </a:r>
          </a:p>
          <a:p>
            <a:r>
              <a:rPr lang="zh-CN" altLang="en-US" dirty="0"/>
              <a:t>您能想到类似的情况吗？ 是否可以澄清情况？</a:t>
            </a:r>
          </a:p>
          <a:p>
            <a:r>
              <a:rPr lang="zh-CN" altLang="en-US" dirty="0"/>
              <a:t>做出决定或以辩证形式重复</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34</a:t>
            </a:fld>
            <a:endParaRPr lang="en-US" dirty="0"/>
          </a:p>
        </p:txBody>
      </p:sp>
    </p:spTree>
    <p:extLst>
      <p:ext uri="{BB962C8B-B14F-4D97-AF65-F5344CB8AC3E}">
        <p14:creationId xmlns:p14="http://schemas.microsoft.com/office/powerpoint/2010/main" val="18751474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虚构的道德状况</a:t>
            </a:r>
          </a:p>
          <a:p>
            <a:r>
              <a:rPr lang="zh-CN" altLang="en-US" dirty="0"/>
              <a:t>家庭医生要求您捐赠一些皮肤细胞来参与遗传多样性和疾病的研究。 单元格由随机分配的编号和您的邮政编码标识。 你应该捐赠吗？</a:t>
            </a:r>
          </a:p>
          <a:p>
            <a:r>
              <a:rPr lang="zh-CN" altLang="en-US" dirty="0"/>
              <a:t>谁是利益相关者？</a:t>
            </a:r>
          </a:p>
          <a:p>
            <a:r>
              <a:rPr lang="zh-CN" altLang="en-US" dirty="0"/>
              <a:t>您</a:t>
            </a:r>
          </a:p>
          <a:p>
            <a:r>
              <a:rPr lang="zh-CN" altLang="en-US" dirty="0"/>
              <a:t>家庭医生</a:t>
            </a:r>
          </a:p>
          <a:p>
            <a:r>
              <a:rPr lang="zh-CN" altLang="en-US" dirty="0"/>
              <a:t>制药公司“ </a:t>
            </a:r>
            <a:r>
              <a:rPr lang="en-US" altLang="zh-CN" dirty="0"/>
              <a:t>PHARM CO”</a:t>
            </a:r>
          </a:p>
          <a:p>
            <a:r>
              <a:rPr lang="zh-CN" altLang="en-US" dirty="0"/>
              <a:t>一般要研究的皮肤细胞捐赠者</a:t>
            </a:r>
          </a:p>
          <a:p>
            <a:r>
              <a:rPr lang="zh-CN" altLang="en-US" dirty="0"/>
              <a:t>有遗传病的人</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35</a:t>
            </a:fld>
            <a:endParaRPr lang="en-US" dirty="0"/>
          </a:p>
        </p:txBody>
      </p:sp>
    </p:spTree>
    <p:extLst>
      <p:ext uri="{BB962C8B-B14F-4D97-AF65-F5344CB8AC3E}">
        <p14:creationId xmlns:p14="http://schemas.microsoft.com/office/powerpoint/2010/main" val="30733268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有什么危险？</a:t>
            </a:r>
          </a:p>
          <a:p>
            <a:r>
              <a:rPr lang="zh-CN" altLang="en-US" dirty="0"/>
              <a:t>你失去了一些皮肤细胞</a:t>
            </a:r>
          </a:p>
          <a:p>
            <a:r>
              <a:rPr lang="zh-CN" altLang="en-US" dirty="0"/>
              <a:t>您的隐私</a:t>
            </a:r>
          </a:p>
          <a:p>
            <a:r>
              <a:rPr lang="en-US" altLang="zh-CN" dirty="0"/>
              <a:t>PHARM CO</a:t>
            </a:r>
            <a:r>
              <a:rPr lang="zh-CN" altLang="en-US" dirty="0"/>
              <a:t>可能会寻求学习您的身份</a:t>
            </a:r>
          </a:p>
          <a:p>
            <a:r>
              <a:rPr lang="zh-CN" altLang="en-US" dirty="0"/>
              <a:t>遗传数据的传输可能被拦截</a:t>
            </a:r>
          </a:p>
          <a:p>
            <a:r>
              <a:rPr lang="zh-CN" altLang="en-US" dirty="0"/>
              <a:t>您的医生可能会因找到参与者而获得报酬</a:t>
            </a:r>
          </a:p>
          <a:p>
            <a:r>
              <a:rPr lang="zh-CN" altLang="en-US" dirty="0"/>
              <a:t>药业可能会开发新药</a:t>
            </a:r>
          </a:p>
          <a:p>
            <a:r>
              <a:rPr lang="zh-CN" altLang="en-US" dirty="0"/>
              <a:t>毒品可以帮助遗传病患者</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36</a:t>
            </a:fld>
            <a:endParaRPr lang="en-US" dirty="0"/>
          </a:p>
        </p:txBody>
      </p:sp>
    </p:spTree>
    <p:extLst>
      <p:ext uri="{BB962C8B-B14F-4D97-AF65-F5344CB8AC3E}">
        <p14:creationId xmlns:p14="http://schemas.microsoft.com/office/powerpoint/2010/main" val="33364835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确定职责和责任</a:t>
            </a:r>
          </a:p>
          <a:p>
            <a:r>
              <a:rPr lang="zh-CN" altLang="en-US" dirty="0"/>
              <a:t>医生有责任对待您并保护您的隐私</a:t>
            </a:r>
          </a:p>
          <a:p>
            <a:r>
              <a:rPr lang="zh-CN" altLang="en-US" dirty="0"/>
              <a:t>您有责任向医生付款并遵守指示</a:t>
            </a:r>
          </a:p>
          <a:p>
            <a:r>
              <a:rPr lang="en-US" altLang="zh-CN" dirty="0"/>
              <a:t>PHARM CO</a:t>
            </a:r>
            <a:r>
              <a:rPr lang="zh-CN" altLang="en-US" dirty="0"/>
              <a:t>有责任开发安全药物</a:t>
            </a:r>
          </a:p>
          <a:p>
            <a:r>
              <a:rPr lang="en-US" altLang="zh-CN" dirty="0"/>
              <a:t>PHARM CO</a:t>
            </a:r>
            <a:r>
              <a:rPr lang="zh-CN" altLang="en-US" dirty="0"/>
              <a:t>已承诺为寻找参加者的医生支付费用</a:t>
            </a:r>
          </a:p>
          <a:p>
            <a:r>
              <a:rPr lang="en-US" altLang="zh-CN" dirty="0"/>
              <a:t>PHARM CO</a:t>
            </a:r>
            <a:r>
              <a:rPr lang="zh-CN" altLang="en-US" dirty="0"/>
              <a:t>已承诺尊重您的隐私</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37</a:t>
            </a:fld>
            <a:endParaRPr lang="en-US" dirty="0"/>
          </a:p>
        </p:txBody>
      </p:sp>
    </p:spTree>
    <p:extLst>
      <p:ext uri="{BB962C8B-B14F-4D97-AF65-F5344CB8AC3E}">
        <p14:creationId xmlns:p14="http://schemas.microsoft.com/office/powerpoint/2010/main" val="7445717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更复杂的职责和责任</a:t>
            </a:r>
          </a:p>
          <a:p>
            <a:r>
              <a:rPr lang="zh-CN" altLang="en-US" dirty="0"/>
              <a:t>如果您的信息导致获利的药物，您应该获得版税吗？</a:t>
            </a:r>
          </a:p>
          <a:p>
            <a:r>
              <a:rPr lang="en-US" altLang="zh-CN" dirty="0"/>
              <a:t>PHARM CO</a:t>
            </a:r>
            <a:r>
              <a:rPr lang="zh-CN" altLang="en-US" dirty="0"/>
              <a:t>是拥有遗传信息还是应该自由共享？</a:t>
            </a:r>
          </a:p>
          <a:p>
            <a:r>
              <a:rPr lang="zh-CN" altLang="en-US" dirty="0"/>
              <a:t>邮政编码为何是编码的一部分？</a:t>
            </a:r>
          </a:p>
          <a:p>
            <a:r>
              <a:rPr lang="zh-CN" altLang="en-US" dirty="0"/>
              <a:t>您有义务帮助治愈疾病吗？</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38</a:t>
            </a:fld>
            <a:endParaRPr lang="en-US" dirty="0"/>
          </a:p>
        </p:txBody>
      </p:sp>
    </p:spTree>
    <p:extLst>
      <p:ext uri="{BB962C8B-B14F-4D97-AF65-F5344CB8AC3E}">
        <p14:creationId xmlns:p14="http://schemas.microsoft.com/office/powerpoint/2010/main" val="15846736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想一想类比</a:t>
            </a:r>
          </a:p>
          <a:p>
            <a:r>
              <a:rPr lang="zh-CN" altLang="en-US" dirty="0"/>
              <a:t>与红十字会的献血活动相比</a:t>
            </a:r>
          </a:p>
          <a:p>
            <a:r>
              <a:rPr lang="zh-CN" altLang="en-US" dirty="0"/>
              <a:t>两者都涉及机密的健康信息</a:t>
            </a:r>
          </a:p>
          <a:p>
            <a:r>
              <a:rPr lang="zh-CN" altLang="en-US" dirty="0"/>
              <a:t>都要求志愿者捐款</a:t>
            </a:r>
          </a:p>
          <a:p>
            <a:r>
              <a:rPr lang="zh-CN" altLang="en-US" dirty="0"/>
              <a:t>既有收款人又有付费用户</a:t>
            </a:r>
          </a:p>
          <a:p>
            <a:r>
              <a:rPr lang="zh-CN" altLang="en-US" dirty="0"/>
              <a:t>两者都涉及捐赠的无私理由</a:t>
            </a:r>
          </a:p>
          <a:p>
            <a:r>
              <a:rPr lang="zh-CN" altLang="en-US" dirty="0"/>
              <a:t>血液是宝贵的物品； 皮肤细胞的遗传信息就是价值</a:t>
            </a:r>
          </a:p>
          <a:p>
            <a:r>
              <a:rPr lang="zh-CN" altLang="en-US" dirty="0"/>
              <a:t>公司可能会或可能不会在单元格中找到有用性</a:t>
            </a:r>
          </a:p>
          <a:p>
            <a:r>
              <a:rPr lang="zh-CN" altLang="en-US" dirty="0"/>
              <a:t>公司受损益驱动</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39</a:t>
            </a:fld>
            <a:endParaRPr lang="en-US" dirty="0"/>
          </a:p>
        </p:txBody>
      </p:sp>
    </p:spTree>
    <p:extLst>
      <p:ext uri="{BB962C8B-B14F-4D97-AF65-F5344CB8AC3E}">
        <p14:creationId xmlns:p14="http://schemas.microsoft.com/office/powerpoint/2010/main" val="27660524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想一想类比</a:t>
            </a:r>
          </a:p>
          <a:p>
            <a:r>
              <a:rPr lang="zh-CN" altLang="en-US" dirty="0"/>
              <a:t>与为慈善机构募款的营利性公司相比</a:t>
            </a:r>
          </a:p>
          <a:p>
            <a:r>
              <a:rPr lang="zh-CN" altLang="en-US" dirty="0"/>
              <a:t>保密是双方的问题</a:t>
            </a:r>
          </a:p>
          <a:p>
            <a:r>
              <a:rPr lang="zh-CN" altLang="en-US" dirty="0"/>
              <a:t>在这两种情况下，志愿者都被有经济利益的人要求捐赠</a:t>
            </a:r>
          </a:p>
          <a:p>
            <a:r>
              <a:rPr lang="zh-CN" altLang="en-US" dirty="0"/>
              <a:t>两者都涉及利他动机</a:t>
            </a:r>
          </a:p>
          <a:p>
            <a:r>
              <a:rPr lang="zh-CN" altLang="en-US" dirty="0"/>
              <a:t>一种涉及捐赠的钱；另一种涉及捐赠的钱。 另一个不</a:t>
            </a:r>
          </a:p>
          <a:p>
            <a:r>
              <a:rPr lang="zh-CN" altLang="en-US" dirty="0"/>
              <a:t>医生和制药职位与营利性公司不太匹配</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40</a:t>
            </a:fld>
            <a:endParaRPr lang="en-US" dirty="0"/>
          </a:p>
        </p:txBody>
      </p:sp>
    </p:spTree>
    <p:extLst>
      <p:ext uri="{BB962C8B-B14F-4D97-AF65-F5344CB8AC3E}">
        <p14:creationId xmlns:p14="http://schemas.microsoft.com/office/powerpoint/2010/main" val="136166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做出决定或再次循环</a:t>
            </a:r>
          </a:p>
          <a:p>
            <a:r>
              <a:rPr lang="zh-CN" altLang="en-US" dirty="0"/>
              <a:t>您现在必须（在医生那里）决定吗？</a:t>
            </a:r>
          </a:p>
          <a:p>
            <a:r>
              <a:rPr lang="zh-CN" altLang="en-US" dirty="0"/>
              <a:t>你应该做更多的研究吗？</a:t>
            </a:r>
          </a:p>
          <a:p>
            <a:r>
              <a:rPr lang="zh-CN" altLang="en-US" dirty="0"/>
              <a:t>你应该问别人吗？</a:t>
            </a:r>
          </a:p>
          <a:p>
            <a:r>
              <a:rPr lang="zh-CN" altLang="en-US" dirty="0"/>
              <a:t>除非您对</a:t>
            </a:r>
            <a:r>
              <a:rPr lang="en-US" altLang="zh-CN" dirty="0"/>
              <a:t>PHARM CO</a:t>
            </a:r>
            <a:r>
              <a:rPr lang="zh-CN" altLang="en-US" dirty="0"/>
              <a:t>使用您的信息有更多了解，否则可能会选择拒绝，尤其是考虑到其他利益相关者的财务利益</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41</a:t>
            </a:fld>
            <a:endParaRPr lang="en-US" dirty="0"/>
          </a:p>
        </p:txBody>
      </p:sp>
    </p:spTree>
    <p:extLst>
      <p:ext uri="{BB962C8B-B14F-4D97-AF65-F5344CB8AC3E}">
        <p14:creationId xmlns:p14="http://schemas.microsoft.com/office/powerpoint/2010/main" val="28684049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将案例研究中的推理应用于更多的个人道德问题</a:t>
            </a:r>
          </a:p>
          <a:p>
            <a:r>
              <a:rPr lang="zh-CN" altLang="en-US" dirty="0"/>
              <a:t>网络欺凌：在网上羞辱，嘲弄，威胁，侵犯某人的隐私</a:t>
            </a:r>
          </a:p>
          <a:p>
            <a:r>
              <a:rPr lang="zh-CN" altLang="en-US" dirty="0"/>
              <a:t>色情：使用手机或平板电脑发送色情信息或图片</a:t>
            </a:r>
          </a:p>
          <a:p>
            <a:r>
              <a:rPr lang="zh-CN" altLang="en-US" dirty="0"/>
              <a:t>公开发布到社交网络的隐私期望</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42</a:t>
            </a:fld>
            <a:endParaRPr lang="en-US" dirty="0"/>
          </a:p>
        </p:txBody>
      </p:sp>
    </p:spTree>
    <p:extLst>
      <p:ext uri="{BB962C8B-B14F-4D97-AF65-F5344CB8AC3E}">
        <p14:creationId xmlns:p14="http://schemas.microsoft.com/office/powerpoint/2010/main" val="5128959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网络欺凌的例子</a:t>
            </a:r>
          </a:p>
          <a:p>
            <a:r>
              <a:rPr lang="zh-CN" altLang="en-US" dirty="0"/>
              <a:t>梅根</a:t>
            </a:r>
            <a:r>
              <a:rPr lang="en-US" altLang="zh-CN" dirty="0"/>
              <a:t>·</a:t>
            </a:r>
            <a:r>
              <a:rPr lang="zh-CN" altLang="en-US" dirty="0"/>
              <a:t>迈耶（</a:t>
            </a:r>
            <a:r>
              <a:rPr lang="en-US" altLang="zh-CN" dirty="0"/>
              <a:t>Megan Meier</a:t>
            </a:r>
            <a:r>
              <a:rPr lang="zh-CN" altLang="en-US" dirty="0"/>
              <a:t>）在</a:t>
            </a:r>
            <a:r>
              <a:rPr lang="en-US" altLang="zh-CN" dirty="0" err="1"/>
              <a:t>MySpace</a:t>
            </a:r>
            <a:r>
              <a:rPr lang="zh-CN" altLang="en-US" dirty="0"/>
              <a:t>上受到骚扰后自杀。 骚扰者是一位前朋友的母亲</a:t>
            </a:r>
          </a:p>
          <a:p>
            <a:r>
              <a:rPr lang="zh-CN" altLang="en-US" dirty="0"/>
              <a:t>发布到</a:t>
            </a:r>
            <a:r>
              <a:rPr lang="en-US" altLang="zh-CN" dirty="0"/>
              <a:t>Craigslist</a:t>
            </a:r>
            <a:r>
              <a:rPr lang="zh-CN" altLang="en-US" dirty="0"/>
              <a:t>的信息导致年轻女孩收到性电话和电子邮件</a:t>
            </a:r>
          </a:p>
          <a:p>
            <a:r>
              <a:rPr lang="zh-CN" altLang="en-US" dirty="0"/>
              <a:t>泰勒</a:t>
            </a:r>
            <a:r>
              <a:rPr lang="en-US" altLang="zh-CN" dirty="0"/>
              <a:t>·</a:t>
            </a:r>
            <a:r>
              <a:rPr lang="zh-CN" altLang="en-US" dirty="0"/>
              <a:t>克莱门蒂（</a:t>
            </a:r>
            <a:r>
              <a:rPr lang="en-US" altLang="zh-CN" dirty="0"/>
              <a:t>Tyler Clementi</a:t>
            </a:r>
            <a:r>
              <a:rPr lang="zh-CN" altLang="en-US" dirty="0"/>
              <a:t>）的室友发布了与另一名男子发生性接触的记录后自杀身亡</a:t>
            </a:r>
          </a:p>
          <a:p>
            <a:r>
              <a:rPr lang="zh-CN" altLang="en-US" dirty="0"/>
              <a:t>法律落后于问题</a:t>
            </a:r>
          </a:p>
          <a:p>
            <a:r>
              <a:rPr lang="zh-CN" altLang="en-US" dirty="0"/>
              <a:t>第一修正案保护使问题复杂化</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43</a:t>
            </a:fld>
            <a:endParaRPr lang="en-US" dirty="0"/>
          </a:p>
        </p:txBody>
      </p:sp>
    </p:spTree>
    <p:extLst>
      <p:ext uri="{BB962C8B-B14F-4D97-AF65-F5344CB8AC3E}">
        <p14:creationId xmlns:p14="http://schemas.microsoft.com/office/powerpoint/2010/main" val="40017677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同意的成年人之间进行性交是合法的</a:t>
            </a:r>
          </a:p>
          <a:p>
            <a:r>
              <a:rPr lang="zh-CN" altLang="en-US" dirty="0"/>
              <a:t>打算在两个人之间私有的图像可能不会那样保留</a:t>
            </a:r>
          </a:p>
          <a:p>
            <a:r>
              <a:rPr lang="zh-CN" altLang="en-US" dirty="0"/>
              <a:t>一旦有东西发布到互联网上，它就永远存在</a:t>
            </a:r>
          </a:p>
          <a:p>
            <a:r>
              <a:rPr lang="zh-CN" altLang="en-US" dirty="0"/>
              <a:t>即使犯罪者是“孩子”，涉及未成年人的色情短信也可以视为儿童色情制品</a:t>
            </a:r>
          </a:p>
          <a:p>
            <a:r>
              <a:rPr lang="zh-CN" altLang="en-US" dirty="0"/>
              <a:t>在某些州，放宽了未成年人发送其他未成年人图片的法律</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44</a:t>
            </a:fld>
            <a:endParaRPr lang="en-US" dirty="0"/>
          </a:p>
        </p:txBody>
      </p:sp>
    </p:spTree>
    <p:extLst>
      <p:ext uri="{BB962C8B-B14F-4D97-AF65-F5344CB8AC3E}">
        <p14:creationId xmlns:p14="http://schemas.microsoft.com/office/powerpoint/2010/main" val="42123767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在线公开发布对隐私的期望</a:t>
            </a:r>
          </a:p>
          <a:p>
            <a:r>
              <a:rPr lang="zh-CN" altLang="en-US" dirty="0"/>
              <a:t>学生在</a:t>
            </a:r>
            <a:r>
              <a:rPr lang="en-US" altLang="zh-CN" dirty="0" err="1"/>
              <a:t>MySpace</a:t>
            </a:r>
            <a:r>
              <a:rPr lang="zh-CN" altLang="en-US" dirty="0"/>
              <a:t>上发布了关于她的家乡的令人讨厌的故事； 她六天后删除了它</a:t>
            </a:r>
          </a:p>
          <a:p>
            <a:r>
              <a:rPr lang="zh-CN" altLang="en-US" dirty="0"/>
              <a:t>故乡高中校长看到了这个故事，并把它传给了当地报纸</a:t>
            </a:r>
          </a:p>
          <a:p>
            <a:r>
              <a:rPr lang="zh-CN" altLang="en-US" dirty="0"/>
              <a:t>报纸把它印成给编辑的信</a:t>
            </a:r>
          </a:p>
          <a:p>
            <a:r>
              <a:rPr lang="zh-CN" altLang="en-US" dirty="0"/>
              <a:t>家庭受到威胁，失去生意，不得不搬走</a:t>
            </a:r>
          </a:p>
          <a:p>
            <a:r>
              <a:rPr lang="zh-CN" altLang="en-US" dirty="0"/>
              <a:t>法院发现，在</a:t>
            </a:r>
            <a:r>
              <a:rPr lang="en-US" altLang="zh-CN" dirty="0" err="1"/>
              <a:t>MySpace</a:t>
            </a:r>
            <a:r>
              <a:rPr lang="zh-CN" altLang="en-US" dirty="0"/>
              <a:t>上公开发布信息时，她应该没有隐私的期望</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45</a:t>
            </a:fld>
            <a:endParaRPr lang="en-US" dirty="0"/>
          </a:p>
        </p:txBody>
      </p:sp>
    </p:spTree>
    <p:extLst>
      <p:ext uri="{BB962C8B-B14F-4D97-AF65-F5344CB8AC3E}">
        <p14:creationId xmlns:p14="http://schemas.microsoft.com/office/powerpoint/2010/main" val="23835854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假定任何在线发送或发布的内容：</a:t>
            </a:r>
          </a:p>
          <a:p>
            <a:r>
              <a:rPr lang="zh-CN" altLang="en-US" dirty="0"/>
              <a:t>可能会广泛分发并公开</a:t>
            </a:r>
          </a:p>
          <a:p>
            <a:r>
              <a:rPr lang="zh-CN" altLang="en-US" dirty="0"/>
              <a:t>将永远持续</a:t>
            </a:r>
          </a:p>
          <a:p>
            <a:r>
              <a:rPr lang="zh-CN" altLang="en-US" dirty="0"/>
              <a:t>如果出现以下情况，请勿发布任何东西：</a:t>
            </a:r>
          </a:p>
          <a:p>
            <a:r>
              <a:rPr lang="zh-CN" altLang="en-US" dirty="0"/>
              <a:t>您不希望很多人看到它</a:t>
            </a:r>
          </a:p>
          <a:p>
            <a:r>
              <a:rPr lang="zh-CN" altLang="en-US" dirty="0"/>
              <a:t>使它广为流传（向父母，雇主等），您会感到尴尬。</a:t>
            </a:r>
          </a:p>
          <a:p>
            <a:r>
              <a:rPr lang="zh-CN" altLang="en-US" dirty="0"/>
              <a:t>该材料可被视为诽谤或诽谤</a:t>
            </a:r>
          </a:p>
          <a:p>
            <a:r>
              <a:rPr lang="zh-CN" altLang="en-US" dirty="0"/>
              <a:t>该信息是私人信息，属于性行为</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46</a:t>
            </a:fld>
            <a:endParaRPr lang="en-US" dirty="0"/>
          </a:p>
        </p:txBody>
      </p:sp>
    </p:spTree>
    <p:extLst>
      <p:ext uri="{BB962C8B-B14F-4D97-AF65-F5344CB8AC3E}">
        <p14:creationId xmlns:p14="http://schemas.microsoft.com/office/powerpoint/2010/main" val="37234378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假新闻是故意更改或捏造的新闻，目的是将其假冒为假新闻</a:t>
            </a:r>
          </a:p>
          <a:p>
            <a:r>
              <a:rPr lang="zh-CN" altLang="en-US" dirty="0"/>
              <a:t>提防各种类型的虚假新闻媒体</a:t>
            </a:r>
          </a:p>
          <a:p>
            <a:r>
              <a:rPr lang="zh-CN" altLang="en-US" dirty="0"/>
              <a:t>冒名顶替者网站</a:t>
            </a:r>
            <a:r>
              <a:rPr lang="en-US" altLang="zh-CN" dirty="0"/>
              <a:t>-</a:t>
            </a:r>
            <a:r>
              <a:rPr lang="zh-CN" altLang="en-US" dirty="0"/>
              <a:t>模仿有效网站传播假新闻</a:t>
            </a:r>
          </a:p>
          <a:p>
            <a:r>
              <a:rPr lang="zh-CN" altLang="en-US" dirty="0"/>
              <a:t>操纵的内容</a:t>
            </a:r>
            <a:r>
              <a:rPr lang="en-US" altLang="zh-CN" dirty="0"/>
              <a:t>-</a:t>
            </a:r>
            <a:r>
              <a:rPr lang="zh-CN" altLang="en-US" dirty="0"/>
              <a:t>操纵原始内容以适合发布站点的对话框</a:t>
            </a:r>
          </a:p>
          <a:p>
            <a:r>
              <a:rPr lang="zh-CN" altLang="en-US" dirty="0"/>
              <a:t>虚假内容</a:t>
            </a:r>
            <a:r>
              <a:rPr lang="en-US" altLang="zh-CN" dirty="0"/>
              <a:t>-</a:t>
            </a:r>
            <a:r>
              <a:rPr lang="zh-CN" altLang="en-US" dirty="0"/>
              <a:t>所有这些都是不真实的</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47</a:t>
            </a:fld>
            <a:endParaRPr lang="en-US" dirty="0"/>
          </a:p>
        </p:txBody>
      </p:sp>
    </p:spTree>
    <p:extLst>
      <p:ext uri="{BB962C8B-B14F-4D97-AF65-F5344CB8AC3E}">
        <p14:creationId xmlns:p14="http://schemas.microsoft.com/office/powerpoint/2010/main" val="426256512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 </a:t>
            </a:r>
            <a:r>
              <a:rPr lang="en-US" altLang="zh-CN" dirty="0" err="1"/>
              <a:t>Pizzagate</a:t>
            </a:r>
            <a:r>
              <a:rPr lang="en-US" altLang="zh-CN" dirty="0"/>
              <a:t>” 2016</a:t>
            </a:r>
            <a:r>
              <a:rPr lang="zh-CN" altLang="en-US" dirty="0"/>
              <a:t>年大选期间的假新闻</a:t>
            </a:r>
          </a:p>
          <a:p>
            <a:r>
              <a:rPr lang="zh-CN" altLang="en-US" dirty="0"/>
              <a:t>据说乒乓比萨饼彗星与总统候选人希拉里</a:t>
            </a:r>
            <a:r>
              <a:rPr lang="en-US" altLang="zh-CN" dirty="0"/>
              <a:t>·</a:t>
            </a:r>
            <a:r>
              <a:rPr lang="zh-CN" altLang="en-US" dirty="0"/>
              <a:t>克林顿和国会的多名成员一起参与了一个儿童色情圈</a:t>
            </a:r>
          </a:p>
          <a:p>
            <a:r>
              <a:rPr lang="zh-CN" altLang="en-US" dirty="0"/>
              <a:t>一名身穿</a:t>
            </a:r>
            <a:r>
              <a:rPr lang="en-US" altLang="zh-CN" dirty="0"/>
              <a:t>AK-47</a:t>
            </a:r>
            <a:r>
              <a:rPr lang="zh-CN" altLang="en-US" dirty="0"/>
              <a:t>的人在</a:t>
            </a:r>
            <a:r>
              <a:rPr lang="en-US" altLang="zh-CN" dirty="0"/>
              <a:t>2016</a:t>
            </a:r>
            <a:r>
              <a:rPr lang="zh-CN" altLang="en-US" dirty="0"/>
              <a:t>年威胁要开枪射击任何涉及儿童色情的人</a:t>
            </a:r>
          </a:p>
          <a:p>
            <a:r>
              <a:rPr lang="zh-CN" altLang="en-US" dirty="0"/>
              <a:t>决心为了伤害克林顿竞选而捏造</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48</a:t>
            </a:fld>
            <a:endParaRPr lang="en-US" dirty="0"/>
          </a:p>
        </p:txBody>
      </p:sp>
    </p:spTree>
    <p:extLst>
      <p:ext uri="{BB962C8B-B14F-4D97-AF65-F5344CB8AC3E}">
        <p14:creationId xmlns:p14="http://schemas.microsoft.com/office/powerpoint/2010/main" val="329085912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在线阅读感兴趣的故事时验证来源</a:t>
            </a:r>
          </a:p>
          <a:p>
            <a:r>
              <a:rPr lang="zh-CN" altLang="en-US" dirty="0"/>
              <a:t>检查作者</a:t>
            </a:r>
          </a:p>
          <a:p>
            <a:r>
              <a:rPr lang="zh-CN" altLang="en-US" dirty="0"/>
              <a:t>检查支持链接</a:t>
            </a:r>
          </a:p>
          <a:p>
            <a:r>
              <a:rPr lang="zh-CN" altLang="en-US" dirty="0"/>
              <a:t>还有谁在举报</a:t>
            </a:r>
          </a:p>
          <a:p>
            <a:r>
              <a:rPr lang="zh-CN" altLang="en-US" dirty="0"/>
              <a:t>考虑故事的意图</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49</a:t>
            </a:fld>
            <a:endParaRPr lang="en-US" dirty="0"/>
          </a:p>
        </p:txBody>
      </p:sp>
    </p:spTree>
    <p:extLst>
      <p:ext uri="{BB962C8B-B14F-4D97-AF65-F5344CB8AC3E}">
        <p14:creationId xmlns:p14="http://schemas.microsoft.com/office/powerpoint/2010/main" val="136879861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计算机技术本质上涉及新的社会和道德问题</a:t>
            </a:r>
          </a:p>
          <a:p>
            <a:r>
              <a:rPr lang="zh-CN" altLang="en-US" dirty="0"/>
              <a:t>伦理推理提供了分析伦理问题的框架</a:t>
            </a:r>
          </a:p>
          <a:p>
            <a:r>
              <a:rPr lang="zh-CN" altLang="en-US" dirty="0"/>
              <a:t>功利主义根据行为的后果评估行为</a:t>
            </a:r>
          </a:p>
          <a:p>
            <a:r>
              <a:rPr lang="zh-CN" altLang="en-US" dirty="0"/>
              <a:t>辩证法是对立双方的比较性讨论，目的是澄清和增进理解</a:t>
            </a:r>
          </a:p>
          <a:p>
            <a:r>
              <a:rPr lang="zh-CN" altLang="en-US" dirty="0"/>
              <a:t>类比推理可以阐明道德问题</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50</a:t>
            </a:fld>
            <a:endParaRPr lang="en-US" dirty="0"/>
          </a:p>
        </p:txBody>
      </p:sp>
    </p:spTree>
    <p:extLst>
      <p:ext uri="{BB962C8B-B14F-4D97-AF65-F5344CB8AC3E}">
        <p14:creationId xmlns:p14="http://schemas.microsoft.com/office/powerpoint/2010/main" val="19429765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本体论推理着重于意图而非结果</a:t>
            </a:r>
          </a:p>
          <a:p>
            <a:r>
              <a:rPr lang="zh-CN" altLang="en-US" dirty="0"/>
              <a:t>信息技术的道德问题包括：</a:t>
            </a:r>
          </a:p>
          <a:p>
            <a:r>
              <a:rPr lang="zh-CN" altLang="en-US" dirty="0"/>
              <a:t>文件共享时代的版权保护</a:t>
            </a:r>
          </a:p>
          <a:p>
            <a:r>
              <a:rPr lang="zh-CN" altLang="en-US" dirty="0"/>
              <a:t>个人隐私和合法拦截法</a:t>
            </a:r>
          </a:p>
          <a:p>
            <a:r>
              <a:rPr lang="zh-CN" altLang="en-US" dirty="0"/>
              <a:t>自称是社会公益的黑客</a:t>
            </a:r>
          </a:p>
          <a:p>
            <a:r>
              <a:rPr lang="zh-CN" altLang="en-US" dirty="0"/>
              <a:t>隐私和个人信息保护</a:t>
            </a:r>
          </a:p>
          <a:p>
            <a:r>
              <a:rPr lang="zh-CN" altLang="en-US" dirty="0"/>
              <a:t>网络欺凌，发短信和发布在线帖子</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51</a:t>
            </a:fld>
            <a:endParaRPr lang="en-US" dirty="0"/>
          </a:p>
        </p:txBody>
      </p:sp>
    </p:spTree>
    <p:extLst>
      <p:ext uri="{BB962C8B-B14F-4D97-AF65-F5344CB8AC3E}">
        <p14:creationId xmlns:p14="http://schemas.microsoft.com/office/powerpoint/2010/main" val="419310744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注意虚假新闻的传播</a:t>
            </a:r>
          </a:p>
          <a:p>
            <a:r>
              <a:rPr lang="zh-CN" altLang="en-US" dirty="0"/>
              <a:t>政治上要特别注意</a:t>
            </a:r>
          </a:p>
          <a:p>
            <a:r>
              <a:rPr lang="zh-CN" altLang="en-US" dirty="0"/>
              <a:t>寻找限制接触的方法</a:t>
            </a:r>
          </a:p>
          <a:p>
            <a:r>
              <a:rPr lang="zh-CN" altLang="en-US" dirty="0"/>
              <a:t>坚持使用您已验证且值得信赖的资源</a:t>
            </a:r>
          </a:p>
          <a:p>
            <a:r>
              <a:rPr lang="zh-CN" altLang="en-US" dirty="0"/>
              <a:t>始终检查来源和支持链接</a:t>
            </a:r>
          </a:p>
          <a:p>
            <a:r>
              <a:rPr lang="zh-CN" altLang="en-US" dirty="0"/>
              <a:t>不要相信您阅读的所有内容，而无需先检查其有效性</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52</a:t>
            </a:fld>
            <a:endParaRPr lang="en-US" dirty="0"/>
          </a:p>
        </p:txBody>
      </p:sp>
    </p:spTree>
    <p:extLst>
      <p:ext uri="{BB962C8B-B14F-4D97-AF65-F5344CB8AC3E}">
        <p14:creationId xmlns:p14="http://schemas.microsoft.com/office/powerpoint/2010/main" val="34240381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descr="Article_PPT_Template-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itle 2"/>
          <p:cNvSpPr>
            <a:spLocks noGrp="1"/>
          </p:cNvSpPr>
          <p:nvPr>
            <p:ph type="subTitle" idx="1"/>
          </p:nvPr>
        </p:nvSpPr>
        <p:spPr>
          <a:xfrm>
            <a:off x="5438414" y="3422664"/>
            <a:ext cx="3709317" cy="1982154"/>
          </a:xfrm>
        </p:spPr>
        <p:txBody>
          <a:bodyPr>
            <a:noAutofit/>
          </a:bodyPr>
          <a:lstStyle>
            <a:lvl1pPr marL="0" indent="0" algn="l">
              <a:buNone/>
              <a:defRPr sz="4000" b="1">
                <a:solidFill>
                  <a:srgbClr val="536E75"/>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5438415" y="1465263"/>
            <a:ext cx="3705585" cy="1708160"/>
          </a:xfrm>
        </p:spPr>
        <p:txBody>
          <a:bodyPr>
            <a:noAutofit/>
          </a:bodyPr>
          <a:lstStyle>
            <a:lvl1pPr marL="0" indent="0">
              <a:buNone/>
              <a:defRPr sz="3500" b="1" baseline="0">
                <a:solidFill>
                  <a:srgbClr val="34B14B"/>
                </a:solidFill>
                <a:latin typeface="Arial"/>
                <a:cs typeface="Arial"/>
              </a:defRPr>
            </a:lvl1pPr>
          </a:lstStyle>
          <a:p>
            <a:pPr lvl="0"/>
            <a:r>
              <a:rPr lang="en-US" dirty="0"/>
              <a:t>Click to edit Master text styles</a:t>
            </a:r>
          </a:p>
        </p:txBody>
      </p:sp>
    </p:spTree>
    <p:extLst>
      <p:ext uri="{BB962C8B-B14F-4D97-AF65-F5344CB8AC3E}">
        <p14:creationId xmlns:p14="http://schemas.microsoft.com/office/powerpoint/2010/main" val="2945547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4" name="Picture 3" descr="Article_PPT_Template-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0" y="1"/>
            <a:ext cx="9144000" cy="1060704"/>
          </a:xfrm>
          <a:noFill/>
          <a:ln>
            <a:noFill/>
          </a:ln>
        </p:spPr>
        <p:txBody>
          <a:bodyPr anchor="ctr" anchorCtr="0">
            <a:normAutofit/>
          </a:bodyPr>
          <a:lstStyle>
            <a:lvl1pPr algn="ctr">
              <a:lnSpc>
                <a:spcPct val="100000"/>
              </a:lnSpc>
              <a:defRPr sz="3600" b="0" i="0">
                <a:solidFill>
                  <a:schemeClr val="bg1"/>
                </a:solidFill>
                <a:latin typeface="Arial"/>
                <a:cs typeface="Arial"/>
              </a:defRPr>
            </a:lvl1pPr>
          </a:lstStyle>
          <a:p>
            <a:r>
              <a:rPr lang="en-US" dirty="0"/>
              <a:t>Click to edit Master title style</a:t>
            </a:r>
          </a:p>
        </p:txBody>
      </p:sp>
      <p:sp>
        <p:nvSpPr>
          <p:cNvPr id="3" name="Content Placeholder 2"/>
          <p:cNvSpPr>
            <a:spLocks noGrp="1"/>
          </p:cNvSpPr>
          <p:nvPr>
            <p:ph idx="1"/>
          </p:nvPr>
        </p:nvSpPr>
        <p:spPr>
          <a:xfrm>
            <a:off x="457203" y="1231266"/>
            <a:ext cx="8229600" cy="4894898"/>
          </a:xfrm>
        </p:spPr>
        <p:txBody>
          <a:bodyPr/>
          <a:lstStyle>
            <a:lvl1pPr marL="457200" indent="-457200">
              <a:buClr>
                <a:srgbClr val="34B14B"/>
              </a:buClr>
              <a:defRPr sz="2600" b="0" i="0">
                <a:latin typeface="Arial"/>
                <a:cs typeface="Arial"/>
              </a:defRPr>
            </a:lvl1pPr>
            <a:lvl2pPr marL="914400" indent="-457200">
              <a:buClr>
                <a:srgbClr val="34B14B"/>
              </a:buClr>
              <a:defRPr sz="2400" b="0" i="0">
                <a:latin typeface="Arial"/>
                <a:cs typeface="Arial"/>
              </a:defRPr>
            </a:lvl2pPr>
            <a:lvl3pPr marL="1371600" indent="-457200">
              <a:buClr>
                <a:srgbClr val="34B14B"/>
              </a:buClr>
              <a:buFont typeface="Wingdings" pitchFamily="2" charset="2"/>
              <a:buChar char="§"/>
              <a:defRPr sz="2200" b="0" i="0">
                <a:latin typeface="Arial"/>
                <a:cs typeface="Arial"/>
              </a:defRPr>
            </a:lvl3pPr>
            <a:lvl4pPr marL="1828800" indent="-457200">
              <a:buClr>
                <a:srgbClr val="34B14B"/>
              </a:buClr>
              <a:buFont typeface="Courier New" pitchFamily="49" charset="0"/>
              <a:buChar char="o"/>
              <a:defRPr b="0" i="0">
                <a:latin typeface="Arial"/>
                <a:cs typeface="Arial"/>
              </a:defRPr>
            </a:lvl4pPr>
            <a:lvl5pPr marL="2286000" indent="-457200">
              <a:buClr>
                <a:srgbClr val="34B14B"/>
              </a:buClr>
              <a:defRPr sz="1800" b="0" i="0">
                <a:latin typeface="Arial"/>
                <a:cs typeface="Aria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7937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3" name="Picture 2" descr="Article_PPT_Template-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2" name="Content Placeholder 2"/>
          <p:cNvSpPr>
            <a:spLocks noGrp="1"/>
          </p:cNvSpPr>
          <p:nvPr>
            <p:ph sz="half" idx="1"/>
          </p:nvPr>
        </p:nvSpPr>
        <p:spPr>
          <a:xfrm>
            <a:off x="457200" y="1234440"/>
            <a:ext cx="4038600" cy="4892040"/>
          </a:xfrm>
        </p:spPr>
        <p:txBody>
          <a:bodyPr/>
          <a:lstStyle>
            <a:lvl1pPr>
              <a:buClr>
                <a:srgbClr val="34B14B"/>
              </a:buClr>
              <a:defRPr sz="3000">
                <a:latin typeface="Arial"/>
                <a:cs typeface="Arial"/>
              </a:defRPr>
            </a:lvl1pPr>
            <a:lvl2pPr>
              <a:buClr>
                <a:srgbClr val="34B14B"/>
              </a:buClr>
              <a:defRPr sz="2800">
                <a:latin typeface="Arial"/>
                <a:cs typeface="Arial"/>
              </a:defRPr>
            </a:lvl2pPr>
            <a:lvl3pPr>
              <a:buClr>
                <a:srgbClr val="34B14B"/>
              </a:buClr>
              <a:defRPr sz="2400">
                <a:latin typeface="Arial"/>
                <a:cs typeface="Arial"/>
              </a:defRPr>
            </a:lvl3pPr>
            <a:lvl4pPr>
              <a:buClr>
                <a:srgbClr val="34B14B"/>
              </a:buClr>
              <a:defRPr sz="2000">
                <a:latin typeface="Arial"/>
                <a:cs typeface="Arial"/>
              </a:defRPr>
            </a:lvl4pPr>
            <a:lvl5pPr>
              <a:buClr>
                <a:srgbClr val="34B14B"/>
              </a:buClr>
              <a:defRPr sz="2000">
                <a:latin typeface="Arial"/>
                <a:cs typeface="Aria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3"/>
          <p:cNvSpPr>
            <a:spLocks noGrp="1"/>
          </p:cNvSpPr>
          <p:nvPr>
            <p:ph sz="half" idx="2"/>
          </p:nvPr>
        </p:nvSpPr>
        <p:spPr>
          <a:xfrm>
            <a:off x="4648200" y="1234440"/>
            <a:ext cx="4038600" cy="4892040"/>
          </a:xfrm>
        </p:spPr>
        <p:txBody>
          <a:bodyPr/>
          <a:lstStyle>
            <a:lvl1pPr>
              <a:buClr>
                <a:srgbClr val="34B14B"/>
              </a:buClr>
              <a:defRPr sz="3000">
                <a:latin typeface="Arial"/>
                <a:cs typeface="Arial"/>
              </a:defRPr>
            </a:lvl1pPr>
            <a:lvl2pPr>
              <a:buClr>
                <a:srgbClr val="34B14B"/>
              </a:buClr>
              <a:defRPr sz="2800">
                <a:latin typeface="Arial"/>
                <a:cs typeface="Arial"/>
              </a:defRPr>
            </a:lvl2pPr>
            <a:lvl3pPr>
              <a:buClr>
                <a:srgbClr val="34B14B"/>
              </a:buClr>
              <a:defRPr sz="2400">
                <a:latin typeface="Arial"/>
                <a:cs typeface="Arial"/>
              </a:defRPr>
            </a:lvl3pPr>
            <a:lvl4pPr>
              <a:buClr>
                <a:srgbClr val="34B14B"/>
              </a:buClr>
              <a:defRPr sz="2000">
                <a:latin typeface="Arial"/>
                <a:cs typeface="Arial"/>
              </a:defRPr>
            </a:lvl4pPr>
            <a:lvl5pPr>
              <a:buClr>
                <a:srgbClr val="34B14B"/>
              </a:buClr>
              <a:defRPr sz="2000">
                <a:latin typeface="Arial"/>
                <a:cs typeface="Aria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1"/>
          <p:cNvSpPr>
            <a:spLocks noGrp="1"/>
          </p:cNvSpPr>
          <p:nvPr>
            <p:ph type="title"/>
          </p:nvPr>
        </p:nvSpPr>
        <p:spPr>
          <a:xfrm>
            <a:off x="0" y="1"/>
            <a:ext cx="9144000" cy="1060704"/>
          </a:xfrm>
          <a:ln>
            <a:noFill/>
          </a:ln>
        </p:spPr>
        <p:txBody>
          <a:bodyPr anchor="t" anchorCtr="0">
            <a:normAutofit/>
          </a:bodyPr>
          <a:lstStyle>
            <a:lvl1pPr algn="l">
              <a:lnSpc>
                <a:spcPct val="100000"/>
              </a:lnSpc>
              <a:defRPr sz="2500" b="1" i="0">
                <a:solidFill>
                  <a:srgbClr val="FFFFFF"/>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30206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5"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5" y="2906716"/>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t>‹#›</a:t>
            </a:fld>
            <a:endParaRPr lang="en-US" dirty="0"/>
          </a:p>
        </p:txBody>
      </p:sp>
      <p:sp>
        <p:nvSpPr>
          <p:cNvPr id="7" name="Text Placeholder 5"/>
          <p:cNvSpPr>
            <a:spLocks noGrp="1"/>
          </p:cNvSpPr>
          <p:nvPr>
            <p:ph type="body" sz="quarter" idx="13"/>
          </p:nvPr>
        </p:nvSpPr>
        <p:spPr>
          <a:xfrm>
            <a:off x="2833433" y="6313295"/>
            <a:ext cx="3477134" cy="379413"/>
          </a:xfrm>
        </p:spPr>
        <p:txBody>
          <a:bodyPr/>
          <a:lstStyle>
            <a:lvl1pPr marL="0" indent="0" algn="ctr">
              <a:buNone/>
              <a:defRPr sz="1800" b="1">
                <a:solidFill>
                  <a:schemeClr val="bg1"/>
                </a:solidFill>
                <a:latin typeface="Arial"/>
                <a:cs typeface="Aria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Tree>
    <p:extLst>
      <p:ext uri="{BB962C8B-B14F-4D97-AF65-F5344CB8AC3E}">
        <p14:creationId xmlns:p14="http://schemas.microsoft.com/office/powerpoint/2010/main" val="2347261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012840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2" y="1535117"/>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2" y="2174879"/>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6" y="1535117"/>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9"/>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96831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1933993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1856707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4"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4"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448239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90" y="4800604"/>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90"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90" y="5367342"/>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143319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3809092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2" y="27464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5180352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4" name="Picture 3" descr="Article_PPT_Template-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itle 2"/>
          <p:cNvSpPr>
            <a:spLocks noGrp="1"/>
          </p:cNvSpPr>
          <p:nvPr>
            <p:ph type="subTitle" idx="1"/>
          </p:nvPr>
        </p:nvSpPr>
        <p:spPr>
          <a:xfrm>
            <a:off x="5438414" y="3422664"/>
            <a:ext cx="3709317" cy="1982154"/>
          </a:xfrm>
        </p:spPr>
        <p:txBody>
          <a:bodyPr>
            <a:noAutofit/>
          </a:bodyPr>
          <a:lstStyle>
            <a:lvl1pPr marL="0" indent="0" algn="l">
              <a:buNone/>
              <a:defRPr sz="4000" b="1">
                <a:solidFill>
                  <a:srgbClr val="536E75"/>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5438415" y="1465263"/>
            <a:ext cx="3705585" cy="1708160"/>
          </a:xfrm>
        </p:spPr>
        <p:txBody>
          <a:bodyPr>
            <a:noAutofit/>
          </a:bodyPr>
          <a:lstStyle>
            <a:lvl1pPr marL="0" indent="0">
              <a:buNone/>
              <a:defRPr sz="3500" b="1" baseline="0">
                <a:solidFill>
                  <a:srgbClr val="34B14B"/>
                </a:solidFill>
                <a:latin typeface="Arial"/>
                <a:cs typeface="Arial"/>
              </a:defRPr>
            </a:lvl1pPr>
          </a:lstStyle>
          <a:p>
            <a:pPr lvl="0"/>
            <a:r>
              <a:rPr lang="en-US" dirty="0"/>
              <a:t>Click to edit Master text styles</a:t>
            </a:r>
          </a:p>
        </p:txBody>
      </p:sp>
      <p:sp>
        <p:nvSpPr>
          <p:cNvPr id="2" name="Title 1"/>
          <p:cNvSpPr>
            <a:spLocks noGrp="1"/>
          </p:cNvSpPr>
          <p:nvPr>
            <p:ph type="title"/>
          </p:nvPr>
        </p:nvSpPr>
        <p:spPr>
          <a:xfrm>
            <a:off x="457200" y="209550"/>
            <a:ext cx="8229600" cy="1143000"/>
          </a:xfrm>
        </p:spPr>
        <p:txBody>
          <a:bodyPr>
            <a:normAutofit/>
          </a:bodyPr>
          <a:lstStyle>
            <a:lvl1pPr>
              <a:defRPr lang="en-US" sz="3500" b="1" kern="1200" baseline="0" dirty="0">
                <a:solidFill>
                  <a:srgbClr val="34B14B"/>
                </a:solidFill>
                <a:latin typeface="Arial"/>
                <a:ea typeface="+mn-ea"/>
                <a:cs typeface="Arial"/>
              </a:defRPr>
            </a:lvl1pPr>
          </a:lstStyle>
          <a:p>
            <a:pPr marL="0" lvl="0" indent="0" algn="l" defTabSz="457200" rtl="0" eaLnBrk="1" latinLnBrk="0" hangingPunct="1">
              <a:spcBef>
                <a:spcPct val="20000"/>
              </a:spcBef>
              <a:buClr>
                <a:srgbClr val="3C5AA8"/>
              </a:buClr>
              <a:buFont typeface="Arial"/>
              <a:buNone/>
            </a:pPr>
            <a:r>
              <a:rPr lang="en-US" dirty="0"/>
              <a:t>Click to edit Master title style</a:t>
            </a:r>
          </a:p>
        </p:txBody>
      </p:sp>
    </p:spTree>
    <p:extLst>
      <p:ext uri="{BB962C8B-B14F-4D97-AF65-F5344CB8AC3E}">
        <p14:creationId xmlns:p14="http://schemas.microsoft.com/office/powerpoint/2010/main" val="428082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 y="0"/>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3"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3" y="6356354"/>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3124202" y="6356354"/>
            <a:ext cx="2895601"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3" y="6356354"/>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15F8B6-4AEF-1F4D-AC2D-D10919A1A67B}" type="slidenum">
              <a:rPr lang="en-US" smtClean="0"/>
              <a:t>‹#›</a:t>
            </a:fld>
            <a:endParaRPr lang="en-US" dirty="0"/>
          </a:p>
        </p:txBody>
      </p:sp>
    </p:spTree>
    <p:extLst>
      <p:ext uri="{BB962C8B-B14F-4D97-AF65-F5344CB8AC3E}">
        <p14:creationId xmlns:p14="http://schemas.microsoft.com/office/powerpoint/2010/main" val="76484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Clr>
          <a:srgbClr val="3C5AA8"/>
        </a:buClr>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Clr>
          <a:srgbClr val="3C5AA8"/>
        </a:buClr>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Clr>
          <a:srgbClr val="3C5AA8"/>
        </a:buClr>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Clr>
          <a:srgbClr val="3C5AA8"/>
        </a:buClr>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Clr>
          <a:srgbClr val="3C5AA8"/>
        </a:buClr>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76753" y="1630680"/>
            <a:ext cx="3490154" cy="1143000"/>
          </a:xfrm>
        </p:spPr>
        <p:txBody>
          <a:bodyPr>
            <a:normAutofit/>
          </a:bodyPr>
          <a:lstStyle/>
          <a:p>
            <a:pPr lvl="1" algn="ctr" defTabSz="457200" rtl="0">
              <a:spcBef>
                <a:spcPct val="0"/>
              </a:spcBef>
            </a:pPr>
            <a:r>
              <a:rPr lang="en-US" sz="4000" b="1" dirty="0">
                <a:latin typeface="Arial" pitchFamily="34" charset="0"/>
                <a:cs typeface="Arial" pitchFamily="34" charset="0"/>
              </a:rPr>
              <a:t>Chapter 17</a:t>
            </a:r>
            <a:endParaRPr lang="en-US" sz="4000" dirty="0">
              <a:solidFill>
                <a:schemeClr val="tx1"/>
              </a:solidFill>
              <a:latin typeface="Arial" pitchFamily="34" charset="0"/>
              <a:cs typeface="Arial" pitchFamily="34" charset="0"/>
            </a:endParaRPr>
          </a:p>
        </p:txBody>
      </p:sp>
      <p:sp>
        <p:nvSpPr>
          <p:cNvPr id="17" name="Subtitle 16"/>
          <p:cNvSpPr>
            <a:spLocks noGrp="1"/>
          </p:cNvSpPr>
          <p:nvPr>
            <p:ph type="subTitle" idx="1"/>
          </p:nvPr>
        </p:nvSpPr>
        <p:spPr>
          <a:xfrm>
            <a:off x="5263365" y="2733936"/>
            <a:ext cx="3768042" cy="3408235"/>
          </a:xfrm>
        </p:spPr>
        <p:txBody>
          <a:bodyPr anchor="ctr"/>
          <a:lstStyle/>
          <a:p>
            <a:pPr lvl="1">
              <a:lnSpc>
                <a:spcPct val="90000"/>
              </a:lnSpc>
              <a:spcBef>
                <a:spcPts val="1000"/>
              </a:spcBef>
              <a:buClr>
                <a:srgbClr val="FFFFFF"/>
              </a:buClr>
              <a:buSzPct val="10000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pPr>
            <a:r>
              <a:rPr lang="en-US" sz="3600" dirty="0">
                <a:solidFill>
                  <a:schemeClr val="tx1"/>
                </a:solidFill>
                <a:latin typeface="Arial" pitchFamily="34" charset="0"/>
                <a:cs typeface="Arial" pitchFamily="34" charset="0"/>
              </a:rPr>
              <a:t>Making Decisions about Computers, Information, and Society</a:t>
            </a:r>
          </a:p>
        </p:txBody>
      </p:sp>
      <p:sp>
        <p:nvSpPr>
          <p:cNvPr id="5" name="TextBox 4">
            <a:extLst>
              <a:ext uri="{FF2B5EF4-FFF2-40B4-BE49-F238E27FC236}">
                <a16:creationId xmlns:a16="http://schemas.microsoft.com/office/drawing/2014/main" id="{DA860B6B-21BF-4673-9E6F-05C004E083F8}"/>
              </a:ext>
            </a:extLst>
          </p:cNvPr>
          <p:cNvSpPr txBox="1"/>
          <p:nvPr/>
        </p:nvSpPr>
        <p:spPr>
          <a:xfrm>
            <a:off x="5151863" y="894386"/>
            <a:ext cx="4572000" cy="369332"/>
          </a:xfrm>
          <a:prstGeom prst="rect">
            <a:avLst/>
          </a:prstGeom>
          <a:noFill/>
        </p:spPr>
        <p:txBody>
          <a:bodyPr wrap="square">
            <a:spAutoFit/>
          </a:bodyPr>
          <a:lstStyle/>
          <a:p>
            <a:r>
              <a:rPr lang="en-US" dirty="0" err="1">
                <a:solidFill>
                  <a:srgbClr val="FF0000"/>
                </a:solidFill>
              </a:rPr>
              <a:t>做出有关计算机，信息和社会的决策</a:t>
            </a:r>
            <a:endParaRPr lang="en-US" dirty="0">
              <a:solidFill>
                <a:srgbClr val="FF0000"/>
              </a:solidFill>
            </a:endParaRPr>
          </a:p>
        </p:txBody>
      </p:sp>
    </p:spTree>
    <p:extLst>
      <p:ext uri="{BB962C8B-B14F-4D97-AF65-F5344CB8AC3E}">
        <p14:creationId xmlns:p14="http://schemas.microsoft.com/office/powerpoint/2010/main" val="3733835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itchFamily="34" charset="0"/>
                <a:cs typeface="Arial" pitchFamily="34" charset="0"/>
              </a:rPr>
              <a:t>Learning Objectives (1 of 2)</a:t>
            </a:r>
            <a:endParaRPr lang="en-US" sz="3600" b="0" dirty="0">
              <a:latin typeface="Arial" pitchFamily="34" charset="0"/>
              <a:cs typeface="Arial" pitchFamily="34" charset="0"/>
            </a:endParaRPr>
          </a:p>
        </p:txBody>
      </p:sp>
      <p:sp>
        <p:nvSpPr>
          <p:cNvPr id="7" name="Content Placeholder 6"/>
          <p:cNvSpPr>
            <a:spLocks noGrp="1"/>
          </p:cNvSpPr>
          <p:nvPr>
            <p:ph idx="1"/>
          </p:nvPr>
        </p:nvSpPr>
        <p:spPr/>
        <p:txBody>
          <a:bodyPr>
            <a:normAutofit fontScale="92500"/>
          </a:bodyPr>
          <a:lstStyle/>
          <a:p>
            <a:r>
              <a:rPr lang="en-US" altLang="en-US" sz="2800" dirty="0">
                <a:latin typeface="Arial" pitchFamily="34" charset="0"/>
                <a:ea typeface="ＭＳ Ｐゴシック" pitchFamily="34" charset="-128"/>
                <a:cs typeface="Arial" pitchFamily="34" charset="0"/>
              </a:rPr>
              <a:t>Use ethical reasoning to evaluate social issues related to computing</a:t>
            </a:r>
          </a:p>
          <a:p>
            <a:r>
              <a:rPr lang="en-US" altLang="en-US" sz="2800" dirty="0">
                <a:latin typeface="Arial" pitchFamily="34" charset="0"/>
                <a:ea typeface="ＭＳ Ｐゴシック" pitchFamily="34" charset="-128"/>
                <a:cs typeface="Arial" pitchFamily="34" charset="0"/>
              </a:rPr>
              <a:t>Understand the issues involved in digitally sharing </a:t>
            </a:r>
            <a:r>
              <a:rPr lang="en-US" altLang="en-US" sz="2800" dirty="0" err="1">
                <a:latin typeface="Arial" pitchFamily="34" charset="0"/>
                <a:ea typeface="ＭＳ Ｐゴシック" pitchFamily="34" charset="-128"/>
                <a:cs typeface="Arial" pitchFamily="34" charset="0"/>
              </a:rPr>
              <a:t>copywritten</a:t>
            </a:r>
            <a:r>
              <a:rPr lang="en-US" altLang="en-US" sz="2800" dirty="0">
                <a:latin typeface="Arial" pitchFamily="34" charset="0"/>
                <a:ea typeface="ＭＳ Ｐゴシック" pitchFamily="34" charset="-128"/>
                <a:cs typeface="Arial" pitchFamily="34" charset="0"/>
              </a:rPr>
              <a:t> intellectual property, such as music, videos, photographs, books, and video game software</a:t>
            </a:r>
          </a:p>
          <a:p>
            <a:r>
              <a:rPr lang="en-US" altLang="en-US" sz="2800" dirty="0">
                <a:latin typeface="Arial" pitchFamily="34" charset="0"/>
                <a:ea typeface="ＭＳ Ｐゴシック" pitchFamily="34" charset="-128"/>
                <a:cs typeface="Arial" pitchFamily="34" charset="0"/>
              </a:rPr>
              <a:t>Discuss trade-offs between the rights of personal privacy and governments' concerns with safety and security</a:t>
            </a:r>
          </a:p>
          <a:p>
            <a:r>
              <a:rPr lang="en-US" altLang="en-US" sz="2800" dirty="0">
                <a:latin typeface="Arial" pitchFamily="34" charset="0"/>
                <a:ea typeface="ＭＳ Ｐゴシック" pitchFamily="34" charset="-128"/>
                <a:cs typeface="Arial" pitchFamily="34" charset="0"/>
              </a:rPr>
              <a:t>Provide arguments that support and oppose hackers who claim to be performing a social good</a:t>
            </a:r>
          </a:p>
        </p:txBody>
      </p:sp>
    </p:spTree>
    <p:extLst>
      <p:ext uri="{BB962C8B-B14F-4D97-AF65-F5344CB8AC3E}">
        <p14:creationId xmlns:p14="http://schemas.microsoft.com/office/powerpoint/2010/main" val="2077823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itchFamily="34" charset="0"/>
                <a:cs typeface="Arial" pitchFamily="34" charset="0"/>
              </a:rPr>
              <a:t>Learning Objectives (2 of 2)</a:t>
            </a:r>
            <a:endParaRPr lang="en-US" dirty="0">
              <a:latin typeface="Arial" pitchFamily="34" charset="0"/>
              <a:cs typeface="Arial" pitchFamily="34" charset="0"/>
            </a:endParaRPr>
          </a:p>
        </p:txBody>
      </p:sp>
      <p:sp>
        <p:nvSpPr>
          <p:cNvPr id="3" name="Content Placeholder 2"/>
          <p:cNvSpPr>
            <a:spLocks noGrp="1"/>
          </p:cNvSpPr>
          <p:nvPr>
            <p:ph idx="1"/>
          </p:nvPr>
        </p:nvSpPr>
        <p:spPr>
          <a:xfrm>
            <a:off x="481262" y="1507959"/>
            <a:ext cx="8293769" cy="4411578"/>
          </a:xfrm>
        </p:spPr>
        <p:txBody>
          <a:bodyPr>
            <a:normAutofit/>
          </a:bodyPr>
          <a:lstStyle/>
          <a:p>
            <a:r>
              <a:rPr lang="en-US" altLang="en-US" dirty="0">
                <a:latin typeface="Arial" pitchFamily="34" charset="0"/>
                <a:ea typeface="ＭＳ Ｐゴシック" pitchFamily="34" charset="-128"/>
                <a:cs typeface="Arial" pitchFamily="34" charset="0"/>
              </a:rPr>
              <a:t>Describe cyberbullying and why legal remedies are so difficult to apply</a:t>
            </a:r>
          </a:p>
          <a:p>
            <a:r>
              <a:rPr lang="en-US" altLang="en-US" dirty="0">
                <a:latin typeface="Arial" pitchFamily="34" charset="0"/>
                <a:ea typeface="ＭＳ Ｐゴシック" pitchFamily="34" charset="-128"/>
                <a:cs typeface="Arial" pitchFamily="34" charset="0"/>
              </a:rPr>
              <a:t>Explain the potential dangers that have arisen from the enormous growth of social media</a:t>
            </a:r>
          </a:p>
          <a:p>
            <a:r>
              <a:rPr lang="en-US" altLang="en-US" dirty="0">
                <a:latin typeface="Arial" pitchFamily="34" charset="0"/>
                <a:ea typeface="ＭＳ Ｐゴシック" pitchFamily="34" charset="-128"/>
                <a:cs typeface="Arial" pitchFamily="34" charset="0"/>
              </a:rPr>
              <a:t>Discuss how social media makes it easier to globally disseminate rumors and false information that can have a profound effect on governments worldwide</a:t>
            </a:r>
          </a:p>
        </p:txBody>
      </p:sp>
    </p:spTree>
    <p:extLst>
      <p:ext uri="{BB962C8B-B14F-4D97-AF65-F5344CB8AC3E}">
        <p14:creationId xmlns:p14="http://schemas.microsoft.com/office/powerpoint/2010/main" val="2910661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itchFamily="34" charset="0"/>
                <a:cs typeface="Arial" pitchFamily="34" charset="0"/>
              </a:rPr>
              <a:t> Introduction </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505329" y="1263350"/>
            <a:ext cx="8229600" cy="4894898"/>
          </a:xfrm>
        </p:spPr>
        <p:txBody>
          <a:bodyPr>
            <a:normAutofit/>
          </a:bodyPr>
          <a:lstStyle/>
          <a:p>
            <a:r>
              <a:rPr lang="en-US" altLang="en-US" dirty="0">
                <a:latin typeface="Arial" pitchFamily="34" charset="0"/>
                <a:ea typeface="ＭＳ Ｐゴシック" pitchFamily="34" charset="-128"/>
                <a:cs typeface="Arial" pitchFamily="34" charset="0"/>
              </a:rPr>
              <a:t>Social and ethical issues related to information technology are unavoidable</a:t>
            </a:r>
          </a:p>
          <a:p>
            <a:pPr lvl="1"/>
            <a:r>
              <a:rPr lang="en-US" altLang="en-US" dirty="0">
                <a:latin typeface="Arial" pitchFamily="34" charset="0"/>
                <a:ea typeface="ＭＳ Ｐゴシック" pitchFamily="34" charset="-128"/>
                <a:cs typeface="Arial" pitchFamily="34" charset="0"/>
              </a:rPr>
              <a:t>Just because we can, doesn’t mean we should</a:t>
            </a:r>
          </a:p>
          <a:p>
            <a:r>
              <a:rPr lang="en-US" altLang="en-US" dirty="0">
                <a:latin typeface="Arial" pitchFamily="34" charset="0"/>
                <a:ea typeface="ＭＳ Ｐゴシック" pitchFamily="34" charset="-128"/>
                <a:cs typeface="Arial" pitchFamily="34" charset="0"/>
              </a:rPr>
              <a:t>Develop skills to reason about such issues</a:t>
            </a:r>
          </a:p>
          <a:p>
            <a:pPr lvl="1"/>
            <a:r>
              <a:rPr lang="en-US" altLang="en-US" dirty="0">
                <a:latin typeface="Arial" pitchFamily="34" charset="0"/>
                <a:ea typeface="ＭＳ Ｐゴシック" pitchFamily="34" charset="-128"/>
                <a:cs typeface="Arial" pitchFamily="34" charset="0"/>
              </a:rPr>
              <a:t>Learn about morality and ethics in the digital space</a:t>
            </a:r>
          </a:p>
          <a:p>
            <a:r>
              <a:rPr lang="en-US" altLang="en-US" dirty="0">
                <a:latin typeface="Arial" pitchFamily="34" charset="0"/>
                <a:ea typeface="ＭＳ Ｐゴシック" pitchFamily="34" charset="-128"/>
                <a:cs typeface="Arial" pitchFamily="34" charset="0"/>
              </a:rPr>
              <a:t>Case studies introduce important ethical issues</a:t>
            </a:r>
          </a:p>
          <a:p>
            <a:pPr lvl="1"/>
            <a:r>
              <a:rPr lang="en-US" altLang="en-US" dirty="0">
                <a:latin typeface="Arial" pitchFamily="34" charset="0"/>
                <a:ea typeface="ＭＳ Ｐゴシック" pitchFamily="34" charset="-128"/>
                <a:cs typeface="Arial" pitchFamily="34" charset="0"/>
              </a:rPr>
              <a:t>Describe arguments for and against certain positions</a:t>
            </a:r>
          </a:p>
          <a:p>
            <a:pPr lvl="1"/>
            <a:r>
              <a:rPr lang="en-US" altLang="en-US" dirty="0">
                <a:latin typeface="Arial" pitchFamily="34" charset="0"/>
                <a:ea typeface="ＭＳ Ｐゴシック" pitchFamily="34" charset="-128"/>
                <a:cs typeface="Arial" pitchFamily="34" charset="0"/>
              </a:rPr>
              <a:t>Evaluate arguments in terms of ethics</a:t>
            </a:r>
          </a:p>
        </p:txBody>
      </p:sp>
    </p:spTree>
    <p:extLst>
      <p:ext uri="{BB962C8B-B14F-4D97-AF65-F5344CB8AC3E}">
        <p14:creationId xmlns:p14="http://schemas.microsoft.com/office/powerpoint/2010/main" val="2793489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AA20F5-3A5A-433E-85B1-C8EC58644354}"/>
              </a:ext>
            </a:extLst>
          </p:cNvPr>
          <p:cNvPicPr>
            <a:picLocks noChangeAspect="1"/>
          </p:cNvPicPr>
          <p:nvPr/>
        </p:nvPicPr>
        <p:blipFill>
          <a:blip r:embed="rId2"/>
          <a:stretch>
            <a:fillRect/>
          </a:stretch>
        </p:blipFill>
        <p:spPr>
          <a:xfrm>
            <a:off x="0" y="717859"/>
            <a:ext cx="9144000" cy="4787282"/>
          </a:xfrm>
          <a:prstGeom prst="rect">
            <a:avLst/>
          </a:prstGeom>
        </p:spPr>
      </p:pic>
    </p:spTree>
    <p:extLst>
      <p:ext uri="{BB962C8B-B14F-4D97-AF65-F5344CB8AC3E}">
        <p14:creationId xmlns:p14="http://schemas.microsoft.com/office/powerpoint/2010/main" val="957539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221899" y="1"/>
            <a:ext cx="8700202" cy="1060704"/>
          </a:xfrm>
        </p:spPr>
        <p:txBody>
          <a:bodyPr anchor="ctr">
            <a:noAutofit/>
          </a:bodyPr>
          <a:lstStyle/>
          <a:p>
            <a:r>
              <a:rPr lang="en-US" altLang="en-US" dirty="0">
                <a:latin typeface="Arial" pitchFamily="34" charset="0"/>
                <a:ea typeface="ＭＳ Ｐゴシック" pitchFamily="34" charset="-128"/>
                <a:cs typeface="Arial" pitchFamily="34" charset="0"/>
              </a:rPr>
              <a:t>Case Studies Case 1: Is Sharing Good? (1 of 8)</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47308"/>
            <a:ext cx="8462208" cy="4896818"/>
          </a:xfrm>
        </p:spPr>
        <p:txBody>
          <a:bodyPr>
            <a:normAutofit/>
          </a:bodyPr>
          <a:lstStyle/>
          <a:p>
            <a:r>
              <a:rPr lang="en-US" altLang="en-US" dirty="0">
                <a:latin typeface="Arial" pitchFamily="34" charset="0"/>
                <a:ea typeface="ＭＳ Ｐゴシック" pitchFamily="34" charset="-128"/>
                <a:cs typeface="Arial" pitchFamily="34" charset="0"/>
              </a:rPr>
              <a:t>Napster file-sharing system was developed (1999)</a:t>
            </a:r>
          </a:p>
          <a:p>
            <a:r>
              <a:rPr lang="en-US" altLang="en-US" b="1" dirty="0">
                <a:latin typeface="Arial" pitchFamily="34" charset="0"/>
                <a:ea typeface="ＭＳ Ｐゴシック" pitchFamily="34" charset="-128"/>
                <a:cs typeface="Arial" pitchFamily="34" charset="0"/>
              </a:rPr>
              <a:t>Peer-to-peer file sharing</a:t>
            </a:r>
            <a:endParaRPr lang="en-US" altLang="en-US" dirty="0">
              <a:latin typeface="Arial" pitchFamily="34" charset="0"/>
              <a:ea typeface="ＭＳ Ｐゴシック" pitchFamily="34" charset="-128"/>
              <a:cs typeface="Arial" pitchFamily="34" charset="0"/>
            </a:endParaRPr>
          </a:p>
          <a:p>
            <a:pPr lvl="1"/>
            <a:r>
              <a:rPr lang="en-US" altLang="en-US" dirty="0">
                <a:latin typeface="Arial" pitchFamily="34" charset="0"/>
                <a:ea typeface="ＭＳ Ｐゴシック" pitchFamily="34" charset="-128"/>
                <a:cs typeface="Arial" pitchFamily="34" charset="0"/>
              </a:rPr>
              <a:t>Software introduces users to each other</a:t>
            </a:r>
          </a:p>
          <a:p>
            <a:pPr lvl="1"/>
            <a:r>
              <a:rPr lang="en-US" altLang="en-US" dirty="0">
                <a:latin typeface="Arial" pitchFamily="34" charset="0"/>
                <a:ea typeface="ＭＳ Ｐゴシック" pitchFamily="34" charset="-128"/>
                <a:cs typeface="Arial" pitchFamily="34" charset="0"/>
              </a:rPr>
              <a:t>Sharing happens directly between users</a:t>
            </a:r>
          </a:p>
          <a:p>
            <a:r>
              <a:rPr lang="en-US" altLang="en-US" dirty="0">
                <a:latin typeface="Arial" pitchFamily="34" charset="0"/>
                <a:ea typeface="ＭＳ Ｐゴシック" pitchFamily="34" charset="-128"/>
                <a:cs typeface="Arial" pitchFamily="34" charset="0"/>
              </a:rPr>
              <a:t>Recording companies filed suit against Napster, 1999</a:t>
            </a:r>
          </a:p>
          <a:p>
            <a:r>
              <a:rPr lang="en-US" altLang="en-US" dirty="0">
                <a:latin typeface="Arial" pitchFamily="34" charset="0"/>
                <a:ea typeface="ＭＳ Ｐゴシック" pitchFamily="34" charset="-128"/>
                <a:cs typeface="Arial" pitchFamily="34" charset="0"/>
              </a:rPr>
              <a:t>Lawsuit claimed Napster was a conspiracy to encourage mass infringement of copyright</a:t>
            </a:r>
          </a:p>
        </p:txBody>
      </p:sp>
    </p:spTree>
    <p:extLst>
      <p:ext uri="{BB962C8B-B14F-4D97-AF65-F5344CB8AC3E}">
        <p14:creationId xmlns:p14="http://schemas.microsoft.com/office/powerpoint/2010/main" val="2865916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264970" y="1"/>
            <a:ext cx="8614061" cy="1060704"/>
          </a:xfrm>
        </p:spPr>
        <p:txBody>
          <a:bodyPr anchor="ctr">
            <a:noAutofit/>
          </a:bodyPr>
          <a:lstStyle/>
          <a:p>
            <a:r>
              <a:rPr lang="en-US" altLang="en-US" dirty="0">
                <a:latin typeface="Arial" pitchFamily="34" charset="0"/>
                <a:ea typeface="ＭＳ Ｐゴシック" pitchFamily="34" charset="-128"/>
                <a:cs typeface="Arial" pitchFamily="34" charset="0"/>
              </a:rPr>
              <a:t>Case Studies Case 1: Is Sharing Good? (2 of 8)</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latin typeface="Arial" pitchFamily="34" charset="0"/>
                <a:ea typeface="ＭＳ Ｐゴシック" pitchFamily="34" charset="-128"/>
                <a:cs typeface="Arial" pitchFamily="34" charset="0"/>
              </a:rPr>
              <a:t>Facts</a:t>
            </a:r>
          </a:p>
          <a:p>
            <a:pPr lvl="1"/>
            <a:r>
              <a:rPr lang="en-US" altLang="en-US" dirty="0">
                <a:latin typeface="Arial" pitchFamily="34" charset="0"/>
                <a:ea typeface="ＭＳ Ｐゴシック" pitchFamily="34" charset="-128"/>
                <a:cs typeface="Arial" pitchFamily="34" charset="0"/>
              </a:rPr>
              <a:t>Most shared music was copyrighted</a:t>
            </a:r>
          </a:p>
          <a:p>
            <a:pPr lvl="1"/>
            <a:r>
              <a:rPr lang="en-US" altLang="en-US" dirty="0">
                <a:latin typeface="Arial" pitchFamily="34" charset="0"/>
                <a:ea typeface="ＭＳ Ｐゴシック" pitchFamily="34" charset="-128"/>
                <a:cs typeface="Arial" pitchFamily="34" charset="0"/>
              </a:rPr>
              <a:t>Many artists opposed sharing—no revenue for them</a:t>
            </a:r>
          </a:p>
          <a:p>
            <a:pPr lvl="1"/>
            <a:r>
              <a:rPr lang="en-US" altLang="en-US" dirty="0">
                <a:latin typeface="Arial" pitchFamily="34" charset="0"/>
                <a:ea typeface="ＭＳ Ｐゴシック" pitchFamily="34" charset="-128"/>
                <a:cs typeface="Arial" pitchFamily="34" charset="0"/>
              </a:rPr>
              <a:t>Some artists supported sharing</a:t>
            </a:r>
          </a:p>
          <a:p>
            <a:r>
              <a:rPr lang="en-US" altLang="en-US" dirty="0">
                <a:latin typeface="Arial" pitchFamily="34" charset="0"/>
                <a:ea typeface="ＭＳ Ｐゴシック" pitchFamily="34" charset="-128"/>
                <a:cs typeface="Arial" pitchFamily="34" charset="0"/>
              </a:rPr>
              <a:t>Napster claims</a:t>
            </a:r>
          </a:p>
          <a:p>
            <a:pPr lvl="1"/>
            <a:r>
              <a:rPr lang="en-US" altLang="en-US" dirty="0">
                <a:latin typeface="Arial" pitchFamily="34" charset="0"/>
                <a:ea typeface="ＭＳ Ｐゴシック" pitchFamily="34" charset="-128"/>
                <a:cs typeface="Arial" pitchFamily="34" charset="0"/>
              </a:rPr>
              <a:t>Napster reported song locations, not involved in actual sharing</a:t>
            </a:r>
          </a:p>
          <a:p>
            <a:pPr lvl="1"/>
            <a:r>
              <a:rPr lang="en-US" altLang="en-US" dirty="0">
                <a:latin typeface="Arial" pitchFamily="34" charset="0"/>
                <a:ea typeface="ＭＳ Ｐゴシック" pitchFamily="34" charset="-128"/>
                <a:cs typeface="Arial" pitchFamily="34" charset="0"/>
              </a:rPr>
              <a:t>They were not responsible for users’ behaviors</a:t>
            </a:r>
          </a:p>
          <a:p>
            <a:pPr lvl="1"/>
            <a:r>
              <a:rPr lang="en-US" altLang="en-US" dirty="0">
                <a:latin typeface="Arial" pitchFamily="34" charset="0"/>
                <a:ea typeface="ＭＳ Ｐゴシック" pitchFamily="34" charset="-128"/>
                <a:cs typeface="Arial" pitchFamily="34" charset="0"/>
              </a:rPr>
              <a:t>Swapping files this way should be “fair use” under copyright law</a:t>
            </a:r>
          </a:p>
        </p:txBody>
      </p:sp>
    </p:spTree>
    <p:extLst>
      <p:ext uri="{BB962C8B-B14F-4D97-AF65-F5344CB8AC3E}">
        <p14:creationId xmlns:p14="http://schemas.microsoft.com/office/powerpoint/2010/main" val="280344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221899" y="1"/>
            <a:ext cx="8700202" cy="1060704"/>
          </a:xfrm>
        </p:spPr>
        <p:txBody>
          <a:bodyPr anchor="ctr">
            <a:noAutofit/>
          </a:bodyPr>
          <a:lstStyle/>
          <a:p>
            <a:r>
              <a:rPr lang="en-US" altLang="en-US" dirty="0">
                <a:latin typeface="Arial" pitchFamily="34" charset="0"/>
                <a:ea typeface="ＭＳ Ｐゴシック" pitchFamily="34" charset="-128"/>
                <a:cs typeface="Arial" pitchFamily="34" charset="0"/>
              </a:rPr>
              <a:t>Case Studies Case 1: Is Sharing Good? (3 of 8)</a:t>
            </a:r>
            <a:endParaRPr lang="en-US" b="0" dirty="0">
              <a:latin typeface="Arial" pitchFamily="34" charset="0"/>
              <a:cs typeface="Arial" pitchFamily="34" charset="0"/>
            </a:endParaRPr>
          </a:p>
        </p:txBody>
      </p:sp>
      <p:sp>
        <p:nvSpPr>
          <p:cNvPr id="7" name="Content Placeholder 2"/>
          <p:cNvSpPr>
            <a:spLocks noGrp="1" noChangeArrowheads="1"/>
          </p:cNvSpPr>
          <p:nvPr>
            <p:ph idx="1"/>
          </p:nvPr>
        </p:nvSpPr>
        <p:spPr/>
        <p:txBody>
          <a:bodyPr/>
          <a:lstStyle/>
          <a:p>
            <a:r>
              <a:rPr lang="en-US" altLang="en-US" dirty="0">
                <a:latin typeface="Arial" pitchFamily="34" charset="0"/>
                <a:ea typeface="ＭＳ Ｐゴシック" pitchFamily="34" charset="-128"/>
                <a:cs typeface="Arial" pitchFamily="34" charset="0"/>
              </a:rPr>
              <a:t>Napster lost the case and appeals, and closed in 2001</a:t>
            </a:r>
          </a:p>
          <a:p>
            <a:r>
              <a:rPr lang="en-US" altLang="en-US" dirty="0">
                <a:latin typeface="Arial" pitchFamily="34" charset="0"/>
                <a:ea typeface="ＭＳ Ｐゴシック" pitchFamily="34" charset="-128"/>
                <a:cs typeface="Arial" pitchFamily="34" charset="0"/>
              </a:rPr>
              <a:t>Sharing movies, legally or not, is a growing issue</a:t>
            </a:r>
          </a:p>
          <a:p>
            <a:r>
              <a:rPr lang="en-US" altLang="en-US" dirty="0">
                <a:latin typeface="Arial" pitchFamily="34" charset="0"/>
                <a:ea typeface="ＭＳ Ｐゴシック" pitchFamily="34" charset="-128"/>
                <a:cs typeface="Arial" pitchFamily="34" charset="0"/>
              </a:rPr>
              <a:t>Downloading images from the web for personal use</a:t>
            </a:r>
          </a:p>
          <a:p>
            <a:r>
              <a:rPr lang="en-US" altLang="en-US" dirty="0">
                <a:latin typeface="Arial" pitchFamily="34" charset="0"/>
                <a:ea typeface="ＭＳ Ｐゴシック" pitchFamily="34" charset="-128"/>
                <a:cs typeface="Arial" pitchFamily="34" charset="0"/>
              </a:rPr>
              <a:t>Ethical (not legal) questions</a:t>
            </a:r>
          </a:p>
          <a:p>
            <a:pPr lvl="1"/>
            <a:r>
              <a:rPr lang="en-US" altLang="en-US" dirty="0">
                <a:latin typeface="Arial" pitchFamily="34" charset="0"/>
                <a:ea typeface="ＭＳ Ｐゴシック" pitchFamily="34" charset="-128"/>
                <a:cs typeface="Arial" pitchFamily="34" charset="0"/>
              </a:rPr>
              <a:t>Is it right to swap copyrighted music files?</a:t>
            </a:r>
          </a:p>
          <a:p>
            <a:pPr lvl="1"/>
            <a:r>
              <a:rPr lang="en-US" altLang="en-US" dirty="0">
                <a:latin typeface="Arial" pitchFamily="34" charset="0"/>
                <a:ea typeface="ＭＳ Ｐゴシック" pitchFamily="34" charset="-128"/>
                <a:cs typeface="Arial" pitchFamily="34" charset="0"/>
              </a:rPr>
              <a:t>Is it right to provide a search engine to enable users to search each other’s databases for copyrighted materials?</a:t>
            </a:r>
          </a:p>
        </p:txBody>
      </p:sp>
    </p:spTree>
    <p:extLst>
      <p:ext uri="{BB962C8B-B14F-4D97-AF65-F5344CB8AC3E}">
        <p14:creationId xmlns:p14="http://schemas.microsoft.com/office/powerpoint/2010/main" val="3937062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221899" y="1"/>
            <a:ext cx="8700202" cy="1060704"/>
          </a:xfrm>
        </p:spPr>
        <p:txBody>
          <a:bodyPr anchor="ctr">
            <a:noAutofit/>
          </a:bodyPr>
          <a:lstStyle/>
          <a:p>
            <a:r>
              <a:rPr lang="en-US" altLang="en-US" dirty="0">
                <a:latin typeface="Arial" pitchFamily="34" charset="0"/>
                <a:ea typeface="ＭＳ Ｐゴシック" pitchFamily="34" charset="-128"/>
                <a:cs typeface="Arial" pitchFamily="34" charset="0"/>
              </a:rPr>
              <a:t>Case Studies Case 1: Is Sharing Good? (4 of 8)</a:t>
            </a:r>
            <a:endParaRPr lang="en-US" b="0" dirty="0">
              <a:latin typeface="Arial" pitchFamily="34" charset="0"/>
              <a:cs typeface="Arial" pitchFamily="34" charset="0"/>
            </a:endParaRPr>
          </a:p>
        </p:txBody>
      </p:sp>
      <p:pic>
        <p:nvPicPr>
          <p:cNvPr id="5" name="Picture 5" descr="The Napster central server connects to a database of M P 3 sharable songs. The Napster central server receives information from user B and exchanges information with user Ay. User Ay and B exchange information. User B connects to a database of M P 3 songs. The peer to peer file sharing system created by Napster has the following process. Step 1. User B sends to the Napster central server a list of M P 3 data files that they are willing to share. Step 2. The Napster central server places the information into a database of M P 3 song titles and their internet I P locations. Step 3. User Ay connects to the Napster central server and queries it with the name of a song they want to download. Step 4. The Napster central server searches its database and sends user Ay the names of all the machines with this song and their internet locations. Step 5. User Ay establishes a connection to user B, or any other machine with this song, and sends a download request message containing the song name. Step 6. User B sends the requested M P 3 file to user Ay, who stores it on their machine and listens to with an M P 3 play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901" y="1317562"/>
            <a:ext cx="6882899" cy="4836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01707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78398" y="1"/>
            <a:ext cx="8787204" cy="1060704"/>
          </a:xfrm>
        </p:spPr>
        <p:txBody>
          <a:bodyPr anchor="ctr">
            <a:noAutofit/>
          </a:bodyPr>
          <a:lstStyle/>
          <a:p>
            <a:r>
              <a:rPr lang="en-US" altLang="en-US" dirty="0">
                <a:latin typeface="Arial" pitchFamily="34" charset="0"/>
                <a:ea typeface="ＭＳ Ｐゴシック" pitchFamily="34" charset="-128"/>
                <a:cs typeface="Arial" pitchFamily="34" charset="0"/>
              </a:rPr>
              <a:t>Case Studies Case 1: Is Sharing Good? (5 of 8)</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25119" y="1247308"/>
            <a:ext cx="8526376" cy="4880776"/>
          </a:xfrm>
        </p:spPr>
        <p:txBody>
          <a:bodyPr>
            <a:normAutofit/>
          </a:bodyPr>
          <a:lstStyle/>
          <a:p>
            <a:r>
              <a:rPr lang="en-US" altLang="en-US" b="1" dirty="0">
                <a:latin typeface="Arial" pitchFamily="34" charset="0"/>
                <a:ea typeface="ＭＳ Ｐゴシック" pitchFamily="34" charset="-128"/>
                <a:cs typeface="Arial" pitchFamily="34" charset="0"/>
              </a:rPr>
              <a:t>Ethics</a:t>
            </a:r>
            <a:r>
              <a:rPr lang="en-US" altLang="en-US" dirty="0">
                <a:latin typeface="Arial" pitchFamily="34" charset="0"/>
                <a:ea typeface="ＭＳ Ｐゴシック" pitchFamily="34" charset="-128"/>
                <a:cs typeface="Arial" pitchFamily="34" charset="0"/>
              </a:rPr>
              <a:t>: the study of how to decide if something is morally right or wrong</a:t>
            </a:r>
          </a:p>
          <a:p>
            <a:r>
              <a:rPr lang="en-US" altLang="en-US" dirty="0">
                <a:latin typeface="Arial" pitchFamily="34" charset="0"/>
                <a:ea typeface="ＭＳ Ｐゴシック" pitchFamily="34" charset="-128"/>
                <a:cs typeface="Arial" pitchFamily="34" charset="0"/>
              </a:rPr>
              <a:t>How do we judge right or wrong?</a:t>
            </a:r>
          </a:p>
          <a:p>
            <a:r>
              <a:rPr lang="en-US" altLang="en-US" b="1" dirty="0">
                <a:solidFill>
                  <a:srgbClr val="FF0000"/>
                </a:solidFill>
                <a:latin typeface="Arial" pitchFamily="34" charset="0"/>
                <a:ea typeface="ＭＳ Ｐゴシック" pitchFamily="34" charset="-128"/>
                <a:cs typeface="Arial" pitchFamily="34" charset="0"/>
              </a:rPr>
              <a:t>Consequentialism</a:t>
            </a:r>
            <a:r>
              <a:rPr lang="en-US" altLang="en-US" dirty="0">
                <a:latin typeface="Arial" pitchFamily="34" charset="0"/>
                <a:ea typeface="ＭＳ Ｐゴシック" pitchFamily="34" charset="-128"/>
                <a:cs typeface="Arial" pitchFamily="34" charset="0"/>
              </a:rPr>
              <a:t> focuses on the consequences of an act—on the whole good or bad outcomes</a:t>
            </a:r>
          </a:p>
          <a:p>
            <a:r>
              <a:rPr lang="en-US" altLang="en-US" b="1" dirty="0">
                <a:solidFill>
                  <a:srgbClr val="FF0000"/>
                </a:solidFill>
                <a:latin typeface="Arial" pitchFamily="34" charset="0"/>
                <a:ea typeface="ＭＳ Ｐゴシック" pitchFamily="34" charset="-128"/>
                <a:cs typeface="Arial" pitchFamily="34" charset="0"/>
              </a:rPr>
              <a:t>Utilitarianism</a:t>
            </a:r>
            <a:r>
              <a:rPr lang="en-US" altLang="en-US" dirty="0">
                <a:latin typeface="Arial" pitchFamily="34" charset="0"/>
                <a:ea typeface="ＭＳ Ｐゴシック" pitchFamily="34" charset="-128"/>
                <a:cs typeface="Arial" pitchFamily="34" charset="0"/>
              </a:rPr>
              <a:t>: look at overall good for everyone</a:t>
            </a:r>
            <a:endParaRPr lang="en-US" altLang="en-US" b="1" dirty="0">
              <a:latin typeface="Arial"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4238858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78398" y="1"/>
            <a:ext cx="8787204" cy="1060704"/>
          </a:xfrm>
        </p:spPr>
        <p:txBody>
          <a:bodyPr anchor="ctr">
            <a:noAutofit/>
          </a:bodyPr>
          <a:lstStyle/>
          <a:p>
            <a:r>
              <a:rPr lang="en-US" altLang="en-US" dirty="0">
                <a:latin typeface="Arial" pitchFamily="34" charset="0"/>
                <a:ea typeface="ＭＳ Ｐゴシック" pitchFamily="34" charset="-128"/>
                <a:cs typeface="Arial" pitchFamily="34" charset="0"/>
              </a:rPr>
              <a:t>Case Studies Case 1: Is Sharing Good? (6 of 8)</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99410"/>
            <a:ext cx="8480320" cy="4826753"/>
          </a:xfrm>
        </p:spPr>
        <p:txBody>
          <a:bodyPr>
            <a:normAutofit/>
          </a:bodyPr>
          <a:lstStyle/>
          <a:p>
            <a:r>
              <a:rPr lang="en-US" altLang="en-US" dirty="0">
                <a:solidFill>
                  <a:srgbClr val="FF0000"/>
                </a:solidFill>
                <a:latin typeface="Arial" pitchFamily="34" charset="0"/>
                <a:ea typeface="ＭＳ Ｐゴシック" pitchFamily="34" charset="-128"/>
                <a:cs typeface="Arial" pitchFamily="34" charset="0"/>
              </a:rPr>
              <a:t>Utilitarian argument </a:t>
            </a:r>
            <a:r>
              <a:rPr lang="en-US" altLang="en-US" dirty="0">
                <a:latin typeface="Arial" pitchFamily="34" charset="0"/>
                <a:ea typeface="ＭＳ Ｐゴシック" pitchFamily="34" charset="-128"/>
                <a:cs typeface="Arial" pitchFamily="34" charset="0"/>
              </a:rPr>
              <a:t>#1: copying is OK</a:t>
            </a:r>
          </a:p>
          <a:p>
            <a:pPr lvl="1"/>
            <a:r>
              <a:rPr lang="en-US" altLang="en-US" dirty="0">
                <a:latin typeface="Arial" pitchFamily="34" charset="0"/>
                <a:ea typeface="ＭＳ Ｐゴシック" pitchFamily="34" charset="-128"/>
                <a:cs typeface="Arial" pitchFamily="34" charset="0"/>
              </a:rPr>
              <a:t>There are many more music users than publishers</a:t>
            </a:r>
          </a:p>
          <a:p>
            <a:pPr lvl="1"/>
            <a:r>
              <a:rPr lang="en-US" altLang="en-US" dirty="0">
                <a:latin typeface="Arial" pitchFamily="34" charset="0"/>
                <a:ea typeface="ＭＳ Ｐゴシック" pitchFamily="34" charset="-128"/>
                <a:cs typeface="Arial" pitchFamily="34" charset="0"/>
              </a:rPr>
              <a:t>Music users are happy to get free access </a:t>
            </a:r>
          </a:p>
          <a:p>
            <a:pPr lvl="1"/>
            <a:r>
              <a:rPr lang="en-US" altLang="en-US" dirty="0">
                <a:latin typeface="Arial" pitchFamily="34" charset="0"/>
                <a:ea typeface="ＭＳ Ｐゴシック" pitchFamily="34" charset="-128"/>
                <a:cs typeface="Arial" pitchFamily="34" charset="0"/>
              </a:rPr>
              <a:t>Publishers get publicity for their products</a:t>
            </a:r>
          </a:p>
          <a:p>
            <a:pPr lvl="1"/>
            <a:r>
              <a:rPr lang="en-US" altLang="en-US" dirty="0">
                <a:latin typeface="Arial" pitchFamily="34" charset="0"/>
                <a:ea typeface="ＭＳ Ｐゴシック" pitchFamily="34" charset="-128"/>
                <a:cs typeface="Arial" pitchFamily="34" charset="0"/>
              </a:rPr>
              <a:t>File sharing is akin to hearing a song on the radio</a:t>
            </a:r>
          </a:p>
          <a:p>
            <a:pPr lvl="1"/>
            <a:r>
              <a:rPr lang="en-US" altLang="en-US" dirty="0">
                <a:latin typeface="Arial" pitchFamily="34" charset="0"/>
                <a:ea typeface="ＭＳ Ｐゴシック" pitchFamily="34" charset="-128"/>
                <a:cs typeface="Arial" pitchFamily="34" charset="0"/>
              </a:rPr>
              <a:t>Many users buy a song after listening to it</a:t>
            </a:r>
          </a:p>
          <a:p>
            <a:pPr lvl="1"/>
            <a:r>
              <a:rPr lang="en-US" altLang="en-US" dirty="0">
                <a:latin typeface="Arial" pitchFamily="34" charset="0"/>
                <a:ea typeface="ＭＳ Ｐゴシック" pitchFamily="34" charset="-128"/>
                <a:cs typeface="Arial" pitchFamily="34" charset="0"/>
              </a:rPr>
              <a:t>Drop in sales may relate more to purchasing </a:t>
            </a:r>
            <a:br>
              <a:rPr lang="en-US" altLang="en-US" dirty="0">
                <a:latin typeface="Arial" pitchFamily="34" charset="0"/>
                <a:ea typeface="ＭＳ Ｐゴシック" pitchFamily="34" charset="-128"/>
                <a:cs typeface="Arial" pitchFamily="34" charset="0"/>
              </a:rPr>
            </a:br>
            <a:r>
              <a:rPr lang="en-US" altLang="en-US" dirty="0">
                <a:latin typeface="Arial" pitchFamily="34" charset="0"/>
                <a:ea typeface="ＭＳ Ｐゴシック" pitchFamily="34" charset="-128"/>
                <a:cs typeface="Arial" pitchFamily="34" charset="0"/>
              </a:rPr>
              <a:t>song-by-song rather than by album</a:t>
            </a:r>
          </a:p>
        </p:txBody>
      </p:sp>
    </p:spTree>
    <p:extLst>
      <p:ext uri="{BB962C8B-B14F-4D97-AF65-F5344CB8AC3E}">
        <p14:creationId xmlns:p14="http://schemas.microsoft.com/office/powerpoint/2010/main" val="2683383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78398" y="1"/>
            <a:ext cx="8787204" cy="1060704"/>
          </a:xfrm>
        </p:spPr>
        <p:txBody>
          <a:bodyPr anchor="ctr">
            <a:noAutofit/>
          </a:bodyPr>
          <a:lstStyle/>
          <a:p>
            <a:r>
              <a:rPr lang="en-US" altLang="en-US" dirty="0">
                <a:latin typeface="Arial" pitchFamily="34" charset="0"/>
                <a:ea typeface="ＭＳ Ｐゴシック" pitchFamily="34" charset="-128"/>
                <a:cs typeface="Arial" pitchFamily="34" charset="0"/>
              </a:rPr>
              <a:t>Case Studies Case 1: Is Sharing Good? (7 of 8)</a:t>
            </a:r>
            <a:endParaRPr lang="en-US" b="0" dirty="0">
              <a:latin typeface="Arial" pitchFamily="34" charset="0"/>
              <a:cs typeface="Arial" pitchFamily="34" charset="0"/>
            </a:endParaRPr>
          </a:p>
        </p:txBody>
      </p:sp>
      <p:sp>
        <p:nvSpPr>
          <p:cNvPr id="7" name="Content Placeholder 6"/>
          <p:cNvSpPr>
            <a:spLocks noGrp="1"/>
          </p:cNvSpPr>
          <p:nvPr>
            <p:ph idx="1"/>
          </p:nvPr>
        </p:nvSpPr>
        <p:spPr>
          <a:xfrm>
            <a:off x="288758" y="1231266"/>
            <a:ext cx="8648765" cy="4928902"/>
          </a:xfrm>
        </p:spPr>
        <p:txBody>
          <a:bodyPr>
            <a:normAutofit/>
          </a:bodyPr>
          <a:lstStyle/>
          <a:p>
            <a:r>
              <a:rPr lang="en-US" altLang="en-US" dirty="0">
                <a:latin typeface="Arial" pitchFamily="34" charset="0"/>
                <a:ea typeface="ＭＳ Ｐゴシック" pitchFamily="34" charset="-128"/>
                <a:cs typeface="Arial" pitchFamily="34" charset="0"/>
              </a:rPr>
              <a:t>Utilitarian argument #2: copying is not OK</a:t>
            </a:r>
          </a:p>
          <a:p>
            <a:pPr lvl="1"/>
            <a:r>
              <a:rPr lang="en-US" altLang="en-US" dirty="0">
                <a:latin typeface="Arial" pitchFamily="34" charset="0"/>
                <a:ea typeface="ＭＳ Ｐゴシック" pitchFamily="34" charset="-128"/>
                <a:cs typeface="Arial" pitchFamily="34" charset="0"/>
              </a:rPr>
              <a:t>Early on MP3 sharing encouraged CD sales, but long-term trend is reduction in sales</a:t>
            </a:r>
          </a:p>
          <a:p>
            <a:pPr lvl="1"/>
            <a:r>
              <a:rPr lang="en-US" altLang="en-US" dirty="0">
                <a:latin typeface="Arial" pitchFamily="34" charset="0"/>
                <a:ea typeface="ＭＳ Ｐゴシック" pitchFamily="34" charset="-128"/>
                <a:cs typeface="Arial" pitchFamily="34" charset="0"/>
              </a:rPr>
              <a:t>iTunes and Amazon sell one song at a time to compete with illegal file sharing</a:t>
            </a:r>
          </a:p>
          <a:p>
            <a:pPr lvl="1"/>
            <a:r>
              <a:rPr lang="en-US" altLang="en-US" dirty="0">
                <a:latin typeface="Arial" pitchFamily="34" charset="0"/>
                <a:ea typeface="ＭＳ Ｐゴシック" pitchFamily="34" charset="-128"/>
                <a:cs typeface="Arial" pitchFamily="34" charset="0"/>
              </a:rPr>
              <a:t>If publishers cannot profit, then less music will be made</a:t>
            </a:r>
          </a:p>
          <a:p>
            <a:pPr lvl="1"/>
            <a:r>
              <a:rPr lang="en-US" altLang="en-US" dirty="0">
                <a:latin typeface="Arial" pitchFamily="34" charset="0"/>
                <a:ea typeface="ＭＳ Ｐゴシック" pitchFamily="34" charset="-128"/>
                <a:cs typeface="Arial" pitchFamily="34" charset="0"/>
              </a:rPr>
              <a:t>Copyright protection is the law, and music file sharing is clearly illegal; encouraging illegal behavior is wrong</a:t>
            </a:r>
          </a:p>
        </p:txBody>
      </p:sp>
    </p:spTree>
    <p:extLst>
      <p:ext uri="{BB962C8B-B14F-4D97-AF65-F5344CB8AC3E}">
        <p14:creationId xmlns:p14="http://schemas.microsoft.com/office/powerpoint/2010/main" val="7058190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78398" y="1"/>
            <a:ext cx="8787204" cy="1060704"/>
          </a:xfrm>
        </p:spPr>
        <p:txBody>
          <a:bodyPr anchor="ctr">
            <a:noAutofit/>
          </a:bodyPr>
          <a:lstStyle/>
          <a:p>
            <a:r>
              <a:rPr lang="en-US" altLang="en-US" dirty="0">
                <a:latin typeface="Arial" pitchFamily="34" charset="0"/>
                <a:ea typeface="ＭＳ Ｐゴシック" pitchFamily="34" charset="-128"/>
                <a:cs typeface="Arial" pitchFamily="34" charset="0"/>
              </a:rPr>
              <a:t>Case Studies Case 1: Is Sharing Good? (8 of 8)</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b="1" dirty="0">
                <a:solidFill>
                  <a:srgbClr val="FF0000"/>
                </a:solidFill>
                <a:latin typeface="Arial" pitchFamily="34" charset="0"/>
                <a:ea typeface="ＭＳ Ｐゴシック" pitchFamily="34" charset="-128"/>
                <a:cs typeface="Arial" pitchFamily="34" charset="0"/>
              </a:rPr>
              <a:t>Dialectic</a:t>
            </a:r>
            <a:r>
              <a:rPr lang="en-US" altLang="en-US" dirty="0">
                <a:latin typeface="Arial" pitchFamily="34" charset="0"/>
                <a:ea typeface="ＭＳ Ｐゴシック" pitchFamily="34" charset="-128"/>
                <a:cs typeface="Arial" pitchFamily="34" charset="0"/>
              </a:rPr>
              <a:t>: a dialogue that explores an issue from both sides to lead to greater understanding</a:t>
            </a:r>
          </a:p>
          <a:p>
            <a:r>
              <a:rPr lang="en-US" altLang="en-US" dirty="0">
                <a:latin typeface="Arial" pitchFamily="34" charset="0"/>
                <a:ea typeface="ＭＳ Ｐゴシック" pitchFamily="34" charset="-128"/>
                <a:cs typeface="Arial" pitchFamily="34" charset="0"/>
              </a:rPr>
              <a:t>An example:</a:t>
            </a:r>
          </a:p>
          <a:p>
            <a:pPr lvl="1"/>
            <a:r>
              <a:rPr lang="en-US" altLang="en-US" dirty="0">
                <a:latin typeface="Arial" pitchFamily="34" charset="0"/>
                <a:ea typeface="ＭＳ Ｐゴシック" pitchFamily="34" charset="-128"/>
                <a:cs typeface="Arial" pitchFamily="34" charset="0"/>
              </a:rPr>
              <a:t>Facts are that music sales have dropped continuously</a:t>
            </a:r>
          </a:p>
          <a:p>
            <a:pPr lvl="1"/>
            <a:r>
              <a:rPr lang="en-US" altLang="en-US" dirty="0">
                <a:latin typeface="Arial" pitchFamily="34" charset="0"/>
                <a:ea typeface="ＭＳ Ｐゴシック" pitchFamily="34" charset="-128"/>
                <a:cs typeface="Arial" pitchFamily="34" charset="0"/>
              </a:rPr>
              <a:t>Long-term, argument that less music would be published is a strong one</a:t>
            </a:r>
          </a:p>
          <a:p>
            <a:pPr lvl="1"/>
            <a:r>
              <a:rPr lang="en-US" altLang="en-US" dirty="0">
                <a:latin typeface="Arial" pitchFamily="34" charset="0"/>
                <a:ea typeface="ＭＳ Ｐゴシック" pitchFamily="34" charset="-128"/>
                <a:cs typeface="Arial" pitchFamily="34" charset="0"/>
              </a:rPr>
              <a:t>Lesser-known artists may use file sharing to become better known, depend on income from performances</a:t>
            </a:r>
          </a:p>
          <a:p>
            <a:pPr lvl="1"/>
            <a:r>
              <a:rPr lang="en-US" altLang="en-US" dirty="0">
                <a:latin typeface="Arial" pitchFamily="34" charset="0"/>
                <a:ea typeface="ＭＳ Ｐゴシック" pitchFamily="34" charset="-128"/>
                <a:cs typeface="Arial" pitchFamily="34" charset="0"/>
              </a:rPr>
              <a:t>Rethink the music industry from a new viewpoint</a:t>
            </a:r>
          </a:p>
        </p:txBody>
      </p:sp>
    </p:spTree>
    <p:extLst>
      <p:ext uri="{BB962C8B-B14F-4D97-AF65-F5344CB8AC3E}">
        <p14:creationId xmlns:p14="http://schemas.microsoft.com/office/powerpoint/2010/main" val="1506454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 y="16043"/>
            <a:ext cx="9140420" cy="1010652"/>
          </a:xfrm>
        </p:spPr>
        <p:txBody>
          <a:bodyPr anchor="ctr">
            <a:noAutofit/>
          </a:bodyPr>
          <a:lstStyle/>
          <a:p>
            <a:r>
              <a:rPr lang="en-US" altLang="en-US" dirty="0">
                <a:latin typeface="Arial" pitchFamily="34" charset="0"/>
                <a:ea typeface="ＭＳ Ｐゴシック" pitchFamily="34" charset="-128"/>
                <a:cs typeface="Arial" pitchFamily="34" charset="0"/>
              </a:rPr>
              <a:t>Case Studies Case 2: The Athens Affair—Privacy vs. Security (1 of 12)</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41161" y="1279392"/>
            <a:ext cx="8480320" cy="4894898"/>
          </a:xfrm>
        </p:spPr>
        <p:txBody>
          <a:bodyPr>
            <a:normAutofit/>
          </a:bodyPr>
          <a:lstStyle/>
          <a:p>
            <a:r>
              <a:rPr lang="en-US" altLang="en-US" dirty="0">
                <a:latin typeface="Arial" pitchFamily="34" charset="0"/>
                <a:ea typeface="ＭＳ Ｐゴシック" pitchFamily="34" charset="-128"/>
                <a:cs typeface="Arial" pitchFamily="34" charset="0"/>
              </a:rPr>
              <a:t>Law enforcement needs to wiretap phones belonging to suspects</a:t>
            </a:r>
          </a:p>
          <a:p>
            <a:pPr lvl="1"/>
            <a:r>
              <a:rPr lang="en-US" altLang="en-US" dirty="0">
                <a:latin typeface="Arial" pitchFamily="34" charset="0"/>
                <a:ea typeface="ＭＳ Ｐゴシック" pitchFamily="34" charset="-128"/>
                <a:cs typeface="Arial" pitchFamily="34" charset="0"/>
              </a:rPr>
              <a:t>Prior to cellular technology, a wiretap was a literal split off the main phone wire into the building</a:t>
            </a:r>
          </a:p>
          <a:p>
            <a:r>
              <a:rPr lang="en-US" altLang="en-US" dirty="0">
                <a:latin typeface="Arial" pitchFamily="34" charset="0"/>
                <a:ea typeface="ＭＳ Ｐゴシック" pitchFamily="34" charset="-128"/>
                <a:cs typeface="Arial" pitchFamily="34" charset="0"/>
              </a:rPr>
              <a:t>Modern use of cell phones and VoIP complicates phone taps</a:t>
            </a:r>
          </a:p>
          <a:p>
            <a:r>
              <a:rPr lang="en-US" altLang="en-US" dirty="0">
                <a:latin typeface="Arial" pitchFamily="34" charset="0"/>
                <a:ea typeface="ＭＳ Ｐゴシック" pitchFamily="34" charset="-128"/>
                <a:cs typeface="Arial" pitchFamily="34" charset="0"/>
              </a:rPr>
              <a:t>However, most/all phone calls go through computer systems</a:t>
            </a:r>
          </a:p>
          <a:p>
            <a:r>
              <a:rPr lang="en-US" altLang="en-US" dirty="0">
                <a:latin typeface="Arial" pitchFamily="34" charset="0"/>
                <a:ea typeface="ＭＳ Ｐゴシック" pitchFamily="34" charset="-128"/>
                <a:cs typeface="Arial" pitchFamily="34" charset="0"/>
              </a:rPr>
              <a:t>Laws require all telecommunications to support “lawful intercept” (LI) systems for wiretaps</a:t>
            </a:r>
          </a:p>
        </p:txBody>
      </p:sp>
    </p:spTree>
    <p:extLst>
      <p:ext uri="{BB962C8B-B14F-4D97-AF65-F5344CB8AC3E}">
        <p14:creationId xmlns:p14="http://schemas.microsoft.com/office/powerpoint/2010/main" val="34557184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ea typeface="ＭＳ Ｐゴシック" pitchFamily="34" charset="-128"/>
                <a:cs typeface="Arial" pitchFamily="34" charset="0"/>
              </a:rPr>
              <a:t>Case Studies Case 2: The Athens Affair—Privacy vs. Security (2 of 12)</a:t>
            </a:r>
            <a:endParaRPr lang="en-US" b="0" dirty="0">
              <a:latin typeface="Arial" pitchFamily="34" charset="0"/>
              <a:cs typeface="Arial" pitchFamily="34" charset="0"/>
            </a:endParaRPr>
          </a:p>
        </p:txBody>
      </p:sp>
      <p:sp>
        <p:nvSpPr>
          <p:cNvPr id="5" name="Content Placeholder 2"/>
          <p:cNvSpPr>
            <a:spLocks noGrp="1" noChangeArrowheads="1"/>
          </p:cNvSpPr>
          <p:nvPr>
            <p:ph idx="1"/>
          </p:nvPr>
        </p:nvSpPr>
        <p:spPr/>
        <p:txBody>
          <a:bodyPr/>
          <a:lstStyle/>
          <a:p>
            <a:r>
              <a:rPr lang="en-US" altLang="en-US" dirty="0">
                <a:latin typeface="Arial" pitchFamily="34" charset="0"/>
                <a:ea typeface="ＭＳ Ｐゴシック" pitchFamily="34" charset="-128"/>
                <a:cs typeface="Arial" pitchFamily="34" charset="0"/>
              </a:rPr>
              <a:t>Built-in LI systems are a target for hackers</a:t>
            </a:r>
          </a:p>
          <a:p>
            <a:r>
              <a:rPr lang="en-US" altLang="en-US" dirty="0">
                <a:latin typeface="Arial" pitchFamily="34" charset="0"/>
                <a:ea typeface="ＭＳ Ｐゴシック" pitchFamily="34" charset="-128"/>
                <a:cs typeface="Arial" pitchFamily="34" charset="0"/>
              </a:rPr>
              <a:t>In Greece, hackers wiretapped 100 major business and political leaders</a:t>
            </a:r>
          </a:p>
          <a:p>
            <a:r>
              <a:rPr lang="en-US" altLang="en-US" dirty="0">
                <a:latin typeface="Arial" pitchFamily="34" charset="0"/>
                <a:ea typeface="ＭＳ Ｐゴシック" pitchFamily="34" charset="-128"/>
                <a:cs typeface="Arial" pitchFamily="34" charset="0"/>
              </a:rPr>
              <a:t>No trace of who did it or why</a:t>
            </a:r>
          </a:p>
          <a:p>
            <a:r>
              <a:rPr lang="en-US" altLang="en-US" dirty="0">
                <a:latin typeface="Arial" pitchFamily="34" charset="0"/>
                <a:ea typeface="ＭＳ Ｐゴシック" pitchFamily="34" charset="-128"/>
                <a:cs typeface="Arial" pitchFamily="34" charset="0"/>
              </a:rPr>
              <a:t>Ethical question </a:t>
            </a:r>
          </a:p>
          <a:p>
            <a:pPr lvl="1"/>
            <a:r>
              <a:rPr lang="en-US" altLang="en-US" dirty="0">
                <a:latin typeface="Arial" pitchFamily="34" charset="0"/>
                <a:ea typeface="ＭＳ Ｐゴシック" pitchFamily="34" charset="-128"/>
                <a:cs typeface="Arial" pitchFamily="34" charset="0"/>
              </a:rPr>
              <a:t>How does the decision to require LI software impact privacy and security?</a:t>
            </a:r>
          </a:p>
        </p:txBody>
      </p:sp>
    </p:spTree>
    <p:extLst>
      <p:ext uri="{BB962C8B-B14F-4D97-AF65-F5344CB8AC3E}">
        <p14:creationId xmlns:p14="http://schemas.microsoft.com/office/powerpoint/2010/main" val="42379956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ea typeface="ＭＳ Ｐゴシック" pitchFamily="34" charset="-128"/>
                <a:cs typeface="Arial" pitchFamily="34" charset="0"/>
              </a:rPr>
              <a:t>Case Studies Case 2: The Athens Affair—Privacy vs. Security (3 of 12)</a:t>
            </a:r>
            <a:endParaRPr lang="en-US" b="0" dirty="0">
              <a:latin typeface="Arial" pitchFamily="34" charset="0"/>
              <a:cs typeface="Arial" pitchFamily="34" charset="0"/>
            </a:endParaRPr>
          </a:p>
        </p:txBody>
      </p:sp>
      <p:sp>
        <p:nvSpPr>
          <p:cNvPr id="4" name="Content Placeholder 3"/>
          <p:cNvSpPr>
            <a:spLocks noGrp="1"/>
          </p:cNvSpPr>
          <p:nvPr>
            <p:ph idx="1"/>
          </p:nvPr>
        </p:nvSpPr>
        <p:spPr>
          <a:xfrm>
            <a:off x="473245" y="1247308"/>
            <a:ext cx="8229600" cy="4894898"/>
          </a:xfrm>
        </p:spPr>
        <p:txBody>
          <a:bodyPr/>
          <a:lstStyle/>
          <a:p>
            <a:r>
              <a:rPr lang="en-US" altLang="en-US" dirty="0">
                <a:latin typeface="Arial" pitchFamily="34" charset="0"/>
                <a:ea typeface="ＭＳ Ｐゴシック" pitchFamily="34" charset="-128"/>
                <a:cs typeface="Arial" pitchFamily="34" charset="0"/>
              </a:rPr>
              <a:t>Ethical reasoning by </a:t>
            </a:r>
            <a:r>
              <a:rPr lang="en-US" altLang="en-US" b="1" dirty="0">
                <a:latin typeface="Arial" pitchFamily="34" charset="0"/>
                <a:ea typeface="ＭＳ Ｐゴシック" pitchFamily="34" charset="-128"/>
                <a:cs typeface="Arial" pitchFamily="34" charset="0"/>
              </a:rPr>
              <a:t>analogy</a:t>
            </a:r>
            <a:endParaRPr lang="en-US" altLang="en-US" dirty="0">
              <a:latin typeface="Arial" pitchFamily="34" charset="0"/>
              <a:ea typeface="ＭＳ Ｐゴシック" pitchFamily="34" charset="-128"/>
              <a:cs typeface="Arial" pitchFamily="34" charset="0"/>
            </a:endParaRPr>
          </a:p>
          <a:p>
            <a:pPr lvl="1"/>
            <a:r>
              <a:rPr lang="en-US" altLang="en-US" dirty="0">
                <a:latin typeface="Arial" pitchFamily="34" charset="0"/>
                <a:ea typeface="ＭＳ Ｐゴシック" pitchFamily="34" charset="-128"/>
                <a:cs typeface="Arial" pitchFamily="34" charset="0"/>
              </a:rPr>
              <a:t>Analogy-making is familiar to everyone</a:t>
            </a:r>
          </a:p>
          <a:p>
            <a:pPr lvl="1"/>
            <a:r>
              <a:rPr lang="en-US" altLang="en-US" dirty="0">
                <a:latin typeface="Arial" pitchFamily="34" charset="0"/>
                <a:ea typeface="ＭＳ Ｐゴシック" pitchFamily="34" charset="-128"/>
                <a:cs typeface="Arial" pitchFamily="34" charset="0"/>
              </a:rPr>
              <a:t>Analogies are never perfect: what aspects are important?</a:t>
            </a:r>
          </a:p>
          <a:p>
            <a:pPr lvl="1"/>
            <a:r>
              <a:rPr lang="en-US" altLang="en-US" dirty="0">
                <a:latin typeface="Arial" pitchFamily="34" charset="0"/>
                <a:ea typeface="ＭＳ Ｐゴシック" pitchFamily="34" charset="-128"/>
                <a:cs typeface="Arial" pitchFamily="34" charset="0"/>
              </a:rPr>
              <a:t>Apply decisions from one problem to another</a:t>
            </a:r>
          </a:p>
          <a:p>
            <a:pPr lvl="1"/>
            <a:r>
              <a:rPr lang="en-US" altLang="en-US" dirty="0">
                <a:latin typeface="Arial" pitchFamily="34" charset="0"/>
                <a:ea typeface="ＭＳ Ｐゴシック" pitchFamily="34" charset="-128"/>
                <a:cs typeface="Arial" pitchFamily="34" charset="0"/>
              </a:rPr>
              <a:t>Identify what doesn’t fit; often an important aspect of the problem</a:t>
            </a:r>
          </a:p>
        </p:txBody>
      </p:sp>
    </p:spTree>
    <p:extLst>
      <p:ext uri="{BB962C8B-B14F-4D97-AF65-F5344CB8AC3E}">
        <p14:creationId xmlns:p14="http://schemas.microsoft.com/office/powerpoint/2010/main" val="950016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ea typeface="ＭＳ Ｐゴシック" pitchFamily="34" charset="-128"/>
                <a:cs typeface="Arial" pitchFamily="34" charset="0"/>
              </a:rPr>
              <a:t>Case Studies Case 2: The Athens Affair—Privacy vs. Security (4 of 12)</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5"/>
            <a:ext cx="8510334" cy="4960987"/>
          </a:xfrm>
        </p:spPr>
        <p:txBody>
          <a:bodyPr>
            <a:normAutofit/>
          </a:bodyPr>
          <a:lstStyle/>
          <a:p>
            <a:r>
              <a:rPr lang="en-US" altLang="en-US" dirty="0">
                <a:latin typeface="Arial" pitchFamily="34" charset="0"/>
                <a:ea typeface="ＭＳ Ｐゴシック" pitchFamily="34" charset="-128"/>
                <a:cs typeface="Arial" pitchFamily="34" charset="0"/>
              </a:rPr>
              <a:t>Analogy #1: LI is like requiring everyone to record their face-to-face conversations</a:t>
            </a:r>
          </a:p>
          <a:p>
            <a:pPr lvl="1"/>
            <a:r>
              <a:rPr lang="en-US" altLang="en-US" dirty="0">
                <a:latin typeface="Arial" pitchFamily="34" charset="0"/>
                <a:ea typeface="ＭＳ Ｐゴシック" pitchFamily="34" charset="-128"/>
                <a:cs typeface="Arial" pitchFamily="34" charset="0"/>
              </a:rPr>
              <a:t>Focused on VoIP (e.g., Skype)</a:t>
            </a:r>
          </a:p>
          <a:p>
            <a:pPr lvl="1"/>
            <a:r>
              <a:rPr lang="en-US" altLang="en-US" dirty="0">
                <a:latin typeface="Arial" pitchFamily="34" charset="0"/>
                <a:ea typeface="ＭＳ Ｐゴシック" pitchFamily="34" charset="-128"/>
                <a:cs typeface="Arial" pitchFamily="34" charset="0"/>
              </a:rPr>
              <a:t>Similarities between VoIP and face-to-face</a:t>
            </a:r>
          </a:p>
          <a:p>
            <a:pPr lvl="2"/>
            <a:r>
              <a:rPr lang="en-US" altLang="en-US" dirty="0">
                <a:latin typeface="Arial" pitchFamily="34" charset="0"/>
                <a:ea typeface="ＭＳ Ｐゴシック" pitchFamily="34" charset="-128"/>
                <a:cs typeface="Arial" pitchFamily="34" charset="0"/>
              </a:rPr>
              <a:t>Forms of communication</a:t>
            </a:r>
          </a:p>
          <a:p>
            <a:pPr lvl="2"/>
            <a:r>
              <a:rPr lang="en-US" altLang="en-US" dirty="0">
                <a:latin typeface="Arial" pitchFamily="34" charset="0"/>
                <a:ea typeface="ＭＳ Ｐゴシック" pitchFamily="34" charset="-128"/>
                <a:cs typeface="Arial" pitchFamily="34" charset="0"/>
              </a:rPr>
              <a:t>Meant to include a limited number</a:t>
            </a:r>
          </a:p>
          <a:p>
            <a:pPr lvl="2"/>
            <a:r>
              <a:rPr lang="en-US" altLang="en-US" dirty="0">
                <a:latin typeface="Arial" pitchFamily="34" charset="0"/>
                <a:ea typeface="ＭＳ Ｐゴシック" pitchFamily="34" charset="-128"/>
                <a:cs typeface="Arial" pitchFamily="34" charset="0"/>
              </a:rPr>
              <a:t>Possible for others to listen in</a:t>
            </a:r>
          </a:p>
          <a:p>
            <a:pPr lvl="2"/>
            <a:r>
              <a:rPr lang="en-US" altLang="en-US" dirty="0">
                <a:latin typeface="Arial" pitchFamily="34" charset="0"/>
                <a:ea typeface="ＭＳ Ｐゴシック" pitchFamily="34" charset="-128"/>
                <a:cs typeface="Arial" pitchFamily="34" charset="0"/>
              </a:rPr>
              <a:t>Easy access for others; required recordings allow abuses by government or hackers</a:t>
            </a:r>
          </a:p>
        </p:txBody>
      </p:sp>
    </p:spTree>
    <p:extLst>
      <p:ext uri="{BB962C8B-B14F-4D97-AF65-F5344CB8AC3E}">
        <p14:creationId xmlns:p14="http://schemas.microsoft.com/office/powerpoint/2010/main" val="15142463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ea typeface="ＭＳ Ｐゴシック" pitchFamily="34" charset="-128"/>
                <a:cs typeface="Arial" pitchFamily="34" charset="0"/>
              </a:rPr>
              <a:t>Case Studies Case 2: The Athens Affair—Privacy vs. Security (5 of 12)</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315452"/>
            <a:ext cx="8494292" cy="4810711"/>
          </a:xfrm>
        </p:spPr>
        <p:txBody>
          <a:bodyPr>
            <a:normAutofit/>
          </a:bodyPr>
          <a:lstStyle/>
          <a:p>
            <a:pPr lvl="1"/>
            <a:r>
              <a:rPr lang="en-US" altLang="en-US" dirty="0">
                <a:latin typeface="Arial" pitchFamily="34" charset="0"/>
                <a:ea typeface="ＭＳ Ｐゴシック" pitchFamily="34" charset="-128"/>
                <a:cs typeface="Arial" pitchFamily="34" charset="0"/>
              </a:rPr>
              <a:t>Decisions about face-to-face conversations</a:t>
            </a:r>
          </a:p>
          <a:p>
            <a:pPr lvl="2"/>
            <a:r>
              <a:rPr lang="en-US" altLang="en-US" dirty="0">
                <a:latin typeface="Arial" pitchFamily="34" charset="0"/>
                <a:ea typeface="ＭＳ Ｐゴシック" pitchFamily="34" charset="-128"/>
                <a:cs typeface="Arial" pitchFamily="34" charset="0"/>
              </a:rPr>
              <a:t>Private conversations are not monitored routinely </a:t>
            </a:r>
          </a:p>
          <a:p>
            <a:pPr lvl="2"/>
            <a:r>
              <a:rPr lang="en-US" altLang="en-US" dirty="0">
                <a:latin typeface="Arial" pitchFamily="34" charset="0"/>
                <a:ea typeface="ＭＳ Ｐゴシック" pitchFamily="34" charset="-128"/>
                <a:cs typeface="Arial" pitchFamily="34" charset="0"/>
              </a:rPr>
              <a:t>Monitoring only with court order and probable cause</a:t>
            </a:r>
          </a:p>
          <a:p>
            <a:pPr lvl="2"/>
            <a:r>
              <a:rPr lang="en-US" altLang="en-US" dirty="0">
                <a:latin typeface="Arial" pitchFamily="34" charset="0"/>
                <a:ea typeface="ＭＳ Ｐゴシック" pitchFamily="34" charset="-128"/>
                <a:cs typeface="Arial" pitchFamily="34" charset="0"/>
              </a:rPr>
              <a:t>We do NOT record all conversations all the time</a:t>
            </a:r>
          </a:p>
          <a:p>
            <a:pPr lvl="1"/>
            <a:r>
              <a:rPr lang="en-US" altLang="en-US" dirty="0">
                <a:latin typeface="Arial" pitchFamily="34" charset="0"/>
                <a:ea typeface="ＭＳ Ｐゴシック" pitchFamily="34" charset="-128"/>
                <a:cs typeface="Arial" pitchFamily="34" charset="0"/>
              </a:rPr>
              <a:t>Implications by analogy for VoIP</a:t>
            </a:r>
          </a:p>
          <a:p>
            <a:pPr lvl="2"/>
            <a:r>
              <a:rPr lang="en-US" altLang="en-US" dirty="0">
                <a:latin typeface="Arial" pitchFamily="34" charset="0"/>
                <a:ea typeface="ＭＳ Ｐゴシック" pitchFamily="34" charset="-128"/>
                <a:cs typeface="Arial" pitchFamily="34" charset="0"/>
              </a:rPr>
              <a:t>LI systems go beyond rules for private conversations</a:t>
            </a:r>
          </a:p>
          <a:p>
            <a:pPr lvl="2"/>
            <a:r>
              <a:rPr lang="en-US" altLang="en-US" dirty="0">
                <a:latin typeface="Arial" pitchFamily="34" charset="0"/>
                <a:ea typeface="ＭＳ Ｐゴシック" pitchFamily="34" charset="-128"/>
                <a:cs typeface="Arial" pitchFamily="34" charset="0"/>
              </a:rPr>
              <a:t>Without LI, law enforcement can still monitor as with face-to-face conversations</a:t>
            </a:r>
          </a:p>
        </p:txBody>
      </p:sp>
    </p:spTree>
    <p:extLst>
      <p:ext uri="{BB962C8B-B14F-4D97-AF65-F5344CB8AC3E}">
        <p14:creationId xmlns:p14="http://schemas.microsoft.com/office/powerpoint/2010/main" val="28486262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ea typeface="ＭＳ Ｐゴシック" pitchFamily="34" charset="-128"/>
                <a:cs typeface="Arial" pitchFamily="34" charset="0"/>
              </a:rPr>
              <a:t>Case Studies Case 2: The Athens Affair—Privacy vs. Security (6 of 12)</a:t>
            </a:r>
            <a:endParaRPr lang="en-US" b="0" dirty="0">
              <a:latin typeface="Arial" pitchFamily="34" charset="0"/>
              <a:cs typeface="Arial" pitchFamily="34" charset="0"/>
            </a:endParaRPr>
          </a:p>
        </p:txBody>
      </p:sp>
      <p:sp>
        <p:nvSpPr>
          <p:cNvPr id="3" name="Content Placeholder 2"/>
          <p:cNvSpPr>
            <a:spLocks noGrp="1"/>
          </p:cNvSpPr>
          <p:nvPr>
            <p:ph idx="1"/>
          </p:nvPr>
        </p:nvSpPr>
        <p:spPr/>
        <p:txBody>
          <a:bodyPr/>
          <a:lstStyle/>
          <a:p>
            <a:pPr lvl="1"/>
            <a:r>
              <a:rPr lang="en-US" altLang="en-US" dirty="0">
                <a:latin typeface="Arial" pitchFamily="34" charset="0"/>
                <a:ea typeface="ＭＳ Ｐゴシック" pitchFamily="34" charset="-128"/>
                <a:cs typeface="Arial" pitchFamily="34" charset="0"/>
              </a:rPr>
              <a:t>Problems with the analogy</a:t>
            </a:r>
          </a:p>
          <a:p>
            <a:pPr lvl="2"/>
            <a:r>
              <a:rPr lang="en-US" altLang="en-US" dirty="0">
                <a:latin typeface="Arial" pitchFamily="34" charset="0"/>
                <a:ea typeface="ＭＳ Ｐゴシック" pitchFamily="34" charset="-128"/>
                <a:cs typeface="Arial" pitchFamily="34" charset="0"/>
              </a:rPr>
              <a:t>This argument would apply to normal phone tapping</a:t>
            </a:r>
          </a:p>
          <a:p>
            <a:pPr lvl="2"/>
            <a:r>
              <a:rPr lang="en-US" altLang="en-US" dirty="0">
                <a:latin typeface="Arial" pitchFamily="34" charset="0"/>
                <a:ea typeface="ＭＳ Ｐゴシック" pitchFamily="34" charset="-128"/>
                <a:cs typeface="Arial" pitchFamily="34" charset="0"/>
              </a:rPr>
              <a:t>Society accepts the need for some phone taps</a:t>
            </a:r>
          </a:p>
          <a:p>
            <a:pPr lvl="2"/>
            <a:r>
              <a:rPr lang="en-US" altLang="en-US" dirty="0">
                <a:latin typeface="Arial" pitchFamily="34" charset="0"/>
                <a:ea typeface="ＭＳ Ｐゴシック" pitchFamily="34" charset="-128"/>
                <a:cs typeface="Arial" pitchFamily="34" charset="0"/>
              </a:rPr>
              <a:t>What features of the analogy don’t work?</a:t>
            </a:r>
          </a:p>
          <a:p>
            <a:pPr lvl="2"/>
            <a:r>
              <a:rPr lang="en-US" altLang="en-US" dirty="0">
                <a:latin typeface="Arial" pitchFamily="34" charset="0"/>
                <a:ea typeface="ＭＳ Ｐゴシック" pitchFamily="34" charset="-128"/>
                <a:cs typeface="Arial" pitchFamily="34" charset="0"/>
              </a:rPr>
              <a:t>Fourth party involvement: telecommunications provider</a:t>
            </a:r>
          </a:p>
          <a:p>
            <a:pPr lvl="1"/>
            <a:r>
              <a:rPr lang="en-US" altLang="en-US" dirty="0">
                <a:latin typeface="Arial" pitchFamily="34" charset="0"/>
                <a:ea typeface="ＭＳ Ｐゴシック" pitchFamily="34" charset="-128"/>
                <a:cs typeface="Arial" pitchFamily="34" charset="0"/>
              </a:rPr>
              <a:t>An analogy that includes a middleman is needed</a:t>
            </a:r>
          </a:p>
        </p:txBody>
      </p:sp>
    </p:spTree>
    <p:extLst>
      <p:ext uri="{BB962C8B-B14F-4D97-AF65-F5344CB8AC3E}">
        <p14:creationId xmlns:p14="http://schemas.microsoft.com/office/powerpoint/2010/main" val="23881362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ea typeface="ＭＳ Ｐゴシック" pitchFamily="34" charset="-128"/>
                <a:cs typeface="Arial" pitchFamily="34" charset="0"/>
              </a:rPr>
              <a:t>Case Studies Case 2: The Athens Affair—Privacy vs. Security (7 of 12)</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latin typeface="Arial" pitchFamily="34" charset="0"/>
                <a:ea typeface="ＭＳ Ｐゴシック" pitchFamily="34" charset="-128"/>
                <a:cs typeface="Arial" pitchFamily="34" charset="0"/>
              </a:rPr>
              <a:t>Analogy #2: LI is like suspicious activity reporting (SAR) in banking</a:t>
            </a:r>
          </a:p>
          <a:p>
            <a:pPr lvl="1"/>
            <a:r>
              <a:rPr lang="en-US" altLang="en-US" dirty="0">
                <a:latin typeface="Arial" pitchFamily="34" charset="0"/>
                <a:ea typeface="ＭＳ Ｐゴシック" pitchFamily="34" charset="-128"/>
                <a:cs typeface="Arial" pitchFamily="34" charset="0"/>
              </a:rPr>
              <a:t>U.S. banks must notify government when they see suspicious transactions</a:t>
            </a:r>
          </a:p>
          <a:p>
            <a:pPr lvl="1"/>
            <a:r>
              <a:rPr lang="en-US" altLang="en-US" dirty="0">
                <a:latin typeface="Arial" pitchFamily="34" charset="0"/>
                <a:ea typeface="ＭＳ Ｐゴシック" pitchFamily="34" charset="-128"/>
                <a:cs typeface="Arial" pitchFamily="34" charset="0"/>
              </a:rPr>
              <a:t>Similarities between LI and SAR</a:t>
            </a:r>
          </a:p>
          <a:p>
            <a:pPr lvl="2"/>
            <a:r>
              <a:rPr lang="en-US" altLang="en-US" dirty="0">
                <a:latin typeface="Arial" pitchFamily="34" charset="0"/>
                <a:ea typeface="ＭＳ Ｐゴシック" pitchFamily="34" charset="-128"/>
                <a:cs typeface="Arial" pitchFamily="34" charset="0"/>
              </a:rPr>
              <a:t>Both are critical resources for criminals and require the help of external (law-abiding) entity</a:t>
            </a:r>
          </a:p>
          <a:p>
            <a:pPr lvl="2"/>
            <a:r>
              <a:rPr lang="en-US" altLang="en-US" dirty="0">
                <a:latin typeface="Arial" pitchFamily="34" charset="0"/>
                <a:ea typeface="ＭＳ Ｐゴシック" pitchFamily="34" charset="-128"/>
                <a:cs typeface="Arial" pitchFamily="34" charset="0"/>
              </a:rPr>
              <a:t>Information helps to connect suspects with each other and discover networks of suspects</a:t>
            </a:r>
          </a:p>
        </p:txBody>
      </p:sp>
    </p:spTree>
    <p:extLst>
      <p:ext uri="{BB962C8B-B14F-4D97-AF65-F5344CB8AC3E}">
        <p14:creationId xmlns:p14="http://schemas.microsoft.com/office/powerpoint/2010/main" val="3317962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ea typeface="ＭＳ Ｐゴシック" pitchFamily="34" charset="-128"/>
                <a:cs typeface="Arial" pitchFamily="34" charset="0"/>
              </a:rPr>
              <a:t>Case Studies Case 2: The Athens Affair—Privacy vs. Security (8 of 12)</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pPr lvl="1"/>
            <a:r>
              <a:rPr lang="en-US" altLang="en-US" dirty="0">
                <a:latin typeface="Arial" pitchFamily="34" charset="0"/>
                <a:ea typeface="ＭＳ Ｐゴシック" pitchFamily="34" charset="-128"/>
                <a:cs typeface="Arial" pitchFamily="34" charset="0"/>
              </a:rPr>
              <a:t>Problems with the analogy</a:t>
            </a:r>
          </a:p>
          <a:p>
            <a:pPr lvl="2"/>
            <a:r>
              <a:rPr lang="en-US" altLang="en-US" dirty="0">
                <a:latin typeface="Arial" pitchFamily="34" charset="0"/>
                <a:ea typeface="ＭＳ Ｐゴシック" pitchFamily="34" charset="-128"/>
                <a:cs typeface="Arial" pitchFamily="34" charset="0"/>
              </a:rPr>
              <a:t>Who initiates the sending of information differs (banks initiate, not government)</a:t>
            </a:r>
          </a:p>
          <a:p>
            <a:pPr lvl="2"/>
            <a:r>
              <a:rPr lang="en-US" altLang="en-US" dirty="0">
                <a:latin typeface="Arial" pitchFamily="34" charset="0"/>
                <a:ea typeface="ＭＳ Ｐゴシック" pitchFamily="34" charset="-128"/>
                <a:cs typeface="Arial" pitchFamily="34" charset="0"/>
              </a:rPr>
              <a:t>The information provided is very different</a:t>
            </a:r>
          </a:p>
          <a:p>
            <a:pPr lvl="3"/>
            <a:r>
              <a:rPr lang="en-US" altLang="en-US" dirty="0">
                <a:latin typeface="Arial" pitchFamily="34" charset="0"/>
                <a:ea typeface="ＭＳ Ｐゴシック" pitchFamily="34" charset="-128"/>
                <a:cs typeface="Arial" pitchFamily="34" charset="0"/>
              </a:rPr>
              <a:t>Banks provide times, dates, and participants</a:t>
            </a:r>
          </a:p>
          <a:p>
            <a:pPr lvl="3"/>
            <a:r>
              <a:rPr lang="en-US" altLang="en-US" dirty="0">
                <a:latin typeface="Arial" pitchFamily="34" charset="0"/>
                <a:ea typeface="ＭＳ Ｐゴシック" pitchFamily="34" charset="-128"/>
                <a:cs typeface="Arial" pitchFamily="34" charset="0"/>
              </a:rPr>
              <a:t>Full conversation recording supplies much more detail</a:t>
            </a:r>
          </a:p>
        </p:txBody>
      </p:sp>
    </p:spTree>
    <p:extLst>
      <p:ext uri="{BB962C8B-B14F-4D97-AF65-F5344CB8AC3E}">
        <p14:creationId xmlns:p14="http://schemas.microsoft.com/office/powerpoint/2010/main" val="25426172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ea typeface="ＭＳ Ｐゴシック" pitchFamily="34" charset="-128"/>
                <a:cs typeface="Arial" pitchFamily="34" charset="0"/>
              </a:rPr>
              <a:t>Case Studies Case 2: The Athens Affair—Privacy vs. Security (9 of 12)</a:t>
            </a:r>
            <a:endParaRPr lang="en-US" b="0" dirty="0">
              <a:latin typeface="Arial" pitchFamily="34" charset="0"/>
              <a:cs typeface="Arial" pitchFamily="34" charset="0"/>
            </a:endParaRPr>
          </a:p>
        </p:txBody>
      </p:sp>
      <p:sp>
        <p:nvSpPr>
          <p:cNvPr id="3" name="Content Placeholder 2"/>
          <p:cNvSpPr>
            <a:spLocks noGrp="1"/>
          </p:cNvSpPr>
          <p:nvPr>
            <p:ph idx="1"/>
          </p:nvPr>
        </p:nvSpPr>
        <p:spPr/>
        <p:txBody>
          <a:bodyPr/>
          <a:lstStyle/>
          <a:p>
            <a:pPr lvl="1"/>
            <a:r>
              <a:rPr lang="en-US" altLang="en-US" dirty="0">
                <a:latin typeface="Arial" pitchFamily="34" charset="0"/>
                <a:ea typeface="ＭＳ Ｐゴシック" pitchFamily="34" charset="-128"/>
                <a:cs typeface="Arial" pitchFamily="34" charset="0"/>
              </a:rPr>
              <a:t>Decision about suspicious activity reporting</a:t>
            </a:r>
          </a:p>
          <a:p>
            <a:pPr lvl="2"/>
            <a:r>
              <a:rPr lang="en-US" altLang="en-US" dirty="0">
                <a:latin typeface="Arial" pitchFamily="34" charset="0"/>
                <a:ea typeface="ＭＳ Ｐゴシック" pitchFamily="34" charset="-128"/>
                <a:cs typeface="Arial" pitchFamily="34" charset="0"/>
              </a:rPr>
              <a:t>Banks should be required to report suspicious activity</a:t>
            </a:r>
          </a:p>
          <a:p>
            <a:pPr lvl="1"/>
            <a:r>
              <a:rPr lang="en-US" altLang="en-US" dirty="0">
                <a:latin typeface="Arial" pitchFamily="34" charset="0"/>
                <a:ea typeface="ＭＳ Ｐゴシック" pitchFamily="34" charset="-128"/>
                <a:cs typeface="Arial" pitchFamily="34" charset="0"/>
              </a:rPr>
              <a:t>Implications by analogy</a:t>
            </a:r>
          </a:p>
          <a:p>
            <a:pPr lvl="2"/>
            <a:r>
              <a:rPr lang="en-US" altLang="en-US" dirty="0">
                <a:latin typeface="Arial" pitchFamily="34" charset="0"/>
                <a:ea typeface="ＭＳ Ｐゴシック" pitchFamily="34" charset="-128"/>
                <a:cs typeface="Arial" pitchFamily="34" charset="0"/>
              </a:rPr>
              <a:t>Telecom companies should be required to report suspicious activity</a:t>
            </a:r>
          </a:p>
          <a:p>
            <a:pPr lvl="1"/>
            <a:r>
              <a:rPr lang="en-US" altLang="en-US" dirty="0">
                <a:latin typeface="Arial" pitchFamily="34" charset="0"/>
                <a:ea typeface="ＭＳ Ｐゴシック" pitchFamily="34" charset="-128"/>
                <a:cs typeface="Arial" pitchFamily="34" charset="0"/>
              </a:rPr>
              <a:t>Supports storage of detailed call records</a:t>
            </a:r>
          </a:p>
          <a:p>
            <a:pPr lvl="1"/>
            <a:r>
              <a:rPr lang="en-US" altLang="en-US" dirty="0">
                <a:latin typeface="Arial" pitchFamily="34" charset="0"/>
                <a:ea typeface="ＭＳ Ｐゴシック" pitchFamily="34" charset="-128"/>
                <a:cs typeface="Arial" pitchFamily="34" charset="0"/>
              </a:rPr>
              <a:t>Does not support storage of whole conversations</a:t>
            </a:r>
          </a:p>
        </p:txBody>
      </p:sp>
    </p:spTree>
    <p:extLst>
      <p:ext uri="{BB962C8B-B14F-4D97-AF65-F5344CB8AC3E}">
        <p14:creationId xmlns:p14="http://schemas.microsoft.com/office/powerpoint/2010/main" val="16698166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0" y="27812"/>
            <a:ext cx="9144000" cy="1060704"/>
          </a:xfrm>
        </p:spPr>
        <p:txBody>
          <a:bodyPr anchor="ctr">
            <a:noAutofit/>
          </a:bodyPr>
          <a:lstStyle/>
          <a:p>
            <a:r>
              <a:rPr lang="en-US" altLang="en-US" dirty="0">
                <a:latin typeface="Arial" pitchFamily="34" charset="0"/>
                <a:ea typeface="ＭＳ Ｐゴシック" pitchFamily="34" charset="-128"/>
                <a:cs typeface="Arial" pitchFamily="34" charset="0"/>
              </a:rPr>
              <a:t>Case Studies Case 2: The Athens Affair—Privacy vs. Security (10 of 12)</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379620"/>
            <a:ext cx="8494292" cy="4746543"/>
          </a:xfrm>
        </p:spPr>
        <p:txBody>
          <a:bodyPr>
            <a:normAutofit/>
          </a:bodyPr>
          <a:lstStyle/>
          <a:p>
            <a:r>
              <a:rPr lang="en-US" altLang="en-US" dirty="0">
                <a:latin typeface="Arial" pitchFamily="34" charset="0"/>
                <a:ea typeface="ＭＳ Ｐゴシック" pitchFamily="34" charset="-128"/>
                <a:cs typeface="Arial" pitchFamily="34" charset="0"/>
              </a:rPr>
              <a:t>After analyzing the analogies, consider three possible options/solutions:</a:t>
            </a:r>
          </a:p>
          <a:p>
            <a:pPr lvl="1" indent="-342900"/>
            <a:r>
              <a:rPr lang="en-US" altLang="en-US" dirty="0">
                <a:latin typeface="Arial" pitchFamily="34" charset="0"/>
                <a:ea typeface="ＭＳ Ｐゴシック" pitchFamily="34" charset="-128"/>
                <a:cs typeface="Arial" pitchFamily="34" charset="0"/>
              </a:rPr>
              <a:t>Require all VoIP systems to implement LI</a:t>
            </a:r>
          </a:p>
          <a:p>
            <a:pPr lvl="1" indent="-342900"/>
            <a:r>
              <a:rPr lang="en-US" altLang="en-US" dirty="0">
                <a:latin typeface="Arial" pitchFamily="34" charset="0"/>
                <a:ea typeface="ＭＳ Ｐゴシック" pitchFamily="34" charset="-128"/>
                <a:cs typeface="Arial" pitchFamily="34" charset="0"/>
              </a:rPr>
              <a:t>Do not require LI; use physical eavesdropping</a:t>
            </a:r>
          </a:p>
          <a:p>
            <a:pPr lvl="1" indent="-342900"/>
            <a:r>
              <a:rPr lang="en-US" altLang="en-US" dirty="0">
                <a:latin typeface="Arial" pitchFamily="34" charset="0"/>
                <a:ea typeface="ＭＳ Ｐゴシック" pitchFamily="34" charset="-128"/>
                <a:cs typeface="Arial" pitchFamily="34" charset="0"/>
              </a:rPr>
              <a:t>Require VoIP providers to report suspicious activities, but do not record conversations</a:t>
            </a:r>
          </a:p>
        </p:txBody>
      </p:sp>
    </p:spTree>
    <p:extLst>
      <p:ext uri="{BB962C8B-B14F-4D97-AF65-F5344CB8AC3E}">
        <p14:creationId xmlns:p14="http://schemas.microsoft.com/office/powerpoint/2010/main" val="12353355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ea typeface="ＭＳ Ｐゴシック" pitchFamily="34" charset="-128"/>
                <a:cs typeface="Arial" pitchFamily="34" charset="0"/>
              </a:rPr>
              <a:t>Case Studies Case 2: The Athens Affair—Privacy vs. Security (11 of 12)</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524000"/>
            <a:ext cx="8510334" cy="4602164"/>
          </a:xfrm>
        </p:spPr>
        <p:txBody>
          <a:bodyPr>
            <a:normAutofit/>
          </a:bodyPr>
          <a:lstStyle/>
          <a:p>
            <a:r>
              <a:rPr lang="en-US" altLang="en-US" dirty="0">
                <a:latin typeface="Arial" pitchFamily="34" charset="0"/>
                <a:ea typeface="ＭＳ Ｐゴシック" pitchFamily="34" charset="-128"/>
                <a:cs typeface="Arial" pitchFamily="34" charset="0"/>
              </a:rPr>
              <a:t>Interested parties</a:t>
            </a:r>
          </a:p>
          <a:p>
            <a:pPr lvl="1"/>
            <a:r>
              <a:rPr lang="en-US" altLang="en-US" dirty="0">
                <a:latin typeface="Arial" pitchFamily="34" charset="0"/>
                <a:ea typeface="ＭＳ Ｐゴシック" pitchFamily="34" charset="-128"/>
                <a:cs typeface="Arial" pitchFamily="34" charset="0"/>
              </a:rPr>
              <a:t>Law enforcement</a:t>
            </a:r>
          </a:p>
          <a:p>
            <a:pPr lvl="2"/>
            <a:r>
              <a:rPr lang="en-US" altLang="en-US" dirty="0">
                <a:latin typeface="Arial" pitchFamily="34" charset="0"/>
                <a:ea typeface="ＭＳ Ｐゴシック" pitchFamily="34" charset="-128"/>
                <a:cs typeface="Arial" pitchFamily="34" charset="0"/>
              </a:rPr>
              <a:t>Monitoring saves time and money; can do job better</a:t>
            </a:r>
          </a:p>
          <a:p>
            <a:pPr lvl="1"/>
            <a:r>
              <a:rPr lang="en-US" altLang="en-US" dirty="0">
                <a:latin typeface="Arial" pitchFamily="34" charset="0"/>
                <a:ea typeface="ＭＳ Ｐゴシック" pitchFamily="34" charset="-128"/>
                <a:cs typeface="Arial" pitchFamily="34" charset="0"/>
              </a:rPr>
              <a:t>Hackers and non-hacker criminals</a:t>
            </a:r>
          </a:p>
          <a:p>
            <a:pPr lvl="1"/>
            <a:r>
              <a:rPr lang="en-US" altLang="en-US" dirty="0">
                <a:latin typeface="Arial" pitchFamily="34" charset="0"/>
                <a:ea typeface="ＭＳ Ｐゴシック" pitchFamily="34" charset="-128"/>
                <a:cs typeface="Arial" pitchFamily="34" charset="0"/>
              </a:rPr>
              <a:t>The public</a:t>
            </a:r>
          </a:p>
          <a:p>
            <a:pPr lvl="2"/>
            <a:r>
              <a:rPr lang="en-US" altLang="en-US" dirty="0">
                <a:latin typeface="Arial" pitchFamily="34" charset="0"/>
                <a:ea typeface="ＭＳ Ｐゴシック" pitchFamily="34" charset="-128"/>
                <a:cs typeface="Arial" pitchFamily="34" charset="0"/>
              </a:rPr>
              <a:t>Monitoring helps law enforcement, but decreases privacy and perhaps safety</a:t>
            </a:r>
          </a:p>
        </p:txBody>
      </p:sp>
    </p:spTree>
    <p:extLst>
      <p:ext uri="{BB962C8B-B14F-4D97-AF65-F5344CB8AC3E}">
        <p14:creationId xmlns:p14="http://schemas.microsoft.com/office/powerpoint/2010/main" val="13452182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ea typeface="ＭＳ Ｐゴシック" pitchFamily="34" charset="-128"/>
                <a:cs typeface="Arial" pitchFamily="34" charset="0"/>
              </a:rPr>
              <a:t>Case Studies Case 2: The Athens Affair—Privacy vs. Security (12 of 12)</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556084"/>
            <a:ext cx="8414081" cy="4570080"/>
          </a:xfrm>
        </p:spPr>
        <p:txBody>
          <a:bodyPr>
            <a:normAutofit/>
          </a:bodyPr>
          <a:lstStyle/>
          <a:p>
            <a:r>
              <a:rPr lang="en-US" altLang="en-US" dirty="0">
                <a:solidFill>
                  <a:srgbClr val="FF0000"/>
                </a:solidFill>
                <a:latin typeface="Arial" pitchFamily="34" charset="0"/>
                <a:ea typeface="ＭＳ Ｐゴシック" pitchFamily="34" charset="-128"/>
                <a:cs typeface="Arial" pitchFamily="34" charset="0"/>
              </a:rPr>
              <a:t>Utilitarian analysis</a:t>
            </a:r>
          </a:p>
          <a:p>
            <a:pPr lvl="1"/>
            <a:r>
              <a:rPr lang="en-US" altLang="en-US" dirty="0">
                <a:latin typeface="Arial" pitchFamily="34" charset="0"/>
                <a:ea typeface="ＭＳ Ｐゴシック" pitchFamily="34" charset="-128"/>
                <a:cs typeface="Arial" pitchFamily="34" charset="0"/>
              </a:rPr>
              <a:t>Law enforcement</a:t>
            </a:r>
          </a:p>
          <a:p>
            <a:pPr lvl="2"/>
            <a:r>
              <a:rPr lang="en-US" altLang="en-US" dirty="0">
                <a:latin typeface="Arial" pitchFamily="34" charset="0"/>
                <a:ea typeface="ＭＳ Ｐゴシック" pitchFamily="34" charset="-128"/>
                <a:cs typeface="Arial" pitchFamily="34" charset="0"/>
              </a:rPr>
              <a:t>Option 1 is best</a:t>
            </a:r>
          </a:p>
          <a:p>
            <a:pPr lvl="1"/>
            <a:r>
              <a:rPr lang="en-US" altLang="en-US" dirty="0">
                <a:latin typeface="Arial" pitchFamily="34" charset="0"/>
                <a:ea typeface="ＭＳ Ｐゴシック" pitchFamily="34" charset="-128"/>
                <a:cs typeface="Arial" pitchFamily="34" charset="0"/>
              </a:rPr>
              <a:t>The public</a:t>
            </a:r>
          </a:p>
          <a:p>
            <a:pPr lvl="2"/>
            <a:r>
              <a:rPr lang="en-US" altLang="en-US" dirty="0">
                <a:latin typeface="Arial" pitchFamily="34" charset="0"/>
                <a:ea typeface="ＭＳ Ｐゴシック" pitchFamily="34" charset="-128"/>
                <a:cs typeface="Arial" pitchFamily="34" charset="0"/>
              </a:rPr>
              <a:t>Option 2 reduces police effectiveness</a:t>
            </a:r>
          </a:p>
          <a:p>
            <a:pPr lvl="2"/>
            <a:r>
              <a:rPr lang="en-US" altLang="en-US" dirty="0">
                <a:latin typeface="Arial" pitchFamily="34" charset="0"/>
                <a:ea typeface="ＭＳ Ｐゴシック" pitchFamily="34" charset="-128"/>
                <a:cs typeface="Arial" pitchFamily="34" charset="0"/>
              </a:rPr>
              <a:t>Option 1 allows for abuses</a:t>
            </a:r>
          </a:p>
          <a:p>
            <a:pPr lvl="2"/>
            <a:r>
              <a:rPr lang="en-US" altLang="en-US" dirty="0">
                <a:latin typeface="Arial" pitchFamily="34" charset="0"/>
                <a:ea typeface="ＭＳ Ｐゴシック" pitchFamily="34" charset="-128"/>
                <a:cs typeface="Arial" pitchFamily="34" charset="0"/>
              </a:rPr>
              <a:t>Option 3 may also reduce police effectiveness</a:t>
            </a:r>
          </a:p>
        </p:txBody>
      </p:sp>
    </p:spTree>
    <p:extLst>
      <p:ext uri="{BB962C8B-B14F-4D97-AF65-F5344CB8AC3E}">
        <p14:creationId xmlns:p14="http://schemas.microsoft.com/office/powerpoint/2010/main" val="9226537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ea typeface="ＭＳ Ｐゴシック" pitchFamily="34" charset="-128"/>
                <a:cs typeface="Arial" pitchFamily="34" charset="0"/>
              </a:rPr>
              <a:t>Case Studies Case 3: Hackers—Public Enemies or Gadflies? (1 of 8)</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459832"/>
            <a:ext cx="8494292" cy="4666332"/>
          </a:xfrm>
        </p:spPr>
        <p:txBody>
          <a:bodyPr>
            <a:normAutofit/>
          </a:bodyPr>
          <a:lstStyle/>
          <a:p>
            <a:r>
              <a:rPr lang="en-US" altLang="en-US" dirty="0">
                <a:latin typeface="Arial" pitchFamily="34" charset="0"/>
                <a:ea typeface="ＭＳ Ｐゴシック" pitchFamily="34" charset="-128"/>
                <a:cs typeface="Arial" pitchFamily="34" charset="0"/>
              </a:rPr>
              <a:t>Hackers: people who break into computer systems, launch Internet worms and viruses, vandalize web sites, etc.</a:t>
            </a:r>
          </a:p>
          <a:p>
            <a:r>
              <a:rPr lang="en-US" altLang="en-US" dirty="0">
                <a:latin typeface="Arial" pitchFamily="34" charset="0"/>
                <a:ea typeface="ＭＳ Ｐゴシック" pitchFamily="34" charset="-128"/>
                <a:cs typeface="Arial" pitchFamily="34" charset="0"/>
              </a:rPr>
              <a:t>Some hackers are clearly criminals</a:t>
            </a:r>
          </a:p>
          <a:p>
            <a:pPr lvl="1"/>
            <a:r>
              <a:rPr lang="en-US" altLang="en-US" dirty="0">
                <a:latin typeface="Arial" pitchFamily="34" charset="0"/>
                <a:ea typeface="ＭＳ Ｐゴシック" pitchFamily="34" charset="-128"/>
                <a:cs typeface="Arial" pitchFamily="34" charset="0"/>
              </a:rPr>
              <a:t>Purposeless vandalism</a:t>
            </a:r>
          </a:p>
          <a:p>
            <a:pPr lvl="1"/>
            <a:r>
              <a:rPr lang="en-US" altLang="en-US" dirty="0">
                <a:latin typeface="Arial" pitchFamily="34" charset="0"/>
                <a:ea typeface="ＭＳ Ｐゴシック" pitchFamily="34" charset="-128"/>
                <a:cs typeface="Arial" pitchFamily="34" charset="0"/>
              </a:rPr>
              <a:t>Identity theft</a:t>
            </a:r>
          </a:p>
          <a:p>
            <a:pPr lvl="1"/>
            <a:r>
              <a:rPr lang="en-US" altLang="en-US" dirty="0">
                <a:latin typeface="Arial" pitchFamily="34" charset="0"/>
                <a:ea typeface="ＭＳ Ｐゴシック" pitchFamily="34" charset="-128"/>
                <a:cs typeface="Arial" pitchFamily="34" charset="0"/>
              </a:rPr>
              <a:t>Outright theft</a:t>
            </a:r>
          </a:p>
          <a:p>
            <a:r>
              <a:rPr lang="en-US" altLang="en-US" dirty="0">
                <a:latin typeface="Arial" pitchFamily="34" charset="0"/>
                <a:ea typeface="ＭＳ Ｐゴシック" pitchFamily="34" charset="-128"/>
                <a:cs typeface="Arial" pitchFamily="34" charset="0"/>
              </a:rPr>
              <a:t>Some hackers engage in </a:t>
            </a:r>
            <a:r>
              <a:rPr lang="en-US" altLang="en-US" b="1" dirty="0">
                <a:latin typeface="Arial" pitchFamily="34" charset="0"/>
                <a:ea typeface="ＭＳ Ｐゴシック" pitchFamily="34" charset="-128"/>
                <a:cs typeface="Arial" pitchFamily="34" charset="0"/>
              </a:rPr>
              <a:t>“</a:t>
            </a:r>
            <a:r>
              <a:rPr lang="en-US" altLang="ja-JP" b="1" dirty="0">
                <a:latin typeface="Arial" pitchFamily="34" charset="0"/>
                <a:ea typeface="ＭＳ Ｐゴシック" pitchFamily="34" charset="-128"/>
                <a:cs typeface="Arial" pitchFamily="34" charset="0"/>
              </a:rPr>
              <a:t>hacktivism</a:t>
            </a:r>
            <a:r>
              <a:rPr lang="en-US" altLang="en-US" b="1" dirty="0">
                <a:latin typeface="Arial" pitchFamily="34" charset="0"/>
                <a:ea typeface="ＭＳ Ｐゴシック" pitchFamily="34" charset="-128"/>
                <a:cs typeface="Arial" pitchFamily="34" charset="0"/>
              </a:rPr>
              <a:t>”</a:t>
            </a:r>
            <a:endParaRPr lang="en-US" altLang="ja-JP" dirty="0">
              <a:latin typeface="Arial" pitchFamily="34" charset="0"/>
              <a:ea typeface="ＭＳ Ｐゴシック" pitchFamily="34" charset="-128"/>
              <a:cs typeface="Arial" pitchFamily="34" charset="0"/>
            </a:endParaRPr>
          </a:p>
          <a:p>
            <a:r>
              <a:rPr lang="en-US" altLang="en-US" dirty="0">
                <a:latin typeface="Arial" pitchFamily="34" charset="0"/>
                <a:ea typeface="ＭＳ Ｐゴシック" pitchFamily="34" charset="-128"/>
                <a:cs typeface="Arial" pitchFamily="34" charset="0"/>
              </a:rPr>
              <a:t>Can hacking a computer be a social good?</a:t>
            </a:r>
          </a:p>
        </p:txBody>
      </p:sp>
    </p:spTree>
    <p:extLst>
      <p:ext uri="{BB962C8B-B14F-4D97-AF65-F5344CB8AC3E}">
        <p14:creationId xmlns:p14="http://schemas.microsoft.com/office/powerpoint/2010/main" val="8838018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ea typeface="ＭＳ Ｐゴシック" pitchFamily="34" charset="-128"/>
                <a:cs typeface="Arial" pitchFamily="34" charset="0"/>
              </a:rPr>
              <a:t>Case Studies Case 3: Hackers—Public Enemies or Gadflies? (2 of 8)</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507958"/>
            <a:ext cx="8430123" cy="4618206"/>
          </a:xfrm>
        </p:spPr>
        <p:txBody>
          <a:bodyPr>
            <a:normAutofit/>
          </a:bodyPr>
          <a:lstStyle/>
          <a:p>
            <a:r>
              <a:rPr lang="en-US" altLang="en-US" dirty="0">
                <a:latin typeface="Arial" pitchFamily="34" charset="0"/>
                <a:ea typeface="ＭＳ Ｐゴシック" pitchFamily="34" charset="-128"/>
                <a:cs typeface="Arial" pitchFamily="34" charset="0"/>
              </a:rPr>
              <a:t>WikiLeaks</a:t>
            </a:r>
          </a:p>
          <a:p>
            <a:pPr lvl="1"/>
            <a:r>
              <a:rPr lang="en-US" altLang="en-US" dirty="0">
                <a:latin typeface="Arial" pitchFamily="34" charset="0"/>
                <a:ea typeface="ＭＳ Ｐゴシック" pitchFamily="34" charset="-128"/>
                <a:cs typeface="Arial" pitchFamily="34" charset="0"/>
              </a:rPr>
              <a:t>Protects government and corporate whistle-blowers</a:t>
            </a:r>
          </a:p>
          <a:p>
            <a:pPr lvl="1"/>
            <a:r>
              <a:rPr lang="en-US" altLang="en-US" dirty="0">
                <a:latin typeface="Arial" pitchFamily="34" charset="0"/>
                <a:ea typeface="ＭＳ Ｐゴシック" pitchFamily="34" charset="-128"/>
                <a:cs typeface="Arial" pitchFamily="34" charset="0"/>
              </a:rPr>
              <a:t>Provides a secure way to share sensitive documents anonymously</a:t>
            </a:r>
          </a:p>
          <a:p>
            <a:pPr lvl="1"/>
            <a:r>
              <a:rPr lang="en-US" altLang="en-US" dirty="0">
                <a:latin typeface="Arial" pitchFamily="34" charset="0"/>
                <a:ea typeface="ＭＳ Ｐゴシック" pitchFamily="34" charset="-128"/>
                <a:cs typeface="Arial" pitchFamily="34" charset="0"/>
              </a:rPr>
              <a:t>Video of U.S. firing on Reuters employees</a:t>
            </a:r>
          </a:p>
          <a:p>
            <a:pPr lvl="1"/>
            <a:r>
              <a:rPr lang="en-US" altLang="en-US" dirty="0">
                <a:latin typeface="Arial" pitchFamily="34" charset="0"/>
                <a:ea typeface="ＭＳ Ｐゴシック" pitchFamily="34" charset="-128"/>
                <a:cs typeface="Arial" pitchFamily="34" charset="0"/>
              </a:rPr>
              <a:t>U.S. diplomatic cables</a:t>
            </a:r>
          </a:p>
          <a:p>
            <a:pPr lvl="1"/>
            <a:r>
              <a:rPr lang="en-US" altLang="en-US" dirty="0">
                <a:latin typeface="Arial" pitchFamily="34" charset="0"/>
                <a:ea typeface="ＭＳ Ｐゴシック" pitchFamily="34" charset="-128"/>
                <a:cs typeface="Arial" pitchFamily="34" charset="0"/>
              </a:rPr>
              <a:t>One million confidential/secret U.S. government documents</a:t>
            </a:r>
          </a:p>
          <a:p>
            <a:pPr lvl="1"/>
            <a:r>
              <a:rPr lang="en-US" altLang="en-US" dirty="0">
                <a:latin typeface="Arial" pitchFamily="34" charset="0"/>
                <a:ea typeface="ＭＳ Ｐゴシック" pitchFamily="34" charset="-128"/>
                <a:cs typeface="Arial" pitchFamily="34" charset="0"/>
              </a:rPr>
              <a:t>WikiLeaks is a public corporation with known leadership</a:t>
            </a:r>
          </a:p>
        </p:txBody>
      </p:sp>
    </p:spTree>
    <p:extLst>
      <p:ext uri="{BB962C8B-B14F-4D97-AF65-F5344CB8AC3E}">
        <p14:creationId xmlns:p14="http://schemas.microsoft.com/office/powerpoint/2010/main" val="17560392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altLang="en-US" dirty="0">
                <a:latin typeface="Arial" pitchFamily="34" charset="0"/>
                <a:ea typeface="ＭＳ Ｐゴシック" pitchFamily="34" charset="-128"/>
                <a:cs typeface="Arial" pitchFamily="34" charset="0"/>
              </a:rPr>
              <a:t>Case Studies Case 3: Hackers—Public Enemies or Gadflies? (3 of 8)</a:t>
            </a:r>
            <a:endParaRPr lang="en-US" dirty="0">
              <a:latin typeface="Arial" pitchFamily="34" charset="0"/>
              <a:cs typeface="Arial" pitchFamily="34" charset="0"/>
            </a:endParaRPr>
          </a:p>
        </p:txBody>
      </p:sp>
      <p:sp>
        <p:nvSpPr>
          <p:cNvPr id="4" name="Content Placeholder 3"/>
          <p:cNvSpPr>
            <a:spLocks noGrp="1"/>
          </p:cNvSpPr>
          <p:nvPr>
            <p:ph idx="1"/>
          </p:nvPr>
        </p:nvSpPr>
        <p:spPr>
          <a:xfrm>
            <a:off x="457203" y="1540042"/>
            <a:ext cx="8221576" cy="4586122"/>
          </a:xfrm>
        </p:spPr>
        <p:txBody>
          <a:bodyPr/>
          <a:lstStyle/>
          <a:p>
            <a:r>
              <a:rPr lang="en-US" altLang="en-US" dirty="0">
                <a:solidFill>
                  <a:srgbClr val="FF0000"/>
                </a:solidFill>
                <a:latin typeface="Arial" pitchFamily="34" charset="0"/>
                <a:ea typeface="ＭＳ Ｐゴシック" pitchFamily="34" charset="-128"/>
                <a:cs typeface="Arial" pitchFamily="34" charset="0"/>
              </a:rPr>
              <a:t>Anonymous</a:t>
            </a:r>
          </a:p>
          <a:p>
            <a:pPr lvl="1"/>
            <a:r>
              <a:rPr lang="en-US" altLang="en-US" dirty="0">
                <a:latin typeface="Arial" pitchFamily="34" charset="0"/>
                <a:ea typeface="ＭＳ Ｐゴシック" pitchFamily="34" charset="-128"/>
                <a:cs typeface="Arial" pitchFamily="34" charset="0"/>
              </a:rPr>
              <a:t>Primarily interested in freedom of speech</a:t>
            </a:r>
          </a:p>
          <a:p>
            <a:pPr lvl="1"/>
            <a:r>
              <a:rPr lang="en-US" altLang="en-US" dirty="0">
                <a:latin typeface="Arial" pitchFamily="34" charset="0"/>
                <a:ea typeface="ＭＳ Ｐゴシック" pitchFamily="34" charset="-128"/>
                <a:cs typeface="Arial" pitchFamily="34" charset="0"/>
              </a:rPr>
              <a:t>No official leader or organizing body</a:t>
            </a:r>
          </a:p>
          <a:p>
            <a:pPr lvl="1"/>
            <a:r>
              <a:rPr lang="en-US" altLang="en-US" dirty="0">
                <a:latin typeface="Arial" pitchFamily="34" charset="0"/>
                <a:ea typeface="ＭＳ Ｐゴシック" pitchFamily="34" charset="-128"/>
                <a:cs typeface="Arial" pitchFamily="34" charset="0"/>
              </a:rPr>
              <a:t>Amorphous, secret membership</a:t>
            </a:r>
          </a:p>
          <a:p>
            <a:pPr lvl="1"/>
            <a:r>
              <a:rPr lang="en-US" altLang="en-US" dirty="0">
                <a:latin typeface="Arial" pitchFamily="34" charset="0"/>
                <a:ea typeface="ＭＳ Ｐゴシック" pitchFamily="34" charset="-128"/>
                <a:cs typeface="Arial" pitchFamily="34" charset="0"/>
              </a:rPr>
              <a:t>DOS attack in retribution for sanctions against WikiLeaks</a:t>
            </a:r>
          </a:p>
          <a:p>
            <a:pPr lvl="1"/>
            <a:r>
              <a:rPr lang="en-US" altLang="en-US" dirty="0">
                <a:latin typeface="Arial" pitchFamily="34" charset="0"/>
                <a:ea typeface="ＭＳ Ｐゴシック" pitchFamily="34" charset="-128"/>
                <a:cs typeface="Arial" pitchFamily="34" charset="0"/>
              </a:rPr>
              <a:t>Attacks on government sites in Tunisia, Egypt, Libya</a:t>
            </a:r>
          </a:p>
          <a:p>
            <a:pPr lvl="1"/>
            <a:r>
              <a:rPr lang="en-US" altLang="en-US" dirty="0">
                <a:latin typeface="Arial" pitchFamily="34" charset="0"/>
                <a:ea typeface="ＭＳ Ｐゴシック" pitchFamily="34" charset="-128"/>
                <a:cs typeface="Arial" pitchFamily="34" charset="0"/>
              </a:rPr>
              <a:t>Publication of emails from corporations</a:t>
            </a:r>
          </a:p>
        </p:txBody>
      </p:sp>
      <p:sp>
        <p:nvSpPr>
          <p:cNvPr id="5" name="TextBox 4">
            <a:extLst>
              <a:ext uri="{FF2B5EF4-FFF2-40B4-BE49-F238E27FC236}">
                <a16:creationId xmlns:a16="http://schemas.microsoft.com/office/drawing/2014/main" id="{E726BCDA-0497-43F2-889B-F547BAD3C457}"/>
              </a:ext>
            </a:extLst>
          </p:cNvPr>
          <p:cNvSpPr txBox="1"/>
          <p:nvPr/>
        </p:nvSpPr>
        <p:spPr>
          <a:xfrm>
            <a:off x="1727200" y="1355376"/>
            <a:ext cx="4572000" cy="400110"/>
          </a:xfrm>
          <a:prstGeom prst="rect">
            <a:avLst/>
          </a:prstGeom>
          <a:noFill/>
        </p:spPr>
        <p:txBody>
          <a:bodyPr wrap="square">
            <a:spAutoFit/>
          </a:bodyPr>
          <a:lstStyle/>
          <a:p>
            <a:r>
              <a:rPr lang="zh-CN" altLang="en-US" sz="2000" dirty="0">
                <a:solidFill>
                  <a:srgbClr val="FF0000"/>
                </a:solidFill>
              </a:rPr>
              <a:t>匿名</a:t>
            </a:r>
          </a:p>
        </p:txBody>
      </p:sp>
    </p:spTree>
    <p:extLst>
      <p:ext uri="{BB962C8B-B14F-4D97-AF65-F5344CB8AC3E}">
        <p14:creationId xmlns:p14="http://schemas.microsoft.com/office/powerpoint/2010/main" val="17576782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ea typeface="ＭＳ Ｐゴシック" pitchFamily="34" charset="-128"/>
                <a:cs typeface="Arial" pitchFamily="34" charset="0"/>
              </a:rPr>
              <a:t>Case Studies Case 3: Hackers—Public Enemies or Gadflies? (4 of 8)</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427746"/>
            <a:ext cx="8494292" cy="4698417"/>
          </a:xfrm>
        </p:spPr>
        <p:txBody>
          <a:bodyPr>
            <a:normAutofit/>
          </a:bodyPr>
          <a:lstStyle/>
          <a:p>
            <a:r>
              <a:rPr lang="en-US" altLang="en-US" dirty="0">
                <a:latin typeface="Arial" pitchFamily="34" charset="0"/>
                <a:ea typeface="ＭＳ Ｐゴシック" pitchFamily="34" charset="-128"/>
                <a:cs typeface="Arial" pitchFamily="34" charset="0"/>
              </a:rPr>
              <a:t>Analogy: breaking into a computer is like breaking into someone’s house</a:t>
            </a:r>
          </a:p>
          <a:p>
            <a:pPr lvl="1"/>
            <a:r>
              <a:rPr lang="en-US" altLang="en-US" dirty="0">
                <a:latin typeface="Arial" pitchFamily="34" charset="0"/>
                <a:ea typeface="ＭＳ Ｐゴシック" pitchFamily="34" charset="-128"/>
                <a:cs typeface="Arial" pitchFamily="34" charset="0"/>
              </a:rPr>
              <a:t>Similarities</a:t>
            </a:r>
          </a:p>
          <a:p>
            <a:pPr lvl="2"/>
            <a:r>
              <a:rPr lang="en-US" altLang="en-US" dirty="0">
                <a:latin typeface="Arial" pitchFamily="34" charset="0"/>
                <a:ea typeface="ＭＳ Ｐゴシック" pitchFamily="34" charset="-128"/>
                <a:cs typeface="Arial" pitchFamily="34" charset="0"/>
              </a:rPr>
              <a:t>Intruders are there without permission</a:t>
            </a:r>
          </a:p>
          <a:p>
            <a:pPr lvl="2"/>
            <a:r>
              <a:rPr lang="en-US" altLang="en-US" dirty="0">
                <a:latin typeface="Arial" pitchFamily="34" charset="0"/>
                <a:ea typeface="ＭＳ Ｐゴシック" pitchFamily="34" charset="-128"/>
                <a:cs typeface="Arial" pitchFamily="34" charset="0"/>
              </a:rPr>
              <a:t>Owners take precautions to discourage intrusion</a:t>
            </a:r>
          </a:p>
          <a:p>
            <a:pPr lvl="2"/>
            <a:r>
              <a:rPr lang="en-US" altLang="en-US" dirty="0">
                <a:latin typeface="Arial" pitchFamily="34" charset="0"/>
                <a:ea typeface="ＭＳ Ｐゴシック" pitchFamily="34" charset="-128"/>
                <a:cs typeface="Arial" pitchFamily="34" charset="0"/>
              </a:rPr>
              <a:t>Both are against the law</a:t>
            </a:r>
          </a:p>
          <a:p>
            <a:pPr lvl="1"/>
            <a:r>
              <a:rPr lang="en-US" altLang="en-US" dirty="0">
                <a:latin typeface="Arial" pitchFamily="34" charset="0"/>
                <a:ea typeface="ＭＳ Ｐゴシック" pitchFamily="34" charset="-128"/>
                <a:cs typeface="Arial" pitchFamily="34" charset="0"/>
              </a:rPr>
              <a:t>Differences</a:t>
            </a:r>
          </a:p>
          <a:p>
            <a:pPr lvl="2"/>
            <a:r>
              <a:rPr lang="en-US" altLang="en-US" dirty="0">
                <a:latin typeface="Arial" pitchFamily="34" charset="0"/>
                <a:ea typeface="ＭＳ Ｐゴシック" pitchFamily="34" charset="-128"/>
                <a:cs typeface="Arial" pitchFamily="34" charset="0"/>
              </a:rPr>
              <a:t>Burglars take physical objects, depriving owner</a:t>
            </a:r>
          </a:p>
          <a:p>
            <a:pPr lvl="2"/>
            <a:r>
              <a:rPr lang="en-US" altLang="en-US" dirty="0">
                <a:latin typeface="Arial" pitchFamily="34" charset="0"/>
                <a:ea typeface="ＭＳ Ｐゴシック" pitchFamily="34" charset="-128"/>
                <a:cs typeface="Arial" pitchFamily="34" charset="0"/>
              </a:rPr>
              <a:t>Hackers, in this case, </a:t>
            </a:r>
            <a:r>
              <a:rPr lang="en-US" altLang="en-US" b="1" dirty="0">
                <a:latin typeface="Arial" pitchFamily="34" charset="0"/>
                <a:ea typeface="ＭＳ Ｐゴシック" pitchFamily="34" charset="-128"/>
                <a:cs typeface="Arial" pitchFamily="34" charset="0"/>
              </a:rPr>
              <a:t>copy</a:t>
            </a:r>
            <a:r>
              <a:rPr lang="en-US" altLang="en-US" dirty="0">
                <a:latin typeface="Arial" pitchFamily="34" charset="0"/>
                <a:ea typeface="ＭＳ Ｐゴシック" pitchFamily="34" charset="-128"/>
                <a:cs typeface="Arial" pitchFamily="34" charset="0"/>
              </a:rPr>
              <a:t> intellectual property</a:t>
            </a:r>
          </a:p>
          <a:p>
            <a:pPr lvl="2"/>
            <a:r>
              <a:rPr lang="en-US" altLang="en-US" dirty="0">
                <a:latin typeface="Arial" pitchFamily="34" charset="0"/>
                <a:ea typeface="ＭＳ Ｐゴシック" pitchFamily="34" charset="-128"/>
                <a:cs typeface="Arial" pitchFamily="34" charset="0"/>
              </a:rPr>
              <a:t>No threat of violence with hacking</a:t>
            </a:r>
          </a:p>
        </p:txBody>
      </p:sp>
    </p:spTree>
    <p:extLst>
      <p:ext uri="{BB962C8B-B14F-4D97-AF65-F5344CB8AC3E}">
        <p14:creationId xmlns:p14="http://schemas.microsoft.com/office/powerpoint/2010/main" val="41512408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ea typeface="ＭＳ Ｐゴシック" pitchFamily="34" charset="-128"/>
                <a:cs typeface="Arial" pitchFamily="34" charset="0"/>
              </a:rPr>
              <a:t>Case Studies Case 3: Hackers—Public Enemies or Gadflies? (5 of 8)</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588168"/>
            <a:ext cx="8446165" cy="4537996"/>
          </a:xfrm>
        </p:spPr>
        <p:txBody>
          <a:bodyPr>
            <a:normAutofit/>
          </a:bodyPr>
          <a:lstStyle/>
          <a:p>
            <a:r>
              <a:rPr lang="en-US" altLang="en-US" dirty="0">
                <a:solidFill>
                  <a:srgbClr val="FF0000"/>
                </a:solidFill>
                <a:latin typeface="Arial" pitchFamily="34" charset="0"/>
                <a:ea typeface="ＭＳ Ｐゴシック" pitchFamily="34" charset="-128"/>
                <a:cs typeface="Arial" pitchFamily="34" charset="0"/>
              </a:rPr>
              <a:t>Utilitarian</a:t>
            </a:r>
            <a:r>
              <a:rPr lang="en-US" altLang="en-US" dirty="0">
                <a:latin typeface="Arial" pitchFamily="34" charset="0"/>
                <a:ea typeface="ＭＳ Ｐゴシック" pitchFamily="34" charset="-128"/>
                <a:cs typeface="Arial" pitchFamily="34" charset="0"/>
              </a:rPr>
              <a:t> arguments </a:t>
            </a:r>
          </a:p>
          <a:p>
            <a:pPr lvl="1"/>
            <a:r>
              <a:rPr lang="en-US" altLang="en-US" dirty="0">
                <a:latin typeface="Arial" pitchFamily="34" charset="0"/>
                <a:ea typeface="ＭＳ Ｐゴシック" pitchFamily="34" charset="-128"/>
                <a:cs typeface="Arial" pitchFamily="34" charset="0"/>
              </a:rPr>
              <a:t>Owner of information loses control over it</a:t>
            </a:r>
          </a:p>
          <a:p>
            <a:pPr lvl="1"/>
            <a:r>
              <a:rPr lang="en-US" altLang="en-US" dirty="0">
                <a:latin typeface="Arial" pitchFamily="34" charset="0"/>
                <a:ea typeface="ＭＳ Ｐゴシック" pitchFamily="34" charset="-128"/>
                <a:cs typeface="Arial" pitchFamily="34" charset="0"/>
              </a:rPr>
              <a:t>Hacker gains access to information</a:t>
            </a:r>
          </a:p>
          <a:p>
            <a:pPr lvl="1"/>
            <a:r>
              <a:rPr lang="en-US" altLang="en-US" dirty="0">
                <a:latin typeface="Arial" pitchFamily="34" charset="0"/>
                <a:ea typeface="ＭＳ Ｐゴシック" pitchFamily="34" charset="-128"/>
                <a:cs typeface="Arial" pitchFamily="34" charset="0"/>
              </a:rPr>
              <a:t>Owner must increase security</a:t>
            </a:r>
          </a:p>
          <a:p>
            <a:pPr lvl="2"/>
            <a:r>
              <a:rPr lang="en-US" altLang="en-US" dirty="0">
                <a:latin typeface="Arial" pitchFamily="34" charset="0"/>
                <a:ea typeface="ＭＳ Ｐゴシック" pitchFamily="34" charset="-128"/>
                <a:cs typeface="Arial" pitchFamily="34" charset="0"/>
              </a:rPr>
              <a:t>Increased awareness of vulnerability may be good</a:t>
            </a:r>
          </a:p>
          <a:p>
            <a:pPr lvl="2"/>
            <a:r>
              <a:rPr lang="en-US" altLang="en-US" dirty="0">
                <a:latin typeface="Arial" pitchFamily="34" charset="0"/>
                <a:ea typeface="ＭＳ Ｐゴシック" pitchFamily="34" charset="-128"/>
                <a:cs typeface="Arial" pitchFamily="34" charset="0"/>
              </a:rPr>
              <a:t>Increased security only required because of hackers</a:t>
            </a:r>
          </a:p>
          <a:p>
            <a:pPr lvl="1"/>
            <a:r>
              <a:rPr lang="en-US" altLang="en-US" dirty="0">
                <a:latin typeface="Arial" pitchFamily="34" charset="0"/>
                <a:ea typeface="ＭＳ Ｐゴシック" pitchFamily="34" charset="-128"/>
                <a:cs typeface="Arial" pitchFamily="34" charset="0"/>
              </a:rPr>
              <a:t>Hard to see consequences</a:t>
            </a:r>
          </a:p>
          <a:p>
            <a:pPr lvl="1"/>
            <a:r>
              <a:rPr lang="en-US" altLang="en-US" dirty="0">
                <a:latin typeface="Arial" pitchFamily="34" charset="0"/>
                <a:ea typeface="ＭＳ Ｐゴシック" pitchFamily="34" charset="-128"/>
                <a:cs typeface="Arial" pitchFamily="34" charset="0"/>
              </a:rPr>
              <a:t>Must we distinguish between “good hackers” and “bad hackers”?</a:t>
            </a:r>
          </a:p>
        </p:txBody>
      </p:sp>
    </p:spTree>
    <p:extLst>
      <p:ext uri="{BB962C8B-B14F-4D97-AF65-F5344CB8AC3E}">
        <p14:creationId xmlns:p14="http://schemas.microsoft.com/office/powerpoint/2010/main" val="19285875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ea typeface="ＭＳ Ｐゴシック" pitchFamily="34" charset="-128"/>
                <a:cs typeface="Arial" pitchFamily="34" charset="0"/>
              </a:rPr>
              <a:t>Case Studies Case 3: Hackers—Public Enemies or Gadflies? (6 of 8)</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395662"/>
            <a:ext cx="8478250" cy="4730501"/>
          </a:xfrm>
        </p:spPr>
        <p:txBody>
          <a:bodyPr>
            <a:normAutofit/>
          </a:bodyPr>
          <a:lstStyle/>
          <a:p>
            <a:r>
              <a:rPr lang="en-US" altLang="en-US" dirty="0">
                <a:latin typeface="Arial" pitchFamily="34" charset="0"/>
                <a:ea typeface="ＭＳ Ｐゴシック" pitchFamily="34" charset="-128"/>
                <a:cs typeface="Arial" pitchFamily="34" charset="0"/>
              </a:rPr>
              <a:t>Deontological arguments </a:t>
            </a:r>
          </a:p>
          <a:p>
            <a:pPr lvl="1"/>
            <a:r>
              <a:rPr lang="en-US" altLang="en-US" b="1" dirty="0">
                <a:latin typeface="Arial" pitchFamily="34" charset="0"/>
                <a:ea typeface="ＭＳ Ｐゴシック" pitchFamily="34" charset="-128"/>
                <a:cs typeface="Arial" pitchFamily="34" charset="0"/>
              </a:rPr>
              <a:t>Deontology</a:t>
            </a:r>
            <a:r>
              <a:rPr lang="en-US" altLang="en-US" dirty="0">
                <a:latin typeface="Arial" pitchFamily="34" charset="0"/>
                <a:ea typeface="ＭＳ Ｐゴシック" pitchFamily="34" charset="-128"/>
                <a:cs typeface="Arial" pitchFamily="34" charset="0"/>
              </a:rPr>
              <a:t>: the study of duty and obligation</a:t>
            </a:r>
          </a:p>
          <a:p>
            <a:pPr lvl="1"/>
            <a:r>
              <a:rPr lang="en-US" altLang="en-US" dirty="0">
                <a:latin typeface="Arial" pitchFamily="34" charset="0"/>
                <a:ea typeface="ＭＳ Ｐゴシック" pitchFamily="34" charset="-128"/>
                <a:cs typeface="Arial" pitchFamily="34" charset="0"/>
              </a:rPr>
              <a:t>Focus on duties of actor and effect on other’s rights</a:t>
            </a:r>
          </a:p>
          <a:p>
            <a:pPr lvl="1"/>
            <a:r>
              <a:rPr lang="en-US" altLang="en-US" dirty="0">
                <a:latin typeface="Arial" pitchFamily="34" charset="0"/>
                <a:ea typeface="ＭＳ Ｐゴシック" pitchFamily="34" charset="-128"/>
                <a:cs typeface="Arial" pitchFamily="34" charset="0"/>
              </a:rPr>
              <a:t>Categorical imperative (Kant):</a:t>
            </a:r>
          </a:p>
          <a:p>
            <a:pPr lvl="2"/>
            <a:r>
              <a:rPr lang="en-US" altLang="en-US" dirty="0">
                <a:latin typeface="Arial" pitchFamily="34" charset="0"/>
                <a:ea typeface="ＭＳ Ｐゴシック" pitchFamily="34" charset="-128"/>
                <a:cs typeface="Arial" pitchFamily="34" charset="0"/>
              </a:rPr>
              <a:t>Never treat a fellow human merely as a means to an end</a:t>
            </a:r>
          </a:p>
          <a:p>
            <a:pPr lvl="1"/>
            <a:r>
              <a:rPr lang="en-US" altLang="en-US" dirty="0">
                <a:latin typeface="Arial" pitchFamily="34" charset="0"/>
                <a:ea typeface="ＭＳ Ｐゴシック" pitchFamily="34" charset="-128"/>
                <a:cs typeface="Arial" pitchFamily="34" charset="0"/>
              </a:rPr>
              <a:t>Focus on intent of an action, not consequences</a:t>
            </a:r>
          </a:p>
          <a:p>
            <a:pPr lvl="1"/>
            <a:r>
              <a:rPr lang="en-US" altLang="en-US" dirty="0">
                <a:latin typeface="Arial" pitchFamily="34" charset="0"/>
                <a:ea typeface="ＭＳ Ｐゴシック" pitchFamily="34" charset="-128"/>
                <a:cs typeface="Arial" pitchFamily="34" charset="0"/>
              </a:rPr>
              <a:t>Hackers for personal gain are unethical; ignore them</a:t>
            </a:r>
          </a:p>
          <a:p>
            <a:pPr lvl="1"/>
            <a:r>
              <a:rPr lang="en-US" altLang="en-US" dirty="0">
                <a:latin typeface="Arial" pitchFamily="34" charset="0"/>
                <a:ea typeface="ＭＳ Ｐゴシック" pitchFamily="34" charset="-128"/>
                <a:cs typeface="Arial" pitchFamily="34" charset="0"/>
              </a:rPr>
              <a:t>Focus on hackers who claim benign intent</a:t>
            </a:r>
          </a:p>
        </p:txBody>
      </p:sp>
    </p:spTree>
    <p:extLst>
      <p:ext uri="{BB962C8B-B14F-4D97-AF65-F5344CB8AC3E}">
        <p14:creationId xmlns:p14="http://schemas.microsoft.com/office/powerpoint/2010/main" val="13476117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ea typeface="ＭＳ Ｐゴシック" pitchFamily="34" charset="-128"/>
                <a:cs typeface="Arial" pitchFamily="34" charset="0"/>
              </a:rPr>
              <a:t>Case Studies Case 3: Hackers—Public Enemies or Gadflies? (7 of 8)</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572126"/>
            <a:ext cx="8478250" cy="4554038"/>
          </a:xfrm>
        </p:spPr>
        <p:txBody>
          <a:bodyPr>
            <a:normAutofit/>
          </a:bodyPr>
          <a:lstStyle/>
          <a:p>
            <a:r>
              <a:rPr lang="en-US" altLang="en-US" dirty="0">
                <a:latin typeface="Arial" pitchFamily="34" charset="0"/>
                <a:ea typeface="ＭＳ Ｐゴシック" pitchFamily="34" charset="-128"/>
                <a:cs typeface="Arial" pitchFamily="34" charset="0"/>
              </a:rPr>
              <a:t>Parts of the hacker ethic (Steven Levy):</a:t>
            </a:r>
          </a:p>
          <a:p>
            <a:pPr lvl="1"/>
            <a:r>
              <a:rPr lang="en-US" altLang="en-US" dirty="0">
                <a:latin typeface="Arial" pitchFamily="34" charset="0"/>
                <a:ea typeface="ＭＳ Ｐゴシック" pitchFamily="34" charset="-128"/>
                <a:cs typeface="Arial" pitchFamily="34" charset="0"/>
              </a:rPr>
              <a:t>“All information should be free”</a:t>
            </a:r>
          </a:p>
          <a:p>
            <a:pPr lvl="2"/>
            <a:r>
              <a:rPr lang="en-US" altLang="en-US" dirty="0">
                <a:latin typeface="Arial" pitchFamily="34" charset="0"/>
                <a:ea typeface="ＭＳ Ｐゴシック" pitchFamily="34" charset="-128"/>
                <a:cs typeface="Arial" pitchFamily="34" charset="0"/>
              </a:rPr>
              <a:t>To make decisions, people need good information</a:t>
            </a:r>
          </a:p>
          <a:p>
            <a:pPr lvl="2"/>
            <a:r>
              <a:rPr lang="en-US" altLang="en-US" dirty="0">
                <a:latin typeface="Arial" pitchFamily="34" charset="0"/>
                <a:ea typeface="ＭＳ Ｐゴシック" pitchFamily="34" charset="-128"/>
                <a:cs typeface="Arial" pitchFamily="34" charset="0"/>
              </a:rPr>
              <a:t>Hackers should always spread information  </a:t>
            </a:r>
          </a:p>
          <a:p>
            <a:pPr lvl="1"/>
            <a:r>
              <a:rPr lang="en-US" altLang="en-US" dirty="0">
                <a:latin typeface="Arial" pitchFamily="34" charset="0"/>
                <a:ea typeface="ＭＳ Ｐゴシック" pitchFamily="34" charset="-128"/>
                <a:cs typeface="Arial" pitchFamily="34" charset="0"/>
              </a:rPr>
              <a:t>“Mistrust authority—promote decentralization”</a:t>
            </a:r>
          </a:p>
          <a:p>
            <a:pPr lvl="2"/>
            <a:r>
              <a:rPr lang="en-US" altLang="en-US" dirty="0">
                <a:latin typeface="Arial" pitchFamily="34" charset="0"/>
                <a:ea typeface="ＭＳ Ｐゴシック" pitchFamily="34" charset="-128"/>
                <a:cs typeface="Arial" pitchFamily="34" charset="0"/>
              </a:rPr>
              <a:t>Bureaucracies and rules prevent things from getting done</a:t>
            </a:r>
          </a:p>
          <a:p>
            <a:pPr lvl="2"/>
            <a:r>
              <a:rPr lang="en-US" altLang="en-US" dirty="0">
                <a:latin typeface="Arial" pitchFamily="34" charset="0"/>
                <a:ea typeface="ＭＳ Ｐゴシック" pitchFamily="34" charset="-128"/>
                <a:cs typeface="Arial" pitchFamily="34" charset="0"/>
              </a:rPr>
              <a:t>Each hacker should act individually as he or she sees best</a:t>
            </a:r>
          </a:p>
        </p:txBody>
      </p:sp>
    </p:spTree>
    <p:extLst>
      <p:ext uri="{BB962C8B-B14F-4D97-AF65-F5344CB8AC3E}">
        <p14:creationId xmlns:p14="http://schemas.microsoft.com/office/powerpoint/2010/main" val="30554342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ea typeface="ＭＳ Ｐゴシック" pitchFamily="34" charset="-128"/>
                <a:cs typeface="Arial" pitchFamily="34" charset="0"/>
              </a:rPr>
              <a:t>Case Studies Case 3: Hackers—Public Enemies or Gadflies? (8 of 8)</a:t>
            </a:r>
            <a:endParaRPr lang="en-US" b="0" dirty="0">
              <a:latin typeface="Arial" pitchFamily="34" charset="0"/>
              <a:cs typeface="Arial" pitchFamily="34" charset="0"/>
            </a:endParaRPr>
          </a:p>
        </p:txBody>
      </p:sp>
      <p:sp>
        <p:nvSpPr>
          <p:cNvPr id="2" name="Content Placeholder 1"/>
          <p:cNvSpPr>
            <a:spLocks noGrp="1"/>
          </p:cNvSpPr>
          <p:nvPr>
            <p:ph idx="1"/>
          </p:nvPr>
        </p:nvSpPr>
        <p:spPr>
          <a:xfrm>
            <a:off x="489287" y="1491916"/>
            <a:ext cx="8205534" cy="4570080"/>
          </a:xfrm>
        </p:spPr>
        <p:txBody>
          <a:bodyPr/>
          <a:lstStyle/>
          <a:p>
            <a:r>
              <a:rPr lang="en-US" altLang="en-US" dirty="0">
                <a:latin typeface="Arial" pitchFamily="34" charset="0"/>
                <a:ea typeface="ＭＳ Ｐゴシック" pitchFamily="34" charset="-128"/>
                <a:cs typeface="Arial" pitchFamily="34" charset="0"/>
              </a:rPr>
              <a:t>Ethical critique of hacker ethic</a:t>
            </a:r>
          </a:p>
          <a:p>
            <a:pPr lvl="1"/>
            <a:r>
              <a:rPr lang="en-US" altLang="en-US" dirty="0">
                <a:latin typeface="Arial" pitchFamily="34" charset="0"/>
                <a:ea typeface="ＭＳ Ｐゴシック" pitchFamily="34" charset="-128"/>
                <a:cs typeface="Arial" pitchFamily="34" charset="0"/>
              </a:rPr>
              <a:t>The information being shared does not belong to the hacker</a:t>
            </a:r>
          </a:p>
          <a:p>
            <a:pPr lvl="1"/>
            <a:r>
              <a:rPr lang="en-US" altLang="en-US" dirty="0">
                <a:latin typeface="Arial" pitchFamily="34" charset="0"/>
                <a:ea typeface="ＭＳ Ｐゴシック" pitchFamily="34" charset="-128"/>
                <a:cs typeface="Arial" pitchFamily="34" charset="0"/>
              </a:rPr>
              <a:t>Does not respect other people’s wishes or safety</a:t>
            </a:r>
          </a:p>
          <a:p>
            <a:pPr lvl="1"/>
            <a:r>
              <a:rPr lang="en-US" altLang="en-US" dirty="0">
                <a:latin typeface="Arial" pitchFamily="34" charset="0"/>
                <a:ea typeface="ＭＳ Ｐゴシック" pitchFamily="34" charset="-128"/>
                <a:cs typeface="Arial" pitchFamily="34" charset="0"/>
              </a:rPr>
              <a:t>Rules exist because we, as a society, expect electronic privacy</a:t>
            </a:r>
          </a:p>
          <a:p>
            <a:pPr lvl="1"/>
            <a:r>
              <a:rPr lang="en-US" altLang="en-US" dirty="0">
                <a:latin typeface="Arial" pitchFamily="34" charset="0"/>
                <a:ea typeface="ＭＳ Ｐゴシック" pitchFamily="34" charset="-128"/>
                <a:cs typeface="Arial" pitchFamily="34" charset="0"/>
              </a:rPr>
              <a:t>Why should their ethic override other people’s wishes?</a:t>
            </a:r>
          </a:p>
          <a:p>
            <a:pPr lvl="1"/>
            <a:r>
              <a:rPr lang="en-US" altLang="en-US" dirty="0">
                <a:latin typeface="Arial" pitchFamily="34" charset="0"/>
                <a:ea typeface="ＭＳ Ｐゴシック" pitchFamily="34" charset="-128"/>
                <a:cs typeface="Arial" pitchFamily="34" charset="0"/>
              </a:rPr>
              <a:t>Does hacking treat other people as a means to an end?</a:t>
            </a:r>
          </a:p>
        </p:txBody>
      </p:sp>
    </p:spTree>
    <p:extLst>
      <p:ext uri="{BB962C8B-B14F-4D97-AF65-F5344CB8AC3E}">
        <p14:creationId xmlns:p14="http://schemas.microsoft.com/office/powerpoint/2010/main" val="12416288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itchFamily="34" charset="0"/>
                <a:ea typeface="ＭＳ Ｐゴシック" pitchFamily="34" charset="-128"/>
                <a:cs typeface="Arial" pitchFamily="34" charset="0"/>
              </a:rPr>
              <a:t>Case Studies: Thinking Straight about Technology and Ethics</a:t>
            </a:r>
            <a:endParaRPr lang="en-US" dirty="0">
              <a:latin typeface="Arial" pitchFamily="34" charset="0"/>
              <a:cs typeface="Arial" pitchFamily="34" charset="0"/>
            </a:endParaRPr>
          </a:p>
        </p:txBody>
      </p:sp>
      <p:sp>
        <p:nvSpPr>
          <p:cNvPr id="3" name="Content Placeholder 2"/>
          <p:cNvSpPr>
            <a:spLocks noGrp="1"/>
          </p:cNvSpPr>
          <p:nvPr>
            <p:ph idx="1"/>
          </p:nvPr>
        </p:nvSpPr>
        <p:spPr>
          <a:xfrm>
            <a:off x="489287" y="1363578"/>
            <a:ext cx="8285744" cy="4762585"/>
          </a:xfrm>
        </p:spPr>
        <p:txBody>
          <a:bodyPr/>
          <a:lstStyle/>
          <a:p>
            <a:r>
              <a:rPr lang="en-US" altLang="en-US" dirty="0">
                <a:latin typeface="Arial" pitchFamily="34" charset="0"/>
                <a:ea typeface="ＭＳ Ｐゴシック" pitchFamily="34" charset="-128"/>
                <a:cs typeface="Arial" pitchFamily="34" charset="0"/>
              </a:rPr>
              <a:t>“Paramedic ethics:” know a little and know when to ask</a:t>
            </a:r>
          </a:p>
          <a:p>
            <a:r>
              <a:rPr lang="en-US" altLang="en-US" dirty="0">
                <a:latin typeface="Arial" pitchFamily="34" charset="0"/>
                <a:ea typeface="ＭＳ Ｐゴシック" pitchFamily="34" charset="-128"/>
                <a:cs typeface="Arial" pitchFamily="34" charset="0"/>
              </a:rPr>
              <a:t>Ask these questions when facing an ethical problem:</a:t>
            </a:r>
          </a:p>
          <a:p>
            <a:pPr lvl="1"/>
            <a:r>
              <a:rPr lang="en-US" altLang="en-US" dirty="0">
                <a:latin typeface="Arial" pitchFamily="34" charset="0"/>
                <a:ea typeface="ＭＳ Ｐゴシック" pitchFamily="34" charset="-128"/>
                <a:cs typeface="Arial" pitchFamily="34" charset="0"/>
              </a:rPr>
              <a:t>Who are the stakeholders in this situation?</a:t>
            </a:r>
          </a:p>
          <a:p>
            <a:pPr lvl="1"/>
            <a:r>
              <a:rPr lang="en-US" altLang="en-US" dirty="0">
                <a:latin typeface="Arial" pitchFamily="34" charset="0"/>
                <a:ea typeface="ＭＳ Ｐゴシック" pitchFamily="34" charset="-128"/>
                <a:cs typeface="Arial" pitchFamily="34" charset="0"/>
              </a:rPr>
              <a:t>What does each stakeholder have to gain or lose?</a:t>
            </a:r>
          </a:p>
          <a:p>
            <a:pPr lvl="1"/>
            <a:r>
              <a:rPr lang="en-US" altLang="en-US" dirty="0">
                <a:latin typeface="Arial" pitchFamily="34" charset="0"/>
                <a:ea typeface="ＭＳ Ｐゴシック" pitchFamily="34" charset="-128"/>
                <a:cs typeface="Arial" pitchFamily="34" charset="0"/>
              </a:rPr>
              <a:t>What duties and responsibilities are important?</a:t>
            </a:r>
          </a:p>
          <a:p>
            <a:pPr lvl="1"/>
            <a:r>
              <a:rPr lang="en-US" altLang="en-US" dirty="0">
                <a:latin typeface="Arial" pitchFamily="34" charset="0"/>
                <a:ea typeface="ＭＳ Ｐゴシック" pitchFamily="34" charset="-128"/>
                <a:cs typeface="Arial" pitchFamily="34" charset="0"/>
              </a:rPr>
              <a:t>Can you think of an analogous situation? Does it clarify the situation?</a:t>
            </a:r>
          </a:p>
          <a:p>
            <a:pPr marL="1379538" lvl="1" indent="-465138">
              <a:buFont typeface="Wingdings" panose="05000000000000000000" pitchFamily="2" charset="2"/>
              <a:buChar char="§"/>
            </a:pPr>
            <a:r>
              <a:rPr lang="en-US" altLang="en-US" sz="2200" dirty="0">
                <a:latin typeface="Arial" pitchFamily="34" charset="0"/>
                <a:ea typeface="ＭＳ Ｐゴシック" pitchFamily="34" charset="-128"/>
                <a:cs typeface="Arial" pitchFamily="34" charset="0"/>
              </a:rPr>
              <a:t>Make a decision or repeat in dialectic form</a:t>
            </a:r>
          </a:p>
        </p:txBody>
      </p:sp>
    </p:spTree>
    <p:extLst>
      <p:ext uri="{BB962C8B-B14F-4D97-AF65-F5344CB8AC3E}">
        <p14:creationId xmlns:p14="http://schemas.microsoft.com/office/powerpoint/2010/main" val="39671813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ea typeface="ＭＳ Ｐゴシック" pitchFamily="34" charset="-128"/>
                <a:cs typeface="Arial" pitchFamily="34" charset="0"/>
              </a:rPr>
              <a:t>Case Studies Case 4: Genetic Information and Medical Research (1 of 7)</a:t>
            </a:r>
            <a:endParaRPr lang="en-US" b="0" dirty="0">
              <a:latin typeface="Arial" pitchFamily="34" charset="0"/>
              <a:cs typeface="Arial" pitchFamily="34" charset="0"/>
            </a:endParaRPr>
          </a:p>
        </p:txBody>
      </p:sp>
      <p:sp>
        <p:nvSpPr>
          <p:cNvPr id="7" name="Content Placeholder 6"/>
          <p:cNvSpPr>
            <a:spLocks noGrp="1"/>
          </p:cNvSpPr>
          <p:nvPr>
            <p:ph idx="1"/>
          </p:nvPr>
        </p:nvSpPr>
        <p:spPr>
          <a:xfrm>
            <a:off x="385011" y="1283368"/>
            <a:ext cx="8518357" cy="4842795"/>
          </a:xfrm>
        </p:spPr>
        <p:txBody>
          <a:bodyPr>
            <a:normAutofit/>
          </a:bodyPr>
          <a:lstStyle/>
          <a:p>
            <a:r>
              <a:rPr lang="en-US" altLang="en-US" dirty="0">
                <a:latin typeface="Arial" pitchFamily="34" charset="0"/>
                <a:ea typeface="ＭＳ Ｐゴシック" pitchFamily="34" charset="-128"/>
                <a:cs typeface="Arial" pitchFamily="34" charset="0"/>
              </a:rPr>
              <a:t>Fictional ethical situation</a:t>
            </a:r>
          </a:p>
          <a:p>
            <a:pPr marL="914400" lvl="2" indent="-449263">
              <a:buFont typeface="Arial" panose="020B0604020202020204" pitchFamily="34" charset="0"/>
              <a:buChar char="–"/>
            </a:pPr>
            <a:r>
              <a:rPr lang="en-US" altLang="en-US" sz="2400" dirty="0">
                <a:latin typeface="Arial" pitchFamily="34" charset="0"/>
                <a:ea typeface="ＭＳ Ｐゴシック" pitchFamily="34" charset="-128"/>
                <a:cs typeface="Arial" pitchFamily="34" charset="0"/>
              </a:rPr>
              <a:t>Family doctor asks you to participate in a study of genetic diversity and disease by donating some skin cells. Cells are identified by a randomly assigned number and your zip code. Should you donate?</a:t>
            </a:r>
          </a:p>
          <a:p>
            <a:r>
              <a:rPr lang="en-US" altLang="en-US" dirty="0">
                <a:latin typeface="Arial" pitchFamily="34" charset="0"/>
                <a:ea typeface="ＭＳ Ｐゴシック" pitchFamily="34" charset="-128"/>
                <a:cs typeface="Arial" pitchFamily="34" charset="0"/>
              </a:rPr>
              <a:t>Who are the stakeholders?</a:t>
            </a:r>
          </a:p>
          <a:p>
            <a:pPr lvl="1"/>
            <a:r>
              <a:rPr lang="en-US" altLang="en-US" dirty="0">
                <a:latin typeface="Arial" pitchFamily="34" charset="0"/>
                <a:ea typeface="ＭＳ Ｐゴシック" pitchFamily="34" charset="-128"/>
                <a:cs typeface="Arial" pitchFamily="34" charset="0"/>
              </a:rPr>
              <a:t>You</a:t>
            </a:r>
          </a:p>
          <a:p>
            <a:pPr lvl="1"/>
            <a:r>
              <a:rPr lang="en-US" altLang="en-US" dirty="0">
                <a:latin typeface="Arial" pitchFamily="34" charset="0"/>
                <a:ea typeface="ＭＳ Ｐゴシック" pitchFamily="34" charset="-128"/>
                <a:cs typeface="Arial" pitchFamily="34" charset="0"/>
              </a:rPr>
              <a:t>Family doctor</a:t>
            </a:r>
          </a:p>
          <a:p>
            <a:pPr lvl="1"/>
            <a:r>
              <a:rPr lang="en-US" altLang="en-US" dirty="0">
                <a:latin typeface="Arial" pitchFamily="34" charset="0"/>
                <a:ea typeface="ＭＳ Ｐゴシック" pitchFamily="34" charset="-128"/>
                <a:cs typeface="Arial" pitchFamily="34" charset="0"/>
              </a:rPr>
              <a:t>Pharmaceutical company, “PHARM CO”</a:t>
            </a:r>
          </a:p>
          <a:p>
            <a:pPr lvl="1"/>
            <a:r>
              <a:rPr lang="en-US" altLang="en-US" dirty="0">
                <a:latin typeface="Arial" pitchFamily="34" charset="0"/>
                <a:ea typeface="ＭＳ Ｐゴシック" pitchFamily="34" charset="-128"/>
                <a:cs typeface="Arial" pitchFamily="34" charset="0"/>
              </a:rPr>
              <a:t>Skin cell donors to study, in general</a:t>
            </a:r>
          </a:p>
          <a:p>
            <a:pPr lvl="1"/>
            <a:r>
              <a:rPr lang="en-US" altLang="en-US" dirty="0">
                <a:latin typeface="Arial" pitchFamily="34" charset="0"/>
                <a:ea typeface="ＭＳ Ｐゴシック" pitchFamily="34" charset="-128"/>
                <a:cs typeface="Arial" pitchFamily="34" charset="0"/>
              </a:rPr>
              <a:t>People with genetic disease</a:t>
            </a:r>
          </a:p>
        </p:txBody>
      </p:sp>
    </p:spTree>
    <p:extLst>
      <p:ext uri="{BB962C8B-B14F-4D97-AF65-F5344CB8AC3E}">
        <p14:creationId xmlns:p14="http://schemas.microsoft.com/office/powerpoint/2010/main" val="22245730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itchFamily="34" charset="0"/>
                <a:ea typeface="ＭＳ Ｐゴシック" pitchFamily="34" charset="-128"/>
                <a:cs typeface="Arial" pitchFamily="34" charset="0"/>
              </a:rPr>
              <a:t>Case Studies Case 4: Genetic Information and Medical Research (2 of 7)</a:t>
            </a:r>
            <a:endParaRPr lang="en-US" dirty="0">
              <a:latin typeface="Arial" pitchFamily="34" charset="0"/>
              <a:cs typeface="Arial" pitchFamily="34" charset="0"/>
            </a:endParaRPr>
          </a:p>
        </p:txBody>
      </p:sp>
      <p:sp>
        <p:nvSpPr>
          <p:cNvPr id="3" name="Content Placeholder 2"/>
          <p:cNvSpPr>
            <a:spLocks noGrp="1"/>
          </p:cNvSpPr>
          <p:nvPr>
            <p:ph idx="1"/>
          </p:nvPr>
        </p:nvSpPr>
        <p:spPr>
          <a:xfrm>
            <a:off x="489287" y="1459832"/>
            <a:ext cx="8189492" cy="4602164"/>
          </a:xfrm>
        </p:spPr>
        <p:txBody>
          <a:bodyPr/>
          <a:lstStyle/>
          <a:p>
            <a:r>
              <a:rPr lang="en-US" altLang="en-US" dirty="0">
                <a:latin typeface="Arial" pitchFamily="34" charset="0"/>
                <a:ea typeface="ＭＳ Ｐゴシック" pitchFamily="34" charset="-128"/>
                <a:cs typeface="Arial" pitchFamily="34" charset="0"/>
              </a:rPr>
              <a:t>What is at stake?</a:t>
            </a:r>
          </a:p>
          <a:p>
            <a:pPr lvl="1"/>
            <a:r>
              <a:rPr lang="en-US" altLang="en-US" dirty="0">
                <a:latin typeface="Arial" pitchFamily="34" charset="0"/>
                <a:ea typeface="ＭＳ Ｐゴシック" pitchFamily="34" charset="-128"/>
                <a:cs typeface="Arial" pitchFamily="34" charset="0"/>
              </a:rPr>
              <a:t>You lose a few skin cells</a:t>
            </a:r>
          </a:p>
          <a:p>
            <a:pPr lvl="1"/>
            <a:r>
              <a:rPr lang="en-US" altLang="en-US" dirty="0">
                <a:latin typeface="Arial" pitchFamily="34" charset="0"/>
                <a:ea typeface="ＭＳ Ｐゴシック" pitchFamily="34" charset="-128"/>
                <a:cs typeface="Arial" pitchFamily="34" charset="0"/>
              </a:rPr>
              <a:t>Your privacy </a:t>
            </a:r>
          </a:p>
          <a:p>
            <a:pPr lvl="2"/>
            <a:r>
              <a:rPr lang="en-US" altLang="en-US" dirty="0">
                <a:latin typeface="Arial" pitchFamily="34" charset="0"/>
                <a:ea typeface="ＭＳ Ｐゴシック" pitchFamily="34" charset="-128"/>
                <a:cs typeface="Arial" pitchFamily="34" charset="0"/>
              </a:rPr>
              <a:t>PHARM CO may seek to learn your identity</a:t>
            </a:r>
          </a:p>
          <a:p>
            <a:pPr lvl="2"/>
            <a:r>
              <a:rPr lang="en-US" altLang="en-US" dirty="0">
                <a:latin typeface="Arial" pitchFamily="34" charset="0"/>
                <a:ea typeface="ＭＳ Ｐゴシック" pitchFamily="34" charset="-128"/>
                <a:cs typeface="Arial" pitchFamily="34" charset="0"/>
              </a:rPr>
              <a:t>Transmission of genetic data could be intercepted</a:t>
            </a:r>
          </a:p>
          <a:p>
            <a:pPr lvl="1"/>
            <a:r>
              <a:rPr lang="en-US" altLang="en-US" dirty="0">
                <a:latin typeface="Arial" pitchFamily="34" charset="0"/>
                <a:ea typeface="ＭＳ Ｐゴシック" pitchFamily="34" charset="-128"/>
                <a:cs typeface="Arial" pitchFamily="34" charset="0"/>
              </a:rPr>
              <a:t>Your doctor might be paid for finding participants</a:t>
            </a:r>
          </a:p>
          <a:p>
            <a:pPr lvl="1"/>
            <a:r>
              <a:rPr lang="en-US" altLang="en-US" dirty="0">
                <a:latin typeface="Arial" pitchFamily="34" charset="0"/>
                <a:ea typeface="ＭＳ Ｐゴシック" pitchFamily="34" charset="-128"/>
                <a:cs typeface="Arial" pitchFamily="34" charset="0"/>
              </a:rPr>
              <a:t>PHARM CO may develop new drugs</a:t>
            </a:r>
          </a:p>
          <a:p>
            <a:pPr lvl="1"/>
            <a:r>
              <a:rPr lang="en-US" altLang="en-US" dirty="0">
                <a:latin typeface="Arial" pitchFamily="34" charset="0"/>
                <a:ea typeface="ＭＳ Ｐゴシック" pitchFamily="34" charset="-128"/>
                <a:cs typeface="Arial" pitchFamily="34" charset="0"/>
              </a:rPr>
              <a:t>Drugs could help people with genetic diseases</a:t>
            </a:r>
          </a:p>
        </p:txBody>
      </p:sp>
    </p:spTree>
    <p:extLst>
      <p:ext uri="{BB962C8B-B14F-4D97-AF65-F5344CB8AC3E}">
        <p14:creationId xmlns:p14="http://schemas.microsoft.com/office/powerpoint/2010/main" val="29975425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itchFamily="34" charset="0"/>
                <a:ea typeface="ＭＳ Ｐゴシック" pitchFamily="34" charset="-128"/>
                <a:cs typeface="Arial" pitchFamily="34" charset="0"/>
              </a:rPr>
              <a:t>Case Studies Case 4: Genetic Information and Medical Research (3 of 7)</a:t>
            </a:r>
            <a:endParaRPr lang="en-US" dirty="0">
              <a:latin typeface="Arial" pitchFamily="34" charset="0"/>
              <a:cs typeface="Arial" pitchFamily="34" charset="0"/>
            </a:endParaRPr>
          </a:p>
        </p:txBody>
      </p:sp>
      <p:sp>
        <p:nvSpPr>
          <p:cNvPr id="3" name="Content Placeholder 2"/>
          <p:cNvSpPr>
            <a:spLocks noGrp="1"/>
          </p:cNvSpPr>
          <p:nvPr>
            <p:ph idx="1"/>
          </p:nvPr>
        </p:nvSpPr>
        <p:spPr>
          <a:xfrm>
            <a:off x="457203" y="1427746"/>
            <a:ext cx="8253660" cy="4698417"/>
          </a:xfrm>
        </p:spPr>
        <p:txBody>
          <a:bodyPr/>
          <a:lstStyle/>
          <a:p>
            <a:r>
              <a:rPr lang="en-US" altLang="en-US" dirty="0">
                <a:latin typeface="Arial" pitchFamily="34" charset="0"/>
                <a:ea typeface="ＭＳ Ｐゴシック" pitchFamily="34" charset="-128"/>
                <a:cs typeface="Arial" pitchFamily="34" charset="0"/>
              </a:rPr>
              <a:t>Identify duties and responsibilities</a:t>
            </a:r>
          </a:p>
          <a:p>
            <a:pPr lvl="1"/>
            <a:r>
              <a:rPr lang="en-US" altLang="en-US" dirty="0">
                <a:latin typeface="Arial" pitchFamily="34" charset="0"/>
                <a:ea typeface="ＭＳ Ｐゴシック" pitchFamily="34" charset="-128"/>
                <a:cs typeface="Arial" pitchFamily="34" charset="0"/>
              </a:rPr>
              <a:t>Doctor has a duty to treat you and protect your privacy</a:t>
            </a:r>
          </a:p>
          <a:p>
            <a:pPr lvl="1"/>
            <a:r>
              <a:rPr lang="en-US" altLang="en-US" dirty="0">
                <a:latin typeface="Arial" pitchFamily="34" charset="0"/>
                <a:ea typeface="ＭＳ Ｐゴシック" pitchFamily="34" charset="-128"/>
                <a:cs typeface="Arial" pitchFamily="34" charset="0"/>
              </a:rPr>
              <a:t>You have a duty to pay the doctor and follow instructions</a:t>
            </a:r>
          </a:p>
          <a:p>
            <a:pPr lvl="1"/>
            <a:r>
              <a:rPr lang="en-US" altLang="en-US" dirty="0">
                <a:latin typeface="Arial" pitchFamily="34" charset="0"/>
                <a:ea typeface="ＭＳ Ｐゴシック" pitchFamily="34" charset="-128"/>
                <a:cs typeface="Arial" pitchFamily="34" charset="0"/>
              </a:rPr>
              <a:t>PHARM CO has a duty to develop safe drugs</a:t>
            </a:r>
          </a:p>
          <a:p>
            <a:pPr lvl="1"/>
            <a:r>
              <a:rPr lang="en-US" altLang="en-US" dirty="0">
                <a:latin typeface="Arial" pitchFamily="34" charset="0"/>
                <a:ea typeface="ＭＳ Ｐゴシック" pitchFamily="34" charset="-128"/>
                <a:cs typeface="Arial" pitchFamily="34" charset="0"/>
              </a:rPr>
              <a:t>PHARM CO has promised to pay doctors for finding participants</a:t>
            </a:r>
          </a:p>
          <a:p>
            <a:pPr lvl="1"/>
            <a:r>
              <a:rPr lang="en-US" altLang="en-US" dirty="0">
                <a:latin typeface="Arial" pitchFamily="34" charset="0"/>
                <a:ea typeface="ＭＳ Ｐゴシック" pitchFamily="34" charset="-128"/>
                <a:cs typeface="Arial" pitchFamily="34" charset="0"/>
              </a:rPr>
              <a:t>PHARM CO has promised to respect your privacy</a:t>
            </a:r>
          </a:p>
        </p:txBody>
      </p:sp>
    </p:spTree>
    <p:extLst>
      <p:ext uri="{BB962C8B-B14F-4D97-AF65-F5344CB8AC3E}">
        <p14:creationId xmlns:p14="http://schemas.microsoft.com/office/powerpoint/2010/main" val="19481970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itchFamily="34" charset="0"/>
                <a:ea typeface="ＭＳ Ｐゴシック" pitchFamily="34" charset="-128"/>
                <a:cs typeface="Arial" pitchFamily="34" charset="0"/>
              </a:rPr>
              <a:t>Case Studies Case 4: Genetic Information and Medical Research (4 of 7)</a:t>
            </a:r>
            <a:endParaRPr lang="en-US" dirty="0">
              <a:latin typeface="Arial" pitchFamily="34" charset="0"/>
              <a:cs typeface="Arial" pitchFamily="34" charset="0"/>
            </a:endParaRPr>
          </a:p>
        </p:txBody>
      </p:sp>
      <p:sp>
        <p:nvSpPr>
          <p:cNvPr id="3" name="Content Placeholder 2"/>
          <p:cNvSpPr>
            <a:spLocks noGrp="1"/>
          </p:cNvSpPr>
          <p:nvPr>
            <p:ph idx="1"/>
          </p:nvPr>
        </p:nvSpPr>
        <p:spPr>
          <a:xfrm>
            <a:off x="457203" y="1604210"/>
            <a:ext cx="8285744" cy="4521953"/>
          </a:xfrm>
        </p:spPr>
        <p:txBody>
          <a:bodyPr/>
          <a:lstStyle/>
          <a:p>
            <a:r>
              <a:rPr lang="en-US" altLang="en-US" dirty="0">
                <a:latin typeface="Arial" pitchFamily="34" charset="0"/>
                <a:ea typeface="ＭＳ Ｐゴシック" pitchFamily="34" charset="-128"/>
                <a:cs typeface="Arial" pitchFamily="34" charset="0"/>
              </a:rPr>
              <a:t>More complex duties and responsibilities</a:t>
            </a:r>
          </a:p>
          <a:p>
            <a:pPr lvl="1"/>
            <a:r>
              <a:rPr lang="en-US" altLang="en-US" dirty="0">
                <a:latin typeface="Arial" pitchFamily="34" charset="0"/>
                <a:ea typeface="ＭＳ Ｐゴシック" pitchFamily="34" charset="-128"/>
                <a:cs typeface="Arial" pitchFamily="34" charset="0"/>
              </a:rPr>
              <a:t>Should you get royalties if your information leads to a profitable drug?</a:t>
            </a:r>
          </a:p>
          <a:p>
            <a:pPr lvl="1"/>
            <a:r>
              <a:rPr lang="en-US" altLang="en-US" dirty="0">
                <a:latin typeface="Arial" pitchFamily="34" charset="0"/>
                <a:ea typeface="ＭＳ Ｐゴシック" pitchFamily="34" charset="-128"/>
                <a:cs typeface="Arial" pitchFamily="34" charset="0"/>
              </a:rPr>
              <a:t>Does PHARM CO own genetic information, or should it be shared freely?</a:t>
            </a:r>
          </a:p>
          <a:p>
            <a:pPr lvl="1"/>
            <a:r>
              <a:rPr lang="en-US" altLang="en-US" dirty="0">
                <a:latin typeface="Arial" pitchFamily="34" charset="0"/>
                <a:ea typeface="ＭＳ Ｐゴシック" pitchFamily="34" charset="-128"/>
                <a:cs typeface="Arial" pitchFamily="34" charset="0"/>
              </a:rPr>
              <a:t>Why is zip code part of encoding?</a:t>
            </a:r>
          </a:p>
          <a:p>
            <a:pPr lvl="1"/>
            <a:r>
              <a:rPr lang="en-US" altLang="en-US" dirty="0">
                <a:latin typeface="Arial" pitchFamily="34" charset="0"/>
                <a:ea typeface="ＭＳ Ｐゴシック" pitchFamily="34" charset="-128"/>
                <a:cs typeface="Arial" pitchFamily="34" charset="0"/>
              </a:rPr>
              <a:t>Do you have a duty to help cure disease?</a:t>
            </a:r>
          </a:p>
        </p:txBody>
      </p:sp>
    </p:spTree>
    <p:extLst>
      <p:ext uri="{BB962C8B-B14F-4D97-AF65-F5344CB8AC3E}">
        <p14:creationId xmlns:p14="http://schemas.microsoft.com/office/powerpoint/2010/main" val="21748592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itchFamily="34" charset="0"/>
                <a:ea typeface="ＭＳ Ｐゴシック" pitchFamily="34" charset="-128"/>
                <a:cs typeface="Arial" pitchFamily="34" charset="0"/>
              </a:rPr>
              <a:t>Case Studies Case 4: Genetic Information and Medical Research (5 of 7)</a:t>
            </a:r>
            <a:endParaRPr lang="en-US" dirty="0">
              <a:latin typeface="Arial" pitchFamily="34" charset="0"/>
              <a:cs typeface="Arial" pitchFamily="34" charset="0"/>
            </a:endParaRPr>
          </a:p>
        </p:txBody>
      </p:sp>
      <p:sp>
        <p:nvSpPr>
          <p:cNvPr id="3" name="Content Placeholder 2"/>
          <p:cNvSpPr>
            <a:spLocks noGrp="1"/>
          </p:cNvSpPr>
          <p:nvPr>
            <p:ph idx="1"/>
          </p:nvPr>
        </p:nvSpPr>
        <p:spPr>
          <a:xfrm>
            <a:off x="473244" y="1507958"/>
            <a:ext cx="8365955" cy="4521953"/>
          </a:xfrm>
        </p:spPr>
        <p:txBody>
          <a:bodyPr/>
          <a:lstStyle/>
          <a:p>
            <a:r>
              <a:rPr lang="en-US" altLang="en-US" dirty="0">
                <a:latin typeface="Arial" pitchFamily="34" charset="0"/>
                <a:ea typeface="ＭＳ Ｐゴシック" pitchFamily="34" charset="-128"/>
                <a:cs typeface="Arial" pitchFamily="34" charset="0"/>
              </a:rPr>
              <a:t>Think of analogies</a:t>
            </a:r>
          </a:p>
          <a:p>
            <a:pPr lvl="1"/>
            <a:r>
              <a:rPr lang="en-US" altLang="en-US" dirty="0">
                <a:latin typeface="Arial" pitchFamily="34" charset="0"/>
                <a:ea typeface="ＭＳ Ｐゴシック" pitchFamily="34" charset="-128"/>
                <a:cs typeface="Arial" pitchFamily="34" charset="0"/>
              </a:rPr>
              <a:t>Compare to Red Cross blood donations</a:t>
            </a:r>
          </a:p>
          <a:p>
            <a:pPr lvl="2"/>
            <a:r>
              <a:rPr lang="en-US" altLang="en-US" dirty="0">
                <a:latin typeface="Arial" pitchFamily="34" charset="0"/>
                <a:ea typeface="ＭＳ Ｐゴシック" pitchFamily="34" charset="-128"/>
                <a:cs typeface="Arial" pitchFamily="34" charset="0"/>
              </a:rPr>
              <a:t>Both involve confidential health information</a:t>
            </a:r>
          </a:p>
          <a:p>
            <a:pPr lvl="2"/>
            <a:r>
              <a:rPr lang="en-US" altLang="en-US" dirty="0">
                <a:latin typeface="Arial" pitchFamily="34" charset="0"/>
                <a:ea typeface="ＭＳ Ｐゴシック" pitchFamily="34" charset="-128"/>
                <a:cs typeface="Arial" pitchFamily="34" charset="0"/>
              </a:rPr>
              <a:t>Both ask for volunteer donors</a:t>
            </a:r>
          </a:p>
          <a:p>
            <a:pPr lvl="2"/>
            <a:r>
              <a:rPr lang="en-US" altLang="en-US" dirty="0">
                <a:latin typeface="Arial" pitchFamily="34" charset="0"/>
                <a:ea typeface="ＭＳ Ｐゴシック" pitchFamily="34" charset="-128"/>
                <a:cs typeface="Arial" pitchFamily="34" charset="0"/>
              </a:rPr>
              <a:t>Both have collectors and users who are paid</a:t>
            </a:r>
          </a:p>
          <a:p>
            <a:pPr lvl="2"/>
            <a:r>
              <a:rPr lang="en-US" altLang="en-US" dirty="0">
                <a:latin typeface="Arial" pitchFamily="34" charset="0"/>
                <a:ea typeface="ＭＳ Ｐゴシック" pitchFamily="34" charset="-128"/>
                <a:cs typeface="Arial" pitchFamily="34" charset="0"/>
              </a:rPr>
              <a:t>Both involve altruistic reasons for donation</a:t>
            </a:r>
          </a:p>
          <a:p>
            <a:pPr lvl="2"/>
            <a:r>
              <a:rPr lang="en-US" altLang="en-US" dirty="0">
                <a:latin typeface="Arial" pitchFamily="34" charset="0"/>
                <a:ea typeface="ＭＳ Ｐゴシック" pitchFamily="34" charset="-128"/>
                <a:cs typeface="Arial" pitchFamily="34" charset="0"/>
              </a:rPr>
              <a:t>Blood is the valuable item; genetic information in skin cells is the value</a:t>
            </a:r>
          </a:p>
          <a:p>
            <a:pPr lvl="2"/>
            <a:r>
              <a:rPr lang="en-US" altLang="en-US" dirty="0">
                <a:latin typeface="Arial" pitchFamily="34" charset="0"/>
                <a:ea typeface="ＭＳ Ｐゴシック" pitchFamily="34" charset="-128"/>
                <a:cs typeface="Arial" pitchFamily="34" charset="0"/>
              </a:rPr>
              <a:t>Company might or might not find usefulness in cells</a:t>
            </a:r>
          </a:p>
          <a:p>
            <a:pPr lvl="2"/>
            <a:r>
              <a:rPr lang="en-US" altLang="en-US" dirty="0">
                <a:latin typeface="Arial" pitchFamily="34" charset="0"/>
                <a:ea typeface="ＭＳ Ｐゴシック" pitchFamily="34" charset="-128"/>
                <a:cs typeface="Arial" pitchFamily="34" charset="0"/>
              </a:rPr>
              <a:t>Company is driven by profit and loss</a:t>
            </a:r>
          </a:p>
        </p:txBody>
      </p:sp>
    </p:spTree>
    <p:extLst>
      <p:ext uri="{BB962C8B-B14F-4D97-AF65-F5344CB8AC3E}">
        <p14:creationId xmlns:p14="http://schemas.microsoft.com/office/powerpoint/2010/main" val="14371512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itchFamily="34" charset="0"/>
                <a:ea typeface="ＭＳ Ｐゴシック" pitchFamily="34" charset="-128"/>
                <a:cs typeface="Arial" pitchFamily="34" charset="0"/>
              </a:rPr>
              <a:t>Case Studies Case 4: Genetic Information and Medical Research (6 of 7)</a:t>
            </a:r>
            <a:endParaRPr lang="en-US" dirty="0">
              <a:latin typeface="Arial" pitchFamily="34" charset="0"/>
              <a:cs typeface="Arial" pitchFamily="34" charset="0"/>
            </a:endParaRPr>
          </a:p>
        </p:txBody>
      </p:sp>
      <p:sp>
        <p:nvSpPr>
          <p:cNvPr id="3" name="Content Placeholder 2"/>
          <p:cNvSpPr>
            <a:spLocks noGrp="1"/>
          </p:cNvSpPr>
          <p:nvPr>
            <p:ph idx="1"/>
          </p:nvPr>
        </p:nvSpPr>
        <p:spPr>
          <a:xfrm>
            <a:off x="457202" y="1331494"/>
            <a:ext cx="8349913" cy="4794669"/>
          </a:xfrm>
        </p:spPr>
        <p:txBody>
          <a:bodyPr/>
          <a:lstStyle/>
          <a:p>
            <a:r>
              <a:rPr lang="en-US" altLang="en-US" dirty="0">
                <a:latin typeface="Arial" pitchFamily="34" charset="0"/>
                <a:ea typeface="ＭＳ Ｐゴシック" pitchFamily="34" charset="-128"/>
                <a:cs typeface="Arial" pitchFamily="34" charset="0"/>
              </a:rPr>
              <a:t>Think of analogies</a:t>
            </a:r>
          </a:p>
          <a:p>
            <a:pPr lvl="1"/>
            <a:r>
              <a:rPr lang="en-US" altLang="en-US" dirty="0">
                <a:latin typeface="Arial" pitchFamily="34" charset="0"/>
                <a:ea typeface="ＭＳ Ｐゴシック" pitchFamily="34" charset="-128"/>
                <a:cs typeface="Arial" pitchFamily="34" charset="0"/>
              </a:rPr>
              <a:t>Compare to for-profit companies that solicit money for a charity</a:t>
            </a:r>
          </a:p>
          <a:p>
            <a:pPr lvl="2"/>
            <a:r>
              <a:rPr lang="en-US" altLang="en-US" dirty="0">
                <a:latin typeface="Arial" pitchFamily="34" charset="0"/>
                <a:ea typeface="ＭＳ Ｐゴシック" pitchFamily="34" charset="-128"/>
                <a:cs typeface="Arial" pitchFamily="34" charset="0"/>
              </a:rPr>
              <a:t>Confidentiality is an issue for both</a:t>
            </a:r>
          </a:p>
          <a:p>
            <a:pPr lvl="2"/>
            <a:r>
              <a:rPr lang="en-US" altLang="en-US" dirty="0">
                <a:latin typeface="Arial" pitchFamily="34" charset="0"/>
                <a:ea typeface="ＭＳ Ｐゴシック" pitchFamily="34" charset="-128"/>
                <a:cs typeface="Arial" pitchFamily="34" charset="0"/>
              </a:rPr>
              <a:t>In both, volunteers are asked to donate by someone with financial interest in the donation</a:t>
            </a:r>
          </a:p>
          <a:p>
            <a:pPr lvl="2"/>
            <a:r>
              <a:rPr lang="en-US" altLang="en-US" dirty="0">
                <a:latin typeface="Arial" pitchFamily="34" charset="0"/>
                <a:ea typeface="ＭＳ Ｐゴシック" pitchFamily="34" charset="-128"/>
                <a:cs typeface="Arial" pitchFamily="34" charset="0"/>
              </a:rPr>
              <a:t>Both involve altruistic motivations</a:t>
            </a:r>
          </a:p>
          <a:p>
            <a:pPr lvl="2"/>
            <a:r>
              <a:rPr lang="en-US" altLang="en-US" dirty="0">
                <a:latin typeface="Arial" pitchFamily="34" charset="0"/>
                <a:ea typeface="ＭＳ Ｐゴシック" pitchFamily="34" charset="-128"/>
                <a:cs typeface="Arial" pitchFamily="34" charset="0"/>
              </a:rPr>
              <a:t>One involves donated money; the other does not</a:t>
            </a:r>
          </a:p>
          <a:p>
            <a:pPr lvl="2"/>
            <a:r>
              <a:rPr lang="en-US" altLang="en-US" dirty="0">
                <a:latin typeface="Arial" pitchFamily="34" charset="0"/>
                <a:ea typeface="ＭＳ Ｐゴシック" pitchFamily="34" charset="-128"/>
                <a:cs typeface="Arial" pitchFamily="34" charset="0"/>
              </a:rPr>
              <a:t>Doctor and pharmaceutical roles don’t quite match </a:t>
            </a:r>
            <a:br>
              <a:rPr lang="en-US" altLang="en-US" dirty="0">
                <a:latin typeface="Arial" pitchFamily="34" charset="0"/>
                <a:ea typeface="ＭＳ Ｐゴシック" pitchFamily="34" charset="-128"/>
                <a:cs typeface="Arial" pitchFamily="34" charset="0"/>
              </a:rPr>
            </a:br>
            <a:r>
              <a:rPr lang="en-US" altLang="en-US" dirty="0">
                <a:latin typeface="Arial" pitchFamily="34" charset="0"/>
                <a:ea typeface="ＭＳ Ｐゴシック" pitchFamily="34" charset="-128"/>
                <a:cs typeface="Arial" pitchFamily="34" charset="0"/>
              </a:rPr>
              <a:t>for-profit company</a:t>
            </a:r>
          </a:p>
        </p:txBody>
      </p:sp>
    </p:spTree>
    <p:extLst>
      <p:ext uri="{BB962C8B-B14F-4D97-AF65-F5344CB8AC3E}">
        <p14:creationId xmlns:p14="http://schemas.microsoft.com/office/powerpoint/2010/main" val="42481265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itchFamily="34" charset="0"/>
                <a:ea typeface="ＭＳ Ｐゴシック" pitchFamily="34" charset="-128"/>
                <a:cs typeface="Arial" pitchFamily="34" charset="0"/>
              </a:rPr>
              <a:t>Case Studies Case 4: Genetic Information and Medical Research (7 of 7)</a:t>
            </a:r>
            <a:endParaRPr lang="en-US" dirty="0">
              <a:latin typeface="Arial" pitchFamily="34" charset="0"/>
              <a:cs typeface="Arial" pitchFamily="34" charset="0"/>
            </a:endParaRPr>
          </a:p>
        </p:txBody>
      </p:sp>
      <p:sp>
        <p:nvSpPr>
          <p:cNvPr id="3" name="Content Placeholder 2"/>
          <p:cNvSpPr>
            <a:spLocks noGrp="1"/>
          </p:cNvSpPr>
          <p:nvPr>
            <p:ph idx="1"/>
          </p:nvPr>
        </p:nvSpPr>
        <p:spPr>
          <a:xfrm>
            <a:off x="473244" y="1315452"/>
            <a:ext cx="8478251" cy="4716379"/>
          </a:xfrm>
        </p:spPr>
        <p:txBody>
          <a:bodyPr/>
          <a:lstStyle/>
          <a:p>
            <a:r>
              <a:rPr lang="en-US" altLang="en-US" dirty="0">
                <a:latin typeface="Arial" pitchFamily="34" charset="0"/>
                <a:ea typeface="ＭＳ Ｐゴシック" pitchFamily="34" charset="-128"/>
                <a:cs typeface="Arial" pitchFamily="34" charset="0"/>
              </a:rPr>
              <a:t>Make a decision or loop again</a:t>
            </a:r>
          </a:p>
          <a:p>
            <a:pPr lvl="1"/>
            <a:r>
              <a:rPr lang="en-US" altLang="en-US" dirty="0">
                <a:latin typeface="Arial" pitchFamily="34" charset="0"/>
                <a:ea typeface="ＭＳ Ｐゴシック" pitchFamily="34" charset="-128"/>
                <a:cs typeface="Arial" pitchFamily="34" charset="0"/>
              </a:rPr>
              <a:t>Must you decide right now (while at the doctor)?</a:t>
            </a:r>
          </a:p>
          <a:p>
            <a:pPr lvl="1"/>
            <a:r>
              <a:rPr lang="en-US" altLang="en-US" dirty="0">
                <a:latin typeface="Arial" pitchFamily="34" charset="0"/>
                <a:ea typeface="ＭＳ Ｐゴシック" pitchFamily="34" charset="-128"/>
                <a:cs typeface="Arial" pitchFamily="34" charset="0"/>
              </a:rPr>
              <a:t>Should you do more research?</a:t>
            </a:r>
          </a:p>
          <a:p>
            <a:pPr lvl="1"/>
            <a:r>
              <a:rPr lang="en-US" altLang="en-US" dirty="0">
                <a:latin typeface="Arial" pitchFamily="34" charset="0"/>
                <a:ea typeface="ＭＳ Ｐゴシック" pitchFamily="34" charset="-128"/>
                <a:cs typeface="Arial" pitchFamily="34" charset="0"/>
              </a:rPr>
              <a:t>Should you ask others?</a:t>
            </a:r>
          </a:p>
          <a:p>
            <a:pPr marL="1379538" lvl="1" indent="-465138">
              <a:buFont typeface="Wingdings" panose="05000000000000000000" pitchFamily="2" charset="2"/>
              <a:buChar char="§"/>
            </a:pPr>
            <a:r>
              <a:rPr lang="en-US" altLang="en-US" sz="2200" dirty="0">
                <a:latin typeface="Arial" pitchFamily="34" charset="0"/>
                <a:ea typeface="ＭＳ Ｐゴシック" pitchFamily="34" charset="-128"/>
                <a:cs typeface="Arial" pitchFamily="34" charset="0"/>
              </a:rPr>
              <a:t>Might choose to decline unless you know more about PHARM CO’s use of your information, especially given the financial interests of other stakeholders</a:t>
            </a:r>
          </a:p>
        </p:txBody>
      </p:sp>
    </p:spTree>
    <p:extLst>
      <p:ext uri="{BB962C8B-B14F-4D97-AF65-F5344CB8AC3E}">
        <p14:creationId xmlns:p14="http://schemas.microsoft.com/office/powerpoint/2010/main" val="24681598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37" y="1"/>
            <a:ext cx="8312727" cy="1060704"/>
          </a:xfrm>
        </p:spPr>
        <p:txBody>
          <a:bodyPr>
            <a:noAutofit/>
          </a:bodyPr>
          <a:lstStyle/>
          <a:p>
            <a:r>
              <a:rPr lang="en-US" altLang="en-US" dirty="0">
                <a:latin typeface="Arial" pitchFamily="34" charset="0"/>
                <a:ea typeface="ＭＳ Ｐゴシック" pitchFamily="34" charset="-128"/>
                <a:cs typeface="Arial" pitchFamily="34" charset="0"/>
              </a:rPr>
              <a:t>Personal Privacy and Social Networks (1 of 5)</a:t>
            </a:r>
            <a:endParaRPr lang="en-US" dirty="0">
              <a:latin typeface="Arial" pitchFamily="34" charset="0"/>
              <a:cs typeface="Arial" pitchFamily="34" charset="0"/>
            </a:endParaRPr>
          </a:p>
        </p:txBody>
      </p:sp>
      <p:sp>
        <p:nvSpPr>
          <p:cNvPr id="3" name="Content Placeholder 2"/>
          <p:cNvSpPr>
            <a:spLocks noGrp="1"/>
          </p:cNvSpPr>
          <p:nvPr>
            <p:ph idx="1"/>
          </p:nvPr>
        </p:nvSpPr>
        <p:spPr>
          <a:xfrm>
            <a:off x="505328" y="1379620"/>
            <a:ext cx="8333871" cy="4730501"/>
          </a:xfrm>
        </p:spPr>
        <p:txBody>
          <a:bodyPr/>
          <a:lstStyle/>
          <a:p>
            <a:r>
              <a:rPr lang="en-US" altLang="en-US" dirty="0">
                <a:latin typeface="Arial" pitchFamily="34" charset="0"/>
                <a:ea typeface="ＭＳ Ｐゴシック" pitchFamily="34" charset="-128"/>
                <a:cs typeface="Arial" pitchFamily="34" charset="0"/>
              </a:rPr>
              <a:t>Apply the reasoning from case studies to more personal ethical issues</a:t>
            </a:r>
          </a:p>
          <a:p>
            <a:r>
              <a:rPr lang="en-US" altLang="en-US" b="1" dirty="0">
                <a:latin typeface="Arial" pitchFamily="34" charset="0"/>
                <a:ea typeface="ＭＳ Ｐゴシック" pitchFamily="34" charset="-128"/>
                <a:cs typeface="Arial" pitchFamily="34" charset="0"/>
              </a:rPr>
              <a:t>Cyberbullying</a:t>
            </a:r>
            <a:r>
              <a:rPr lang="en-US" altLang="en-US" dirty="0">
                <a:latin typeface="Arial" pitchFamily="34" charset="0"/>
                <a:ea typeface="ＭＳ Ｐゴシック" pitchFamily="34" charset="-128"/>
                <a:cs typeface="Arial" pitchFamily="34" charset="0"/>
              </a:rPr>
              <a:t>: humiliating, taunting, threatening, invading someone’s privacy online</a:t>
            </a:r>
          </a:p>
          <a:p>
            <a:r>
              <a:rPr lang="en-US" altLang="en-US" b="1" dirty="0">
                <a:latin typeface="Arial" pitchFamily="34" charset="0"/>
                <a:ea typeface="ＭＳ Ｐゴシック" pitchFamily="34" charset="-128"/>
                <a:cs typeface="Arial" pitchFamily="34" charset="0"/>
              </a:rPr>
              <a:t>Sexting</a:t>
            </a:r>
            <a:r>
              <a:rPr lang="en-US" altLang="en-US" dirty="0">
                <a:latin typeface="Arial" pitchFamily="34" charset="0"/>
                <a:ea typeface="ＭＳ Ｐゴシック" pitchFamily="34" charset="-128"/>
                <a:cs typeface="Arial" pitchFamily="34" charset="0"/>
              </a:rPr>
              <a:t>: sending sexually explicit messages or images using cell phones or tablet computers</a:t>
            </a:r>
          </a:p>
          <a:p>
            <a:r>
              <a:rPr lang="en-US" altLang="en-US" dirty="0">
                <a:latin typeface="Arial" pitchFamily="34" charset="0"/>
                <a:ea typeface="ＭＳ Ｐゴシック" pitchFamily="34" charset="-128"/>
                <a:cs typeface="Arial" pitchFamily="34" charset="0"/>
              </a:rPr>
              <a:t>Privacy expectations for public postings to social networks</a:t>
            </a:r>
          </a:p>
        </p:txBody>
      </p:sp>
    </p:spTree>
    <p:extLst>
      <p:ext uri="{BB962C8B-B14F-4D97-AF65-F5344CB8AC3E}">
        <p14:creationId xmlns:p14="http://schemas.microsoft.com/office/powerpoint/2010/main" val="11078545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37" y="1"/>
            <a:ext cx="8312727" cy="1060704"/>
          </a:xfrm>
        </p:spPr>
        <p:txBody>
          <a:bodyPr>
            <a:noAutofit/>
          </a:bodyPr>
          <a:lstStyle/>
          <a:p>
            <a:r>
              <a:rPr lang="en-US" altLang="en-US" dirty="0">
                <a:latin typeface="Arial" pitchFamily="34" charset="0"/>
                <a:ea typeface="ＭＳ Ｐゴシック" pitchFamily="34" charset="-128"/>
                <a:cs typeface="Arial" pitchFamily="34" charset="0"/>
              </a:rPr>
              <a:t>Personal Privacy and Social Networks (2 of 5)</a:t>
            </a:r>
            <a:endParaRPr lang="en-US" dirty="0">
              <a:latin typeface="Arial" pitchFamily="34" charset="0"/>
              <a:cs typeface="Arial" pitchFamily="34" charset="0"/>
            </a:endParaRPr>
          </a:p>
        </p:txBody>
      </p:sp>
      <p:sp>
        <p:nvSpPr>
          <p:cNvPr id="3" name="Content Placeholder 2"/>
          <p:cNvSpPr>
            <a:spLocks noGrp="1"/>
          </p:cNvSpPr>
          <p:nvPr>
            <p:ph idx="1"/>
          </p:nvPr>
        </p:nvSpPr>
        <p:spPr>
          <a:xfrm>
            <a:off x="457203" y="1247307"/>
            <a:ext cx="8526376" cy="4896819"/>
          </a:xfrm>
        </p:spPr>
        <p:txBody>
          <a:bodyPr/>
          <a:lstStyle/>
          <a:p>
            <a:r>
              <a:rPr lang="en-US" altLang="en-US" dirty="0">
                <a:latin typeface="Arial" pitchFamily="34" charset="0"/>
                <a:ea typeface="ＭＳ Ｐゴシック" pitchFamily="34" charset="-128"/>
                <a:cs typeface="Arial" pitchFamily="34" charset="0"/>
              </a:rPr>
              <a:t>Cyberbullying examples</a:t>
            </a:r>
          </a:p>
          <a:p>
            <a:pPr lvl="1"/>
            <a:r>
              <a:rPr lang="en-US" altLang="en-US" dirty="0">
                <a:latin typeface="Arial" pitchFamily="34" charset="0"/>
                <a:ea typeface="ＭＳ Ｐゴシック" pitchFamily="34" charset="-128"/>
                <a:cs typeface="Arial" pitchFamily="34" charset="0"/>
              </a:rPr>
              <a:t>Megan Meier committed suicide after being harassed on </a:t>
            </a:r>
            <a:r>
              <a:rPr lang="en-US" altLang="en-US" dirty="0" err="1">
                <a:latin typeface="Arial" pitchFamily="34" charset="0"/>
                <a:ea typeface="ＭＳ Ｐゴシック" pitchFamily="34" charset="-128"/>
                <a:cs typeface="Arial" pitchFamily="34" charset="0"/>
              </a:rPr>
              <a:t>MySpace</a:t>
            </a:r>
            <a:r>
              <a:rPr lang="en-US" altLang="en-US" dirty="0">
                <a:latin typeface="Arial" pitchFamily="34" charset="0"/>
                <a:ea typeface="ＭＳ Ｐゴシック" pitchFamily="34" charset="-128"/>
                <a:cs typeface="Arial" pitchFamily="34" charset="0"/>
              </a:rPr>
              <a:t>; harasser was the mother of a former friend</a:t>
            </a:r>
          </a:p>
          <a:p>
            <a:pPr lvl="1"/>
            <a:r>
              <a:rPr lang="en-US" altLang="en-US" dirty="0">
                <a:latin typeface="Arial" pitchFamily="34" charset="0"/>
                <a:ea typeface="ＭＳ Ｐゴシック" pitchFamily="34" charset="-128"/>
                <a:cs typeface="Arial" pitchFamily="34" charset="0"/>
              </a:rPr>
              <a:t>Information posted to Craigslist led to young girl receiving sexual phone calls and emails</a:t>
            </a:r>
          </a:p>
          <a:p>
            <a:pPr lvl="1"/>
            <a:r>
              <a:rPr lang="en-US" altLang="en-US" dirty="0">
                <a:latin typeface="Arial" pitchFamily="34" charset="0"/>
                <a:ea typeface="ＭＳ Ｐゴシック" pitchFamily="34" charset="-128"/>
                <a:cs typeface="Arial" pitchFamily="34" charset="0"/>
              </a:rPr>
              <a:t>Tyler Clementi committed suicide after his roommate posted a recording of a sexual encounter with another man</a:t>
            </a:r>
          </a:p>
          <a:p>
            <a:r>
              <a:rPr lang="en-US" altLang="en-US" dirty="0">
                <a:latin typeface="Arial" pitchFamily="34" charset="0"/>
                <a:ea typeface="ＭＳ Ｐゴシック" pitchFamily="34" charset="-128"/>
                <a:cs typeface="Arial" pitchFamily="34" charset="0"/>
              </a:rPr>
              <a:t>Laws lag behind the problem</a:t>
            </a:r>
          </a:p>
          <a:p>
            <a:r>
              <a:rPr lang="en-US" altLang="en-US" dirty="0">
                <a:latin typeface="Arial" pitchFamily="34" charset="0"/>
                <a:ea typeface="ＭＳ Ｐゴシック" pitchFamily="34" charset="-128"/>
                <a:cs typeface="Arial" pitchFamily="34" charset="0"/>
              </a:rPr>
              <a:t>First amendment protections complicate the issue</a:t>
            </a:r>
          </a:p>
        </p:txBody>
      </p:sp>
    </p:spTree>
    <p:extLst>
      <p:ext uri="{BB962C8B-B14F-4D97-AF65-F5344CB8AC3E}">
        <p14:creationId xmlns:p14="http://schemas.microsoft.com/office/powerpoint/2010/main" val="38380900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37" y="1"/>
            <a:ext cx="8312727" cy="1060704"/>
          </a:xfrm>
        </p:spPr>
        <p:txBody>
          <a:bodyPr>
            <a:noAutofit/>
          </a:bodyPr>
          <a:lstStyle/>
          <a:p>
            <a:r>
              <a:rPr lang="en-US" altLang="en-US" dirty="0">
                <a:latin typeface="Arial" pitchFamily="34" charset="0"/>
                <a:ea typeface="ＭＳ Ｐゴシック" pitchFamily="34" charset="-128"/>
                <a:cs typeface="Arial" pitchFamily="34" charset="0"/>
              </a:rPr>
              <a:t>Personal Privacy and Social Networks (3 of 5)</a:t>
            </a:r>
            <a:endParaRPr lang="en-US" dirty="0">
              <a:latin typeface="Arial" pitchFamily="34" charset="0"/>
              <a:cs typeface="Arial" pitchFamily="34" charset="0"/>
            </a:endParaRPr>
          </a:p>
        </p:txBody>
      </p:sp>
      <p:sp>
        <p:nvSpPr>
          <p:cNvPr id="3" name="Content Placeholder 2"/>
          <p:cNvSpPr>
            <a:spLocks noGrp="1"/>
          </p:cNvSpPr>
          <p:nvPr>
            <p:ph idx="1"/>
          </p:nvPr>
        </p:nvSpPr>
        <p:spPr>
          <a:xfrm>
            <a:off x="457202" y="1315453"/>
            <a:ext cx="8430124" cy="4636168"/>
          </a:xfrm>
        </p:spPr>
        <p:txBody>
          <a:bodyPr/>
          <a:lstStyle/>
          <a:p>
            <a:r>
              <a:rPr lang="en-US" altLang="en-US" dirty="0">
                <a:latin typeface="Arial" pitchFamily="34" charset="0"/>
                <a:ea typeface="ＭＳ Ｐゴシック" pitchFamily="34" charset="-128"/>
                <a:cs typeface="Arial" pitchFamily="34" charset="0"/>
              </a:rPr>
              <a:t>Sexting between consenting adults is legal</a:t>
            </a:r>
          </a:p>
          <a:p>
            <a:pPr lvl="1"/>
            <a:r>
              <a:rPr lang="en-US" altLang="en-US" dirty="0">
                <a:latin typeface="Arial" pitchFamily="34" charset="0"/>
                <a:ea typeface="ＭＳ Ｐゴシック" pitchFamily="34" charset="-128"/>
                <a:cs typeface="Arial" pitchFamily="34" charset="0"/>
              </a:rPr>
              <a:t>Images intended to be private between two individuals may not stay that way</a:t>
            </a:r>
          </a:p>
          <a:p>
            <a:pPr lvl="1"/>
            <a:r>
              <a:rPr lang="en-US" altLang="en-US" dirty="0">
                <a:latin typeface="Arial" pitchFamily="34" charset="0"/>
                <a:ea typeface="ＭＳ Ｐゴシック" pitchFamily="34" charset="-128"/>
                <a:cs typeface="Arial" pitchFamily="34" charset="0"/>
              </a:rPr>
              <a:t>Once something is posted on the Internet, it is there forever</a:t>
            </a:r>
          </a:p>
          <a:p>
            <a:r>
              <a:rPr lang="en-US" altLang="en-US" dirty="0">
                <a:latin typeface="Arial" pitchFamily="34" charset="0"/>
                <a:ea typeface="ＭＳ Ｐゴシック" pitchFamily="34" charset="-128"/>
                <a:cs typeface="Arial" pitchFamily="34" charset="0"/>
              </a:rPr>
              <a:t>Sexting involving minors may be considered child pornography, even if the perpetrator is the “child”</a:t>
            </a:r>
          </a:p>
          <a:p>
            <a:pPr marL="742950" lvl="2" indent="-342900">
              <a:buFont typeface="Arial" panose="020B0604020202020204" pitchFamily="34" charset="0"/>
              <a:buChar char="–"/>
            </a:pPr>
            <a:r>
              <a:rPr lang="en-US" altLang="en-US" sz="2400" dirty="0">
                <a:latin typeface="Arial" pitchFamily="34" charset="0"/>
                <a:ea typeface="ＭＳ Ｐゴシック" pitchFamily="34" charset="-128"/>
                <a:cs typeface="Arial" pitchFamily="34" charset="0"/>
              </a:rPr>
              <a:t>Laws around minors sending other minors images have been relaxed in some states</a:t>
            </a:r>
          </a:p>
        </p:txBody>
      </p:sp>
    </p:spTree>
    <p:extLst>
      <p:ext uri="{BB962C8B-B14F-4D97-AF65-F5344CB8AC3E}">
        <p14:creationId xmlns:p14="http://schemas.microsoft.com/office/powerpoint/2010/main" val="12673310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37" y="1"/>
            <a:ext cx="8312727" cy="1060704"/>
          </a:xfrm>
        </p:spPr>
        <p:txBody>
          <a:bodyPr>
            <a:noAutofit/>
          </a:bodyPr>
          <a:lstStyle/>
          <a:p>
            <a:r>
              <a:rPr lang="en-US" altLang="en-US" dirty="0">
                <a:latin typeface="Arial" pitchFamily="34" charset="0"/>
                <a:ea typeface="ＭＳ Ｐゴシック" pitchFamily="34" charset="-128"/>
                <a:cs typeface="Arial" pitchFamily="34" charset="0"/>
              </a:rPr>
              <a:t>Personal Privacy and Social Networks (4 of 5)</a:t>
            </a:r>
            <a:endParaRPr lang="en-US" dirty="0">
              <a:latin typeface="Arial" pitchFamily="34" charset="0"/>
              <a:cs typeface="Arial" pitchFamily="34" charset="0"/>
            </a:endParaRPr>
          </a:p>
        </p:txBody>
      </p:sp>
      <p:sp>
        <p:nvSpPr>
          <p:cNvPr id="3" name="Content Placeholder 2"/>
          <p:cNvSpPr>
            <a:spLocks noGrp="1"/>
          </p:cNvSpPr>
          <p:nvPr>
            <p:ph idx="1"/>
          </p:nvPr>
        </p:nvSpPr>
        <p:spPr>
          <a:xfrm>
            <a:off x="457202" y="1231266"/>
            <a:ext cx="8446165" cy="4880776"/>
          </a:xfrm>
        </p:spPr>
        <p:txBody>
          <a:bodyPr/>
          <a:lstStyle/>
          <a:p>
            <a:r>
              <a:rPr lang="en-US" altLang="en-US" dirty="0">
                <a:latin typeface="Arial" pitchFamily="34" charset="0"/>
                <a:ea typeface="ＭＳ Ｐゴシック" pitchFamily="34" charset="-128"/>
                <a:cs typeface="Arial" pitchFamily="34" charset="0"/>
              </a:rPr>
              <a:t>Privacy expectations with public postings online</a:t>
            </a:r>
          </a:p>
          <a:p>
            <a:pPr lvl="1"/>
            <a:r>
              <a:rPr lang="en-US" altLang="en-US" dirty="0">
                <a:latin typeface="Arial" pitchFamily="34" charset="0"/>
                <a:ea typeface="ＭＳ Ｐゴシック" pitchFamily="34" charset="-128"/>
                <a:cs typeface="Arial" pitchFamily="34" charset="0"/>
              </a:rPr>
              <a:t>Student posted nasty story on </a:t>
            </a:r>
            <a:r>
              <a:rPr lang="en-US" altLang="en-US" dirty="0" err="1">
                <a:latin typeface="Arial" pitchFamily="34" charset="0"/>
                <a:ea typeface="ＭＳ Ｐゴシック" pitchFamily="34" charset="-128"/>
                <a:cs typeface="Arial" pitchFamily="34" charset="0"/>
              </a:rPr>
              <a:t>MySpace</a:t>
            </a:r>
            <a:r>
              <a:rPr lang="en-US" altLang="en-US" dirty="0">
                <a:latin typeface="Arial" pitchFamily="34" charset="0"/>
                <a:ea typeface="ＭＳ Ｐゴシック" pitchFamily="34" charset="-128"/>
                <a:cs typeface="Arial" pitchFamily="34" charset="0"/>
              </a:rPr>
              <a:t> about her hometown; she deleted it six days later</a:t>
            </a:r>
          </a:p>
          <a:p>
            <a:pPr lvl="1"/>
            <a:r>
              <a:rPr lang="en-US" altLang="en-US" dirty="0">
                <a:latin typeface="Arial" pitchFamily="34" charset="0"/>
                <a:ea typeface="ＭＳ Ｐゴシック" pitchFamily="34" charset="-128"/>
                <a:cs typeface="Arial" pitchFamily="34" charset="0"/>
              </a:rPr>
              <a:t>Hometown high school principal saw the story, gave it to the local newspaper</a:t>
            </a:r>
          </a:p>
          <a:p>
            <a:pPr lvl="1"/>
            <a:r>
              <a:rPr lang="en-US" altLang="en-US" dirty="0">
                <a:latin typeface="Arial" pitchFamily="34" charset="0"/>
                <a:ea typeface="ＭＳ Ｐゴシック" pitchFamily="34" charset="-128"/>
                <a:cs typeface="Arial" pitchFamily="34" charset="0"/>
              </a:rPr>
              <a:t>Newspaper printed it as a letter to the editor</a:t>
            </a:r>
          </a:p>
          <a:p>
            <a:pPr lvl="1"/>
            <a:r>
              <a:rPr lang="en-US" altLang="en-US" dirty="0">
                <a:latin typeface="Arial" pitchFamily="34" charset="0"/>
                <a:ea typeface="ＭＳ Ｐゴシック" pitchFamily="34" charset="-128"/>
                <a:cs typeface="Arial" pitchFamily="34" charset="0"/>
              </a:rPr>
              <a:t>Family was threatened, lost business, had to move away</a:t>
            </a:r>
          </a:p>
          <a:p>
            <a:r>
              <a:rPr lang="en-US" altLang="en-US" dirty="0">
                <a:latin typeface="Arial" pitchFamily="34" charset="0"/>
                <a:ea typeface="ＭＳ Ｐゴシック" pitchFamily="34" charset="-128"/>
                <a:cs typeface="Arial" pitchFamily="34" charset="0"/>
              </a:rPr>
              <a:t>Courts found that she should have no expectation of privacy when making a public posting on </a:t>
            </a:r>
            <a:r>
              <a:rPr lang="en-US" altLang="en-US" dirty="0" err="1">
                <a:latin typeface="Arial" pitchFamily="34" charset="0"/>
                <a:ea typeface="ＭＳ Ｐゴシック" pitchFamily="34" charset="-128"/>
                <a:cs typeface="Arial" pitchFamily="34" charset="0"/>
              </a:rPr>
              <a:t>MySpace</a:t>
            </a:r>
            <a:endParaRPr lang="en-US" altLang="en-US" dirty="0">
              <a:latin typeface="Arial"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36074974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37" y="1"/>
            <a:ext cx="8312727" cy="1060704"/>
          </a:xfrm>
        </p:spPr>
        <p:txBody>
          <a:bodyPr>
            <a:noAutofit/>
          </a:bodyPr>
          <a:lstStyle/>
          <a:p>
            <a:r>
              <a:rPr lang="en-US" altLang="en-US" dirty="0">
                <a:latin typeface="Arial" pitchFamily="34" charset="0"/>
                <a:ea typeface="ＭＳ Ｐゴシック" pitchFamily="34" charset="-128"/>
                <a:cs typeface="Arial" pitchFamily="34" charset="0"/>
              </a:rPr>
              <a:t>Personal Privacy and Social Networks (5 of 5)</a:t>
            </a:r>
            <a:endParaRPr lang="en-US" dirty="0">
              <a:latin typeface="Arial" pitchFamily="34" charset="0"/>
              <a:cs typeface="Arial" pitchFamily="34" charset="0"/>
            </a:endParaRPr>
          </a:p>
        </p:txBody>
      </p:sp>
      <p:sp>
        <p:nvSpPr>
          <p:cNvPr id="3" name="Content Placeholder 2"/>
          <p:cNvSpPr>
            <a:spLocks noGrp="1"/>
          </p:cNvSpPr>
          <p:nvPr>
            <p:ph idx="1"/>
          </p:nvPr>
        </p:nvSpPr>
        <p:spPr>
          <a:xfrm>
            <a:off x="473244" y="1395662"/>
            <a:ext cx="8365955" cy="4714459"/>
          </a:xfrm>
        </p:spPr>
        <p:txBody>
          <a:bodyPr/>
          <a:lstStyle/>
          <a:p>
            <a:r>
              <a:rPr lang="en-US" altLang="en-US" dirty="0">
                <a:latin typeface="Arial" pitchFamily="34" charset="0"/>
                <a:ea typeface="ＭＳ Ｐゴシック" pitchFamily="34" charset="-128"/>
                <a:cs typeface="Arial" pitchFamily="34" charset="0"/>
              </a:rPr>
              <a:t>Assume that anything sent or posted online:</a:t>
            </a:r>
          </a:p>
          <a:p>
            <a:pPr lvl="1"/>
            <a:r>
              <a:rPr lang="en-US" altLang="en-US" dirty="0">
                <a:latin typeface="Arial" pitchFamily="34" charset="0"/>
                <a:ea typeface="ＭＳ Ｐゴシック" pitchFamily="34" charset="-128"/>
                <a:cs typeface="Arial" pitchFamily="34" charset="0"/>
              </a:rPr>
              <a:t>May become widely distributed and public</a:t>
            </a:r>
          </a:p>
          <a:p>
            <a:pPr lvl="1"/>
            <a:r>
              <a:rPr lang="en-US" altLang="en-US" dirty="0">
                <a:latin typeface="Arial" pitchFamily="34" charset="0"/>
                <a:ea typeface="ＭＳ Ｐゴシック" pitchFamily="34" charset="-128"/>
                <a:cs typeface="Arial" pitchFamily="34" charset="0"/>
              </a:rPr>
              <a:t>Will last forever</a:t>
            </a:r>
          </a:p>
          <a:p>
            <a:r>
              <a:rPr lang="en-US" altLang="en-US" dirty="0">
                <a:latin typeface="Arial" pitchFamily="34" charset="0"/>
                <a:ea typeface="ＭＳ Ｐゴシック" pitchFamily="34" charset="-128"/>
                <a:cs typeface="Arial" pitchFamily="34" charset="0"/>
              </a:rPr>
              <a:t>Don’t post something if:</a:t>
            </a:r>
          </a:p>
          <a:p>
            <a:pPr lvl="1"/>
            <a:r>
              <a:rPr lang="en-US" altLang="en-US" dirty="0">
                <a:latin typeface="Arial" pitchFamily="34" charset="0"/>
                <a:ea typeface="ＭＳ Ｐゴシック" pitchFamily="34" charset="-128"/>
                <a:cs typeface="Arial" pitchFamily="34" charset="0"/>
              </a:rPr>
              <a:t>You don’t want a large number of people to see it</a:t>
            </a:r>
          </a:p>
          <a:p>
            <a:pPr lvl="1"/>
            <a:r>
              <a:rPr lang="en-US" altLang="en-US" dirty="0">
                <a:latin typeface="Arial" pitchFamily="34" charset="0"/>
                <a:ea typeface="ＭＳ Ｐゴシック" pitchFamily="34" charset="-128"/>
                <a:cs typeface="Arial" pitchFamily="34" charset="0"/>
              </a:rPr>
              <a:t>You would be embarrassed to have it widely circulated (to parents, employers, etc.)</a:t>
            </a:r>
          </a:p>
          <a:p>
            <a:pPr lvl="1"/>
            <a:r>
              <a:rPr lang="en-US" altLang="en-US" dirty="0">
                <a:latin typeface="Arial" pitchFamily="34" charset="0"/>
                <a:ea typeface="ＭＳ Ｐゴシック" pitchFamily="34" charset="-128"/>
                <a:cs typeface="Arial" pitchFamily="34" charset="0"/>
              </a:rPr>
              <a:t>The material could be considered libelous or defamatory</a:t>
            </a:r>
          </a:p>
          <a:p>
            <a:pPr lvl="1"/>
            <a:r>
              <a:rPr lang="en-US" altLang="en-US" dirty="0">
                <a:latin typeface="Arial" pitchFamily="34" charset="0"/>
                <a:ea typeface="ＭＳ Ｐゴシック" pitchFamily="34" charset="-128"/>
                <a:cs typeface="Arial" pitchFamily="34" charset="0"/>
              </a:rPr>
              <a:t>The information is private and of a sexual nature</a:t>
            </a:r>
          </a:p>
        </p:txBody>
      </p:sp>
    </p:spTree>
    <p:extLst>
      <p:ext uri="{BB962C8B-B14F-4D97-AF65-F5344CB8AC3E}">
        <p14:creationId xmlns:p14="http://schemas.microsoft.com/office/powerpoint/2010/main" val="40445284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37" y="1"/>
            <a:ext cx="8312727" cy="1060704"/>
          </a:xfrm>
        </p:spPr>
        <p:txBody>
          <a:bodyPr>
            <a:noAutofit/>
          </a:bodyPr>
          <a:lstStyle/>
          <a:p>
            <a:r>
              <a:rPr lang="en-US" altLang="en-US" dirty="0">
                <a:latin typeface="Arial" pitchFamily="34" charset="0"/>
                <a:ea typeface="ＭＳ Ｐゴシック" pitchFamily="34" charset="-128"/>
                <a:cs typeface="Arial" pitchFamily="34" charset="0"/>
              </a:rPr>
              <a:t>Fake News, Politics, and Social Media (1 of 3)</a:t>
            </a:r>
            <a:endParaRPr lang="en-US" dirty="0">
              <a:latin typeface="Arial" pitchFamily="34" charset="0"/>
              <a:cs typeface="Arial" pitchFamily="34" charset="0"/>
            </a:endParaRPr>
          </a:p>
        </p:txBody>
      </p:sp>
      <p:sp>
        <p:nvSpPr>
          <p:cNvPr id="3" name="Content Placeholder 2"/>
          <p:cNvSpPr>
            <a:spLocks noGrp="1"/>
          </p:cNvSpPr>
          <p:nvPr>
            <p:ph idx="1"/>
          </p:nvPr>
        </p:nvSpPr>
        <p:spPr>
          <a:xfrm>
            <a:off x="457202" y="1363578"/>
            <a:ext cx="8381997" cy="4762585"/>
          </a:xfrm>
        </p:spPr>
        <p:txBody>
          <a:bodyPr/>
          <a:lstStyle/>
          <a:p>
            <a:r>
              <a:rPr lang="en-US" altLang="en-US" b="1" dirty="0">
                <a:latin typeface="Arial" pitchFamily="34" charset="0"/>
                <a:ea typeface="ＭＳ Ｐゴシック" pitchFamily="34" charset="-128"/>
                <a:cs typeface="Arial" pitchFamily="34" charset="0"/>
              </a:rPr>
              <a:t>Fake news</a:t>
            </a:r>
            <a:r>
              <a:rPr lang="en-US" altLang="en-US" dirty="0">
                <a:latin typeface="Arial" pitchFamily="34" charset="0"/>
                <a:ea typeface="ＭＳ Ｐゴシック" pitchFamily="34" charset="-128"/>
                <a:cs typeface="Arial" pitchFamily="34" charset="0"/>
              </a:rPr>
              <a:t> is news deliberately altered or fabricated with the intent of passing it off as valid</a:t>
            </a:r>
          </a:p>
          <a:p>
            <a:r>
              <a:rPr lang="en-US" altLang="en-US" dirty="0">
                <a:latin typeface="Arial" pitchFamily="34" charset="0"/>
                <a:ea typeface="ＭＳ Ｐゴシック" pitchFamily="34" charset="-128"/>
                <a:cs typeface="Arial" pitchFamily="34" charset="0"/>
              </a:rPr>
              <a:t>Beware of the various types of fake news outlets</a:t>
            </a:r>
          </a:p>
          <a:p>
            <a:pPr lvl="1"/>
            <a:r>
              <a:rPr lang="en-US" altLang="en-US" dirty="0">
                <a:latin typeface="Arial" pitchFamily="34" charset="0"/>
                <a:ea typeface="ＭＳ Ｐゴシック" pitchFamily="34" charset="-128"/>
                <a:cs typeface="Arial" pitchFamily="34" charset="0"/>
              </a:rPr>
              <a:t>Imposter sites—mimic valid sites to spread fake news</a:t>
            </a:r>
          </a:p>
          <a:p>
            <a:pPr lvl="1"/>
            <a:r>
              <a:rPr lang="en-US" altLang="en-US" dirty="0">
                <a:latin typeface="Arial" pitchFamily="34" charset="0"/>
                <a:ea typeface="ＭＳ Ｐゴシック" pitchFamily="34" charset="-128"/>
                <a:cs typeface="Arial" pitchFamily="34" charset="0"/>
              </a:rPr>
              <a:t>Manipulated content—original content has been manipulated to fit the dialog of the posting site</a:t>
            </a:r>
          </a:p>
          <a:p>
            <a:pPr lvl="1"/>
            <a:r>
              <a:rPr lang="en-US" altLang="en-US" dirty="0">
                <a:latin typeface="Arial" pitchFamily="34" charset="0"/>
                <a:ea typeface="ＭＳ Ｐゴシック" pitchFamily="34" charset="-128"/>
                <a:cs typeface="Arial" pitchFamily="34" charset="0"/>
              </a:rPr>
              <a:t>Fabricated content—all of it is untrue</a:t>
            </a:r>
          </a:p>
        </p:txBody>
      </p:sp>
    </p:spTree>
    <p:extLst>
      <p:ext uri="{BB962C8B-B14F-4D97-AF65-F5344CB8AC3E}">
        <p14:creationId xmlns:p14="http://schemas.microsoft.com/office/powerpoint/2010/main" val="14823950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37" y="1"/>
            <a:ext cx="8312727" cy="1060704"/>
          </a:xfrm>
        </p:spPr>
        <p:txBody>
          <a:bodyPr>
            <a:noAutofit/>
          </a:bodyPr>
          <a:lstStyle/>
          <a:p>
            <a:r>
              <a:rPr lang="en-US" altLang="en-US" dirty="0">
                <a:latin typeface="Arial" pitchFamily="34" charset="0"/>
                <a:ea typeface="ＭＳ Ｐゴシック" pitchFamily="34" charset="-128"/>
                <a:cs typeface="Arial" pitchFamily="34" charset="0"/>
              </a:rPr>
              <a:t>Fake News, Politics, and Social Media (2 of 3)</a:t>
            </a:r>
            <a:endParaRPr lang="en-US" dirty="0">
              <a:latin typeface="Arial" pitchFamily="34" charset="0"/>
              <a:cs typeface="Arial" pitchFamily="34" charset="0"/>
            </a:endParaRPr>
          </a:p>
        </p:txBody>
      </p:sp>
      <p:sp>
        <p:nvSpPr>
          <p:cNvPr id="3" name="Content Placeholder 2"/>
          <p:cNvSpPr>
            <a:spLocks noGrp="1"/>
          </p:cNvSpPr>
          <p:nvPr>
            <p:ph idx="1"/>
          </p:nvPr>
        </p:nvSpPr>
        <p:spPr>
          <a:xfrm>
            <a:off x="457202" y="1524000"/>
            <a:ext cx="8414081" cy="4602164"/>
          </a:xfrm>
        </p:spPr>
        <p:txBody>
          <a:bodyPr/>
          <a:lstStyle/>
          <a:p>
            <a:r>
              <a:rPr lang="en-US" altLang="en-US" dirty="0">
                <a:latin typeface="Arial" pitchFamily="34" charset="0"/>
                <a:ea typeface="ＭＳ Ｐゴシック" pitchFamily="34" charset="-128"/>
                <a:cs typeface="Arial" pitchFamily="34" charset="0"/>
              </a:rPr>
              <a:t>”</a:t>
            </a:r>
            <a:r>
              <a:rPr lang="en-US" altLang="en-US" dirty="0" err="1">
                <a:latin typeface="Arial" pitchFamily="34" charset="0"/>
                <a:ea typeface="ＭＳ Ｐゴシック" pitchFamily="34" charset="-128"/>
                <a:cs typeface="Arial" pitchFamily="34" charset="0"/>
              </a:rPr>
              <a:t>Pizzagate</a:t>
            </a:r>
            <a:r>
              <a:rPr lang="en-US" altLang="en-US" dirty="0">
                <a:latin typeface="Arial" pitchFamily="34" charset="0"/>
                <a:ea typeface="ＭＳ Ｐゴシック" pitchFamily="34" charset="-128"/>
                <a:cs typeface="Arial" pitchFamily="34" charset="0"/>
              </a:rPr>
              <a:t>” fake news during the 2016 election</a:t>
            </a:r>
          </a:p>
          <a:p>
            <a:pPr lvl="1"/>
            <a:r>
              <a:rPr lang="en-US" altLang="en-US" dirty="0">
                <a:latin typeface="Arial" pitchFamily="34" charset="0"/>
                <a:ea typeface="ＭＳ Ｐゴシック" pitchFamily="34" charset="-128"/>
                <a:cs typeface="Arial" pitchFamily="34" charset="0"/>
              </a:rPr>
              <a:t>Comet Ping Pong Pizza was said to be involved in a child pornography ring with presidential candidate Hillary Clinton and multiple members of congress</a:t>
            </a:r>
          </a:p>
          <a:p>
            <a:pPr lvl="1"/>
            <a:r>
              <a:rPr lang="en-US" altLang="en-US" dirty="0">
                <a:latin typeface="Arial" pitchFamily="34" charset="0"/>
                <a:ea typeface="ＭＳ Ｐゴシック" pitchFamily="34" charset="-128"/>
                <a:cs typeface="Arial" pitchFamily="34" charset="0"/>
              </a:rPr>
              <a:t>An individual with an AK-47 showed up threating to shoot anybody involved in child pornography in 2016</a:t>
            </a:r>
          </a:p>
          <a:p>
            <a:pPr lvl="1"/>
            <a:r>
              <a:rPr lang="en-US" altLang="en-US" dirty="0">
                <a:latin typeface="Arial" pitchFamily="34" charset="0"/>
                <a:ea typeface="ＭＳ Ｐゴシック" pitchFamily="34" charset="-128"/>
                <a:cs typeface="Arial" pitchFamily="34" charset="0"/>
              </a:rPr>
              <a:t>Determined to be fabricated in order to hurt the Clinton campaign</a:t>
            </a:r>
          </a:p>
        </p:txBody>
      </p:sp>
    </p:spTree>
    <p:extLst>
      <p:ext uri="{BB962C8B-B14F-4D97-AF65-F5344CB8AC3E}">
        <p14:creationId xmlns:p14="http://schemas.microsoft.com/office/powerpoint/2010/main" val="25202135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37" y="1"/>
            <a:ext cx="8312727" cy="1060704"/>
          </a:xfrm>
        </p:spPr>
        <p:txBody>
          <a:bodyPr>
            <a:noAutofit/>
          </a:bodyPr>
          <a:lstStyle/>
          <a:p>
            <a:r>
              <a:rPr lang="en-US" altLang="en-US" dirty="0">
                <a:latin typeface="Arial" pitchFamily="34" charset="0"/>
                <a:ea typeface="ＭＳ Ｐゴシック" pitchFamily="34" charset="-128"/>
                <a:cs typeface="Arial" pitchFamily="34" charset="0"/>
              </a:rPr>
              <a:t>Fake News, Politics, and Social Media (3 of 3)</a:t>
            </a:r>
            <a:endParaRPr lang="en-US" dirty="0">
              <a:latin typeface="Arial" pitchFamily="34" charset="0"/>
              <a:cs typeface="Arial" pitchFamily="34" charset="0"/>
            </a:endParaRPr>
          </a:p>
        </p:txBody>
      </p:sp>
      <p:sp>
        <p:nvSpPr>
          <p:cNvPr id="3" name="Content Placeholder 2"/>
          <p:cNvSpPr>
            <a:spLocks noGrp="1"/>
          </p:cNvSpPr>
          <p:nvPr>
            <p:ph idx="1"/>
          </p:nvPr>
        </p:nvSpPr>
        <p:spPr>
          <a:xfrm>
            <a:off x="457202" y="1283368"/>
            <a:ext cx="8414081" cy="4842796"/>
          </a:xfrm>
        </p:spPr>
        <p:txBody>
          <a:bodyPr/>
          <a:lstStyle/>
          <a:p>
            <a:r>
              <a:rPr lang="en-US" altLang="en-US" dirty="0">
                <a:latin typeface="Arial" pitchFamily="34" charset="0"/>
                <a:ea typeface="ＭＳ Ｐゴシック" pitchFamily="34" charset="-128"/>
                <a:cs typeface="Arial" pitchFamily="34" charset="0"/>
              </a:rPr>
              <a:t>Verify sources when reading a story of interest online</a:t>
            </a:r>
          </a:p>
          <a:p>
            <a:pPr lvl="1"/>
            <a:r>
              <a:rPr lang="en-US" altLang="en-US" dirty="0">
                <a:latin typeface="Arial" pitchFamily="34" charset="0"/>
                <a:ea typeface="ＭＳ Ｐゴシック" pitchFamily="34" charset="-128"/>
                <a:cs typeface="Arial" pitchFamily="34" charset="0"/>
              </a:rPr>
              <a:t>Check the author</a:t>
            </a:r>
          </a:p>
          <a:p>
            <a:pPr lvl="1"/>
            <a:r>
              <a:rPr lang="en-US" altLang="en-US" dirty="0">
                <a:latin typeface="Arial" pitchFamily="34" charset="0"/>
                <a:ea typeface="ＭＳ Ｐゴシック" pitchFamily="34" charset="-128"/>
                <a:cs typeface="Arial" pitchFamily="34" charset="0"/>
              </a:rPr>
              <a:t>Check the supporting links</a:t>
            </a:r>
          </a:p>
          <a:p>
            <a:pPr lvl="1"/>
            <a:r>
              <a:rPr lang="en-US" altLang="en-US" dirty="0">
                <a:latin typeface="Arial" pitchFamily="34" charset="0"/>
                <a:ea typeface="ＭＳ Ｐゴシック" pitchFamily="34" charset="-128"/>
                <a:cs typeface="Arial" pitchFamily="34" charset="0"/>
              </a:rPr>
              <a:t>Who else is reporting it</a:t>
            </a:r>
          </a:p>
          <a:p>
            <a:pPr lvl="1"/>
            <a:r>
              <a:rPr lang="en-US" altLang="en-US" dirty="0">
                <a:latin typeface="Arial" pitchFamily="34" charset="0"/>
                <a:ea typeface="ＭＳ Ｐゴシック" pitchFamily="34" charset="-128"/>
                <a:cs typeface="Arial" pitchFamily="34" charset="0"/>
              </a:rPr>
              <a:t>Consider the intent of the story</a:t>
            </a:r>
          </a:p>
        </p:txBody>
      </p:sp>
    </p:spTree>
    <p:extLst>
      <p:ext uri="{BB962C8B-B14F-4D97-AF65-F5344CB8AC3E}">
        <p14:creationId xmlns:p14="http://schemas.microsoft.com/office/powerpoint/2010/main" val="11347142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itchFamily="34" charset="0"/>
                <a:ea typeface="ＭＳ Ｐゴシック" pitchFamily="34" charset="-128"/>
                <a:cs typeface="Arial" pitchFamily="34" charset="0"/>
              </a:rPr>
              <a:t>Summary (1 of 3)</a:t>
            </a:r>
            <a:endParaRPr lang="en-US" dirty="0">
              <a:latin typeface="Arial" pitchFamily="34" charset="0"/>
              <a:cs typeface="Arial" pitchFamily="34" charset="0"/>
            </a:endParaRPr>
          </a:p>
        </p:txBody>
      </p:sp>
      <p:sp>
        <p:nvSpPr>
          <p:cNvPr id="3" name="Content Placeholder 2"/>
          <p:cNvSpPr>
            <a:spLocks noGrp="1"/>
          </p:cNvSpPr>
          <p:nvPr>
            <p:ph idx="1"/>
          </p:nvPr>
        </p:nvSpPr>
        <p:spPr>
          <a:xfrm>
            <a:off x="457202" y="1411704"/>
            <a:ext cx="8414081" cy="4714459"/>
          </a:xfrm>
        </p:spPr>
        <p:txBody>
          <a:bodyPr/>
          <a:lstStyle/>
          <a:p>
            <a:r>
              <a:rPr lang="en-US" altLang="en-US" dirty="0">
                <a:latin typeface="Arial" pitchFamily="34" charset="0"/>
                <a:ea typeface="ＭＳ Ｐゴシック" pitchFamily="34" charset="-128"/>
                <a:cs typeface="Arial" pitchFamily="34" charset="0"/>
              </a:rPr>
              <a:t>Computer technology intrinsically involves new social and ethical issues</a:t>
            </a:r>
          </a:p>
          <a:p>
            <a:r>
              <a:rPr lang="en-US" altLang="en-US" dirty="0">
                <a:latin typeface="Arial" pitchFamily="34" charset="0"/>
                <a:ea typeface="ＭＳ Ｐゴシック" pitchFamily="34" charset="-128"/>
                <a:cs typeface="Arial" pitchFamily="34" charset="0"/>
              </a:rPr>
              <a:t>Ethical reasoning provides a framework for analyzing ethical issues</a:t>
            </a:r>
          </a:p>
          <a:p>
            <a:r>
              <a:rPr lang="en-US" altLang="en-US" dirty="0">
                <a:latin typeface="Arial" pitchFamily="34" charset="0"/>
                <a:ea typeface="ＭＳ Ｐゴシック" pitchFamily="34" charset="-128"/>
                <a:cs typeface="Arial" pitchFamily="34" charset="0"/>
              </a:rPr>
              <a:t>Utilitarianism evaluates an act based on its consequences</a:t>
            </a:r>
          </a:p>
          <a:p>
            <a:r>
              <a:rPr lang="en-US" altLang="en-US" dirty="0">
                <a:latin typeface="Arial" pitchFamily="34" charset="0"/>
                <a:ea typeface="ＭＳ Ｐゴシック" pitchFamily="34" charset="-128"/>
                <a:cs typeface="Arial" pitchFamily="34" charset="0"/>
              </a:rPr>
              <a:t>A dialectic is a comparative discussion of opposing sides intended to clarify and improve understanding</a:t>
            </a:r>
          </a:p>
          <a:p>
            <a:r>
              <a:rPr lang="en-US" altLang="en-US" dirty="0">
                <a:latin typeface="Arial" pitchFamily="34" charset="0"/>
                <a:ea typeface="ＭＳ Ｐゴシック" pitchFamily="34" charset="-128"/>
                <a:cs typeface="Arial" pitchFamily="34" charset="0"/>
              </a:rPr>
              <a:t>Reasoning by analogy can clarify issues of an ethical problem</a:t>
            </a:r>
          </a:p>
        </p:txBody>
      </p:sp>
    </p:spTree>
    <p:extLst>
      <p:ext uri="{BB962C8B-B14F-4D97-AF65-F5344CB8AC3E}">
        <p14:creationId xmlns:p14="http://schemas.microsoft.com/office/powerpoint/2010/main" val="38197110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itchFamily="34" charset="0"/>
                <a:ea typeface="ＭＳ Ｐゴシック" pitchFamily="34" charset="-128"/>
                <a:cs typeface="Arial" pitchFamily="34" charset="0"/>
              </a:rPr>
              <a:t>Summary (2 of 3)</a:t>
            </a:r>
            <a:endParaRPr lang="en-US" dirty="0">
              <a:latin typeface="Arial" pitchFamily="34" charset="0"/>
              <a:cs typeface="Arial" pitchFamily="34" charset="0"/>
            </a:endParaRPr>
          </a:p>
        </p:txBody>
      </p:sp>
      <p:sp>
        <p:nvSpPr>
          <p:cNvPr id="3" name="Content Placeholder 2"/>
          <p:cNvSpPr>
            <a:spLocks noGrp="1"/>
          </p:cNvSpPr>
          <p:nvPr>
            <p:ph idx="1"/>
          </p:nvPr>
        </p:nvSpPr>
        <p:spPr>
          <a:xfrm>
            <a:off x="457202" y="1379620"/>
            <a:ext cx="8381997" cy="4746543"/>
          </a:xfrm>
        </p:spPr>
        <p:txBody>
          <a:bodyPr/>
          <a:lstStyle/>
          <a:p>
            <a:r>
              <a:rPr lang="en-US" altLang="en-US" dirty="0">
                <a:latin typeface="Arial" pitchFamily="34" charset="0"/>
                <a:ea typeface="ＭＳ Ｐゴシック" pitchFamily="34" charset="-128"/>
                <a:cs typeface="Arial" pitchFamily="34" charset="0"/>
              </a:rPr>
              <a:t>Deontological reasoning focuses on intent rather than outcomes</a:t>
            </a:r>
          </a:p>
          <a:p>
            <a:r>
              <a:rPr lang="en-US" altLang="en-US" dirty="0">
                <a:latin typeface="Arial" pitchFamily="34" charset="0"/>
                <a:ea typeface="ＭＳ Ｐゴシック" pitchFamily="34" charset="-128"/>
                <a:cs typeface="Arial" pitchFamily="34" charset="0"/>
              </a:rPr>
              <a:t>Ethical issues with information technology include:</a:t>
            </a:r>
          </a:p>
          <a:p>
            <a:pPr lvl="1"/>
            <a:r>
              <a:rPr lang="en-US" altLang="en-US" dirty="0">
                <a:latin typeface="Arial" pitchFamily="34" charset="0"/>
                <a:ea typeface="ＭＳ Ｐゴシック" pitchFamily="34" charset="-128"/>
                <a:cs typeface="Arial" pitchFamily="34" charset="0"/>
              </a:rPr>
              <a:t>Copyright protections in an era of file sharing</a:t>
            </a:r>
          </a:p>
          <a:p>
            <a:pPr lvl="1"/>
            <a:r>
              <a:rPr lang="en-US" altLang="en-US" dirty="0">
                <a:latin typeface="Arial" pitchFamily="34" charset="0"/>
                <a:ea typeface="ＭＳ Ｐゴシック" pitchFamily="34" charset="-128"/>
                <a:cs typeface="Arial" pitchFamily="34" charset="0"/>
              </a:rPr>
              <a:t>Personal privacy and lawful intercept laws</a:t>
            </a:r>
          </a:p>
          <a:p>
            <a:pPr lvl="1"/>
            <a:r>
              <a:rPr lang="en-US" altLang="en-US" dirty="0">
                <a:latin typeface="Arial" pitchFamily="34" charset="0"/>
                <a:ea typeface="ＭＳ Ｐゴシック" pitchFamily="34" charset="-128"/>
                <a:cs typeface="Arial" pitchFamily="34" charset="0"/>
              </a:rPr>
              <a:t>Hackers who claim to be a social good</a:t>
            </a:r>
          </a:p>
          <a:p>
            <a:pPr lvl="1"/>
            <a:r>
              <a:rPr lang="en-US" altLang="en-US" dirty="0">
                <a:latin typeface="Arial" pitchFamily="34" charset="0"/>
                <a:ea typeface="ＭＳ Ｐゴシック" pitchFamily="34" charset="-128"/>
                <a:cs typeface="Arial" pitchFamily="34" charset="0"/>
              </a:rPr>
              <a:t>Privacy and the protection of personal information</a:t>
            </a:r>
          </a:p>
          <a:p>
            <a:pPr lvl="1"/>
            <a:r>
              <a:rPr lang="en-US" altLang="en-US" dirty="0">
                <a:latin typeface="Arial" pitchFamily="34" charset="0"/>
                <a:ea typeface="ＭＳ Ｐゴシック" pitchFamily="34" charset="-128"/>
                <a:cs typeface="Arial" pitchFamily="34" charset="0"/>
              </a:rPr>
              <a:t>Cyberbullying, sexting and distribution of online postings</a:t>
            </a:r>
          </a:p>
        </p:txBody>
      </p:sp>
    </p:spTree>
    <p:extLst>
      <p:ext uri="{BB962C8B-B14F-4D97-AF65-F5344CB8AC3E}">
        <p14:creationId xmlns:p14="http://schemas.microsoft.com/office/powerpoint/2010/main" val="39359029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itchFamily="34" charset="0"/>
                <a:ea typeface="ＭＳ Ｐゴシック" pitchFamily="34" charset="-128"/>
                <a:cs typeface="Arial" pitchFamily="34" charset="0"/>
              </a:rPr>
              <a:t>Summary (3 of 3)</a:t>
            </a:r>
            <a:endParaRPr lang="en-US" dirty="0">
              <a:latin typeface="Arial" pitchFamily="34" charset="0"/>
              <a:cs typeface="Arial" pitchFamily="34" charset="0"/>
            </a:endParaRPr>
          </a:p>
        </p:txBody>
      </p:sp>
      <p:sp>
        <p:nvSpPr>
          <p:cNvPr id="3" name="Content Placeholder 2"/>
          <p:cNvSpPr>
            <a:spLocks noGrp="1"/>
          </p:cNvSpPr>
          <p:nvPr>
            <p:ph idx="1"/>
          </p:nvPr>
        </p:nvSpPr>
        <p:spPr>
          <a:xfrm>
            <a:off x="457202" y="1315452"/>
            <a:ext cx="8398039" cy="4810711"/>
          </a:xfrm>
        </p:spPr>
        <p:txBody>
          <a:bodyPr/>
          <a:lstStyle/>
          <a:p>
            <a:r>
              <a:rPr lang="en-US" altLang="en-US" dirty="0">
                <a:latin typeface="Arial" pitchFamily="34" charset="0"/>
                <a:ea typeface="ＭＳ Ｐゴシック" pitchFamily="34" charset="-128"/>
                <a:cs typeface="Arial" pitchFamily="34" charset="0"/>
              </a:rPr>
              <a:t>Be aware of the propagation of fake news</a:t>
            </a:r>
          </a:p>
          <a:p>
            <a:pPr lvl="1"/>
            <a:r>
              <a:rPr lang="en-US" altLang="en-US" dirty="0">
                <a:latin typeface="Arial" pitchFamily="34" charset="0"/>
                <a:ea typeface="ＭＳ Ｐゴシック" pitchFamily="34" charset="-128"/>
                <a:cs typeface="Arial" pitchFamily="34" charset="0"/>
              </a:rPr>
              <a:t>Pay close attention to it in politics</a:t>
            </a:r>
          </a:p>
          <a:p>
            <a:r>
              <a:rPr lang="en-US" altLang="en-US" dirty="0">
                <a:latin typeface="Arial" pitchFamily="34" charset="0"/>
                <a:ea typeface="ＭＳ Ｐゴシック" pitchFamily="34" charset="-128"/>
                <a:cs typeface="Arial" pitchFamily="34" charset="0"/>
              </a:rPr>
              <a:t>Find ways to limit your exposure to it</a:t>
            </a:r>
          </a:p>
          <a:p>
            <a:pPr lvl="1"/>
            <a:r>
              <a:rPr lang="en-US" altLang="en-US" dirty="0">
                <a:latin typeface="Arial" pitchFamily="34" charset="0"/>
                <a:ea typeface="ＭＳ Ｐゴシック" pitchFamily="34" charset="-128"/>
                <a:cs typeface="Arial" pitchFamily="34" charset="0"/>
              </a:rPr>
              <a:t>Stick to sources that you have verified and that are trustworthy</a:t>
            </a:r>
          </a:p>
          <a:p>
            <a:r>
              <a:rPr lang="en-US" altLang="en-US" dirty="0">
                <a:latin typeface="Arial" pitchFamily="34" charset="0"/>
                <a:ea typeface="ＭＳ Ｐゴシック" pitchFamily="34" charset="-128"/>
                <a:cs typeface="Arial" pitchFamily="34" charset="0"/>
              </a:rPr>
              <a:t>Always check sources and supporting links</a:t>
            </a:r>
          </a:p>
          <a:p>
            <a:pPr lvl="1"/>
            <a:r>
              <a:rPr lang="en-US" altLang="en-US" dirty="0">
                <a:latin typeface="Arial" pitchFamily="34" charset="0"/>
                <a:ea typeface="ＭＳ Ｐゴシック" pitchFamily="34" charset="-128"/>
                <a:cs typeface="Arial" pitchFamily="34" charset="0"/>
              </a:rPr>
              <a:t>Don’t believe everything you read without checking its validity first</a:t>
            </a:r>
          </a:p>
        </p:txBody>
      </p:sp>
    </p:spTree>
    <p:extLst>
      <p:ext uri="{BB962C8B-B14F-4D97-AF65-F5344CB8AC3E}">
        <p14:creationId xmlns:p14="http://schemas.microsoft.com/office/powerpoint/2010/main" val="14750603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2245</TotalTime>
  <Words>5845</Words>
  <Application>Microsoft Office PowerPoint</Application>
  <PresentationFormat>On-screen Show (4:3)</PresentationFormat>
  <Paragraphs>702</Paragraphs>
  <Slides>52</Slides>
  <Notes>50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Courier New</vt:lpstr>
      <vt:lpstr>Wingdings</vt:lpstr>
      <vt:lpstr>Office Theme</vt:lpstr>
      <vt:lpstr>Chapter 17</vt:lpstr>
      <vt:lpstr>Learning Objectives (1 of 2)</vt:lpstr>
      <vt:lpstr>Learning Objectives (2 of 2)</vt:lpstr>
      <vt:lpstr> Introduction </vt:lpstr>
      <vt:lpstr>PowerPoint Presentation</vt:lpstr>
      <vt:lpstr>Case Studies Case 1: Is Sharing Good? (1 of 8)</vt:lpstr>
      <vt:lpstr>Case Studies Case 1: Is Sharing Good? (2 of 8)</vt:lpstr>
      <vt:lpstr>Case Studies Case 1: Is Sharing Good? (3 of 8)</vt:lpstr>
      <vt:lpstr>Case Studies Case 1: Is Sharing Good? (4 of 8)</vt:lpstr>
      <vt:lpstr>Case Studies Case 1: Is Sharing Good? (5 of 8)</vt:lpstr>
      <vt:lpstr>Case Studies Case 1: Is Sharing Good? (6 of 8)</vt:lpstr>
      <vt:lpstr>Case Studies Case 1: Is Sharing Good? (7 of 8)</vt:lpstr>
      <vt:lpstr>Case Studies Case 1: Is Sharing Good? (8 of 8)</vt:lpstr>
      <vt:lpstr>Case Studies Case 2: The Athens Affair—Privacy vs. Security (1 of 12)</vt:lpstr>
      <vt:lpstr>Case Studies Case 2: The Athens Affair—Privacy vs. Security (2 of 12)</vt:lpstr>
      <vt:lpstr>Case Studies Case 2: The Athens Affair—Privacy vs. Security (3 of 12)</vt:lpstr>
      <vt:lpstr>Case Studies Case 2: The Athens Affair—Privacy vs. Security (4 of 12)</vt:lpstr>
      <vt:lpstr>Case Studies Case 2: The Athens Affair—Privacy vs. Security (5 of 12)</vt:lpstr>
      <vt:lpstr>Case Studies Case 2: The Athens Affair—Privacy vs. Security (6 of 12)</vt:lpstr>
      <vt:lpstr>Case Studies Case 2: The Athens Affair—Privacy vs. Security (7 of 12)</vt:lpstr>
      <vt:lpstr>Case Studies Case 2: The Athens Affair—Privacy vs. Security (8 of 12)</vt:lpstr>
      <vt:lpstr>Case Studies Case 2: The Athens Affair—Privacy vs. Security (9 of 12)</vt:lpstr>
      <vt:lpstr>Case Studies Case 2: The Athens Affair—Privacy vs. Security (10 of 12)</vt:lpstr>
      <vt:lpstr>Case Studies Case 2: The Athens Affair—Privacy vs. Security (11 of 12)</vt:lpstr>
      <vt:lpstr>Case Studies Case 2: The Athens Affair—Privacy vs. Security (12 of 12)</vt:lpstr>
      <vt:lpstr>Case Studies Case 3: Hackers—Public Enemies or Gadflies? (1 of 8)</vt:lpstr>
      <vt:lpstr>Case Studies Case 3: Hackers—Public Enemies or Gadflies? (2 of 8)</vt:lpstr>
      <vt:lpstr>Case Studies Case 3: Hackers—Public Enemies or Gadflies? (3 of 8)</vt:lpstr>
      <vt:lpstr>Case Studies Case 3: Hackers—Public Enemies or Gadflies? (4 of 8)</vt:lpstr>
      <vt:lpstr>Case Studies Case 3: Hackers—Public Enemies or Gadflies? (5 of 8)</vt:lpstr>
      <vt:lpstr>Case Studies Case 3: Hackers—Public Enemies or Gadflies? (6 of 8)</vt:lpstr>
      <vt:lpstr>Case Studies Case 3: Hackers—Public Enemies or Gadflies? (7 of 8)</vt:lpstr>
      <vt:lpstr>Case Studies Case 3: Hackers—Public Enemies or Gadflies? (8 of 8)</vt:lpstr>
      <vt:lpstr>Case Studies: Thinking Straight about Technology and Ethics</vt:lpstr>
      <vt:lpstr>Case Studies Case 4: Genetic Information and Medical Research (1 of 7)</vt:lpstr>
      <vt:lpstr>Case Studies Case 4: Genetic Information and Medical Research (2 of 7)</vt:lpstr>
      <vt:lpstr>Case Studies Case 4: Genetic Information and Medical Research (3 of 7)</vt:lpstr>
      <vt:lpstr>Case Studies Case 4: Genetic Information and Medical Research (4 of 7)</vt:lpstr>
      <vt:lpstr>Case Studies Case 4: Genetic Information and Medical Research (5 of 7)</vt:lpstr>
      <vt:lpstr>Case Studies Case 4: Genetic Information and Medical Research (6 of 7)</vt:lpstr>
      <vt:lpstr>Case Studies Case 4: Genetic Information and Medical Research (7 of 7)</vt:lpstr>
      <vt:lpstr>Personal Privacy and Social Networks (1 of 5)</vt:lpstr>
      <vt:lpstr>Personal Privacy and Social Networks (2 of 5)</vt:lpstr>
      <vt:lpstr>Personal Privacy and Social Networks (3 of 5)</vt:lpstr>
      <vt:lpstr>Personal Privacy and Social Networks (4 of 5)</vt:lpstr>
      <vt:lpstr>Personal Privacy and Social Networks (5 of 5)</vt:lpstr>
      <vt:lpstr>Fake News, Politics, and Social Media (1 of 3)</vt:lpstr>
      <vt:lpstr>Fake News, Politics, and Social Media (2 of 3)</vt:lpstr>
      <vt:lpstr>Fake News, Politics, and Social Media (3 of 3)</vt:lpstr>
      <vt:lpstr>Summary (1 of 3)</vt:lpstr>
      <vt:lpstr>Summary (2 of 3)</vt:lpstr>
      <vt:lpstr>Summary (3 of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17 Making Decisions about Computers, Information, and Society</dc:title>
  <dc:creator>Schneider</dc:creator>
  <cp:lastModifiedBy>Jiahui Xia</cp:lastModifiedBy>
  <cp:revision>267</cp:revision>
  <dcterms:created xsi:type="dcterms:W3CDTF">2015-05-05T09:30:46Z</dcterms:created>
  <dcterms:modified xsi:type="dcterms:W3CDTF">2020-12-02T20:43:27Z</dcterms:modified>
</cp:coreProperties>
</file>